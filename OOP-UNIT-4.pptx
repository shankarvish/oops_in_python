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Lst>
  <p:sldSz cy="10287000" cx="18288000"/>
  <p:notesSz cx="6858000" cy="9144000"/>
  <p:embeddedFontLst>
    <p:embeddedFont>
      <p:font typeface="Jacques Francois Shadow"/>
      <p:regular r:id="rId92"/>
    </p:embeddedFont>
    <p:embeddedFont>
      <p:font typeface="Gill Sans"/>
      <p:regular r:id="rId93"/>
      <p:bold r:id="rId9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37">
          <p15:clr>
            <a:srgbClr val="A4A3A4"/>
          </p15:clr>
        </p15:guide>
        <p15:guide id="2" pos="2880">
          <p15:clr>
            <a:srgbClr val="A4A3A4"/>
          </p15:clr>
        </p15:guide>
      </p15:sldGuideLst>
    </p:ext>
    <p:ext uri="GoogleSlidesCustomDataVersion2">
      <go:slidesCustomData xmlns:go="http://customooxmlschemas.google.com/" r:id="rId95" roundtripDataSignature="AMtx7mg/XFCW0Gr608HX4cj9EVVBrCdQ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94E8D5-F5F9-40D2-812D-7E8A52AE1961}">
  <a:tblStyle styleId="{B794E8D5-F5F9-40D2-812D-7E8A52AE196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slide" Target="slides/slide82.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95" Type="http://customschemas.google.com/relationships/presentationmetadata" Target="metadata"/><Relationship Id="rId50" Type="http://schemas.openxmlformats.org/officeDocument/2006/relationships/slide" Target="slides/slide44.xml"/><Relationship Id="rId94" Type="http://schemas.openxmlformats.org/officeDocument/2006/relationships/font" Target="fonts/GillSans-bold.fntdata"/><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font" Target="fonts/GillSans-regular.fntdata"/><Relationship Id="rId92" Type="http://schemas.openxmlformats.org/officeDocument/2006/relationships/font" Target="fonts/JacquesFrancoisShadow-regular.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96" name="Google Shape;29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04" name="Google Shape;30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13" name="Google Shape;31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20" name="Google Shape;32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27" name="Google Shape;32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35" name="Google Shape;33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42" name="Google Shape;34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50" name="Google Shape;35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57" name="Google Shape;35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65" name="Google Shape;36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73" name="Google Shape;37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81" name="Google Shape;38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90" name="Google Shape;39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5" name="Google Shape;41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24" name="Google Shape;42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32" name="Google Shape;432;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42" name="Google Shape;44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49" name="Google Shape;44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58" name="Google Shape;458;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67" name="Google Shape;467;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76" name="Google Shape;476;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83" name="Google Shape;483;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90" name="Google Shape;49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97" name="Google Shape;497;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04" name="Google Shape;504;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1" name="Google Shape;511;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 name="Google Shape;51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2" name="Google Shape;522;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2" name="Google Shape;542;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8" name="Google Shape;548;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0" name="Google Shape;560;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0" name="Google Shape;580;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3" name="Google Shape;593;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0" name="Google Shape;600;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6" name="Google Shape;606;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2" name="Google Shape;612;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9" name="Google Shape;619;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1" name="Google Shape;631;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7" name="Google Shape;637;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3" name="Google Shape;643;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5" name="Google Shape;655;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1" name="Google Shape;661;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7" name="Google Shape;667;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3" name="Google Shape;673;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5" name="Google Shape;685;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4" name="Google Shape;694;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0" name="Google Shape;700;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9" name="Google Shape;719;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5" name="Google Shape;725;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1" name="Google Shape;731;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7" name="Google Shape;737;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3" name="Google Shape;743;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0" name="Google Shape;750;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2" name="Google Shape;762;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8" name="Google Shape;768;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774" name="Google Shape;774;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 name="Shape 16"/>
        <p:cNvGrpSpPr/>
        <p:nvPr/>
      </p:nvGrpSpPr>
      <p:grpSpPr>
        <a:xfrm>
          <a:off x="0" y="0"/>
          <a:ext cx="0" cy="0"/>
          <a:chOff x="0" y="0"/>
          <a:chExt cx="0" cy="0"/>
        </a:xfrm>
      </p:grpSpPr>
      <p:sp>
        <p:nvSpPr>
          <p:cNvPr id="17" name="Google Shape;17;p87"/>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87"/>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7"/>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88"/>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8"/>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24" name="Google Shape;24;p88"/>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8"/>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8"/>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89"/>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9"/>
          <p:cNvSpPr txBox="1"/>
          <p:nvPr>
            <p:ph idx="1" type="body"/>
          </p:nvPr>
        </p:nvSpPr>
        <p:spPr>
          <a:xfrm>
            <a:off x="1257300" y="2738438"/>
            <a:ext cx="7772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30" name="Google Shape;30;p89"/>
          <p:cNvSpPr txBox="1"/>
          <p:nvPr>
            <p:ph idx="2" type="body"/>
          </p:nvPr>
        </p:nvSpPr>
        <p:spPr>
          <a:xfrm>
            <a:off x="9258300" y="2738438"/>
            <a:ext cx="7772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31" name="Google Shape;31;p89"/>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89"/>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89"/>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90"/>
          <p:cNvSpPr txBox="1"/>
          <p:nvPr>
            <p:ph type="title"/>
          </p:nvPr>
        </p:nvSpPr>
        <p:spPr>
          <a:xfrm>
            <a:off x="1259682"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90"/>
          <p:cNvSpPr txBox="1"/>
          <p:nvPr>
            <p:ph idx="1" type="body"/>
          </p:nvPr>
        </p:nvSpPr>
        <p:spPr>
          <a:xfrm>
            <a:off x="1259683" y="2521745"/>
            <a:ext cx="7736681" cy="123586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3600"/>
              <a:buNone/>
              <a:defRPr b="1" sz="3600"/>
            </a:lvl1pPr>
            <a:lvl2pPr indent="-228600" lvl="1" marL="914400" algn="l">
              <a:lnSpc>
                <a:spcPct val="90000"/>
              </a:lnSpc>
              <a:spcBef>
                <a:spcPts val="750"/>
              </a:spcBef>
              <a:spcAft>
                <a:spcPts val="0"/>
              </a:spcAft>
              <a:buClr>
                <a:schemeClr val="dk1"/>
              </a:buClr>
              <a:buSzPts val="3000"/>
              <a:buNone/>
              <a:defRPr b="1" sz="3000"/>
            </a:lvl2pPr>
            <a:lvl3pPr indent="-228600" lvl="2" marL="1371600" algn="l">
              <a:lnSpc>
                <a:spcPct val="90000"/>
              </a:lnSpc>
              <a:spcBef>
                <a:spcPts val="750"/>
              </a:spcBef>
              <a:spcAft>
                <a:spcPts val="0"/>
              </a:spcAft>
              <a:buClr>
                <a:schemeClr val="dk1"/>
              </a:buClr>
              <a:buSzPts val="2700"/>
              <a:buNone/>
              <a:defRPr b="1" sz="2700"/>
            </a:lvl3pPr>
            <a:lvl4pPr indent="-228600" lvl="3" marL="1828800" algn="l">
              <a:lnSpc>
                <a:spcPct val="90000"/>
              </a:lnSpc>
              <a:spcBef>
                <a:spcPts val="750"/>
              </a:spcBef>
              <a:spcAft>
                <a:spcPts val="0"/>
              </a:spcAft>
              <a:buClr>
                <a:schemeClr val="dk1"/>
              </a:buClr>
              <a:buSzPts val="2400"/>
              <a:buNone/>
              <a:defRPr b="1" sz="2400"/>
            </a:lvl4pPr>
            <a:lvl5pPr indent="-228600" lvl="4" marL="2286000" algn="l">
              <a:lnSpc>
                <a:spcPct val="90000"/>
              </a:lnSpc>
              <a:spcBef>
                <a:spcPts val="750"/>
              </a:spcBef>
              <a:spcAft>
                <a:spcPts val="0"/>
              </a:spcAft>
              <a:buClr>
                <a:schemeClr val="dk1"/>
              </a:buClr>
              <a:buSzPts val="2400"/>
              <a:buNone/>
              <a:defRPr b="1" sz="2400"/>
            </a:lvl5pPr>
            <a:lvl6pPr indent="-228600" lvl="5" marL="2743200" algn="l">
              <a:lnSpc>
                <a:spcPct val="90000"/>
              </a:lnSpc>
              <a:spcBef>
                <a:spcPts val="750"/>
              </a:spcBef>
              <a:spcAft>
                <a:spcPts val="0"/>
              </a:spcAft>
              <a:buClr>
                <a:schemeClr val="dk1"/>
              </a:buClr>
              <a:buSzPts val="2400"/>
              <a:buNone/>
              <a:defRPr b="1" sz="2400"/>
            </a:lvl6pPr>
            <a:lvl7pPr indent="-228600" lvl="6" marL="3200400" algn="l">
              <a:lnSpc>
                <a:spcPct val="90000"/>
              </a:lnSpc>
              <a:spcBef>
                <a:spcPts val="750"/>
              </a:spcBef>
              <a:spcAft>
                <a:spcPts val="0"/>
              </a:spcAft>
              <a:buClr>
                <a:schemeClr val="dk1"/>
              </a:buClr>
              <a:buSzPts val="2400"/>
              <a:buNone/>
              <a:defRPr b="1" sz="2400"/>
            </a:lvl7pPr>
            <a:lvl8pPr indent="-228600" lvl="7" marL="3657600" algn="l">
              <a:lnSpc>
                <a:spcPct val="90000"/>
              </a:lnSpc>
              <a:spcBef>
                <a:spcPts val="750"/>
              </a:spcBef>
              <a:spcAft>
                <a:spcPts val="0"/>
              </a:spcAft>
              <a:buClr>
                <a:schemeClr val="dk1"/>
              </a:buClr>
              <a:buSzPts val="2400"/>
              <a:buNone/>
              <a:defRPr b="1" sz="2400"/>
            </a:lvl8pPr>
            <a:lvl9pPr indent="-228600" lvl="8" marL="4114800" algn="l">
              <a:lnSpc>
                <a:spcPct val="90000"/>
              </a:lnSpc>
              <a:spcBef>
                <a:spcPts val="750"/>
              </a:spcBef>
              <a:spcAft>
                <a:spcPts val="0"/>
              </a:spcAft>
              <a:buClr>
                <a:schemeClr val="dk1"/>
              </a:buClr>
              <a:buSzPts val="2400"/>
              <a:buNone/>
              <a:defRPr b="1" sz="2400"/>
            </a:lvl9pPr>
          </a:lstStyle>
          <a:p/>
        </p:txBody>
      </p:sp>
      <p:sp>
        <p:nvSpPr>
          <p:cNvPr id="37" name="Google Shape;37;p90"/>
          <p:cNvSpPr txBox="1"/>
          <p:nvPr>
            <p:ph idx="2" type="body"/>
          </p:nvPr>
        </p:nvSpPr>
        <p:spPr>
          <a:xfrm>
            <a:off x="1259683" y="3757613"/>
            <a:ext cx="7736681" cy="55268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38" name="Google Shape;38;p90"/>
          <p:cNvSpPr txBox="1"/>
          <p:nvPr>
            <p:ph idx="3" type="body"/>
          </p:nvPr>
        </p:nvSpPr>
        <p:spPr>
          <a:xfrm>
            <a:off x="9258300" y="2521745"/>
            <a:ext cx="7774782" cy="123586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3600"/>
              <a:buNone/>
              <a:defRPr b="1" sz="3600"/>
            </a:lvl1pPr>
            <a:lvl2pPr indent="-228600" lvl="1" marL="914400" algn="l">
              <a:lnSpc>
                <a:spcPct val="90000"/>
              </a:lnSpc>
              <a:spcBef>
                <a:spcPts val="750"/>
              </a:spcBef>
              <a:spcAft>
                <a:spcPts val="0"/>
              </a:spcAft>
              <a:buClr>
                <a:schemeClr val="dk1"/>
              </a:buClr>
              <a:buSzPts val="3000"/>
              <a:buNone/>
              <a:defRPr b="1" sz="3000"/>
            </a:lvl2pPr>
            <a:lvl3pPr indent="-228600" lvl="2" marL="1371600" algn="l">
              <a:lnSpc>
                <a:spcPct val="90000"/>
              </a:lnSpc>
              <a:spcBef>
                <a:spcPts val="750"/>
              </a:spcBef>
              <a:spcAft>
                <a:spcPts val="0"/>
              </a:spcAft>
              <a:buClr>
                <a:schemeClr val="dk1"/>
              </a:buClr>
              <a:buSzPts val="2700"/>
              <a:buNone/>
              <a:defRPr b="1" sz="2700"/>
            </a:lvl3pPr>
            <a:lvl4pPr indent="-228600" lvl="3" marL="1828800" algn="l">
              <a:lnSpc>
                <a:spcPct val="90000"/>
              </a:lnSpc>
              <a:spcBef>
                <a:spcPts val="750"/>
              </a:spcBef>
              <a:spcAft>
                <a:spcPts val="0"/>
              </a:spcAft>
              <a:buClr>
                <a:schemeClr val="dk1"/>
              </a:buClr>
              <a:buSzPts val="2400"/>
              <a:buNone/>
              <a:defRPr b="1" sz="2400"/>
            </a:lvl4pPr>
            <a:lvl5pPr indent="-228600" lvl="4" marL="2286000" algn="l">
              <a:lnSpc>
                <a:spcPct val="90000"/>
              </a:lnSpc>
              <a:spcBef>
                <a:spcPts val="750"/>
              </a:spcBef>
              <a:spcAft>
                <a:spcPts val="0"/>
              </a:spcAft>
              <a:buClr>
                <a:schemeClr val="dk1"/>
              </a:buClr>
              <a:buSzPts val="2400"/>
              <a:buNone/>
              <a:defRPr b="1" sz="2400"/>
            </a:lvl5pPr>
            <a:lvl6pPr indent="-228600" lvl="5" marL="2743200" algn="l">
              <a:lnSpc>
                <a:spcPct val="90000"/>
              </a:lnSpc>
              <a:spcBef>
                <a:spcPts val="750"/>
              </a:spcBef>
              <a:spcAft>
                <a:spcPts val="0"/>
              </a:spcAft>
              <a:buClr>
                <a:schemeClr val="dk1"/>
              </a:buClr>
              <a:buSzPts val="2400"/>
              <a:buNone/>
              <a:defRPr b="1" sz="2400"/>
            </a:lvl6pPr>
            <a:lvl7pPr indent="-228600" lvl="6" marL="3200400" algn="l">
              <a:lnSpc>
                <a:spcPct val="90000"/>
              </a:lnSpc>
              <a:spcBef>
                <a:spcPts val="750"/>
              </a:spcBef>
              <a:spcAft>
                <a:spcPts val="0"/>
              </a:spcAft>
              <a:buClr>
                <a:schemeClr val="dk1"/>
              </a:buClr>
              <a:buSzPts val="2400"/>
              <a:buNone/>
              <a:defRPr b="1" sz="2400"/>
            </a:lvl7pPr>
            <a:lvl8pPr indent="-228600" lvl="7" marL="3657600" algn="l">
              <a:lnSpc>
                <a:spcPct val="90000"/>
              </a:lnSpc>
              <a:spcBef>
                <a:spcPts val="750"/>
              </a:spcBef>
              <a:spcAft>
                <a:spcPts val="0"/>
              </a:spcAft>
              <a:buClr>
                <a:schemeClr val="dk1"/>
              </a:buClr>
              <a:buSzPts val="2400"/>
              <a:buNone/>
              <a:defRPr b="1" sz="2400"/>
            </a:lvl8pPr>
            <a:lvl9pPr indent="-228600" lvl="8" marL="4114800" algn="l">
              <a:lnSpc>
                <a:spcPct val="90000"/>
              </a:lnSpc>
              <a:spcBef>
                <a:spcPts val="750"/>
              </a:spcBef>
              <a:spcAft>
                <a:spcPts val="0"/>
              </a:spcAft>
              <a:buClr>
                <a:schemeClr val="dk1"/>
              </a:buClr>
              <a:buSzPts val="2400"/>
              <a:buNone/>
              <a:defRPr b="1" sz="2400"/>
            </a:lvl9pPr>
          </a:lstStyle>
          <a:p/>
        </p:txBody>
      </p:sp>
      <p:sp>
        <p:nvSpPr>
          <p:cNvPr id="39" name="Google Shape;39;p90"/>
          <p:cNvSpPr txBox="1"/>
          <p:nvPr>
            <p:ph idx="4" type="body"/>
          </p:nvPr>
        </p:nvSpPr>
        <p:spPr>
          <a:xfrm>
            <a:off x="9258300" y="3757613"/>
            <a:ext cx="7774782" cy="55268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40" name="Google Shape;40;p90"/>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90"/>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9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3" name="Shape 43"/>
        <p:cNvGrpSpPr/>
        <p:nvPr/>
      </p:nvGrpSpPr>
      <p:grpSpPr>
        <a:xfrm>
          <a:off x="0" y="0"/>
          <a:ext cx="0" cy="0"/>
          <a:chOff x="0" y="0"/>
          <a:chExt cx="0" cy="0"/>
        </a:xfrm>
      </p:grpSpPr>
      <p:sp>
        <p:nvSpPr>
          <p:cNvPr id="44" name="Google Shape;44;p91"/>
          <p:cNvSpPr txBox="1"/>
          <p:nvPr>
            <p:ph type="title"/>
          </p:nvPr>
        </p:nvSpPr>
        <p:spPr>
          <a:xfrm>
            <a:off x="1259683" y="685800"/>
            <a:ext cx="5898356" cy="24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91"/>
          <p:cNvSpPr txBox="1"/>
          <p:nvPr>
            <p:ph idx="1" type="body"/>
          </p:nvPr>
        </p:nvSpPr>
        <p:spPr>
          <a:xfrm>
            <a:off x="7774782" y="1481138"/>
            <a:ext cx="9258300" cy="7310438"/>
          </a:xfrm>
          <a:prstGeom prst="rect">
            <a:avLst/>
          </a:prstGeom>
          <a:noFill/>
          <a:ln>
            <a:noFill/>
          </a:ln>
        </p:spPr>
        <p:txBody>
          <a:bodyPr anchorCtr="0" anchor="t" bIns="45700" lIns="91425" spcFirstLastPara="1" rIns="91425" wrap="square" tIns="45700">
            <a:normAutofit/>
          </a:bodyPr>
          <a:lstStyle>
            <a:lvl1pPr indent="-533400" lvl="0" marL="457200" algn="l">
              <a:lnSpc>
                <a:spcPct val="90000"/>
              </a:lnSpc>
              <a:spcBef>
                <a:spcPts val="1500"/>
              </a:spcBef>
              <a:spcAft>
                <a:spcPts val="0"/>
              </a:spcAft>
              <a:buClr>
                <a:schemeClr val="dk1"/>
              </a:buClr>
              <a:buSzPts val="4800"/>
              <a:buChar char="•"/>
              <a:defRPr sz="4800"/>
            </a:lvl1pPr>
            <a:lvl2pPr indent="-495300" lvl="1" marL="914400" algn="l">
              <a:lnSpc>
                <a:spcPct val="90000"/>
              </a:lnSpc>
              <a:spcBef>
                <a:spcPts val="750"/>
              </a:spcBef>
              <a:spcAft>
                <a:spcPts val="0"/>
              </a:spcAft>
              <a:buClr>
                <a:schemeClr val="dk1"/>
              </a:buClr>
              <a:buSzPts val="4200"/>
              <a:buChar char="•"/>
              <a:defRPr sz="4200"/>
            </a:lvl2pPr>
            <a:lvl3pPr indent="-457200" lvl="2" marL="1371600" algn="l">
              <a:lnSpc>
                <a:spcPct val="90000"/>
              </a:lnSpc>
              <a:spcBef>
                <a:spcPts val="750"/>
              </a:spcBef>
              <a:spcAft>
                <a:spcPts val="0"/>
              </a:spcAft>
              <a:buClr>
                <a:schemeClr val="dk1"/>
              </a:buClr>
              <a:buSzPts val="3600"/>
              <a:buChar char="•"/>
              <a:defRPr sz="3600"/>
            </a:lvl3pPr>
            <a:lvl4pPr indent="-419100" lvl="3" marL="1828800" algn="l">
              <a:lnSpc>
                <a:spcPct val="90000"/>
              </a:lnSpc>
              <a:spcBef>
                <a:spcPts val="750"/>
              </a:spcBef>
              <a:spcAft>
                <a:spcPts val="0"/>
              </a:spcAft>
              <a:buClr>
                <a:schemeClr val="dk1"/>
              </a:buClr>
              <a:buSzPts val="3000"/>
              <a:buChar char="•"/>
              <a:defRPr sz="3000"/>
            </a:lvl4pPr>
            <a:lvl5pPr indent="-419100" lvl="4" marL="2286000" algn="l">
              <a:lnSpc>
                <a:spcPct val="90000"/>
              </a:lnSpc>
              <a:spcBef>
                <a:spcPts val="750"/>
              </a:spcBef>
              <a:spcAft>
                <a:spcPts val="0"/>
              </a:spcAft>
              <a:buClr>
                <a:schemeClr val="dk1"/>
              </a:buClr>
              <a:buSzPts val="3000"/>
              <a:buChar char="•"/>
              <a:defRPr sz="3000"/>
            </a:lvl5pPr>
            <a:lvl6pPr indent="-419100" lvl="5" marL="2743200" algn="l">
              <a:lnSpc>
                <a:spcPct val="90000"/>
              </a:lnSpc>
              <a:spcBef>
                <a:spcPts val="750"/>
              </a:spcBef>
              <a:spcAft>
                <a:spcPts val="0"/>
              </a:spcAft>
              <a:buClr>
                <a:schemeClr val="dk1"/>
              </a:buClr>
              <a:buSzPts val="3000"/>
              <a:buChar char="•"/>
              <a:defRPr sz="3000"/>
            </a:lvl6pPr>
            <a:lvl7pPr indent="-419100" lvl="6" marL="3200400" algn="l">
              <a:lnSpc>
                <a:spcPct val="90000"/>
              </a:lnSpc>
              <a:spcBef>
                <a:spcPts val="750"/>
              </a:spcBef>
              <a:spcAft>
                <a:spcPts val="0"/>
              </a:spcAft>
              <a:buClr>
                <a:schemeClr val="dk1"/>
              </a:buClr>
              <a:buSzPts val="3000"/>
              <a:buChar char="•"/>
              <a:defRPr sz="3000"/>
            </a:lvl7pPr>
            <a:lvl8pPr indent="-419100" lvl="7" marL="3657600" algn="l">
              <a:lnSpc>
                <a:spcPct val="90000"/>
              </a:lnSpc>
              <a:spcBef>
                <a:spcPts val="750"/>
              </a:spcBef>
              <a:spcAft>
                <a:spcPts val="0"/>
              </a:spcAft>
              <a:buClr>
                <a:schemeClr val="dk1"/>
              </a:buClr>
              <a:buSzPts val="3000"/>
              <a:buChar char="•"/>
              <a:defRPr sz="3000"/>
            </a:lvl8pPr>
            <a:lvl9pPr indent="-419100" lvl="8" marL="4114800" algn="l">
              <a:lnSpc>
                <a:spcPct val="90000"/>
              </a:lnSpc>
              <a:spcBef>
                <a:spcPts val="750"/>
              </a:spcBef>
              <a:spcAft>
                <a:spcPts val="0"/>
              </a:spcAft>
              <a:buClr>
                <a:schemeClr val="dk1"/>
              </a:buClr>
              <a:buSzPts val="3000"/>
              <a:buChar char="•"/>
              <a:defRPr sz="3000"/>
            </a:lvl9pPr>
          </a:lstStyle>
          <a:p/>
        </p:txBody>
      </p:sp>
      <p:sp>
        <p:nvSpPr>
          <p:cNvPr id="46" name="Google Shape;46;p91"/>
          <p:cNvSpPr txBox="1"/>
          <p:nvPr>
            <p:ph idx="2" type="body"/>
          </p:nvPr>
        </p:nvSpPr>
        <p:spPr>
          <a:xfrm>
            <a:off x="1259683" y="3086100"/>
            <a:ext cx="5898356" cy="57173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2400"/>
              <a:buNone/>
              <a:defRPr sz="2400"/>
            </a:lvl1pPr>
            <a:lvl2pPr indent="-228600" lvl="1" marL="914400" algn="l">
              <a:lnSpc>
                <a:spcPct val="90000"/>
              </a:lnSpc>
              <a:spcBef>
                <a:spcPts val="750"/>
              </a:spcBef>
              <a:spcAft>
                <a:spcPts val="0"/>
              </a:spcAft>
              <a:buClr>
                <a:schemeClr val="dk1"/>
              </a:buClr>
              <a:buSzPts val="2100"/>
              <a:buNone/>
              <a:defRPr sz="2100"/>
            </a:lvl2pPr>
            <a:lvl3pPr indent="-228600" lvl="2" marL="1371600" algn="l">
              <a:lnSpc>
                <a:spcPct val="90000"/>
              </a:lnSpc>
              <a:spcBef>
                <a:spcPts val="750"/>
              </a:spcBef>
              <a:spcAft>
                <a:spcPts val="0"/>
              </a:spcAft>
              <a:buClr>
                <a:schemeClr val="dk1"/>
              </a:buClr>
              <a:buSzPts val="1800"/>
              <a:buNone/>
              <a:defRPr sz="1800"/>
            </a:lvl3pPr>
            <a:lvl4pPr indent="-228600" lvl="3" marL="1828800" algn="l">
              <a:lnSpc>
                <a:spcPct val="90000"/>
              </a:lnSpc>
              <a:spcBef>
                <a:spcPts val="750"/>
              </a:spcBef>
              <a:spcAft>
                <a:spcPts val="0"/>
              </a:spcAft>
              <a:buClr>
                <a:schemeClr val="dk1"/>
              </a:buClr>
              <a:buSzPts val="1500"/>
              <a:buNone/>
              <a:defRPr sz="1500"/>
            </a:lvl4pPr>
            <a:lvl5pPr indent="-228600" lvl="4" marL="2286000" algn="l">
              <a:lnSpc>
                <a:spcPct val="90000"/>
              </a:lnSpc>
              <a:spcBef>
                <a:spcPts val="750"/>
              </a:spcBef>
              <a:spcAft>
                <a:spcPts val="0"/>
              </a:spcAft>
              <a:buClr>
                <a:schemeClr val="dk1"/>
              </a:buClr>
              <a:buSzPts val="1500"/>
              <a:buNone/>
              <a:defRPr sz="1500"/>
            </a:lvl5pPr>
            <a:lvl6pPr indent="-228600" lvl="5" marL="2743200" algn="l">
              <a:lnSpc>
                <a:spcPct val="90000"/>
              </a:lnSpc>
              <a:spcBef>
                <a:spcPts val="750"/>
              </a:spcBef>
              <a:spcAft>
                <a:spcPts val="0"/>
              </a:spcAft>
              <a:buClr>
                <a:schemeClr val="dk1"/>
              </a:buClr>
              <a:buSzPts val="1500"/>
              <a:buNone/>
              <a:defRPr sz="1500"/>
            </a:lvl6pPr>
            <a:lvl7pPr indent="-228600" lvl="6" marL="3200400" algn="l">
              <a:lnSpc>
                <a:spcPct val="90000"/>
              </a:lnSpc>
              <a:spcBef>
                <a:spcPts val="750"/>
              </a:spcBef>
              <a:spcAft>
                <a:spcPts val="0"/>
              </a:spcAft>
              <a:buClr>
                <a:schemeClr val="dk1"/>
              </a:buClr>
              <a:buSzPts val="1500"/>
              <a:buNone/>
              <a:defRPr sz="1500"/>
            </a:lvl7pPr>
            <a:lvl8pPr indent="-228600" lvl="7" marL="3657600" algn="l">
              <a:lnSpc>
                <a:spcPct val="90000"/>
              </a:lnSpc>
              <a:spcBef>
                <a:spcPts val="750"/>
              </a:spcBef>
              <a:spcAft>
                <a:spcPts val="0"/>
              </a:spcAft>
              <a:buClr>
                <a:schemeClr val="dk1"/>
              </a:buClr>
              <a:buSzPts val="1500"/>
              <a:buNone/>
              <a:defRPr sz="1500"/>
            </a:lvl8pPr>
            <a:lvl9pPr indent="-228600" lvl="8" marL="4114800" algn="l">
              <a:lnSpc>
                <a:spcPct val="90000"/>
              </a:lnSpc>
              <a:spcBef>
                <a:spcPts val="750"/>
              </a:spcBef>
              <a:spcAft>
                <a:spcPts val="0"/>
              </a:spcAft>
              <a:buClr>
                <a:schemeClr val="dk1"/>
              </a:buClr>
              <a:buSzPts val="1500"/>
              <a:buNone/>
              <a:defRPr sz="1500"/>
            </a:lvl9pPr>
          </a:lstStyle>
          <a:p/>
        </p:txBody>
      </p:sp>
      <p:sp>
        <p:nvSpPr>
          <p:cNvPr id="47" name="Google Shape;47;p91"/>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1"/>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9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0" name="Shape 50"/>
        <p:cNvGrpSpPr/>
        <p:nvPr/>
      </p:nvGrpSpPr>
      <p:grpSpPr>
        <a:xfrm>
          <a:off x="0" y="0"/>
          <a:ext cx="0" cy="0"/>
          <a:chOff x="0" y="0"/>
          <a:chExt cx="0" cy="0"/>
        </a:xfrm>
      </p:grpSpPr>
      <p:sp>
        <p:nvSpPr>
          <p:cNvPr id="51" name="Google Shape;51;p92"/>
          <p:cNvSpPr txBox="1"/>
          <p:nvPr>
            <p:ph type="ctrTitle"/>
          </p:nvPr>
        </p:nvSpPr>
        <p:spPr>
          <a:xfrm>
            <a:off x="2286000" y="1683545"/>
            <a:ext cx="13716000" cy="35814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2"/>
          <p:cNvSpPr txBox="1"/>
          <p:nvPr>
            <p:ph idx="1" type="subTitle"/>
          </p:nvPr>
        </p:nvSpPr>
        <p:spPr>
          <a:xfrm>
            <a:off x="2286000" y="5403057"/>
            <a:ext cx="13716000" cy="248364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500"/>
              </a:spcBef>
              <a:spcAft>
                <a:spcPts val="0"/>
              </a:spcAft>
              <a:buClr>
                <a:schemeClr val="dk1"/>
              </a:buClr>
              <a:buSzPts val="3600"/>
              <a:buNone/>
              <a:defRPr sz="3600"/>
            </a:lvl1pPr>
            <a:lvl2pPr lvl="1" algn="ctr">
              <a:lnSpc>
                <a:spcPct val="90000"/>
              </a:lnSpc>
              <a:spcBef>
                <a:spcPts val="750"/>
              </a:spcBef>
              <a:spcAft>
                <a:spcPts val="0"/>
              </a:spcAft>
              <a:buClr>
                <a:schemeClr val="dk1"/>
              </a:buClr>
              <a:buSzPts val="3000"/>
              <a:buNone/>
              <a:defRPr sz="3000"/>
            </a:lvl2pPr>
            <a:lvl3pPr lvl="2" algn="ctr">
              <a:lnSpc>
                <a:spcPct val="90000"/>
              </a:lnSpc>
              <a:spcBef>
                <a:spcPts val="750"/>
              </a:spcBef>
              <a:spcAft>
                <a:spcPts val="0"/>
              </a:spcAft>
              <a:buClr>
                <a:schemeClr val="dk1"/>
              </a:buClr>
              <a:buSzPts val="2700"/>
              <a:buNone/>
              <a:defRPr sz="2700"/>
            </a:lvl3pPr>
            <a:lvl4pPr lvl="3" algn="ctr">
              <a:lnSpc>
                <a:spcPct val="90000"/>
              </a:lnSpc>
              <a:spcBef>
                <a:spcPts val="750"/>
              </a:spcBef>
              <a:spcAft>
                <a:spcPts val="0"/>
              </a:spcAft>
              <a:buClr>
                <a:schemeClr val="dk1"/>
              </a:buClr>
              <a:buSzPts val="2400"/>
              <a:buNone/>
              <a:defRPr sz="2400"/>
            </a:lvl4pPr>
            <a:lvl5pPr lvl="4" algn="ctr">
              <a:lnSpc>
                <a:spcPct val="90000"/>
              </a:lnSpc>
              <a:spcBef>
                <a:spcPts val="750"/>
              </a:spcBef>
              <a:spcAft>
                <a:spcPts val="0"/>
              </a:spcAft>
              <a:buClr>
                <a:schemeClr val="dk1"/>
              </a:buClr>
              <a:buSzPts val="2400"/>
              <a:buNone/>
              <a:defRPr sz="2400"/>
            </a:lvl5pPr>
            <a:lvl6pPr lvl="5" algn="ctr">
              <a:lnSpc>
                <a:spcPct val="90000"/>
              </a:lnSpc>
              <a:spcBef>
                <a:spcPts val="750"/>
              </a:spcBef>
              <a:spcAft>
                <a:spcPts val="0"/>
              </a:spcAft>
              <a:buClr>
                <a:schemeClr val="dk1"/>
              </a:buClr>
              <a:buSzPts val="2400"/>
              <a:buNone/>
              <a:defRPr sz="2400"/>
            </a:lvl6pPr>
            <a:lvl7pPr lvl="6" algn="ctr">
              <a:lnSpc>
                <a:spcPct val="90000"/>
              </a:lnSpc>
              <a:spcBef>
                <a:spcPts val="750"/>
              </a:spcBef>
              <a:spcAft>
                <a:spcPts val="0"/>
              </a:spcAft>
              <a:buClr>
                <a:schemeClr val="dk1"/>
              </a:buClr>
              <a:buSzPts val="2400"/>
              <a:buNone/>
              <a:defRPr sz="2400"/>
            </a:lvl7pPr>
            <a:lvl8pPr lvl="7" algn="ctr">
              <a:lnSpc>
                <a:spcPct val="90000"/>
              </a:lnSpc>
              <a:spcBef>
                <a:spcPts val="750"/>
              </a:spcBef>
              <a:spcAft>
                <a:spcPts val="0"/>
              </a:spcAft>
              <a:buClr>
                <a:schemeClr val="dk1"/>
              </a:buClr>
              <a:buSzPts val="2400"/>
              <a:buNone/>
              <a:defRPr sz="2400"/>
            </a:lvl8pPr>
            <a:lvl9pPr lvl="8" algn="ctr">
              <a:lnSpc>
                <a:spcPct val="90000"/>
              </a:lnSpc>
              <a:spcBef>
                <a:spcPts val="750"/>
              </a:spcBef>
              <a:spcAft>
                <a:spcPts val="0"/>
              </a:spcAft>
              <a:buClr>
                <a:schemeClr val="dk1"/>
              </a:buClr>
              <a:buSzPts val="2400"/>
              <a:buNone/>
              <a:defRPr sz="2400"/>
            </a:lvl9pPr>
          </a:lstStyle>
          <a:p/>
        </p:txBody>
      </p:sp>
      <p:sp>
        <p:nvSpPr>
          <p:cNvPr id="53" name="Google Shape;53;p92"/>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2"/>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9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93"/>
          <p:cNvSpPr txBox="1"/>
          <p:nvPr>
            <p:ph type="title"/>
          </p:nvPr>
        </p:nvSpPr>
        <p:spPr>
          <a:xfrm>
            <a:off x="1247775" y="2564608"/>
            <a:ext cx="15773400" cy="427910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3"/>
          <p:cNvSpPr txBox="1"/>
          <p:nvPr>
            <p:ph idx="1" type="body"/>
          </p:nvPr>
        </p:nvSpPr>
        <p:spPr>
          <a:xfrm>
            <a:off x="1247775" y="6884195"/>
            <a:ext cx="15773400" cy="225028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rgbClr val="888888"/>
              </a:buClr>
              <a:buSzPts val="3600"/>
              <a:buNone/>
              <a:defRPr sz="3600">
                <a:solidFill>
                  <a:srgbClr val="888888"/>
                </a:solidFill>
              </a:defRPr>
            </a:lvl1pPr>
            <a:lvl2pPr indent="-228600" lvl="1" marL="914400" algn="l">
              <a:lnSpc>
                <a:spcPct val="90000"/>
              </a:lnSpc>
              <a:spcBef>
                <a:spcPts val="750"/>
              </a:spcBef>
              <a:spcAft>
                <a:spcPts val="0"/>
              </a:spcAft>
              <a:buClr>
                <a:srgbClr val="888888"/>
              </a:buClr>
              <a:buSzPts val="3000"/>
              <a:buNone/>
              <a:defRPr sz="3000">
                <a:solidFill>
                  <a:srgbClr val="888888"/>
                </a:solidFill>
              </a:defRPr>
            </a:lvl2pPr>
            <a:lvl3pPr indent="-228600" lvl="2" marL="1371600" algn="l">
              <a:lnSpc>
                <a:spcPct val="90000"/>
              </a:lnSpc>
              <a:spcBef>
                <a:spcPts val="750"/>
              </a:spcBef>
              <a:spcAft>
                <a:spcPts val="0"/>
              </a:spcAft>
              <a:buClr>
                <a:srgbClr val="888888"/>
              </a:buClr>
              <a:buSzPts val="2700"/>
              <a:buNone/>
              <a:defRPr sz="2700">
                <a:solidFill>
                  <a:srgbClr val="888888"/>
                </a:solidFill>
              </a:defRPr>
            </a:lvl3pPr>
            <a:lvl4pPr indent="-228600" lvl="3" marL="1828800" algn="l">
              <a:lnSpc>
                <a:spcPct val="90000"/>
              </a:lnSpc>
              <a:spcBef>
                <a:spcPts val="750"/>
              </a:spcBef>
              <a:spcAft>
                <a:spcPts val="0"/>
              </a:spcAft>
              <a:buClr>
                <a:srgbClr val="888888"/>
              </a:buClr>
              <a:buSzPts val="2400"/>
              <a:buNone/>
              <a:defRPr sz="2400">
                <a:solidFill>
                  <a:srgbClr val="888888"/>
                </a:solidFill>
              </a:defRPr>
            </a:lvl4pPr>
            <a:lvl5pPr indent="-228600" lvl="4" marL="2286000" algn="l">
              <a:lnSpc>
                <a:spcPct val="90000"/>
              </a:lnSpc>
              <a:spcBef>
                <a:spcPts val="750"/>
              </a:spcBef>
              <a:spcAft>
                <a:spcPts val="0"/>
              </a:spcAft>
              <a:buClr>
                <a:srgbClr val="888888"/>
              </a:buClr>
              <a:buSzPts val="2400"/>
              <a:buNone/>
              <a:defRPr sz="2400">
                <a:solidFill>
                  <a:srgbClr val="888888"/>
                </a:solidFill>
              </a:defRPr>
            </a:lvl5pPr>
            <a:lvl6pPr indent="-228600" lvl="5" marL="2743200" algn="l">
              <a:lnSpc>
                <a:spcPct val="90000"/>
              </a:lnSpc>
              <a:spcBef>
                <a:spcPts val="750"/>
              </a:spcBef>
              <a:spcAft>
                <a:spcPts val="0"/>
              </a:spcAft>
              <a:buClr>
                <a:srgbClr val="888888"/>
              </a:buClr>
              <a:buSzPts val="2400"/>
              <a:buNone/>
              <a:defRPr sz="2400">
                <a:solidFill>
                  <a:srgbClr val="888888"/>
                </a:solidFill>
              </a:defRPr>
            </a:lvl6pPr>
            <a:lvl7pPr indent="-228600" lvl="6" marL="3200400" algn="l">
              <a:lnSpc>
                <a:spcPct val="90000"/>
              </a:lnSpc>
              <a:spcBef>
                <a:spcPts val="750"/>
              </a:spcBef>
              <a:spcAft>
                <a:spcPts val="0"/>
              </a:spcAft>
              <a:buClr>
                <a:srgbClr val="888888"/>
              </a:buClr>
              <a:buSzPts val="2400"/>
              <a:buNone/>
              <a:defRPr sz="2400">
                <a:solidFill>
                  <a:srgbClr val="888888"/>
                </a:solidFill>
              </a:defRPr>
            </a:lvl7pPr>
            <a:lvl8pPr indent="-228600" lvl="7" marL="3657600" algn="l">
              <a:lnSpc>
                <a:spcPct val="90000"/>
              </a:lnSpc>
              <a:spcBef>
                <a:spcPts val="750"/>
              </a:spcBef>
              <a:spcAft>
                <a:spcPts val="0"/>
              </a:spcAft>
              <a:buClr>
                <a:srgbClr val="888888"/>
              </a:buClr>
              <a:buSzPts val="2400"/>
              <a:buNone/>
              <a:defRPr sz="2400">
                <a:solidFill>
                  <a:srgbClr val="888888"/>
                </a:solidFill>
              </a:defRPr>
            </a:lvl8pPr>
            <a:lvl9pPr indent="-228600" lvl="8" marL="4114800" algn="l">
              <a:lnSpc>
                <a:spcPct val="90000"/>
              </a:lnSpc>
              <a:spcBef>
                <a:spcPts val="750"/>
              </a:spcBef>
              <a:spcAft>
                <a:spcPts val="0"/>
              </a:spcAft>
              <a:buClr>
                <a:srgbClr val="888888"/>
              </a:buClr>
              <a:buSzPts val="2400"/>
              <a:buNone/>
              <a:defRPr sz="2400">
                <a:solidFill>
                  <a:srgbClr val="888888"/>
                </a:solidFill>
              </a:defRPr>
            </a:lvl9pPr>
          </a:lstStyle>
          <a:p/>
        </p:txBody>
      </p:sp>
      <p:sp>
        <p:nvSpPr>
          <p:cNvPr id="59" name="Google Shape;59;p93"/>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3"/>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3"/>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94"/>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4"/>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4"/>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95"/>
          <p:cNvSpPr txBox="1"/>
          <p:nvPr>
            <p:ph type="title"/>
          </p:nvPr>
        </p:nvSpPr>
        <p:spPr>
          <a:xfrm>
            <a:off x="1259683" y="685800"/>
            <a:ext cx="5898356" cy="24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5"/>
          <p:cNvSpPr/>
          <p:nvPr>
            <p:ph idx="2" type="pic"/>
          </p:nvPr>
        </p:nvSpPr>
        <p:spPr>
          <a:xfrm>
            <a:off x="7774782" y="1481138"/>
            <a:ext cx="9258300" cy="7310438"/>
          </a:xfrm>
          <a:prstGeom prst="rect">
            <a:avLst/>
          </a:prstGeom>
          <a:noFill/>
          <a:ln>
            <a:noFill/>
          </a:ln>
        </p:spPr>
      </p:sp>
      <p:sp>
        <p:nvSpPr>
          <p:cNvPr id="69" name="Google Shape;69;p95"/>
          <p:cNvSpPr txBox="1"/>
          <p:nvPr>
            <p:ph idx="1" type="body"/>
          </p:nvPr>
        </p:nvSpPr>
        <p:spPr>
          <a:xfrm>
            <a:off x="1259683" y="3086100"/>
            <a:ext cx="5898356" cy="57173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2400"/>
              <a:buNone/>
              <a:defRPr sz="2400"/>
            </a:lvl1pPr>
            <a:lvl2pPr indent="-228600" lvl="1" marL="914400" algn="l">
              <a:lnSpc>
                <a:spcPct val="90000"/>
              </a:lnSpc>
              <a:spcBef>
                <a:spcPts val="750"/>
              </a:spcBef>
              <a:spcAft>
                <a:spcPts val="0"/>
              </a:spcAft>
              <a:buClr>
                <a:schemeClr val="dk1"/>
              </a:buClr>
              <a:buSzPts val="2100"/>
              <a:buNone/>
              <a:defRPr sz="2100"/>
            </a:lvl2pPr>
            <a:lvl3pPr indent="-228600" lvl="2" marL="1371600" algn="l">
              <a:lnSpc>
                <a:spcPct val="90000"/>
              </a:lnSpc>
              <a:spcBef>
                <a:spcPts val="750"/>
              </a:spcBef>
              <a:spcAft>
                <a:spcPts val="0"/>
              </a:spcAft>
              <a:buClr>
                <a:schemeClr val="dk1"/>
              </a:buClr>
              <a:buSzPts val="1800"/>
              <a:buNone/>
              <a:defRPr sz="1800"/>
            </a:lvl3pPr>
            <a:lvl4pPr indent="-228600" lvl="3" marL="1828800" algn="l">
              <a:lnSpc>
                <a:spcPct val="90000"/>
              </a:lnSpc>
              <a:spcBef>
                <a:spcPts val="750"/>
              </a:spcBef>
              <a:spcAft>
                <a:spcPts val="0"/>
              </a:spcAft>
              <a:buClr>
                <a:schemeClr val="dk1"/>
              </a:buClr>
              <a:buSzPts val="1500"/>
              <a:buNone/>
              <a:defRPr sz="1500"/>
            </a:lvl4pPr>
            <a:lvl5pPr indent="-228600" lvl="4" marL="2286000" algn="l">
              <a:lnSpc>
                <a:spcPct val="90000"/>
              </a:lnSpc>
              <a:spcBef>
                <a:spcPts val="750"/>
              </a:spcBef>
              <a:spcAft>
                <a:spcPts val="0"/>
              </a:spcAft>
              <a:buClr>
                <a:schemeClr val="dk1"/>
              </a:buClr>
              <a:buSzPts val="1500"/>
              <a:buNone/>
              <a:defRPr sz="1500"/>
            </a:lvl5pPr>
            <a:lvl6pPr indent="-228600" lvl="5" marL="2743200" algn="l">
              <a:lnSpc>
                <a:spcPct val="90000"/>
              </a:lnSpc>
              <a:spcBef>
                <a:spcPts val="750"/>
              </a:spcBef>
              <a:spcAft>
                <a:spcPts val="0"/>
              </a:spcAft>
              <a:buClr>
                <a:schemeClr val="dk1"/>
              </a:buClr>
              <a:buSzPts val="1500"/>
              <a:buNone/>
              <a:defRPr sz="1500"/>
            </a:lvl6pPr>
            <a:lvl7pPr indent="-228600" lvl="6" marL="3200400" algn="l">
              <a:lnSpc>
                <a:spcPct val="90000"/>
              </a:lnSpc>
              <a:spcBef>
                <a:spcPts val="750"/>
              </a:spcBef>
              <a:spcAft>
                <a:spcPts val="0"/>
              </a:spcAft>
              <a:buClr>
                <a:schemeClr val="dk1"/>
              </a:buClr>
              <a:buSzPts val="1500"/>
              <a:buNone/>
              <a:defRPr sz="1500"/>
            </a:lvl7pPr>
            <a:lvl8pPr indent="-228600" lvl="7" marL="3657600" algn="l">
              <a:lnSpc>
                <a:spcPct val="90000"/>
              </a:lnSpc>
              <a:spcBef>
                <a:spcPts val="750"/>
              </a:spcBef>
              <a:spcAft>
                <a:spcPts val="0"/>
              </a:spcAft>
              <a:buClr>
                <a:schemeClr val="dk1"/>
              </a:buClr>
              <a:buSzPts val="1500"/>
              <a:buNone/>
              <a:defRPr sz="1500"/>
            </a:lvl8pPr>
            <a:lvl9pPr indent="-228600" lvl="8" marL="4114800" algn="l">
              <a:lnSpc>
                <a:spcPct val="90000"/>
              </a:lnSpc>
              <a:spcBef>
                <a:spcPts val="750"/>
              </a:spcBef>
              <a:spcAft>
                <a:spcPts val="0"/>
              </a:spcAft>
              <a:buClr>
                <a:schemeClr val="dk1"/>
              </a:buClr>
              <a:buSzPts val="1500"/>
              <a:buNone/>
              <a:defRPr sz="1500"/>
            </a:lvl9pPr>
          </a:lstStyle>
          <a:p/>
        </p:txBody>
      </p:sp>
      <p:sp>
        <p:nvSpPr>
          <p:cNvPr id="70" name="Google Shape;70;p95"/>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5"/>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5"/>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96"/>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6"/>
          <p:cNvSpPr txBox="1"/>
          <p:nvPr>
            <p:ph idx="1" type="body"/>
          </p:nvPr>
        </p:nvSpPr>
        <p:spPr>
          <a:xfrm rot="5400000">
            <a:off x="5880497" y="-1884758"/>
            <a:ext cx="6527007" cy="1577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76" name="Google Shape;76;p96"/>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6"/>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96"/>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97"/>
          <p:cNvSpPr txBox="1"/>
          <p:nvPr>
            <p:ph type="title"/>
          </p:nvPr>
        </p:nvSpPr>
        <p:spPr>
          <a:xfrm rot="5400000">
            <a:off x="10700147" y="2934892"/>
            <a:ext cx="8717757" cy="39433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97"/>
          <p:cNvSpPr txBox="1"/>
          <p:nvPr>
            <p:ph idx="1" type="body"/>
          </p:nvPr>
        </p:nvSpPr>
        <p:spPr>
          <a:xfrm rot="5400000">
            <a:off x="2699146" y="-894158"/>
            <a:ext cx="8717757" cy="116014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82" name="Google Shape;82;p97"/>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97"/>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9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6"/>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6600"/>
              <a:buFont typeface="Calibri"/>
              <a:buNone/>
              <a:defRPr b="0" i="0" sz="66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6"/>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lvl1pPr indent="-495300" lvl="0" marL="457200" marR="0" rtl="0" algn="l">
              <a:lnSpc>
                <a:spcPct val="90000"/>
              </a:lnSpc>
              <a:spcBef>
                <a:spcPts val="150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 name="Google Shape;12;p86"/>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86"/>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86"/>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86"/>
          <p:cNvPicPr preferRelativeResize="0"/>
          <p:nvPr/>
        </p:nvPicPr>
        <p:blipFill rotWithShape="1">
          <a:blip r:embed="rId1">
            <a:alphaModFix/>
          </a:blip>
          <a:srcRect b="0" l="0" r="0" t="0"/>
          <a:stretch/>
        </p:blipFill>
        <p:spPr>
          <a:xfrm>
            <a:off x="15517929" y="229056"/>
            <a:ext cx="2438400" cy="1171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geeksforgeeks.org/computer-memory/" TargetMode="External"/><Relationship Id="rId4" Type="http://schemas.openxmlformats.org/officeDocument/2006/relationships/hyperlink" Target="https://www.geeksforgeeks.org/computer-memory/" TargetMode="External"/><Relationship Id="rId5" Type="http://schemas.openxmlformats.org/officeDocument/2006/relationships/hyperlink" Target="https://www.geeksforgeeks.org/different-types-ram-random-access-memory/" TargetMode="External"/><Relationship Id="rId6" Type="http://schemas.openxmlformats.org/officeDocument/2006/relationships/hyperlink" Target="https://www.geeksforgeeks.org/difference-between-ram-and-r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9.png"/><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3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1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2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2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1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2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2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88" name="Shape 88"/>
        <p:cNvGrpSpPr/>
        <p:nvPr/>
      </p:nvGrpSpPr>
      <p:grpSpPr>
        <a:xfrm>
          <a:off x="0" y="0"/>
          <a:ext cx="0" cy="0"/>
          <a:chOff x="0" y="0"/>
          <a:chExt cx="0" cy="0"/>
        </a:xfrm>
      </p:grpSpPr>
      <p:sp>
        <p:nvSpPr>
          <p:cNvPr id="89" name="Google Shape;89;p1"/>
          <p:cNvSpPr/>
          <p:nvPr/>
        </p:nvSpPr>
        <p:spPr>
          <a:xfrm>
            <a:off x="316662" y="585302"/>
            <a:ext cx="3136227" cy="886795"/>
          </a:xfrm>
          <a:custGeom>
            <a:rect b="b" l="l" r="r" t="t"/>
            <a:pathLst>
              <a:path extrusionOk="0" h="886795" w="3136227">
                <a:moveTo>
                  <a:pt x="0" y="0"/>
                </a:moveTo>
                <a:lnTo>
                  <a:pt x="3136228" y="0"/>
                </a:lnTo>
                <a:lnTo>
                  <a:pt x="3136228" y="886796"/>
                </a:lnTo>
                <a:lnTo>
                  <a:pt x="0" y="886796"/>
                </a:lnTo>
                <a:lnTo>
                  <a:pt x="0" y="0"/>
                </a:lnTo>
                <a:close/>
              </a:path>
            </a:pathLst>
          </a:custGeom>
          <a:blipFill rotWithShape="1">
            <a:blip r:embed="rId3">
              <a:alphaModFix/>
            </a:blip>
            <a:stretch>
              <a:fillRect b="0" l="0" r="0" t="0"/>
            </a:stretch>
          </a:blipFill>
          <a:ln>
            <a:noFill/>
          </a:ln>
          <a:effectLst>
            <a:outerShdw blurRad="50800" sx="99000" rotWithShape="0" algn="ctr" dir="4800000" dist="50800" sy="99000">
              <a:srgbClr val="000000"/>
            </a:outerShdw>
          </a:effectLst>
        </p:spPr>
      </p:sp>
      <p:pic>
        <p:nvPicPr>
          <p:cNvPr id="90" name="Google Shape;90;p1"/>
          <p:cNvPicPr preferRelativeResize="0"/>
          <p:nvPr/>
        </p:nvPicPr>
        <p:blipFill rotWithShape="1">
          <a:blip r:embed="rId4">
            <a:alphaModFix/>
          </a:blip>
          <a:srcRect b="0" l="0" r="0" t="0"/>
          <a:stretch/>
        </p:blipFill>
        <p:spPr>
          <a:xfrm>
            <a:off x="14479880" y="190501"/>
            <a:ext cx="3491457" cy="1676400"/>
          </a:xfrm>
          <a:prstGeom prst="rect">
            <a:avLst/>
          </a:prstGeom>
          <a:noFill/>
          <a:ln>
            <a:noFill/>
          </a:ln>
        </p:spPr>
      </p:pic>
      <p:sp>
        <p:nvSpPr>
          <p:cNvPr id="91" name="Google Shape;91;p1"/>
          <p:cNvSpPr txBox="1"/>
          <p:nvPr/>
        </p:nvSpPr>
        <p:spPr>
          <a:xfrm>
            <a:off x="158115" y="2789778"/>
            <a:ext cx="18288000" cy="1408665"/>
          </a:xfrm>
          <a:prstGeom prst="rect">
            <a:avLst/>
          </a:prstGeom>
          <a:noFill/>
          <a:ln>
            <a:noFill/>
          </a:ln>
        </p:spPr>
        <p:txBody>
          <a:bodyPr anchorCtr="0" anchor="b" bIns="45700" lIns="91425" spcFirstLastPara="1" rIns="91425" wrap="square" tIns="45700">
            <a:noAutofit/>
          </a:bodyPr>
          <a:lstStyle/>
          <a:p>
            <a:pPr indent="0" lvl="0" marL="0" marR="0" rtl="0" algn="ctr">
              <a:lnSpc>
                <a:spcPct val="120000"/>
              </a:lnSpc>
              <a:spcBef>
                <a:spcPts val="0"/>
              </a:spcBef>
              <a:spcAft>
                <a:spcPts val="0"/>
              </a:spcAft>
              <a:buClr>
                <a:srgbClr val="002060"/>
              </a:buClr>
              <a:buSzPts val="4800"/>
              <a:buFont typeface="Cambria"/>
              <a:buNone/>
            </a:pPr>
            <a:r>
              <a:rPr b="1" i="0" lang="en-US" sz="4800" u="none" cap="none" strike="noStrike">
                <a:solidFill>
                  <a:srgbClr val="002060"/>
                </a:solidFill>
                <a:latin typeface="Times New Roman"/>
                <a:ea typeface="Times New Roman"/>
                <a:cs typeface="Times New Roman"/>
                <a:sym typeface="Times New Roman"/>
              </a:rPr>
              <a:t>OBJECT ORIENTED PROGRAMMING</a:t>
            </a:r>
            <a:endParaRPr b="0" i="0" sz="4800" u="none" cap="none" strike="noStrike">
              <a:solidFill>
                <a:srgbClr val="000000"/>
              </a:solidFill>
              <a:latin typeface="Times New Roman"/>
              <a:ea typeface="Times New Roman"/>
              <a:cs typeface="Times New Roman"/>
              <a:sym typeface="Times New Roman"/>
            </a:endParaRPr>
          </a:p>
          <a:p>
            <a:pPr indent="0" lvl="0" marL="0" marR="0" rtl="0" algn="ctr">
              <a:lnSpc>
                <a:spcPct val="120000"/>
              </a:lnSpc>
              <a:spcBef>
                <a:spcPts val="0"/>
              </a:spcBef>
              <a:spcAft>
                <a:spcPts val="0"/>
              </a:spcAft>
              <a:buClr>
                <a:srgbClr val="002060"/>
              </a:buClr>
              <a:buSzPts val="4800"/>
              <a:buFont typeface="Cambria"/>
              <a:buNone/>
            </a:pPr>
            <a:r>
              <a:rPr b="1" i="0" lang="en-US" sz="4800" u="none" cap="none" strike="noStrike">
                <a:solidFill>
                  <a:srgbClr val="002060"/>
                </a:solidFill>
                <a:latin typeface="Times New Roman"/>
                <a:ea typeface="Times New Roman"/>
                <a:cs typeface="Times New Roman"/>
                <a:sym typeface="Times New Roman"/>
              </a:rPr>
              <a:t>(23EN1202)</a:t>
            </a:r>
            <a:endParaRPr/>
          </a:p>
        </p:txBody>
      </p:sp>
      <p:sp>
        <p:nvSpPr>
          <p:cNvPr id="92" name="Google Shape;92;p1"/>
          <p:cNvSpPr txBox="1"/>
          <p:nvPr/>
        </p:nvSpPr>
        <p:spPr>
          <a:xfrm>
            <a:off x="1" y="5469763"/>
            <a:ext cx="18287999" cy="1845438"/>
          </a:xfrm>
          <a:prstGeom prst="rect">
            <a:avLst/>
          </a:prstGeom>
          <a:noFill/>
          <a:ln>
            <a:noFill/>
          </a:ln>
        </p:spPr>
        <p:txBody>
          <a:bodyPr anchorCtr="0" anchor="b" bIns="45700" lIns="91425" spcFirstLastPara="1" rIns="91425" wrap="square" tIns="45700">
            <a:normAutofit lnSpcReduction="10000"/>
          </a:bodyPr>
          <a:lstStyle/>
          <a:p>
            <a:pPr indent="0" lvl="0" marL="0" marR="0" rtl="0" algn="ctr">
              <a:lnSpc>
                <a:spcPct val="85000"/>
              </a:lnSpc>
              <a:spcBef>
                <a:spcPts val="0"/>
              </a:spcBef>
              <a:spcAft>
                <a:spcPts val="0"/>
              </a:spcAft>
              <a:buClr>
                <a:schemeClr val="dk1"/>
              </a:buClr>
              <a:buSzPts val="5400"/>
              <a:buFont typeface="Cambria"/>
              <a:buNone/>
            </a:pPr>
            <a:r>
              <a:rPr b="1" i="0" lang="en-US" sz="4800" u="none" cap="none" strike="noStrike">
                <a:solidFill>
                  <a:schemeClr val="dk1"/>
                </a:solidFill>
                <a:latin typeface="Times New Roman"/>
                <a:ea typeface="Times New Roman"/>
                <a:cs typeface="Times New Roman"/>
                <a:sym typeface="Times New Roman"/>
              </a:rPr>
              <a:t>UNIT- 4: Part 1</a:t>
            </a:r>
            <a:endParaRPr/>
          </a:p>
          <a:p>
            <a:pPr indent="0" lvl="0" marL="0" marR="0" rtl="0" algn="ctr">
              <a:lnSpc>
                <a:spcPct val="85000"/>
              </a:lnSpc>
              <a:spcBef>
                <a:spcPts val="0"/>
              </a:spcBef>
              <a:spcAft>
                <a:spcPts val="0"/>
              </a:spcAft>
              <a:buClr>
                <a:schemeClr val="dk1"/>
              </a:buClr>
              <a:buSzPts val="5400"/>
              <a:buFont typeface="Cambria"/>
              <a:buNone/>
            </a:pPr>
            <a:r>
              <a:t/>
            </a:r>
            <a:endParaRPr b="1" i="0" sz="4800" u="none" cap="none" strike="noStrike">
              <a:solidFill>
                <a:schemeClr val="dk1"/>
              </a:solidFill>
              <a:latin typeface="Cambria"/>
              <a:ea typeface="Cambria"/>
              <a:cs typeface="Cambria"/>
              <a:sym typeface="Cambria"/>
            </a:endParaRPr>
          </a:p>
          <a:p>
            <a:pPr indent="0" lvl="0" marL="0" marR="0" rtl="0" algn="ctr">
              <a:lnSpc>
                <a:spcPct val="85000"/>
              </a:lnSpc>
              <a:spcBef>
                <a:spcPts val="0"/>
              </a:spcBef>
              <a:spcAft>
                <a:spcPts val="0"/>
              </a:spcAft>
              <a:buClr>
                <a:schemeClr val="dk1"/>
              </a:buClr>
              <a:buSzPts val="5400"/>
              <a:buFont typeface="Cambria"/>
              <a:buNone/>
            </a:pPr>
            <a:r>
              <a:rPr b="1" i="0" lang="en-US" sz="4800" u="none" cap="none" strike="noStrike">
                <a:solidFill>
                  <a:schemeClr val="accent1"/>
                </a:solidFill>
                <a:latin typeface="Times New Roman"/>
                <a:ea typeface="Times New Roman"/>
                <a:cs typeface="Times New Roman"/>
                <a:sym typeface="Times New Roman"/>
              </a:rPr>
              <a:t>FILE HANDLING METHODS </a:t>
            </a:r>
            <a:endParaRPr/>
          </a:p>
          <a:p>
            <a:pPr indent="0" lvl="0" marL="0" marR="0" rtl="0" algn="ctr">
              <a:lnSpc>
                <a:spcPct val="85000"/>
              </a:lnSpc>
              <a:spcBef>
                <a:spcPts val="0"/>
              </a:spcBef>
              <a:spcAft>
                <a:spcPts val="0"/>
              </a:spcAft>
              <a:buClr>
                <a:schemeClr val="dk1"/>
              </a:buClr>
              <a:buSzPts val="5400"/>
              <a:buFont typeface="Cambria"/>
              <a:buNone/>
            </a:pPr>
            <a:r>
              <a:t/>
            </a:r>
            <a:endParaRPr b="1" i="0" sz="4800" u="none" cap="none" strike="noStrike">
              <a:solidFill>
                <a:schemeClr val="accent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2"/>
          <p:cNvSpPr txBox="1"/>
          <p:nvPr>
            <p:ph type="title"/>
          </p:nvPr>
        </p:nvSpPr>
        <p:spPr>
          <a:xfrm>
            <a:off x="-1" y="1570786"/>
            <a:ext cx="18288001" cy="1066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800"/>
              <a:buFont typeface="Calibri"/>
              <a:buNone/>
            </a:pPr>
            <a:r>
              <a:rPr b="1" lang="en-US" sz="4800">
                <a:solidFill>
                  <a:srgbClr val="2E75B5"/>
                </a:solidFill>
                <a:latin typeface="Times New Roman"/>
                <a:ea typeface="Times New Roman"/>
                <a:cs typeface="Times New Roman"/>
                <a:sym typeface="Times New Roman"/>
              </a:rPr>
              <a:t>Topics</a:t>
            </a:r>
            <a:endParaRPr b="1" sz="4800" u="sng">
              <a:solidFill>
                <a:srgbClr val="2E75B5"/>
              </a:solidFill>
              <a:latin typeface="Times New Roman"/>
              <a:ea typeface="Times New Roman"/>
              <a:cs typeface="Times New Roman"/>
              <a:sym typeface="Times New Roman"/>
            </a:endParaRPr>
          </a:p>
        </p:txBody>
      </p:sp>
      <p:grpSp>
        <p:nvGrpSpPr>
          <p:cNvPr id="98" name="Google Shape;98;p2"/>
          <p:cNvGrpSpPr/>
          <p:nvPr/>
        </p:nvGrpSpPr>
        <p:grpSpPr>
          <a:xfrm>
            <a:off x="1403350" y="4270375"/>
            <a:ext cx="15499715" cy="1372235"/>
            <a:chOff x="8334" y="2806303"/>
            <a:chExt cx="17052131" cy="1550193"/>
          </a:xfrm>
        </p:grpSpPr>
        <p:sp>
          <p:nvSpPr>
            <p:cNvPr id="99" name="Google Shape;99;p2"/>
            <p:cNvSpPr/>
            <p:nvPr/>
          </p:nvSpPr>
          <p:spPr>
            <a:xfrm>
              <a:off x="8334" y="2806303"/>
              <a:ext cx="2583656" cy="1550193"/>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
            <p:cNvSpPr txBox="1"/>
            <p:nvPr/>
          </p:nvSpPr>
          <p:spPr>
            <a:xfrm>
              <a:off x="53738" y="2851707"/>
              <a:ext cx="2492848" cy="1459385"/>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chemeClr val="lt1"/>
                </a:buClr>
                <a:buSzPts val="3300"/>
                <a:buFont typeface="Calibri"/>
                <a:buNone/>
              </a:pPr>
              <a:r>
                <a:rPr b="1" i="0" lang="en-US" sz="3300" u="none" cap="none" strike="noStrike">
                  <a:solidFill>
                    <a:schemeClr val="lt1"/>
                  </a:solidFill>
                  <a:latin typeface="Calibri"/>
                  <a:ea typeface="Calibri"/>
                  <a:cs typeface="Calibri"/>
                  <a:sym typeface="Calibri"/>
                </a:rPr>
                <a:t>File path</a:t>
              </a:r>
              <a:endParaRPr b="0" i="0" sz="3300" u="none" cap="none" strike="noStrike">
                <a:solidFill>
                  <a:schemeClr val="lt1"/>
                </a:solidFill>
                <a:latin typeface="Calibri"/>
                <a:ea typeface="Calibri"/>
                <a:cs typeface="Calibri"/>
                <a:sym typeface="Calibri"/>
              </a:endParaRPr>
            </a:p>
          </p:txBody>
        </p:sp>
        <p:sp>
          <p:nvSpPr>
            <p:cNvPr id="101" name="Google Shape;101;p2"/>
            <p:cNvSpPr/>
            <p:nvPr/>
          </p:nvSpPr>
          <p:spPr>
            <a:xfrm>
              <a:off x="2850356" y="3261026"/>
              <a:ext cx="547735" cy="640746"/>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2850356" y="3389175"/>
              <a:ext cx="383415" cy="384448"/>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700"/>
                <a:buFont typeface="Calibri"/>
                <a:buNone/>
              </a:pPr>
              <a:r>
                <a:t/>
              </a:r>
              <a:endParaRPr b="0" i="0" sz="2700" u="none" cap="none" strike="noStrike">
                <a:solidFill>
                  <a:schemeClr val="lt1"/>
                </a:solidFill>
                <a:latin typeface="Calibri"/>
                <a:ea typeface="Calibri"/>
                <a:cs typeface="Calibri"/>
                <a:sym typeface="Calibri"/>
              </a:endParaRPr>
            </a:p>
          </p:txBody>
        </p:sp>
        <p:sp>
          <p:nvSpPr>
            <p:cNvPr id="103" name="Google Shape;103;p2"/>
            <p:cNvSpPr/>
            <p:nvPr/>
          </p:nvSpPr>
          <p:spPr>
            <a:xfrm>
              <a:off x="3625453" y="2806303"/>
              <a:ext cx="2583656" cy="1550193"/>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
            <p:cNvSpPr txBox="1"/>
            <p:nvPr/>
          </p:nvSpPr>
          <p:spPr>
            <a:xfrm>
              <a:off x="3670857" y="2851707"/>
              <a:ext cx="2492848" cy="1459385"/>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chemeClr val="lt1"/>
                </a:buClr>
                <a:buSzPts val="3300"/>
                <a:buFont typeface="Calibri"/>
                <a:buNone/>
              </a:pPr>
              <a:r>
                <a:rPr b="1" i="0" lang="en-US" sz="3300" u="none" cap="none" strike="noStrike">
                  <a:solidFill>
                    <a:schemeClr val="lt1"/>
                  </a:solidFill>
                  <a:latin typeface="Calibri"/>
                  <a:ea typeface="Calibri"/>
                  <a:cs typeface="Calibri"/>
                  <a:sym typeface="Calibri"/>
                </a:rPr>
                <a:t>File types</a:t>
              </a:r>
              <a:endParaRPr b="0" i="0" sz="3300" u="none" cap="none" strike="noStrike">
                <a:solidFill>
                  <a:schemeClr val="lt1"/>
                </a:solidFill>
                <a:latin typeface="Calibri"/>
                <a:ea typeface="Calibri"/>
                <a:cs typeface="Calibri"/>
                <a:sym typeface="Calibri"/>
              </a:endParaRPr>
            </a:p>
          </p:txBody>
        </p:sp>
        <p:sp>
          <p:nvSpPr>
            <p:cNvPr id="105" name="Google Shape;105;p2"/>
            <p:cNvSpPr/>
            <p:nvPr/>
          </p:nvSpPr>
          <p:spPr>
            <a:xfrm>
              <a:off x="6467474" y="3261026"/>
              <a:ext cx="547735" cy="640746"/>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
            <p:cNvSpPr txBox="1"/>
            <p:nvPr/>
          </p:nvSpPr>
          <p:spPr>
            <a:xfrm>
              <a:off x="6467474" y="3389175"/>
              <a:ext cx="383415" cy="384448"/>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700"/>
                <a:buFont typeface="Calibri"/>
                <a:buNone/>
              </a:pPr>
              <a:r>
                <a:t/>
              </a:r>
              <a:endParaRPr b="0" i="0" sz="2700" u="none" cap="none" strike="noStrike">
                <a:solidFill>
                  <a:schemeClr val="lt1"/>
                </a:solidFill>
                <a:latin typeface="Calibri"/>
                <a:ea typeface="Calibri"/>
                <a:cs typeface="Calibri"/>
                <a:sym typeface="Calibri"/>
              </a:endParaRPr>
            </a:p>
          </p:txBody>
        </p:sp>
        <p:sp>
          <p:nvSpPr>
            <p:cNvPr id="107" name="Google Shape;107;p2"/>
            <p:cNvSpPr/>
            <p:nvPr/>
          </p:nvSpPr>
          <p:spPr>
            <a:xfrm>
              <a:off x="7242571" y="2806303"/>
              <a:ext cx="2583656" cy="1550193"/>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
            <p:cNvSpPr txBox="1"/>
            <p:nvPr/>
          </p:nvSpPr>
          <p:spPr>
            <a:xfrm>
              <a:off x="7287975" y="2851707"/>
              <a:ext cx="2492848" cy="1459385"/>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chemeClr val="lt1"/>
                </a:buClr>
                <a:buSzPts val="3300"/>
                <a:buFont typeface="Calibri"/>
                <a:buNone/>
              </a:pPr>
              <a:r>
                <a:rPr b="1" i="0" lang="en-US" sz="3300" u="none" cap="none" strike="noStrike">
                  <a:solidFill>
                    <a:schemeClr val="lt1"/>
                  </a:solidFill>
                  <a:latin typeface="Calibri"/>
                  <a:ea typeface="Calibri"/>
                  <a:cs typeface="Calibri"/>
                  <a:sym typeface="Calibri"/>
                </a:rPr>
                <a:t>File operations </a:t>
              </a:r>
              <a:endParaRPr b="0" i="0" sz="3300" u="none" cap="none" strike="noStrike">
                <a:solidFill>
                  <a:schemeClr val="lt1"/>
                </a:solidFill>
                <a:latin typeface="Calibri"/>
                <a:ea typeface="Calibri"/>
                <a:cs typeface="Calibri"/>
                <a:sym typeface="Calibri"/>
              </a:endParaRPr>
            </a:p>
          </p:txBody>
        </p:sp>
        <p:sp>
          <p:nvSpPr>
            <p:cNvPr id="109" name="Google Shape;109;p2"/>
            <p:cNvSpPr/>
            <p:nvPr/>
          </p:nvSpPr>
          <p:spPr>
            <a:xfrm>
              <a:off x="10084593" y="3261026"/>
              <a:ext cx="547735" cy="640746"/>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
            <p:cNvSpPr txBox="1"/>
            <p:nvPr/>
          </p:nvSpPr>
          <p:spPr>
            <a:xfrm>
              <a:off x="10084593" y="3389175"/>
              <a:ext cx="383415" cy="384448"/>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700"/>
                <a:buFont typeface="Calibri"/>
                <a:buNone/>
              </a:pPr>
              <a:r>
                <a:t/>
              </a:r>
              <a:endParaRPr b="0" i="0" sz="2700" u="none" cap="none" strike="noStrike">
                <a:solidFill>
                  <a:schemeClr val="lt1"/>
                </a:solidFill>
                <a:latin typeface="Calibri"/>
                <a:ea typeface="Calibri"/>
                <a:cs typeface="Calibri"/>
                <a:sym typeface="Calibri"/>
              </a:endParaRPr>
            </a:p>
          </p:txBody>
        </p:sp>
        <p:sp>
          <p:nvSpPr>
            <p:cNvPr id="111" name="Google Shape;111;p2"/>
            <p:cNvSpPr/>
            <p:nvPr/>
          </p:nvSpPr>
          <p:spPr>
            <a:xfrm>
              <a:off x="10859690" y="2806303"/>
              <a:ext cx="2583656" cy="1550193"/>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10905094" y="2851707"/>
              <a:ext cx="2492848" cy="1459385"/>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chemeClr val="lt1"/>
                </a:buClr>
                <a:buSzPts val="3300"/>
                <a:buFont typeface="Calibri"/>
                <a:buNone/>
              </a:pPr>
              <a:r>
                <a:rPr b="1" i="0" lang="en-US" sz="3300" u="none" cap="none" strike="noStrike">
                  <a:solidFill>
                    <a:schemeClr val="lt1"/>
                  </a:solidFill>
                  <a:latin typeface="Calibri"/>
                  <a:ea typeface="Calibri"/>
                  <a:cs typeface="Calibri"/>
                  <a:sym typeface="Calibri"/>
                </a:rPr>
                <a:t>File positions</a:t>
              </a:r>
              <a:endParaRPr b="0" i="0" sz="3300" u="none" cap="none" strike="noStrike">
                <a:solidFill>
                  <a:schemeClr val="lt1"/>
                </a:solidFill>
                <a:latin typeface="Calibri"/>
                <a:ea typeface="Calibri"/>
                <a:cs typeface="Calibri"/>
                <a:sym typeface="Calibri"/>
              </a:endParaRPr>
            </a:p>
          </p:txBody>
        </p:sp>
        <p:sp>
          <p:nvSpPr>
            <p:cNvPr id="113" name="Google Shape;113;p2"/>
            <p:cNvSpPr/>
            <p:nvPr/>
          </p:nvSpPr>
          <p:spPr>
            <a:xfrm>
              <a:off x="13701712" y="3261026"/>
              <a:ext cx="547735" cy="640746"/>
            </a:xfrm>
            <a:prstGeom prst="rightArrow">
              <a:avLst>
                <a:gd fmla="val 60000" name="adj1"/>
                <a:gd fmla="val 50000" name="adj2"/>
              </a:avLst>
            </a:prstGeom>
            <a:solidFill>
              <a:srgbClr val="ABBA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
            <p:cNvSpPr txBox="1"/>
            <p:nvPr/>
          </p:nvSpPr>
          <p:spPr>
            <a:xfrm>
              <a:off x="13701712" y="3389175"/>
              <a:ext cx="383415" cy="384448"/>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700"/>
                <a:buFont typeface="Calibri"/>
                <a:buNone/>
              </a:pPr>
              <a:r>
                <a:t/>
              </a:r>
              <a:endParaRPr b="0" i="0" sz="2700" u="none" cap="none" strike="noStrike">
                <a:solidFill>
                  <a:schemeClr val="lt1"/>
                </a:solidFill>
                <a:latin typeface="Calibri"/>
                <a:ea typeface="Calibri"/>
                <a:cs typeface="Calibri"/>
                <a:sym typeface="Calibri"/>
              </a:endParaRPr>
            </a:p>
          </p:txBody>
        </p:sp>
        <p:sp>
          <p:nvSpPr>
            <p:cNvPr id="115" name="Google Shape;115;p2"/>
            <p:cNvSpPr/>
            <p:nvPr/>
          </p:nvSpPr>
          <p:spPr>
            <a:xfrm>
              <a:off x="14476809" y="2806303"/>
              <a:ext cx="2583656" cy="1550193"/>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
            <p:cNvSpPr txBox="1"/>
            <p:nvPr/>
          </p:nvSpPr>
          <p:spPr>
            <a:xfrm>
              <a:off x="14522213" y="2851707"/>
              <a:ext cx="2492848" cy="1459385"/>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chemeClr val="lt1"/>
                </a:buClr>
                <a:buSzPts val="3300"/>
                <a:buFont typeface="Calibri"/>
                <a:buNone/>
              </a:pPr>
              <a:r>
                <a:rPr b="1" i="0" lang="en-US" sz="3300" u="none" cap="none" strike="noStrike">
                  <a:solidFill>
                    <a:schemeClr val="lt1"/>
                  </a:solidFill>
                  <a:latin typeface="Calibri"/>
                  <a:ea typeface="Calibri"/>
                  <a:cs typeface="Calibri"/>
                  <a:sym typeface="Calibri"/>
                </a:rPr>
                <a:t>Rename and delete files</a:t>
              </a:r>
              <a:endParaRPr b="0" i="0" sz="3300" u="none" cap="none" strike="noStrike">
                <a:solidFill>
                  <a:schemeClr val="lt1"/>
                </a:solidFill>
                <a:latin typeface="Calibri"/>
                <a:ea typeface="Calibri"/>
                <a:cs typeface="Calibri"/>
                <a:sym typeface="Calibri"/>
              </a:endParaRPr>
            </a:p>
          </p:txBody>
        </p:sp>
      </p:grpSp>
      <p:sp>
        <p:nvSpPr>
          <p:cNvPr id="117" name="Google Shape;117;p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3"/>
          <p:cNvSpPr txBox="1"/>
          <p:nvPr>
            <p:ph idx="1" type="body"/>
          </p:nvPr>
        </p:nvSpPr>
        <p:spPr>
          <a:xfrm>
            <a:off x="1035511" y="3277465"/>
            <a:ext cx="17449800" cy="7591426"/>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rgbClr val="0070C0"/>
              </a:buClr>
              <a:buSzPts val="6000"/>
              <a:buNone/>
            </a:pPr>
            <a:r>
              <a:t/>
            </a:r>
            <a:endParaRPr sz="4800">
              <a:latin typeface="Times New Roman"/>
              <a:ea typeface="Times New Roman"/>
              <a:cs typeface="Times New Roman"/>
              <a:sym typeface="Times New Roman"/>
            </a:endParaRPr>
          </a:p>
          <a:p>
            <a:pPr indent="-342900" lvl="0" marL="457200" rtl="0" algn="just">
              <a:lnSpc>
                <a:spcPct val="90000"/>
              </a:lnSpc>
              <a:spcBef>
                <a:spcPts val="1500"/>
              </a:spcBef>
              <a:spcAft>
                <a:spcPts val="0"/>
              </a:spcAft>
              <a:buSzPts val="1800"/>
              <a:buChar char="•"/>
            </a:pPr>
            <a:r>
              <a:rPr lang="en-US" sz="2800">
                <a:latin typeface="Times New Roman"/>
                <a:ea typeface="Times New Roman"/>
                <a:cs typeface="Times New Roman"/>
                <a:sym typeface="Times New Roman"/>
              </a:rPr>
              <a:t>A </a:t>
            </a:r>
            <a:r>
              <a:rPr b="1" lang="en-US" sz="2800">
                <a:latin typeface="Times New Roman"/>
                <a:ea typeface="Times New Roman"/>
                <a:cs typeface="Times New Roman"/>
                <a:sym typeface="Times New Roman"/>
              </a:rPr>
              <a:t>file</a:t>
            </a:r>
            <a:r>
              <a:rPr lang="en-US" sz="2800">
                <a:latin typeface="Times New Roman"/>
                <a:ea typeface="Times New Roman"/>
                <a:cs typeface="Times New Roman"/>
                <a:sym typeface="Times New Roman"/>
              </a:rPr>
              <a:t> is a collection of data stored on a secondary storage device (like a hard disk).</a:t>
            </a:r>
            <a:endParaRPr/>
          </a:p>
          <a:p>
            <a:pPr indent="-342900" lvl="0" marL="457200" rtl="0" algn="just">
              <a:lnSpc>
                <a:spcPct val="90000"/>
              </a:lnSpc>
              <a:spcBef>
                <a:spcPts val="1500"/>
              </a:spcBef>
              <a:spcAft>
                <a:spcPts val="0"/>
              </a:spcAft>
              <a:buSzPts val="1800"/>
              <a:buChar char="•"/>
            </a:pPr>
            <a:r>
              <a:rPr lang="en-US" sz="2800">
                <a:latin typeface="Times New Roman"/>
                <a:ea typeface="Times New Roman"/>
                <a:cs typeface="Times New Roman"/>
                <a:sym typeface="Times New Roman"/>
              </a:rPr>
              <a:t>Data on non-volatile storage media is stored in </a:t>
            </a:r>
            <a:r>
              <a:rPr b="1" lang="en-US" sz="2800">
                <a:latin typeface="Times New Roman"/>
                <a:ea typeface="Times New Roman"/>
                <a:cs typeface="Times New Roman"/>
                <a:sym typeface="Times New Roman"/>
              </a:rPr>
              <a:t>named locations</a:t>
            </a:r>
            <a:r>
              <a:rPr lang="en-US" sz="2800">
                <a:latin typeface="Times New Roman"/>
                <a:ea typeface="Times New Roman"/>
                <a:cs typeface="Times New Roman"/>
                <a:sym typeface="Times New Roman"/>
              </a:rPr>
              <a:t>, which are called </a:t>
            </a:r>
            <a:r>
              <a:rPr b="1" lang="en-US" sz="2800">
                <a:latin typeface="Times New Roman"/>
                <a:ea typeface="Times New Roman"/>
                <a:cs typeface="Times New Roman"/>
                <a:sym typeface="Times New Roman"/>
              </a:rPr>
              <a:t>files</a:t>
            </a:r>
            <a:r>
              <a:rPr lang="en-US" sz="2800">
                <a:latin typeface="Times New Roman"/>
                <a:ea typeface="Times New Roman"/>
                <a:cs typeface="Times New Roman"/>
                <a:sym typeface="Times New Roman"/>
              </a:rPr>
              <a:t>.</a:t>
            </a:r>
            <a:endParaRPr/>
          </a:p>
          <a:p>
            <a:pPr indent="-342900" lvl="0" marL="457200" rtl="0" algn="just">
              <a:lnSpc>
                <a:spcPct val="90000"/>
              </a:lnSpc>
              <a:spcBef>
                <a:spcPts val="1500"/>
              </a:spcBef>
              <a:spcAft>
                <a:spcPts val="0"/>
              </a:spcAft>
              <a:buSzPts val="1800"/>
              <a:buChar char="•"/>
            </a:pPr>
            <a:r>
              <a:rPr lang="en-US" sz="2800">
                <a:latin typeface="Times New Roman"/>
                <a:ea typeface="Times New Roman"/>
                <a:cs typeface="Times New Roman"/>
                <a:sym typeface="Times New Roman"/>
              </a:rPr>
              <a:t>Example: Like a notebook → we can </a:t>
            </a:r>
            <a:r>
              <a:rPr b="1" lang="en-US" sz="2800">
                <a:latin typeface="Times New Roman"/>
                <a:ea typeface="Times New Roman"/>
                <a:cs typeface="Times New Roman"/>
                <a:sym typeface="Times New Roman"/>
              </a:rPr>
              <a:t>open, read, write, and close</a:t>
            </a:r>
            <a:r>
              <a:rPr lang="en-US" sz="2800">
                <a:latin typeface="Times New Roman"/>
                <a:ea typeface="Times New Roman"/>
                <a:cs typeface="Times New Roman"/>
                <a:sym typeface="Times New Roman"/>
              </a:rPr>
              <a:t> it.</a:t>
            </a:r>
            <a:endParaRPr/>
          </a:p>
          <a:p>
            <a:pPr indent="-342900" lvl="0" marL="457200" rtl="0" algn="just">
              <a:lnSpc>
                <a:spcPct val="90000"/>
              </a:lnSpc>
              <a:spcBef>
                <a:spcPts val="1500"/>
              </a:spcBef>
              <a:spcAft>
                <a:spcPts val="0"/>
              </a:spcAft>
              <a:buSzPts val="1800"/>
              <a:buChar char="•"/>
            </a:pPr>
            <a:r>
              <a:rPr lang="en-US" sz="2800">
                <a:latin typeface="Times New Roman"/>
                <a:ea typeface="Times New Roman"/>
                <a:cs typeface="Times New Roman"/>
                <a:sym typeface="Times New Roman"/>
              </a:rPr>
              <a:t>Using the input() function for large amounts of data is tedious.</a:t>
            </a:r>
            <a:endParaRPr/>
          </a:p>
          <a:p>
            <a:pPr indent="-342900" lvl="0" marL="457200" rtl="0" algn="just">
              <a:lnSpc>
                <a:spcPct val="90000"/>
              </a:lnSpc>
              <a:spcBef>
                <a:spcPts val="1500"/>
              </a:spcBef>
              <a:spcAft>
                <a:spcPts val="0"/>
              </a:spcAft>
              <a:buSzPts val="1800"/>
              <a:buChar char="•"/>
            </a:pPr>
            <a:r>
              <a:rPr lang="en-US" sz="2800">
                <a:latin typeface="Times New Roman"/>
                <a:ea typeface="Times New Roman"/>
                <a:cs typeface="Times New Roman"/>
                <a:sym typeface="Times New Roman"/>
              </a:rPr>
              <a:t>A </a:t>
            </a:r>
            <a:r>
              <a:rPr b="1" lang="en-US" sz="2800">
                <a:latin typeface="Times New Roman"/>
                <a:ea typeface="Times New Roman"/>
                <a:cs typeface="Times New Roman"/>
                <a:sym typeface="Times New Roman"/>
              </a:rPr>
              <a:t>better option</a:t>
            </a:r>
            <a:r>
              <a:rPr lang="en-US" sz="2800">
                <a:latin typeface="Times New Roman"/>
                <a:ea typeface="Times New Roman"/>
                <a:cs typeface="Times New Roman"/>
                <a:sym typeface="Times New Roman"/>
              </a:rPr>
              <a:t> is to use </a:t>
            </a:r>
            <a:r>
              <a:rPr b="1" lang="en-US" sz="2800">
                <a:latin typeface="Times New Roman"/>
                <a:ea typeface="Times New Roman"/>
                <a:cs typeface="Times New Roman"/>
                <a:sym typeface="Times New Roman"/>
              </a:rPr>
              <a:t>files</a:t>
            </a:r>
            <a:r>
              <a:rPr lang="en-US" sz="2800">
                <a:latin typeface="Times New Roman"/>
                <a:ea typeface="Times New Roman"/>
                <a:cs typeface="Times New Roman"/>
                <a:sym typeface="Times New Roman"/>
              </a:rPr>
              <a:t> for storing and processing data.</a:t>
            </a:r>
            <a:endParaRPr sz="2800">
              <a:latin typeface="Times New Roman"/>
              <a:ea typeface="Times New Roman"/>
              <a:cs typeface="Times New Roman"/>
              <a:sym typeface="Times New Roman"/>
            </a:endParaRPr>
          </a:p>
        </p:txBody>
      </p:sp>
      <p:sp>
        <p:nvSpPr>
          <p:cNvPr id="123" name="Google Shape;123;p3"/>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24" name="Google Shape;124;p3"/>
          <p:cNvSpPr txBox="1"/>
          <p:nvPr>
            <p:ph type="title"/>
          </p:nvPr>
        </p:nvSpPr>
        <p:spPr>
          <a:xfrm>
            <a:off x="0" y="1799850"/>
            <a:ext cx="18288000" cy="198834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6000">
                <a:solidFill>
                  <a:srgbClr val="0070C0"/>
                </a:solidFill>
                <a:latin typeface="Times New Roman"/>
                <a:ea typeface="Times New Roman"/>
                <a:cs typeface="Times New Roman"/>
                <a:sym typeface="Times New Roman"/>
              </a:rPr>
              <a:t>	What is file?</a:t>
            </a:r>
            <a:endParaRPr sz="6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graphicFrame>
        <p:nvGraphicFramePr>
          <p:cNvPr id="129" name="Google Shape;129;p4"/>
          <p:cNvGraphicFramePr/>
          <p:nvPr/>
        </p:nvGraphicFramePr>
        <p:xfrm>
          <a:off x="1112520" y="2541270"/>
          <a:ext cx="3000000" cy="3000000"/>
        </p:xfrm>
        <a:graphic>
          <a:graphicData uri="http://schemas.openxmlformats.org/drawingml/2006/table">
            <a:tbl>
              <a:tblPr bandRow="1" firstRow="1">
                <a:noFill/>
                <a:tableStyleId>{B794E8D5-F5F9-40D2-812D-7E8A52AE1961}</a:tableStyleId>
              </a:tblPr>
              <a:tblGrid>
                <a:gridCol w="1217925"/>
                <a:gridCol w="7860675"/>
                <a:gridCol w="7418075"/>
              </a:tblGrid>
              <a:tr h="788025">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latin typeface="Times New Roman"/>
                          <a:ea typeface="Times New Roman"/>
                          <a:cs typeface="Times New Roman"/>
                          <a:sym typeface="Times New Roman"/>
                        </a:rPr>
                        <a:t>S. No.</a:t>
                      </a:r>
                      <a:endParaRPr/>
                    </a:p>
                  </a:txBody>
                  <a:tcPr marT="63500" marB="63500" marR="38100" marL="38100" anchor="ct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latin typeface="Times New Roman"/>
                          <a:ea typeface="Times New Roman"/>
                          <a:cs typeface="Times New Roman"/>
                          <a:sym typeface="Times New Roman"/>
                        </a:rPr>
                        <a:t>Volatile Memory</a:t>
                      </a:r>
                      <a:endParaRPr/>
                    </a:p>
                  </a:txBody>
                  <a:tcPr marT="63500" marB="63500" marR="63500" marL="63500" anchor="ct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latin typeface="Times New Roman"/>
                          <a:ea typeface="Times New Roman"/>
                          <a:cs typeface="Times New Roman"/>
                          <a:sym typeface="Times New Roman"/>
                        </a:rPr>
                        <a:t>Non-Volatile Memory</a:t>
                      </a:r>
                      <a:endParaRPr/>
                    </a:p>
                  </a:txBody>
                  <a:tcPr marT="63500" marB="63500" marR="63500" marL="63500" anchor="ctr"/>
                </a:tc>
              </a:tr>
              <a:tr h="1823725">
                <a:tc>
                  <a:txBody>
                    <a:bodyPr/>
                    <a:lstStyle/>
                    <a:p>
                      <a:pPr indent="0" lvl="0" marL="0" marR="0" rtl="0" algn="ctr">
                        <a:lnSpc>
                          <a:spcPct val="100000"/>
                        </a:lnSpc>
                        <a:spcBef>
                          <a:spcPts val="0"/>
                        </a:spcBef>
                        <a:spcAft>
                          <a:spcPts val="0"/>
                        </a:spcAft>
                        <a:buClr>
                          <a:srgbClr val="000000"/>
                        </a:buClr>
                        <a:buSzPts val="2800"/>
                        <a:buFont typeface="Arial"/>
                        <a:buNone/>
                      </a:pPr>
                      <a:r>
                        <a:rPr b="0" lang="en-US" sz="2800" u="none" cap="none" strike="noStrike">
                          <a:latin typeface="Times New Roman"/>
                          <a:ea typeface="Times New Roman"/>
                          <a:cs typeface="Times New Roman"/>
                          <a:sym typeface="Times New Roman"/>
                        </a:rPr>
                        <a:t>1.</a:t>
                      </a:r>
                      <a:endParaRPr/>
                    </a:p>
                  </a:txBody>
                  <a:tcPr marT="88900" marB="88900" marR="63500" marL="63500" anchor="ct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sng" cap="none" strike="noStrike">
                          <a:solidFill>
                            <a:schemeClr val="hlink"/>
                          </a:solidFill>
                          <a:latin typeface="Times New Roman"/>
                          <a:ea typeface="Times New Roman"/>
                          <a:cs typeface="Times New Roman"/>
                          <a:sym typeface="Times New Roman"/>
                          <a:hlinkClick r:id="rId3"/>
                        </a:rPr>
                        <a:t>Volatile memory</a:t>
                      </a:r>
                      <a:r>
                        <a:rPr b="0" lang="en-US" sz="2800" u="none" cap="none" strike="noStrike">
                          <a:latin typeface="Times New Roman"/>
                          <a:ea typeface="Times New Roman"/>
                          <a:cs typeface="Times New Roman"/>
                          <a:sym typeface="Times New Roman"/>
                        </a:rPr>
                        <a:t> is the type of memory in which data is lost as it is powered-off.</a:t>
                      </a:r>
                      <a:endParaRPr/>
                    </a:p>
                  </a:txBody>
                  <a:tcPr marT="88900" marB="88900" marR="63500" marL="63500" anchor="ct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sng" cap="none" strike="noStrike">
                          <a:solidFill>
                            <a:schemeClr val="hlink"/>
                          </a:solidFill>
                          <a:latin typeface="Times New Roman"/>
                          <a:ea typeface="Times New Roman"/>
                          <a:cs typeface="Times New Roman"/>
                          <a:sym typeface="Times New Roman"/>
                          <a:hlinkClick r:id="rId4"/>
                        </a:rPr>
                        <a:t>Non-volatile memory</a:t>
                      </a:r>
                      <a:r>
                        <a:rPr b="0" lang="en-US" sz="2800" u="none" cap="none" strike="noStrike">
                          <a:latin typeface="Times New Roman"/>
                          <a:ea typeface="Times New Roman"/>
                          <a:cs typeface="Times New Roman"/>
                          <a:sym typeface="Times New Roman"/>
                        </a:rPr>
                        <a:t> is the type of memory in which data remains stored even if it is powered-off.</a:t>
                      </a:r>
                      <a:endParaRPr/>
                    </a:p>
                  </a:txBody>
                  <a:tcPr marT="88900" marB="88900" marR="63500" marL="63500" anchor="ctr"/>
                </a:tc>
              </a:tr>
              <a:tr h="1275075">
                <a:tc>
                  <a:txBody>
                    <a:bodyPr/>
                    <a:lstStyle/>
                    <a:p>
                      <a:pPr indent="0" lvl="0" marL="0" marR="0" rtl="0" algn="ctr">
                        <a:lnSpc>
                          <a:spcPct val="100000"/>
                        </a:lnSpc>
                        <a:spcBef>
                          <a:spcPts val="0"/>
                        </a:spcBef>
                        <a:spcAft>
                          <a:spcPts val="0"/>
                        </a:spcAft>
                        <a:buClr>
                          <a:srgbClr val="000000"/>
                        </a:buClr>
                        <a:buSzPts val="2800"/>
                        <a:buFont typeface="Arial"/>
                        <a:buNone/>
                      </a:pPr>
                      <a:r>
                        <a:rPr b="0" lang="en-US" sz="2800" u="none" cap="none" strike="noStrike">
                          <a:latin typeface="Times New Roman"/>
                          <a:ea typeface="Times New Roman"/>
                          <a:cs typeface="Times New Roman"/>
                          <a:sym typeface="Times New Roman"/>
                        </a:rPr>
                        <a:t>2.</a:t>
                      </a:r>
                      <a:endParaRPr/>
                    </a:p>
                  </a:txBody>
                  <a:tcPr marT="88900" marB="88900" marR="63500" marL="63500" anchor="ct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none" cap="none" strike="noStrike">
                          <a:latin typeface="Times New Roman"/>
                          <a:ea typeface="Times New Roman"/>
                          <a:cs typeface="Times New Roman"/>
                          <a:sym typeface="Times New Roman"/>
                        </a:rPr>
                        <a:t>Contents of Volatile memory are stored temporarily.</a:t>
                      </a:r>
                      <a:endParaRPr/>
                    </a:p>
                  </a:txBody>
                  <a:tcPr marT="88900" marB="88900" marR="63500" marL="63500" anchor="ct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none" cap="none" strike="noStrike">
                          <a:latin typeface="Times New Roman"/>
                          <a:ea typeface="Times New Roman"/>
                          <a:cs typeface="Times New Roman"/>
                          <a:sym typeface="Times New Roman"/>
                        </a:rPr>
                        <a:t>Contents of Non-volatile memory are stored permanently.</a:t>
                      </a:r>
                      <a:endParaRPr/>
                    </a:p>
                  </a:txBody>
                  <a:tcPr marT="88900" marB="88900" marR="63500" marL="63500" anchor="ctr"/>
                </a:tc>
              </a:tr>
              <a:tr h="726450">
                <a:tc>
                  <a:txBody>
                    <a:bodyPr/>
                    <a:lstStyle/>
                    <a:p>
                      <a:pPr indent="0" lvl="0" marL="0" marR="0" rtl="0" algn="ctr">
                        <a:lnSpc>
                          <a:spcPct val="100000"/>
                        </a:lnSpc>
                        <a:spcBef>
                          <a:spcPts val="0"/>
                        </a:spcBef>
                        <a:spcAft>
                          <a:spcPts val="0"/>
                        </a:spcAft>
                        <a:buClr>
                          <a:srgbClr val="000000"/>
                        </a:buClr>
                        <a:buSzPts val="2800"/>
                        <a:buFont typeface="Arial"/>
                        <a:buNone/>
                      </a:pPr>
                      <a:r>
                        <a:rPr b="0" lang="en-US" sz="2800" u="none" cap="none" strike="noStrike">
                          <a:latin typeface="Times New Roman"/>
                          <a:ea typeface="Times New Roman"/>
                          <a:cs typeface="Times New Roman"/>
                          <a:sym typeface="Times New Roman"/>
                        </a:rPr>
                        <a:t>3.</a:t>
                      </a:r>
                      <a:endParaRPr/>
                    </a:p>
                  </a:txBody>
                  <a:tcPr marT="88900" marB="88900" marR="63500" marL="63500" anchor="ct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none" cap="none" strike="noStrike">
                          <a:latin typeface="Times New Roman"/>
                          <a:ea typeface="Times New Roman"/>
                          <a:cs typeface="Times New Roman"/>
                          <a:sym typeface="Times New Roman"/>
                        </a:rPr>
                        <a:t>It is faster than non-volatile memory.</a:t>
                      </a:r>
                      <a:endParaRPr/>
                    </a:p>
                  </a:txBody>
                  <a:tcPr marT="88900" marB="88900" marR="63500" marL="63500" anchor="ct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none" cap="none" strike="noStrike">
                          <a:latin typeface="Times New Roman"/>
                          <a:ea typeface="Times New Roman"/>
                          <a:cs typeface="Times New Roman"/>
                          <a:sym typeface="Times New Roman"/>
                        </a:rPr>
                        <a:t>It is slower than volatile memory.</a:t>
                      </a:r>
                      <a:endParaRPr/>
                    </a:p>
                  </a:txBody>
                  <a:tcPr marT="88900" marB="88900" marR="63500" marL="63500" anchor="ctr"/>
                </a:tc>
              </a:tr>
              <a:tr h="1823725">
                <a:tc>
                  <a:txBody>
                    <a:bodyPr/>
                    <a:lstStyle/>
                    <a:p>
                      <a:pPr indent="0" lvl="0" marL="0" marR="0" rtl="0" algn="ctr">
                        <a:lnSpc>
                          <a:spcPct val="100000"/>
                        </a:lnSpc>
                        <a:spcBef>
                          <a:spcPts val="0"/>
                        </a:spcBef>
                        <a:spcAft>
                          <a:spcPts val="0"/>
                        </a:spcAft>
                        <a:buClr>
                          <a:srgbClr val="000000"/>
                        </a:buClr>
                        <a:buSzPts val="2800"/>
                        <a:buFont typeface="Arial"/>
                        <a:buNone/>
                      </a:pPr>
                      <a:r>
                        <a:rPr b="0" lang="en-US" sz="2800" u="none" cap="none" strike="noStrike">
                          <a:latin typeface="Times New Roman"/>
                          <a:ea typeface="Times New Roman"/>
                          <a:cs typeface="Times New Roman"/>
                          <a:sym typeface="Times New Roman"/>
                        </a:rPr>
                        <a:t>4.</a:t>
                      </a:r>
                      <a:endParaRPr/>
                    </a:p>
                  </a:txBody>
                  <a:tcPr marT="88900" marB="88900" marR="63500" marL="63500" anchor="ctr"/>
                </a:tc>
                <a:tc>
                  <a:txBody>
                    <a:bodyPr/>
                    <a:lstStyle/>
                    <a:p>
                      <a:pPr indent="0" lvl="0" marL="0" marR="0" rtl="0" algn="l">
                        <a:lnSpc>
                          <a:spcPct val="100000"/>
                        </a:lnSpc>
                        <a:spcBef>
                          <a:spcPts val="0"/>
                        </a:spcBef>
                        <a:spcAft>
                          <a:spcPts val="0"/>
                        </a:spcAft>
                        <a:buClr>
                          <a:srgbClr val="000000"/>
                        </a:buClr>
                        <a:buSzPts val="2800"/>
                        <a:buFont typeface="Arial"/>
                        <a:buNone/>
                      </a:pPr>
                      <a:r>
                        <a:rPr b="1" lang="en-US" sz="2800" u="sng" cap="none" strike="noStrike">
                          <a:solidFill>
                            <a:schemeClr val="hlink"/>
                          </a:solidFill>
                          <a:latin typeface="Times New Roman"/>
                          <a:ea typeface="Times New Roman"/>
                          <a:cs typeface="Times New Roman"/>
                          <a:sym typeface="Times New Roman"/>
                          <a:hlinkClick r:id="rId5"/>
                        </a:rPr>
                        <a:t>RAM</a:t>
                      </a:r>
                      <a:r>
                        <a:rPr b="1" lang="en-US" sz="2800" u="none" cap="none" strike="noStrike">
                          <a:latin typeface="Times New Roman"/>
                          <a:ea typeface="Times New Roman"/>
                          <a:cs typeface="Times New Roman"/>
                          <a:sym typeface="Times New Roman"/>
                        </a:rPr>
                        <a:t>(Random Access Memory)</a:t>
                      </a:r>
                      <a:r>
                        <a:rPr b="0" lang="en-US" sz="2800" u="none" cap="none" strike="noStrike">
                          <a:latin typeface="Times New Roman"/>
                          <a:ea typeface="Times New Roman"/>
                          <a:cs typeface="Times New Roman"/>
                          <a:sym typeface="Times New Roman"/>
                        </a:rPr>
                        <a:t> is an example of volatile memory.</a:t>
                      </a:r>
                      <a:endParaRPr sz="2800" u="none" cap="none" strike="noStrike">
                        <a:latin typeface="Times New Roman"/>
                        <a:ea typeface="Times New Roman"/>
                        <a:cs typeface="Times New Roman"/>
                        <a:sym typeface="Times New Roman"/>
                      </a:endParaRPr>
                    </a:p>
                  </a:txBody>
                  <a:tcPr marT="88900" marB="88900" marR="63500" marL="63500" anchor="ctr"/>
                </a:tc>
                <a:tc>
                  <a:txBody>
                    <a:bodyPr/>
                    <a:lstStyle/>
                    <a:p>
                      <a:pPr indent="0" lvl="0" marL="0" marR="0" rtl="0" algn="l">
                        <a:lnSpc>
                          <a:spcPct val="100000"/>
                        </a:lnSpc>
                        <a:spcBef>
                          <a:spcPts val="0"/>
                        </a:spcBef>
                        <a:spcAft>
                          <a:spcPts val="0"/>
                        </a:spcAft>
                        <a:buClr>
                          <a:srgbClr val="000000"/>
                        </a:buClr>
                        <a:buSzPts val="2800"/>
                        <a:buFont typeface="Arial"/>
                        <a:buNone/>
                      </a:pPr>
                      <a:r>
                        <a:rPr b="1" lang="en-US" sz="2800" u="sng" cap="none" strike="noStrike">
                          <a:solidFill>
                            <a:schemeClr val="hlink"/>
                          </a:solidFill>
                          <a:latin typeface="Times New Roman"/>
                          <a:ea typeface="Times New Roman"/>
                          <a:cs typeface="Times New Roman"/>
                          <a:sym typeface="Times New Roman"/>
                          <a:hlinkClick r:id="rId6"/>
                        </a:rPr>
                        <a:t>ROM</a:t>
                      </a:r>
                      <a:r>
                        <a:rPr b="1" lang="en-US" sz="2800" u="none" cap="none" strike="noStrike">
                          <a:latin typeface="Times New Roman"/>
                          <a:ea typeface="Times New Roman"/>
                          <a:cs typeface="Times New Roman"/>
                          <a:sym typeface="Times New Roman"/>
                        </a:rPr>
                        <a:t>(Read Only Memory)</a:t>
                      </a:r>
                      <a:r>
                        <a:rPr b="0" lang="en-US" sz="2800" u="none" cap="none" strike="noStrike">
                          <a:latin typeface="Times New Roman"/>
                          <a:ea typeface="Times New Roman"/>
                          <a:cs typeface="Times New Roman"/>
                          <a:sym typeface="Times New Roman"/>
                        </a:rPr>
                        <a:t> is an example of non-volatile memory.</a:t>
                      </a:r>
                      <a:endParaRPr sz="2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lang="en-US" sz="2800" u="none" cap="none" strike="noStrike">
                          <a:latin typeface="Times New Roman"/>
                          <a:ea typeface="Times New Roman"/>
                          <a:cs typeface="Times New Roman"/>
                          <a:sym typeface="Times New Roman"/>
                        </a:rPr>
                        <a:t>Hard disk, USB drive, DVD etc</a:t>
                      </a:r>
                      <a:endParaRPr b="0" sz="2800" u="none" cap="none" strike="noStrike">
                        <a:latin typeface="Times New Roman"/>
                        <a:ea typeface="Times New Roman"/>
                        <a:cs typeface="Times New Roman"/>
                        <a:sym typeface="Times New Roman"/>
                      </a:endParaRPr>
                    </a:p>
                  </a:txBody>
                  <a:tcPr marT="88900" marB="88900" marR="63500" marL="63500" anchor="ctr"/>
                </a:tc>
              </a:tr>
            </a:tbl>
          </a:graphicData>
        </a:graphic>
      </p:graphicFrame>
      <p:sp>
        <p:nvSpPr>
          <p:cNvPr id="130" name="Google Shape;130;p4"/>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31" name="Google Shape;131;p4"/>
          <p:cNvSpPr txBox="1"/>
          <p:nvPr>
            <p:ph type="title"/>
          </p:nvPr>
        </p:nvSpPr>
        <p:spPr>
          <a:xfrm>
            <a:off x="0" y="1091151"/>
            <a:ext cx="18288000" cy="14615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6600"/>
              <a:buFont typeface="Cambria"/>
              <a:buNone/>
            </a:pPr>
            <a:r>
              <a:rPr b="1" lang="en-US" sz="4800">
                <a:solidFill>
                  <a:schemeClr val="accent1"/>
                </a:solidFill>
                <a:latin typeface="Times New Roman"/>
                <a:ea typeface="Times New Roman"/>
                <a:cs typeface="Times New Roman"/>
                <a:sym typeface="Times New Roman"/>
              </a:rPr>
              <a:t>File-Contd.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0" y="1091151"/>
            <a:ext cx="18288000" cy="14615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6600"/>
              <a:buFont typeface="Cambria"/>
              <a:buNone/>
            </a:pPr>
            <a:r>
              <a:rPr b="1" lang="en-US" sz="4800">
                <a:solidFill>
                  <a:schemeClr val="accent1"/>
                </a:solidFill>
                <a:latin typeface="Times New Roman"/>
                <a:ea typeface="Times New Roman"/>
                <a:cs typeface="Times New Roman"/>
                <a:sym typeface="Times New Roman"/>
              </a:rPr>
              <a:t>File-Contd.</a:t>
            </a:r>
            <a:endParaRPr/>
          </a:p>
        </p:txBody>
      </p:sp>
      <p:grpSp>
        <p:nvGrpSpPr>
          <p:cNvPr id="137" name="Google Shape;137;p5"/>
          <p:cNvGrpSpPr/>
          <p:nvPr/>
        </p:nvGrpSpPr>
        <p:grpSpPr>
          <a:xfrm>
            <a:off x="1257300" y="3715833"/>
            <a:ext cx="15914767" cy="3960495"/>
            <a:chOff x="0" y="2292279"/>
            <a:chExt cx="15914767" cy="3960495"/>
          </a:xfrm>
        </p:grpSpPr>
        <p:sp>
          <p:nvSpPr>
            <p:cNvPr id="138" name="Google Shape;138;p5"/>
            <p:cNvSpPr/>
            <p:nvPr/>
          </p:nvSpPr>
          <p:spPr>
            <a:xfrm>
              <a:off x="0" y="2292279"/>
              <a:ext cx="15773400" cy="694306"/>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5"/>
            <p:cNvSpPr txBox="1"/>
            <p:nvPr/>
          </p:nvSpPr>
          <p:spPr>
            <a:xfrm>
              <a:off x="209153" y="2359827"/>
              <a:ext cx="15705614" cy="626520"/>
            </a:xfrm>
            <a:prstGeom prst="rect">
              <a:avLst/>
            </a:prstGeom>
            <a:noFill/>
            <a:ln>
              <a:noFill/>
            </a:ln>
          </p:spPr>
          <p:txBody>
            <a:bodyPr anchorCtr="0" anchor="ctr" bIns="228600" lIns="228600" spcFirstLastPara="1" rIns="228600" wrap="square" tIns="228600">
              <a:noAutofit/>
            </a:bodyPr>
            <a:lstStyle/>
            <a:p>
              <a:pPr indent="0" lvl="0" marL="0" marR="0" rtl="0" algn="l">
                <a:lnSpc>
                  <a:spcPct val="90000"/>
                </a:lnSpc>
                <a:spcBef>
                  <a:spcPts val="0"/>
                </a:spcBef>
                <a:spcAft>
                  <a:spcPts val="0"/>
                </a:spcAft>
                <a:buClr>
                  <a:schemeClr val="lt1"/>
                </a:buClr>
                <a:buSzPts val="6000"/>
                <a:buFont typeface="Calibri"/>
                <a:buNone/>
              </a:pPr>
              <a:r>
                <a:rPr b="0" i="0" lang="en-US" sz="2800" u="none" cap="none" strike="noStrike">
                  <a:solidFill>
                    <a:schemeClr val="lt1"/>
                  </a:solidFill>
                  <a:latin typeface="Calibri"/>
                  <a:ea typeface="Calibri"/>
                  <a:cs typeface="Calibri"/>
                  <a:sym typeface="Calibri"/>
                </a:rPr>
                <a:t>Problems with console oriented I/O operations:</a:t>
              </a:r>
              <a:endParaRPr b="0" i="0" sz="2800" u="none" cap="none" strike="noStrike">
                <a:solidFill>
                  <a:schemeClr val="lt1"/>
                </a:solidFill>
                <a:latin typeface="Calibri"/>
                <a:ea typeface="Calibri"/>
                <a:cs typeface="Calibri"/>
                <a:sym typeface="Calibri"/>
              </a:endParaRPr>
            </a:p>
          </p:txBody>
        </p:sp>
        <p:sp>
          <p:nvSpPr>
            <p:cNvPr id="140" name="Google Shape;140;p5"/>
            <p:cNvSpPr/>
            <p:nvPr/>
          </p:nvSpPr>
          <p:spPr>
            <a:xfrm>
              <a:off x="0" y="2986585"/>
              <a:ext cx="15773400" cy="21196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5"/>
            <p:cNvSpPr txBox="1"/>
            <p:nvPr/>
          </p:nvSpPr>
          <p:spPr>
            <a:xfrm>
              <a:off x="0" y="3479094"/>
              <a:ext cx="15773400" cy="2773680"/>
            </a:xfrm>
            <a:prstGeom prst="rect">
              <a:avLst/>
            </a:prstGeom>
            <a:noFill/>
            <a:ln>
              <a:noFill/>
            </a:ln>
          </p:spPr>
          <p:txBody>
            <a:bodyPr anchorCtr="0" anchor="t" bIns="55875" lIns="500800" spcFirstLastPara="1" rIns="312925" wrap="square" tIns="55875">
              <a:noAutofit/>
            </a:bodyPr>
            <a:lstStyle/>
            <a:p>
              <a:pPr indent="-6350" lvl="1" marL="285750" marR="0" rtl="0" algn="l">
                <a:lnSpc>
                  <a:spcPct val="90000"/>
                </a:lnSpc>
                <a:spcBef>
                  <a:spcPts val="0"/>
                </a:spcBef>
                <a:spcAft>
                  <a:spcPts val="0"/>
                </a:spcAft>
                <a:buClr>
                  <a:schemeClr val="dk1"/>
                </a:buClr>
                <a:buSzPts val="440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285750" lvl="1" marL="285750" marR="0" rtl="0" algn="l">
                <a:lnSpc>
                  <a:spcPct val="90000"/>
                </a:lnSpc>
                <a:spcBef>
                  <a:spcPts val="0"/>
                </a:spcBef>
                <a:spcAft>
                  <a:spcPts val="0"/>
                </a:spcAft>
                <a:buClr>
                  <a:schemeClr val="dk1"/>
                </a:buClr>
                <a:buSzPts val="4400"/>
                <a:buFont typeface="Noto Sans Symbols"/>
                <a:buChar char="⮚"/>
              </a:pPr>
              <a:r>
                <a:rPr b="0" i="0" lang="en-US" sz="3600" u="none" cap="none" strike="noStrike">
                  <a:solidFill>
                    <a:schemeClr val="dk1"/>
                  </a:solidFill>
                  <a:latin typeface="Times New Roman"/>
                  <a:ea typeface="Times New Roman"/>
                  <a:cs typeface="Times New Roman"/>
                  <a:sym typeface="Times New Roman"/>
                </a:rPr>
                <a:t>Time consuming to handle huge amount of data.</a:t>
              </a:r>
              <a:endParaRPr/>
            </a:p>
            <a:p>
              <a:pPr indent="0" lvl="1" marL="0" marR="0" rtl="0" algn="l">
                <a:lnSpc>
                  <a:spcPct val="90000"/>
                </a:lnSpc>
                <a:spcBef>
                  <a:spcPts val="0"/>
                </a:spcBef>
                <a:spcAft>
                  <a:spcPts val="0"/>
                </a:spcAft>
                <a:buClr>
                  <a:schemeClr val="dk1"/>
                </a:buClr>
                <a:buSzPts val="4400"/>
                <a:buFont typeface="Noto Sans Symbols"/>
                <a:buNone/>
              </a:pPr>
              <a:r>
                <a:t/>
              </a:r>
              <a:endParaRPr b="0" i="0" sz="3600" u="none" cap="none" strike="noStrike">
                <a:solidFill>
                  <a:schemeClr val="dk1"/>
                </a:solidFill>
                <a:latin typeface="Times New Roman"/>
                <a:ea typeface="Times New Roman"/>
                <a:cs typeface="Times New Roman"/>
                <a:sym typeface="Times New Roman"/>
              </a:endParaRPr>
            </a:p>
            <a:p>
              <a:pPr indent="-285750" lvl="1" marL="285750" marR="0" rtl="0" algn="l">
                <a:lnSpc>
                  <a:spcPct val="90000"/>
                </a:lnSpc>
                <a:spcBef>
                  <a:spcPts val="880"/>
                </a:spcBef>
                <a:spcAft>
                  <a:spcPts val="0"/>
                </a:spcAft>
                <a:buClr>
                  <a:schemeClr val="dk1"/>
                </a:buClr>
                <a:buSzPts val="4400"/>
                <a:buFont typeface="Noto Sans Symbols"/>
                <a:buChar char="⮚"/>
              </a:pPr>
              <a:r>
                <a:rPr b="0" i="0" lang="en-US" sz="3600" u="none" cap="none" strike="noStrike">
                  <a:solidFill>
                    <a:schemeClr val="dk1"/>
                  </a:solidFill>
                  <a:latin typeface="Times New Roman"/>
                  <a:ea typeface="Times New Roman"/>
                  <a:cs typeface="Times New Roman"/>
                  <a:sym typeface="Times New Roman"/>
                </a:rPr>
                <a:t>Using terminal, entire data is lost when the program is terminated or computer is turned off.</a:t>
              </a:r>
              <a:endParaRPr b="0" i="0" sz="3600" u="none" cap="none" strike="noStrike">
                <a:solidFill>
                  <a:schemeClr val="dk1"/>
                </a:solidFill>
                <a:latin typeface="Times New Roman"/>
                <a:ea typeface="Times New Roman"/>
                <a:cs typeface="Times New Roman"/>
                <a:sym typeface="Times New Roman"/>
              </a:endParaRPr>
            </a:p>
          </p:txBody>
        </p:sp>
      </p:grpSp>
      <p:sp>
        <p:nvSpPr>
          <p:cNvPr id="142" name="Google Shape;142;p5"/>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type="title"/>
          </p:nvPr>
        </p:nvSpPr>
        <p:spPr>
          <a:xfrm>
            <a:off x="0" y="509587"/>
            <a:ext cx="18288000" cy="166211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6600"/>
              <a:buFont typeface="Calibri"/>
              <a:buNone/>
            </a:pPr>
            <a:r>
              <a:rPr b="1" lang="en-US" sz="4800">
                <a:solidFill>
                  <a:srgbClr val="2E75B5"/>
                </a:solidFill>
                <a:latin typeface="Times New Roman"/>
                <a:ea typeface="Times New Roman"/>
                <a:cs typeface="Times New Roman"/>
                <a:sym typeface="Times New Roman"/>
              </a:rPr>
              <a:t>FILE PATH </a:t>
            </a:r>
            <a:endParaRPr sz="4800">
              <a:solidFill>
                <a:srgbClr val="2E75B5"/>
              </a:solidFill>
              <a:latin typeface="Times New Roman"/>
              <a:ea typeface="Times New Roman"/>
              <a:cs typeface="Times New Roman"/>
              <a:sym typeface="Times New Roman"/>
            </a:endParaRPr>
          </a:p>
        </p:txBody>
      </p:sp>
      <p:sp>
        <p:nvSpPr>
          <p:cNvPr id="148" name="Google Shape;148;p6"/>
          <p:cNvSpPr txBox="1"/>
          <p:nvPr>
            <p:ph idx="1" type="body"/>
          </p:nvPr>
        </p:nvSpPr>
        <p:spPr>
          <a:xfrm>
            <a:off x="831215" y="2869565"/>
            <a:ext cx="16573500" cy="6714490"/>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4800"/>
              <a:buFont typeface="Noto Sans Symbols"/>
              <a:buChar char="⮚"/>
            </a:pPr>
            <a:r>
              <a:rPr lang="en-US" sz="3600">
                <a:latin typeface="Times New Roman"/>
                <a:ea typeface="Times New Roman"/>
                <a:cs typeface="Times New Roman"/>
                <a:sym typeface="Times New Roman"/>
              </a:rPr>
              <a:t>Files are stored in a tree or hierarchical structure.</a:t>
            </a:r>
            <a:endParaRPr sz="3600">
              <a:latin typeface="Times New Roman"/>
              <a:ea typeface="Times New Roman"/>
              <a:cs typeface="Times New Roman"/>
              <a:sym typeface="Times New Roman"/>
            </a:endParaRPr>
          </a:p>
          <a:p>
            <a:pPr indent="-342900" lvl="0" marL="342900" rtl="0" algn="just">
              <a:lnSpc>
                <a:spcPct val="90000"/>
              </a:lnSpc>
              <a:spcBef>
                <a:spcPts val="1500"/>
              </a:spcBef>
              <a:spcAft>
                <a:spcPts val="0"/>
              </a:spcAft>
              <a:buClr>
                <a:schemeClr val="dk1"/>
              </a:buClr>
              <a:buSzPts val="4800"/>
              <a:buFont typeface="Noto Sans Symbols"/>
              <a:buChar char="⮚"/>
            </a:pPr>
            <a:r>
              <a:rPr lang="en-US" sz="3600">
                <a:latin typeface="Times New Roman"/>
                <a:ea typeface="Times New Roman"/>
                <a:cs typeface="Times New Roman"/>
                <a:sym typeface="Times New Roman"/>
              </a:rPr>
              <a:t>The top of the tree is one root nodes.</a:t>
            </a:r>
            <a:endParaRPr sz="3600">
              <a:latin typeface="Times New Roman"/>
              <a:ea typeface="Times New Roman"/>
              <a:cs typeface="Times New Roman"/>
              <a:sym typeface="Times New Roman"/>
            </a:endParaRPr>
          </a:p>
          <a:p>
            <a:pPr indent="-342900" lvl="0" marL="342900" rtl="0" algn="just">
              <a:lnSpc>
                <a:spcPct val="90000"/>
              </a:lnSpc>
              <a:spcBef>
                <a:spcPts val="1500"/>
              </a:spcBef>
              <a:spcAft>
                <a:spcPts val="0"/>
              </a:spcAft>
              <a:buClr>
                <a:schemeClr val="dk1"/>
              </a:buClr>
              <a:buSzPts val="4800"/>
              <a:buFont typeface="Noto Sans Symbols"/>
              <a:buChar char="⮚"/>
            </a:pPr>
            <a:r>
              <a:rPr lang="en-US" sz="3600">
                <a:latin typeface="Times New Roman"/>
                <a:ea typeface="Times New Roman"/>
                <a:cs typeface="Times New Roman"/>
                <a:sym typeface="Times New Roman"/>
              </a:rPr>
              <a:t>Under root node, there are other files and folders (directories).</a:t>
            </a:r>
            <a:endParaRPr sz="3600">
              <a:latin typeface="Times New Roman"/>
              <a:ea typeface="Times New Roman"/>
              <a:cs typeface="Times New Roman"/>
              <a:sym typeface="Times New Roman"/>
            </a:endParaRPr>
          </a:p>
          <a:p>
            <a:pPr indent="-342900" lvl="0" marL="342900" rtl="0" algn="just">
              <a:lnSpc>
                <a:spcPct val="90000"/>
              </a:lnSpc>
              <a:spcBef>
                <a:spcPts val="1500"/>
              </a:spcBef>
              <a:spcAft>
                <a:spcPts val="0"/>
              </a:spcAft>
              <a:buClr>
                <a:schemeClr val="dk1"/>
              </a:buClr>
              <a:buSzPts val="4800"/>
              <a:buFont typeface="Noto Sans Symbols"/>
              <a:buChar char="⮚"/>
            </a:pPr>
            <a:r>
              <a:rPr lang="en-US" sz="3600">
                <a:latin typeface="Times New Roman"/>
                <a:ea typeface="Times New Roman"/>
                <a:cs typeface="Times New Roman"/>
                <a:sym typeface="Times New Roman"/>
              </a:rPr>
              <a:t>Each folder contain other files and folders, It is a limitless path.</a:t>
            </a:r>
            <a:endParaRPr sz="3600">
              <a:latin typeface="Times New Roman"/>
              <a:ea typeface="Times New Roman"/>
              <a:cs typeface="Times New Roman"/>
              <a:sym typeface="Times New Roman"/>
            </a:endParaRPr>
          </a:p>
          <a:p>
            <a:pPr indent="-342900" lvl="0" marL="342900" rtl="0" algn="just">
              <a:lnSpc>
                <a:spcPct val="90000"/>
              </a:lnSpc>
              <a:spcBef>
                <a:spcPts val="1500"/>
              </a:spcBef>
              <a:spcAft>
                <a:spcPts val="0"/>
              </a:spcAft>
              <a:buClr>
                <a:schemeClr val="dk1"/>
              </a:buClr>
              <a:buSzPts val="4800"/>
              <a:buFont typeface="Noto Sans Symbols"/>
              <a:buChar char="⮚"/>
            </a:pPr>
            <a:r>
              <a:rPr lang="en-US" sz="3600">
                <a:latin typeface="Times New Roman"/>
                <a:ea typeface="Times New Roman"/>
                <a:cs typeface="Times New Roman"/>
                <a:sym typeface="Times New Roman"/>
              </a:rPr>
              <a:t>Type of the file is indicated by its extension.</a:t>
            </a:r>
            <a:endParaRPr/>
          </a:p>
          <a:p>
            <a:pPr indent="-342900" lvl="0" marL="342900" rtl="0" algn="just">
              <a:lnSpc>
                <a:spcPct val="90000"/>
              </a:lnSpc>
              <a:spcBef>
                <a:spcPts val="1500"/>
              </a:spcBef>
              <a:spcAft>
                <a:spcPts val="0"/>
              </a:spcAft>
              <a:buClr>
                <a:schemeClr val="dk1"/>
              </a:buClr>
              <a:buSzPts val="4800"/>
              <a:buFont typeface="Noto Sans Symbols"/>
              <a:buChar char="⮚"/>
            </a:pPr>
            <a:r>
              <a:rPr lang="en-US" sz="3600">
                <a:solidFill>
                  <a:srgbClr val="00B050"/>
                </a:solidFill>
                <a:latin typeface="Times New Roman"/>
                <a:ea typeface="Times New Roman"/>
                <a:cs typeface="Times New Roman"/>
                <a:sym typeface="Times New Roman"/>
              </a:rPr>
              <a:t>Two types of paths: </a:t>
            </a:r>
            <a:r>
              <a:rPr lang="en-US" sz="3600">
                <a:latin typeface="Times New Roman"/>
                <a:ea typeface="Times New Roman"/>
                <a:cs typeface="Times New Roman"/>
                <a:sym typeface="Times New Roman"/>
              </a:rPr>
              <a:t>Absolute pathname, Relative pathname</a:t>
            </a:r>
            <a:endParaRPr sz="3600">
              <a:latin typeface="Times New Roman"/>
              <a:ea typeface="Times New Roman"/>
              <a:cs typeface="Times New Roman"/>
              <a:sym typeface="Times New Roman"/>
            </a:endParaRPr>
          </a:p>
          <a:p>
            <a:pPr indent="-76200" lvl="0" marL="342900" rtl="0" algn="l">
              <a:lnSpc>
                <a:spcPct val="90000"/>
              </a:lnSpc>
              <a:spcBef>
                <a:spcPts val="1500"/>
              </a:spcBef>
              <a:spcAft>
                <a:spcPts val="0"/>
              </a:spcAft>
              <a:buClr>
                <a:schemeClr val="dk1"/>
              </a:buClr>
              <a:buSzPts val="4200"/>
              <a:buFont typeface="Noto Sans Symbols"/>
              <a:buNone/>
            </a:pPr>
            <a:r>
              <a:t/>
            </a:r>
            <a:endParaRPr/>
          </a:p>
        </p:txBody>
      </p:sp>
      <p:sp>
        <p:nvSpPr>
          <p:cNvPr id="149" name="Google Shape;149;p6"/>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txBox="1"/>
          <p:nvPr>
            <p:ph type="title"/>
          </p:nvPr>
        </p:nvSpPr>
        <p:spPr>
          <a:xfrm flipH="1">
            <a:off x="-1" y="725052"/>
            <a:ext cx="18287999" cy="176926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5400"/>
              <a:buFont typeface="Cambria"/>
              <a:buNone/>
            </a:pPr>
            <a:r>
              <a:rPr b="1" lang="en-US" sz="4800">
                <a:solidFill>
                  <a:srgbClr val="2E75B5"/>
                </a:solidFill>
                <a:latin typeface="Times New Roman"/>
                <a:ea typeface="Times New Roman"/>
                <a:cs typeface="Times New Roman"/>
                <a:sym typeface="Times New Roman"/>
              </a:rPr>
              <a:t>Files and Folders</a:t>
            </a:r>
            <a:endParaRPr b="1" sz="4800">
              <a:solidFill>
                <a:srgbClr val="2E75B5"/>
              </a:solidFill>
              <a:latin typeface="Times New Roman"/>
              <a:ea typeface="Times New Roman"/>
              <a:cs typeface="Times New Roman"/>
              <a:sym typeface="Times New Roman"/>
            </a:endParaRPr>
          </a:p>
        </p:txBody>
      </p:sp>
      <p:grpSp>
        <p:nvGrpSpPr>
          <p:cNvPr id="155" name="Google Shape;155;p7"/>
          <p:cNvGrpSpPr/>
          <p:nvPr/>
        </p:nvGrpSpPr>
        <p:grpSpPr>
          <a:xfrm>
            <a:off x="4680167" y="3020991"/>
            <a:ext cx="8927667" cy="5986872"/>
            <a:chOff x="3362616" y="852"/>
            <a:chExt cx="10649728" cy="9509009"/>
          </a:xfrm>
        </p:grpSpPr>
        <p:sp>
          <p:nvSpPr>
            <p:cNvPr id="156" name="Google Shape;156;p7"/>
            <p:cNvSpPr/>
            <p:nvPr/>
          </p:nvSpPr>
          <p:spPr>
            <a:xfrm>
              <a:off x="8678960" y="1848142"/>
              <a:ext cx="3555588" cy="846068"/>
            </a:xfrm>
            <a:custGeom>
              <a:rect b="b" l="l" r="r" t="t"/>
              <a:pathLst>
                <a:path extrusionOk="0" h="120000" w="120000">
                  <a:moveTo>
                    <a:pt x="0" y="0"/>
                  </a:moveTo>
                  <a:lnTo>
                    <a:pt x="0" y="81777"/>
                  </a:lnTo>
                  <a:lnTo>
                    <a:pt x="120000" y="81777"/>
                  </a:lnTo>
                  <a:lnTo>
                    <a:pt x="120000" y="120000"/>
                  </a:lnTo>
                </a:path>
              </a:pathLst>
            </a:custGeom>
            <a:noFill/>
            <a:ln cap="flat" cmpd="sng" w="12700">
              <a:solidFill>
                <a:srgbClr val="345A99"/>
              </a:solidFill>
              <a:prstDash val="solid"/>
              <a:miter lim="800000"/>
              <a:headEnd len="sm" w="sm" type="none"/>
              <a:tailEnd len="sm" w="sm" type="none"/>
            </a:ln>
          </p:spPr>
        </p:sp>
        <p:sp>
          <p:nvSpPr>
            <p:cNvPr id="157" name="Google Shape;157;p7"/>
            <p:cNvSpPr/>
            <p:nvPr/>
          </p:nvSpPr>
          <p:spPr>
            <a:xfrm>
              <a:off x="8678960" y="4541501"/>
              <a:ext cx="2456477" cy="846068"/>
            </a:xfrm>
            <a:custGeom>
              <a:rect b="b" l="l" r="r" t="t"/>
              <a:pathLst>
                <a:path extrusionOk="0" h="120000" w="120000">
                  <a:moveTo>
                    <a:pt x="0" y="0"/>
                  </a:moveTo>
                  <a:lnTo>
                    <a:pt x="0" y="81777"/>
                  </a:lnTo>
                  <a:lnTo>
                    <a:pt x="120000" y="81777"/>
                  </a:lnTo>
                  <a:lnTo>
                    <a:pt x="120000" y="120000"/>
                  </a:lnTo>
                </a:path>
              </a:pathLst>
            </a:custGeom>
            <a:noFill/>
            <a:ln cap="flat" cmpd="sng" w="12700">
              <a:solidFill>
                <a:srgbClr val="3A66B1"/>
              </a:solidFill>
              <a:prstDash val="solid"/>
              <a:miter lim="800000"/>
              <a:headEnd len="sm" w="sm" type="none"/>
              <a:tailEnd len="sm" w="sm" type="none"/>
            </a:ln>
          </p:spPr>
        </p:sp>
        <p:sp>
          <p:nvSpPr>
            <p:cNvPr id="158" name="Google Shape;158;p7"/>
            <p:cNvSpPr/>
            <p:nvPr/>
          </p:nvSpPr>
          <p:spPr>
            <a:xfrm>
              <a:off x="6187469" y="7234859"/>
              <a:ext cx="91440" cy="846068"/>
            </a:xfrm>
            <a:custGeom>
              <a:rect b="b" l="l" r="r" t="t"/>
              <a:pathLst>
                <a:path extrusionOk="0" h="120000" w="120000">
                  <a:moveTo>
                    <a:pt x="60000" y="0"/>
                  </a:moveTo>
                  <a:lnTo>
                    <a:pt x="60000" y="120000"/>
                  </a:lnTo>
                </a:path>
              </a:pathLst>
            </a:custGeom>
            <a:noFill/>
            <a:ln cap="flat" cmpd="sng" w="12700">
              <a:solidFill>
                <a:srgbClr val="3A66B1"/>
              </a:solidFill>
              <a:prstDash val="solid"/>
              <a:miter lim="800000"/>
              <a:headEnd len="sm" w="sm" type="none"/>
              <a:tailEnd len="sm" w="sm" type="none"/>
            </a:ln>
          </p:spPr>
        </p:sp>
        <p:sp>
          <p:nvSpPr>
            <p:cNvPr id="159" name="Google Shape;159;p7"/>
            <p:cNvSpPr/>
            <p:nvPr/>
          </p:nvSpPr>
          <p:spPr>
            <a:xfrm>
              <a:off x="6233189" y="4541501"/>
              <a:ext cx="2445771" cy="846068"/>
            </a:xfrm>
            <a:custGeom>
              <a:rect b="b" l="l" r="r" t="t"/>
              <a:pathLst>
                <a:path extrusionOk="0" h="120000" w="120000">
                  <a:moveTo>
                    <a:pt x="120000" y="0"/>
                  </a:moveTo>
                  <a:lnTo>
                    <a:pt x="120000" y="81777"/>
                  </a:lnTo>
                  <a:lnTo>
                    <a:pt x="0" y="81777"/>
                  </a:lnTo>
                  <a:lnTo>
                    <a:pt x="0" y="120000"/>
                  </a:lnTo>
                </a:path>
              </a:pathLst>
            </a:custGeom>
            <a:noFill/>
            <a:ln cap="flat" cmpd="sng" w="12700">
              <a:solidFill>
                <a:srgbClr val="3A66B1"/>
              </a:solidFill>
              <a:prstDash val="solid"/>
              <a:miter lim="800000"/>
              <a:headEnd len="sm" w="sm" type="none"/>
              <a:tailEnd len="sm" w="sm" type="none"/>
            </a:ln>
          </p:spPr>
        </p:sp>
        <p:sp>
          <p:nvSpPr>
            <p:cNvPr id="160" name="Google Shape;160;p7"/>
            <p:cNvSpPr/>
            <p:nvPr/>
          </p:nvSpPr>
          <p:spPr>
            <a:xfrm>
              <a:off x="8633240" y="1848142"/>
              <a:ext cx="91440" cy="846068"/>
            </a:xfrm>
            <a:custGeom>
              <a:rect b="b" l="l" r="r" t="t"/>
              <a:pathLst>
                <a:path extrusionOk="0" h="120000" w="120000">
                  <a:moveTo>
                    <a:pt x="60000" y="0"/>
                  </a:moveTo>
                  <a:lnTo>
                    <a:pt x="60000" y="120000"/>
                  </a:lnTo>
                </a:path>
              </a:pathLst>
            </a:custGeom>
            <a:noFill/>
            <a:ln cap="flat" cmpd="sng" w="12700">
              <a:solidFill>
                <a:srgbClr val="345A99"/>
              </a:solidFill>
              <a:prstDash val="solid"/>
              <a:miter lim="800000"/>
              <a:headEnd len="sm" w="sm" type="none"/>
              <a:tailEnd len="sm" w="sm" type="none"/>
            </a:ln>
          </p:spPr>
        </p:sp>
        <p:sp>
          <p:nvSpPr>
            <p:cNvPr id="161" name="Google Shape;161;p7"/>
            <p:cNvSpPr/>
            <p:nvPr/>
          </p:nvSpPr>
          <p:spPr>
            <a:xfrm>
              <a:off x="5123371" y="1848142"/>
              <a:ext cx="3555588" cy="846068"/>
            </a:xfrm>
            <a:custGeom>
              <a:rect b="b" l="l" r="r" t="t"/>
              <a:pathLst>
                <a:path extrusionOk="0" h="120000" w="120000">
                  <a:moveTo>
                    <a:pt x="120000" y="0"/>
                  </a:moveTo>
                  <a:lnTo>
                    <a:pt x="120000" y="81777"/>
                  </a:lnTo>
                  <a:lnTo>
                    <a:pt x="0" y="81777"/>
                  </a:lnTo>
                  <a:lnTo>
                    <a:pt x="0" y="120000"/>
                  </a:lnTo>
                </a:path>
              </a:pathLst>
            </a:custGeom>
            <a:noFill/>
            <a:ln cap="flat" cmpd="sng" w="12700">
              <a:solidFill>
                <a:srgbClr val="345A99"/>
              </a:solidFill>
              <a:prstDash val="solid"/>
              <a:miter lim="800000"/>
              <a:headEnd len="sm" w="sm" type="none"/>
              <a:tailEnd len="sm" w="sm" type="none"/>
            </a:ln>
          </p:spPr>
        </p:sp>
        <p:sp>
          <p:nvSpPr>
            <p:cNvPr id="162" name="Google Shape;162;p7"/>
            <p:cNvSpPr/>
            <p:nvPr/>
          </p:nvSpPr>
          <p:spPr>
            <a:xfrm>
              <a:off x="7224401" y="852"/>
              <a:ext cx="2909118" cy="1847290"/>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7"/>
            <p:cNvSpPr/>
            <p:nvPr/>
          </p:nvSpPr>
          <p:spPr>
            <a:xfrm>
              <a:off x="7547637" y="307926"/>
              <a:ext cx="2909118" cy="1847290"/>
            </a:xfrm>
            <a:prstGeom prst="roundRect">
              <a:avLst>
                <a:gd fmla="val 10000" name="adj"/>
              </a:avLst>
            </a:prstGeom>
            <a:solidFill>
              <a:schemeClr val="lt1">
                <a:alpha val="89411"/>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7"/>
            <p:cNvSpPr txBox="1"/>
            <p:nvPr/>
          </p:nvSpPr>
          <p:spPr>
            <a:xfrm>
              <a:off x="7601742" y="362031"/>
              <a:ext cx="2800908" cy="1739080"/>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C:\</a:t>
              </a:r>
              <a:endParaRPr b="0" i="0" sz="3200" u="none" cap="none" strike="noStrike">
                <a:solidFill>
                  <a:schemeClr val="dk1"/>
                </a:solidFill>
                <a:latin typeface="Calibri"/>
                <a:ea typeface="Calibri"/>
                <a:cs typeface="Calibri"/>
                <a:sym typeface="Calibri"/>
              </a:endParaRPr>
            </a:p>
          </p:txBody>
        </p:sp>
        <p:sp>
          <p:nvSpPr>
            <p:cNvPr id="165" name="Google Shape;165;p7"/>
            <p:cNvSpPr/>
            <p:nvPr/>
          </p:nvSpPr>
          <p:spPr>
            <a:xfrm>
              <a:off x="3668812" y="2694211"/>
              <a:ext cx="2909118" cy="1847290"/>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7"/>
            <p:cNvSpPr/>
            <p:nvPr/>
          </p:nvSpPr>
          <p:spPr>
            <a:xfrm>
              <a:off x="3992048" y="3001284"/>
              <a:ext cx="2909118" cy="1847290"/>
            </a:xfrm>
            <a:prstGeom prst="roundRect">
              <a:avLst>
                <a:gd fmla="val 10000" name="adj"/>
              </a:avLst>
            </a:prstGeom>
            <a:solidFill>
              <a:schemeClr val="lt1">
                <a:alpha val="89411"/>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7"/>
            <p:cNvSpPr txBox="1"/>
            <p:nvPr/>
          </p:nvSpPr>
          <p:spPr>
            <a:xfrm>
              <a:off x="4046153" y="3055389"/>
              <a:ext cx="2800908" cy="1739080"/>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Teachers</a:t>
              </a:r>
              <a:endParaRPr b="0" i="0" sz="3200" u="none" cap="none" strike="noStrike">
                <a:solidFill>
                  <a:schemeClr val="dk1"/>
                </a:solidFill>
                <a:latin typeface="Calibri"/>
                <a:ea typeface="Calibri"/>
                <a:cs typeface="Calibri"/>
                <a:sym typeface="Calibri"/>
              </a:endParaRPr>
            </a:p>
          </p:txBody>
        </p:sp>
        <p:sp>
          <p:nvSpPr>
            <p:cNvPr id="168" name="Google Shape;168;p7"/>
            <p:cNvSpPr/>
            <p:nvPr/>
          </p:nvSpPr>
          <p:spPr>
            <a:xfrm>
              <a:off x="7224401" y="2694211"/>
              <a:ext cx="2909118" cy="1847290"/>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7"/>
            <p:cNvSpPr/>
            <p:nvPr/>
          </p:nvSpPr>
          <p:spPr>
            <a:xfrm>
              <a:off x="7547637" y="3001284"/>
              <a:ext cx="2909118" cy="1847290"/>
            </a:xfrm>
            <a:prstGeom prst="roundRect">
              <a:avLst>
                <a:gd fmla="val 10000" name="adj"/>
              </a:avLst>
            </a:prstGeom>
            <a:solidFill>
              <a:schemeClr val="lt1">
                <a:alpha val="89411"/>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7"/>
            <p:cNvSpPr txBox="1"/>
            <p:nvPr/>
          </p:nvSpPr>
          <p:spPr>
            <a:xfrm>
              <a:off x="7601742" y="3055389"/>
              <a:ext cx="2800908" cy="1739080"/>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Students</a:t>
              </a:r>
              <a:endParaRPr b="0" i="0" sz="3200" u="none" cap="none" strike="noStrike">
                <a:solidFill>
                  <a:schemeClr val="dk1"/>
                </a:solidFill>
                <a:latin typeface="Calibri"/>
                <a:ea typeface="Calibri"/>
                <a:cs typeface="Calibri"/>
                <a:sym typeface="Calibri"/>
              </a:endParaRPr>
            </a:p>
          </p:txBody>
        </p:sp>
        <p:sp>
          <p:nvSpPr>
            <p:cNvPr id="171" name="Google Shape;171;p7"/>
            <p:cNvSpPr/>
            <p:nvPr/>
          </p:nvSpPr>
          <p:spPr>
            <a:xfrm>
              <a:off x="4099947" y="5387569"/>
              <a:ext cx="4266483" cy="1847290"/>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7"/>
            <p:cNvSpPr/>
            <p:nvPr/>
          </p:nvSpPr>
          <p:spPr>
            <a:xfrm>
              <a:off x="4423182" y="5694643"/>
              <a:ext cx="4266483" cy="1847290"/>
            </a:xfrm>
            <a:prstGeom prst="roundRect">
              <a:avLst>
                <a:gd fmla="val 10000" name="adj"/>
              </a:avLst>
            </a:prstGeom>
            <a:solidFill>
              <a:schemeClr val="lt1">
                <a:alpha val="89411"/>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7"/>
            <p:cNvSpPr txBox="1"/>
            <p:nvPr/>
          </p:nvSpPr>
          <p:spPr>
            <a:xfrm>
              <a:off x="4477287" y="5748748"/>
              <a:ext cx="4158273" cy="1739080"/>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Undergraduate</a:t>
              </a:r>
              <a:endParaRPr b="0" i="0" sz="3200" u="none" cap="none" strike="noStrike">
                <a:solidFill>
                  <a:schemeClr val="dk1"/>
                </a:solidFill>
                <a:latin typeface="Calibri"/>
                <a:ea typeface="Calibri"/>
                <a:cs typeface="Calibri"/>
                <a:sym typeface="Calibri"/>
              </a:endParaRPr>
            </a:p>
          </p:txBody>
        </p:sp>
        <p:sp>
          <p:nvSpPr>
            <p:cNvPr id="174" name="Google Shape;174;p7"/>
            <p:cNvSpPr/>
            <p:nvPr/>
          </p:nvSpPr>
          <p:spPr>
            <a:xfrm>
              <a:off x="3362616" y="8080928"/>
              <a:ext cx="5741144" cy="1121859"/>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7"/>
            <p:cNvSpPr/>
            <p:nvPr/>
          </p:nvSpPr>
          <p:spPr>
            <a:xfrm>
              <a:off x="3685852" y="8388002"/>
              <a:ext cx="5741144" cy="1121859"/>
            </a:xfrm>
            <a:prstGeom prst="roundRect">
              <a:avLst>
                <a:gd fmla="val 10000" name="adj"/>
              </a:avLst>
            </a:prstGeom>
            <a:solidFill>
              <a:schemeClr val="lt1">
                <a:alpha val="89411"/>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7"/>
            <p:cNvSpPr txBox="1"/>
            <p:nvPr/>
          </p:nvSpPr>
          <p:spPr>
            <a:xfrm>
              <a:off x="3718710" y="8420860"/>
              <a:ext cx="5675428" cy="1056143"/>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B.Tech_CS.docx</a:t>
              </a:r>
              <a:endParaRPr b="0" i="0" sz="3200" u="none" cap="none" strike="noStrike">
                <a:solidFill>
                  <a:schemeClr val="dk1"/>
                </a:solidFill>
                <a:latin typeface="Calibri"/>
                <a:ea typeface="Calibri"/>
                <a:cs typeface="Calibri"/>
                <a:sym typeface="Calibri"/>
              </a:endParaRPr>
            </a:p>
          </p:txBody>
        </p:sp>
        <p:sp>
          <p:nvSpPr>
            <p:cNvPr id="177" name="Google Shape;177;p7"/>
            <p:cNvSpPr/>
            <p:nvPr/>
          </p:nvSpPr>
          <p:spPr>
            <a:xfrm>
              <a:off x="9012901" y="5387569"/>
              <a:ext cx="4245072" cy="1847290"/>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7"/>
            <p:cNvSpPr/>
            <p:nvPr/>
          </p:nvSpPr>
          <p:spPr>
            <a:xfrm>
              <a:off x="9336137" y="5694643"/>
              <a:ext cx="4245072" cy="1847290"/>
            </a:xfrm>
            <a:prstGeom prst="roundRect">
              <a:avLst>
                <a:gd fmla="val 10000" name="adj"/>
              </a:avLst>
            </a:prstGeom>
            <a:solidFill>
              <a:schemeClr val="lt1">
                <a:alpha val="89411"/>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7"/>
            <p:cNvSpPr txBox="1"/>
            <p:nvPr/>
          </p:nvSpPr>
          <p:spPr>
            <a:xfrm>
              <a:off x="9390242" y="5748748"/>
              <a:ext cx="4136862" cy="1739080"/>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Postgraduate</a:t>
              </a:r>
              <a:endParaRPr b="0" i="0" sz="3200" u="none" cap="none" strike="noStrike">
                <a:solidFill>
                  <a:schemeClr val="dk1"/>
                </a:solidFill>
                <a:latin typeface="Calibri"/>
                <a:ea typeface="Calibri"/>
                <a:cs typeface="Calibri"/>
                <a:sym typeface="Calibri"/>
              </a:endParaRPr>
            </a:p>
          </p:txBody>
        </p:sp>
        <p:sp>
          <p:nvSpPr>
            <p:cNvPr id="180" name="Google Shape;180;p7"/>
            <p:cNvSpPr/>
            <p:nvPr/>
          </p:nvSpPr>
          <p:spPr>
            <a:xfrm>
              <a:off x="10779990" y="2694211"/>
              <a:ext cx="2909118" cy="1847290"/>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7"/>
            <p:cNvSpPr/>
            <p:nvPr/>
          </p:nvSpPr>
          <p:spPr>
            <a:xfrm>
              <a:off x="11103226" y="3001284"/>
              <a:ext cx="2909118" cy="1847290"/>
            </a:xfrm>
            <a:prstGeom prst="roundRect">
              <a:avLst>
                <a:gd fmla="val 10000" name="adj"/>
              </a:avLst>
            </a:prstGeom>
            <a:solidFill>
              <a:schemeClr val="lt1">
                <a:alpha val="89411"/>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7"/>
            <p:cNvSpPr txBox="1"/>
            <p:nvPr/>
          </p:nvSpPr>
          <p:spPr>
            <a:xfrm>
              <a:off x="11157331" y="3055389"/>
              <a:ext cx="2800908" cy="1739080"/>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Staff</a:t>
              </a:r>
              <a:endParaRPr b="0" i="0" sz="3200" u="none" cap="none" strike="noStrike">
                <a:solidFill>
                  <a:schemeClr val="dk1"/>
                </a:solidFill>
                <a:latin typeface="Calibri"/>
                <a:ea typeface="Calibri"/>
                <a:cs typeface="Calibri"/>
                <a:sym typeface="Calibri"/>
              </a:endParaRPr>
            </a:p>
          </p:txBody>
        </p:sp>
      </p:grpSp>
      <p:sp>
        <p:nvSpPr>
          <p:cNvPr id="183" name="Google Shape;183;p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8"/>
          <p:cNvSpPr txBox="1"/>
          <p:nvPr>
            <p:ph type="title"/>
          </p:nvPr>
        </p:nvSpPr>
        <p:spPr>
          <a:xfrm>
            <a:off x="0" y="977179"/>
            <a:ext cx="18288000" cy="198834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7200"/>
              <a:buFont typeface="Calibri"/>
              <a:buNone/>
            </a:pPr>
            <a:r>
              <a:rPr b="1" lang="en-US" sz="4800">
                <a:solidFill>
                  <a:srgbClr val="2E75B5"/>
                </a:solidFill>
                <a:latin typeface="Times New Roman"/>
                <a:ea typeface="Times New Roman"/>
                <a:cs typeface="Times New Roman"/>
                <a:sym typeface="Times New Roman"/>
              </a:rPr>
              <a:t>Absolute Pathname</a:t>
            </a:r>
            <a:endParaRPr b="1" sz="4800">
              <a:solidFill>
                <a:srgbClr val="2E75B5"/>
              </a:solidFill>
              <a:latin typeface="Times New Roman"/>
              <a:ea typeface="Times New Roman"/>
              <a:cs typeface="Times New Roman"/>
              <a:sym typeface="Times New Roman"/>
            </a:endParaRPr>
          </a:p>
        </p:txBody>
      </p:sp>
      <p:grpSp>
        <p:nvGrpSpPr>
          <p:cNvPr id="189" name="Google Shape;189;p8"/>
          <p:cNvGrpSpPr/>
          <p:nvPr/>
        </p:nvGrpSpPr>
        <p:grpSpPr>
          <a:xfrm>
            <a:off x="457200" y="3393197"/>
            <a:ext cx="17373600" cy="3200410"/>
            <a:chOff x="457200" y="3393197"/>
            <a:chExt cx="17373600" cy="3200410"/>
          </a:xfrm>
        </p:grpSpPr>
        <p:sp>
          <p:nvSpPr>
            <p:cNvPr id="190" name="Google Shape;190;p8"/>
            <p:cNvSpPr/>
            <p:nvPr/>
          </p:nvSpPr>
          <p:spPr>
            <a:xfrm>
              <a:off x="998220" y="3393197"/>
              <a:ext cx="16375380" cy="1749425"/>
            </a:xfrm>
            <a:custGeom>
              <a:rect b="b" l="l" r="r" t="t"/>
              <a:pathLst>
                <a:path extrusionOk="0" h="3574350" w="17373600">
                  <a:moveTo>
                    <a:pt x="0" y="595737"/>
                  </a:moveTo>
                  <a:cubicBezTo>
                    <a:pt x="0" y="266721"/>
                    <a:pt x="266721" y="0"/>
                    <a:pt x="595737" y="0"/>
                  </a:cubicBezTo>
                  <a:lnTo>
                    <a:pt x="16777863" y="0"/>
                  </a:lnTo>
                  <a:cubicBezTo>
                    <a:pt x="17106879" y="0"/>
                    <a:pt x="17373600" y="266721"/>
                    <a:pt x="17373600" y="595737"/>
                  </a:cubicBezTo>
                  <a:lnTo>
                    <a:pt x="17373600" y="2978613"/>
                  </a:lnTo>
                  <a:cubicBezTo>
                    <a:pt x="17373600" y="3307629"/>
                    <a:pt x="17106879" y="3574350"/>
                    <a:pt x="16777863" y="3574350"/>
                  </a:cubicBezTo>
                  <a:lnTo>
                    <a:pt x="595737" y="3574350"/>
                  </a:lnTo>
                  <a:cubicBezTo>
                    <a:pt x="266721" y="3574350"/>
                    <a:pt x="0" y="3307629"/>
                    <a:pt x="0" y="2978613"/>
                  </a:cubicBezTo>
                  <a:lnTo>
                    <a:pt x="0" y="595737"/>
                  </a:lnTo>
                  <a:close/>
                </a:path>
              </a:pathLst>
            </a:custGeom>
            <a:gradFill>
              <a:gsLst>
                <a:gs pos="0">
                  <a:srgbClr val="A6B6DE"/>
                </a:gs>
                <a:gs pos="50000">
                  <a:srgbClr val="97AAD8"/>
                </a:gs>
                <a:gs pos="100000">
                  <a:srgbClr val="859CD6"/>
                </a:gs>
              </a:gsLst>
              <a:lin ang="5400000" scaled="0"/>
            </a:gradFill>
            <a:ln>
              <a:noFill/>
            </a:ln>
          </p:spPr>
          <p:txBody>
            <a:bodyPr anchorCtr="0" anchor="ctr" bIns="422125" lIns="422125" spcFirstLastPara="1" rIns="422125" wrap="square" tIns="422125">
              <a:noAutofit/>
            </a:bodyPr>
            <a:lstStyle/>
            <a:p>
              <a:pPr indent="0" lvl="0" marL="0" marR="0" rtl="0" algn="l">
                <a:lnSpc>
                  <a:spcPct val="90000"/>
                </a:lnSpc>
                <a:spcBef>
                  <a:spcPts val="0"/>
                </a:spcBef>
                <a:spcAft>
                  <a:spcPts val="0"/>
                </a:spcAft>
                <a:buClr>
                  <a:schemeClr val="dk1"/>
                </a:buClr>
                <a:buSzPts val="6000"/>
                <a:buFont typeface="Calibri"/>
                <a:buNone/>
              </a:pPr>
              <a:r>
                <a:rPr b="0" i="0" lang="en-US" sz="4400" u="none" cap="none" strike="noStrike">
                  <a:solidFill>
                    <a:schemeClr val="dk1"/>
                  </a:solidFill>
                  <a:latin typeface="Times New Roman"/>
                  <a:ea typeface="Times New Roman"/>
                  <a:cs typeface="Times New Roman"/>
                  <a:sym typeface="Times New Roman"/>
                </a:rPr>
                <a:t>Always contains the root and the complete directory list to specify the exact location of the file.</a:t>
              </a:r>
              <a:endParaRPr b="0" i="0" sz="4400" u="none" cap="none" strike="noStrike">
                <a:solidFill>
                  <a:srgbClr val="000000"/>
                </a:solidFill>
                <a:latin typeface="Times New Roman"/>
                <a:ea typeface="Times New Roman"/>
                <a:cs typeface="Times New Roman"/>
                <a:sym typeface="Times New Roman"/>
              </a:endParaRPr>
            </a:p>
          </p:txBody>
        </p:sp>
        <p:sp>
          <p:nvSpPr>
            <p:cNvPr id="191" name="Google Shape;191;p8"/>
            <p:cNvSpPr/>
            <p:nvPr/>
          </p:nvSpPr>
          <p:spPr>
            <a:xfrm>
              <a:off x="457200" y="5517207"/>
              <a:ext cx="17373600" cy="1076400"/>
            </a:xfrm>
            <a:custGeom>
              <a:rect b="b" l="l" r="r" t="t"/>
              <a:pathLst>
                <a:path extrusionOk="0" h="1076400" w="17373600">
                  <a:moveTo>
                    <a:pt x="0" y="0"/>
                  </a:moveTo>
                  <a:lnTo>
                    <a:pt x="17373600" y="0"/>
                  </a:lnTo>
                  <a:lnTo>
                    <a:pt x="17373600" y="1076400"/>
                  </a:lnTo>
                  <a:lnTo>
                    <a:pt x="0" y="1076400"/>
                  </a:lnTo>
                  <a:lnTo>
                    <a:pt x="0" y="0"/>
                  </a:lnTo>
                  <a:close/>
                </a:path>
              </a:pathLst>
            </a:custGeom>
            <a:noFill/>
            <a:ln>
              <a:noFill/>
            </a:ln>
          </p:spPr>
          <p:txBody>
            <a:bodyPr anchorCtr="0" anchor="t" bIns="82550" lIns="551600" spcFirstLastPara="1" rIns="462275" wrap="square" tIns="82550">
              <a:noAutofit/>
            </a:bodyPr>
            <a:lstStyle/>
            <a:p>
              <a:pPr indent="-323850" lvl="1" marL="285750" marR="0" rtl="0" algn="l">
                <a:lnSpc>
                  <a:spcPct val="90000"/>
                </a:lnSpc>
                <a:spcBef>
                  <a:spcPts val="0"/>
                </a:spcBef>
                <a:spcAft>
                  <a:spcPts val="0"/>
                </a:spcAft>
                <a:buClr>
                  <a:schemeClr val="dk1"/>
                </a:buClr>
                <a:buSzPts val="5100"/>
                <a:buFont typeface="Calibri"/>
                <a:buChar char="•"/>
              </a:pPr>
              <a:r>
                <a:rPr b="0" i="0" lang="en-US" sz="4000" u="none" cap="none" strike="noStrike">
                  <a:solidFill>
                    <a:schemeClr val="dk1"/>
                  </a:solidFill>
                  <a:latin typeface="Times New Roman"/>
                  <a:ea typeface="Times New Roman"/>
                  <a:cs typeface="Times New Roman"/>
                  <a:sym typeface="Times New Roman"/>
                </a:rPr>
                <a:t>Ex: C:\students\undergraduate\Btech_CS.docx</a:t>
              </a:r>
              <a:endParaRPr b="0" i="0" sz="4000" u="none" cap="none" strike="noStrike">
                <a:solidFill>
                  <a:schemeClr val="dk1"/>
                </a:solidFill>
                <a:latin typeface="Times New Roman"/>
                <a:ea typeface="Times New Roman"/>
                <a:cs typeface="Times New Roman"/>
                <a:sym typeface="Times New Roman"/>
              </a:endParaRPr>
            </a:p>
          </p:txBody>
        </p:sp>
      </p:grpSp>
      <p:sp>
        <p:nvSpPr>
          <p:cNvPr id="192" name="Google Shape;192;p8"/>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9"/>
          <p:cNvSpPr txBox="1"/>
          <p:nvPr>
            <p:ph type="title"/>
          </p:nvPr>
        </p:nvSpPr>
        <p:spPr>
          <a:xfrm>
            <a:off x="0" y="852488"/>
            <a:ext cx="18288000" cy="198834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7200"/>
              <a:buFont typeface="Calibri"/>
              <a:buNone/>
            </a:pPr>
            <a:r>
              <a:rPr b="1" lang="en-US" sz="4800">
                <a:solidFill>
                  <a:srgbClr val="2E75B5"/>
                </a:solidFill>
                <a:latin typeface="Times New Roman"/>
                <a:ea typeface="Times New Roman"/>
                <a:cs typeface="Times New Roman"/>
                <a:sym typeface="Times New Roman"/>
              </a:rPr>
              <a:t>Relative</a:t>
            </a:r>
            <a:r>
              <a:rPr b="1" lang="en-US" sz="6000">
                <a:solidFill>
                  <a:srgbClr val="2E75B5"/>
                </a:solidFill>
                <a:latin typeface="Times New Roman"/>
                <a:ea typeface="Times New Roman"/>
                <a:cs typeface="Times New Roman"/>
                <a:sym typeface="Times New Roman"/>
              </a:rPr>
              <a:t> </a:t>
            </a:r>
            <a:r>
              <a:rPr b="1" lang="en-US" sz="4800">
                <a:solidFill>
                  <a:srgbClr val="2E75B5"/>
                </a:solidFill>
                <a:latin typeface="Times New Roman"/>
                <a:ea typeface="Times New Roman"/>
                <a:cs typeface="Times New Roman"/>
                <a:sym typeface="Times New Roman"/>
              </a:rPr>
              <a:t>Pathname</a:t>
            </a:r>
            <a:endParaRPr b="1" sz="4800">
              <a:solidFill>
                <a:srgbClr val="2E75B5"/>
              </a:solidFill>
              <a:latin typeface="Times New Roman"/>
              <a:ea typeface="Times New Roman"/>
              <a:cs typeface="Times New Roman"/>
              <a:sym typeface="Times New Roman"/>
            </a:endParaRPr>
          </a:p>
        </p:txBody>
      </p:sp>
      <p:grpSp>
        <p:nvGrpSpPr>
          <p:cNvPr id="198" name="Google Shape;198;p9"/>
          <p:cNvGrpSpPr/>
          <p:nvPr/>
        </p:nvGrpSpPr>
        <p:grpSpPr>
          <a:xfrm>
            <a:off x="457200" y="3393197"/>
            <a:ext cx="17373600" cy="4650750"/>
            <a:chOff x="457200" y="3393197"/>
            <a:chExt cx="17373600" cy="4650750"/>
          </a:xfrm>
        </p:grpSpPr>
        <p:sp>
          <p:nvSpPr>
            <p:cNvPr id="199" name="Google Shape;199;p9"/>
            <p:cNvSpPr/>
            <p:nvPr/>
          </p:nvSpPr>
          <p:spPr>
            <a:xfrm>
              <a:off x="457200" y="3393197"/>
              <a:ext cx="16916400" cy="2359903"/>
            </a:xfrm>
            <a:custGeom>
              <a:rect b="b" l="l" r="r" t="t"/>
              <a:pathLst>
                <a:path extrusionOk="0" h="3574350" w="17373600">
                  <a:moveTo>
                    <a:pt x="0" y="595737"/>
                  </a:moveTo>
                  <a:cubicBezTo>
                    <a:pt x="0" y="266721"/>
                    <a:pt x="266721" y="0"/>
                    <a:pt x="595737" y="0"/>
                  </a:cubicBezTo>
                  <a:lnTo>
                    <a:pt x="16777863" y="0"/>
                  </a:lnTo>
                  <a:cubicBezTo>
                    <a:pt x="17106879" y="0"/>
                    <a:pt x="17373600" y="266721"/>
                    <a:pt x="17373600" y="595737"/>
                  </a:cubicBezTo>
                  <a:lnTo>
                    <a:pt x="17373600" y="2978613"/>
                  </a:lnTo>
                  <a:cubicBezTo>
                    <a:pt x="17373600" y="3307629"/>
                    <a:pt x="17106879" y="3574350"/>
                    <a:pt x="16777863" y="3574350"/>
                  </a:cubicBezTo>
                  <a:lnTo>
                    <a:pt x="595737" y="3574350"/>
                  </a:lnTo>
                  <a:cubicBezTo>
                    <a:pt x="266721" y="3574350"/>
                    <a:pt x="0" y="3307629"/>
                    <a:pt x="0" y="2978613"/>
                  </a:cubicBezTo>
                  <a:lnTo>
                    <a:pt x="0" y="595737"/>
                  </a:lnTo>
                  <a:close/>
                </a:path>
              </a:pathLst>
            </a:custGeom>
            <a:gradFill>
              <a:gsLst>
                <a:gs pos="0">
                  <a:srgbClr val="A6B6DE"/>
                </a:gs>
                <a:gs pos="50000">
                  <a:srgbClr val="97AAD8"/>
                </a:gs>
                <a:gs pos="100000">
                  <a:srgbClr val="859CD6"/>
                </a:gs>
              </a:gsLst>
              <a:lin ang="5400000" scaled="0"/>
            </a:gradFill>
            <a:ln>
              <a:noFill/>
            </a:ln>
          </p:spPr>
          <p:txBody>
            <a:bodyPr anchorCtr="0" anchor="ctr" bIns="422125" lIns="422125" spcFirstLastPara="1" rIns="422125" wrap="square" tIns="422125">
              <a:noAutofit/>
            </a:bodyPr>
            <a:lstStyle/>
            <a:p>
              <a:pPr indent="0" lvl="0" marL="0" marR="0" rtl="0" algn="l">
                <a:lnSpc>
                  <a:spcPct val="90000"/>
                </a:lnSpc>
                <a:spcBef>
                  <a:spcPts val="0"/>
                </a:spcBef>
                <a:spcAft>
                  <a:spcPts val="0"/>
                </a:spcAft>
                <a:buClr>
                  <a:schemeClr val="dk1"/>
                </a:buClr>
                <a:buSzPts val="6000"/>
                <a:buFont typeface="Calibri"/>
                <a:buNone/>
              </a:pPr>
              <a:r>
                <a:rPr b="0" i="0" lang="en-US" sz="4400" u="none" cap="none" strike="noStrike">
                  <a:solidFill>
                    <a:schemeClr val="dk1"/>
                  </a:solidFill>
                  <a:latin typeface="Times New Roman"/>
                  <a:ea typeface="Times New Roman"/>
                  <a:cs typeface="Times New Roman"/>
                  <a:sym typeface="Times New Roman"/>
                </a:rPr>
                <a:t>Starts with respect to the current working directory and therefore lacks the leading slashes.</a:t>
              </a:r>
              <a:endParaRPr b="0" i="0" sz="4400" u="none" cap="none" strike="noStrike">
                <a:solidFill>
                  <a:srgbClr val="000000"/>
                </a:solidFill>
                <a:latin typeface="Times New Roman"/>
                <a:ea typeface="Times New Roman"/>
                <a:cs typeface="Times New Roman"/>
                <a:sym typeface="Times New Roman"/>
              </a:endParaRPr>
            </a:p>
          </p:txBody>
        </p:sp>
        <p:sp>
          <p:nvSpPr>
            <p:cNvPr id="200" name="Google Shape;200;p9"/>
            <p:cNvSpPr/>
            <p:nvPr/>
          </p:nvSpPr>
          <p:spPr>
            <a:xfrm>
              <a:off x="457200" y="6967547"/>
              <a:ext cx="17373600" cy="1076400"/>
            </a:xfrm>
            <a:custGeom>
              <a:rect b="b" l="l" r="r" t="t"/>
              <a:pathLst>
                <a:path extrusionOk="0" h="1076400" w="17373600">
                  <a:moveTo>
                    <a:pt x="0" y="0"/>
                  </a:moveTo>
                  <a:lnTo>
                    <a:pt x="17373600" y="0"/>
                  </a:lnTo>
                  <a:lnTo>
                    <a:pt x="17373600" y="1076400"/>
                  </a:lnTo>
                  <a:lnTo>
                    <a:pt x="0" y="1076400"/>
                  </a:lnTo>
                  <a:lnTo>
                    <a:pt x="0" y="0"/>
                  </a:lnTo>
                  <a:close/>
                </a:path>
              </a:pathLst>
            </a:custGeom>
            <a:noFill/>
            <a:ln>
              <a:noFill/>
            </a:ln>
          </p:spPr>
          <p:txBody>
            <a:bodyPr anchorCtr="0" anchor="t" bIns="82550" lIns="551600" spcFirstLastPara="1" rIns="462275" wrap="square" tIns="82550">
              <a:noAutofit/>
            </a:bodyPr>
            <a:lstStyle/>
            <a:p>
              <a:pPr indent="-323850" lvl="1" marL="285750" marR="0" rtl="0" algn="l">
                <a:lnSpc>
                  <a:spcPct val="90000"/>
                </a:lnSpc>
                <a:spcBef>
                  <a:spcPts val="0"/>
                </a:spcBef>
                <a:spcAft>
                  <a:spcPts val="0"/>
                </a:spcAft>
                <a:buClr>
                  <a:schemeClr val="dk1"/>
                </a:buClr>
                <a:buSzPts val="5100"/>
                <a:buFont typeface="Calibri"/>
                <a:buChar char="•"/>
              </a:pPr>
              <a:r>
                <a:rPr b="0" i="0" lang="en-US" sz="5100" u="none" cap="none" strike="noStrike">
                  <a:solidFill>
                    <a:schemeClr val="dk1"/>
                  </a:solidFill>
                  <a:latin typeface="Calibri"/>
                  <a:ea typeface="Calibri"/>
                  <a:cs typeface="Calibri"/>
                  <a:sym typeface="Calibri"/>
                </a:rPr>
                <a:t>Ex: undergraduate\Btech_CS.docx</a:t>
              </a:r>
              <a:endParaRPr b="0" i="0" sz="5100" u="none" cap="none" strike="noStrike">
                <a:solidFill>
                  <a:schemeClr val="dk1"/>
                </a:solidFill>
                <a:latin typeface="Calibri"/>
                <a:ea typeface="Calibri"/>
                <a:cs typeface="Calibri"/>
                <a:sym typeface="Calibri"/>
              </a:endParaRPr>
            </a:p>
          </p:txBody>
        </p:sp>
      </p:grpSp>
      <p:sp>
        <p:nvSpPr>
          <p:cNvPr id="201" name="Google Shape;201;p9"/>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txBox="1"/>
          <p:nvPr>
            <p:ph type="title"/>
          </p:nvPr>
        </p:nvSpPr>
        <p:spPr>
          <a:xfrm>
            <a:off x="1243446" y="977179"/>
            <a:ext cx="15773400" cy="198834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6600"/>
              <a:buFont typeface="Calibri"/>
              <a:buNone/>
            </a:pPr>
            <a:r>
              <a:rPr b="1" lang="en-US" sz="6000">
                <a:solidFill>
                  <a:srgbClr val="2E75B5"/>
                </a:solidFill>
                <a:latin typeface="Times New Roman"/>
                <a:ea typeface="Times New Roman"/>
                <a:cs typeface="Times New Roman"/>
                <a:sym typeface="Times New Roman"/>
              </a:rPr>
              <a:t>FILE TYPES </a:t>
            </a:r>
            <a:endParaRPr sz="6000">
              <a:solidFill>
                <a:srgbClr val="2E75B5"/>
              </a:solidFill>
              <a:latin typeface="Times New Roman"/>
              <a:ea typeface="Times New Roman"/>
              <a:cs typeface="Times New Roman"/>
              <a:sym typeface="Times New Roman"/>
            </a:endParaRPr>
          </a:p>
        </p:txBody>
      </p:sp>
      <p:grpSp>
        <p:nvGrpSpPr>
          <p:cNvPr id="207" name="Google Shape;207;p10"/>
          <p:cNvGrpSpPr/>
          <p:nvPr/>
        </p:nvGrpSpPr>
        <p:grpSpPr>
          <a:xfrm>
            <a:off x="3854831" y="3682315"/>
            <a:ext cx="9999716" cy="4782813"/>
            <a:chOff x="1932511" y="1767"/>
            <a:chExt cx="11908377" cy="6523471"/>
          </a:xfrm>
        </p:grpSpPr>
        <p:sp>
          <p:nvSpPr>
            <p:cNvPr id="208" name="Google Shape;208;p10"/>
            <p:cNvSpPr/>
            <p:nvPr/>
          </p:nvSpPr>
          <p:spPr>
            <a:xfrm rot="10800000">
              <a:off x="3351577" y="1767"/>
              <a:ext cx="10489311" cy="2838133"/>
            </a:xfrm>
            <a:prstGeom prst="homePlate">
              <a:avLst>
                <a:gd fmla="val 5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0"/>
            <p:cNvSpPr txBox="1"/>
            <p:nvPr/>
          </p:nvSpPr>
          <p:spPr>
            <a:xfrm>
              <a:off x="4061110" y="1767"/>
              <a:ext cx="9779778" cy="2838133"/>
            </a:xfrm>
            <a:prstGeom prst="rect">
              <a:avLst/>
            </a:prstGeom>
            <a:noFill/>
            <a:ln>
              <a:noFill/>
            </a:ln>
          </p:spPr>
          <p:txBody>
            <a:bodyPr anchorCtr="0" anchor="ctr" bIns="247650" lIns="1251525" spcFirstLastPara="1" rIns="462275" wrap="square" tIns="247650">
              <a:noAutofit/>
            </a:bodyPr>
            <a:lstStyle/>
            <a:p>
              <a:pPr indent="0" lvl="0" marL="0" marR="0" rtl="0" algn="ctr">
                <a:lnSpc>
                  <a:spcPct val="90000"/>
                </a:lnSpc>
                <a:spcBef>
                  <a:spcPts val="0"/>
                </a:spcBef>
                <a:spcAft>
                  <a:spcPts val="0"/>
                </a:spcAft>
                <a:buClr>
                  <a:schemeClr val="lt1"/>
                </a:buClr>
                <a:buSzPts val="6500"/>
                <a:buFont typeface="Calibri"/>
                <a:buNone/>
              </a:pPr>
              <a:r>
                <a:rPr b="0" i="0" lang="en-US" sz="6500" u="none" cap="none" strike="noStrike">
                  <a:solidFill>
                    <a:schemeClr val="lt1"/>
                  </a:solidFill>
                  <a:latin typeface="Calibri"/>
                  <a:ea typeface="Calibri"/>
                  <a:cs typeface="Calibri"/>
                  <a:sym typeface="Calibri"/>
                </a:rPr>
                <a:t>Text Files </a:t>
              </a:r>
              <a:endParaRPr b="0" i="0" sz="6500" u="none" cap="none" strike="noStrike">
                <a:solidFill>
                  <a:schemeClr val="lt1"/>
                </a:solidFill>
                <a:latin typeface="Calibri"/>
                <a:ea typeface="Calibri"/>
                <a:cs typeface="Calibri"/>
                <a:sym typeface="Calibri"/>
              </a:endParaRPr>
            </a:p>
          </p:txBody>
        </p:sp>
        <p:sp>
          <p:nvSpPr>
            <p:cNvPr id="210" name="Google Shape;210;p10"/>
            <p:cNvSpPr/>
            <p:nvPr/>
          </p:nvSpPr>
          <p:spPr>
            <a:xfrm>
              <a:off x="1932511" y="1767"/>
              <a:ext cx="2838133" cy="2838133"/>
            </a:xfrm>
            <a:prstGeom prst="ellipse">
              <a:avLst/>
            </a:prstGeom>
            <a:blipFill rotWithShape="1">
              <a:blip r:embed="rId3">
                <a:alphaModFix/>
              </a:blip>
              <a:stretch>
                <a:fillRect b="0" l="-20996" r="-20994"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0"/>
            <p:cNvSpPr/>
            <p:nvPr/>
          </p:nvSpPr>
          <p:spPr>
            <a:xfrm rot="10800000">
              <a:off x="3351577" y="3687105"/>
              <a:ext cx="10489311" cy="2838133"/>
            </a:xfrm>
            <a:prstGeom prst="homePlate">
              <a:avLst>
                <a:gd fmla="val 5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0"/>
            <p:cNvSpPr txBox="1"/>
            <p:nvPr/>
          </p:nvSpPr>
          <p:spPr>
            <a:xfrm>
              <a:off x="4061110" y="3687105"/>
              <a:ext cx="9779778" cy="2838133"/>
            </a:xfrm>
            <a:prstGeom prst="rect">
              <a:avLst/>
            </a:prstGeom>
            <a:noFill/>
            <a:ln>
              <a:noFill/>
            </a:ln>
          </p:spPr>
          <p:txBody>
            <a:bodyPr anchorCtr="0" anchor="ctr" bIns="247650" lIns="1251525" spcFirstLastPara="1" rIns="462275" wrap="square" tIns="247650">
              <a:noAutofit/>
            </a:bodyPr>
            <a:lstStyle/>
            <a:p>
              <a:pPr indent="0" lvl="0" marL="0" marR="0" rtl="0" algn="ctr">
                <a:lnSpc>
                  <a:spcPct val="90000"/>
                </a:lnSpc>
                <a:spcBef>
                  <a:spcPts val="0"/>
                </a:spcBef>
                <a:spcAft>
                  <a:spcPts val="0"/>
                </a:spcAft>
                <a:buClr>
                  <a:schemeClr val="lt1"/>
                </a:buClr>
                <a:buSzPts val="6500"/>
                <a:buFont typeface="Calibri"/>
                <a:buNone/>
              </a:pPr>
              <a:r>
                <a:rPr b="0" i="0" lang="en-US" sz="6500" u="none" cap="none" strike="noStrike">
                  <a:solidFill>
                    <a:schemeClr val="lt1"/>
                  </a:solidFill>
                  <a:latin typeface="Calibri"/>
                  <a:ea typeface="Calibri"/>
                  <a:cs typeface="Calibri"/>
                  <a:sym typeface="Calibri"/>
                </a:rPr>
                <a:t>Binary Files</a:t>
              </a:r>
              <a:endParaRPr b="0" i="0" sz="6500" u="none" cap="none" strike="noStrike">
                <a:solidFill>
                  <a:schemeClr val="lt1"/>
                </a:solidFill>
                <a:latin typeface="Calibri"/>
                <a:ea typeface="Calibri"/>
                <a:cs typeface="Calibri"/>
                <a:sym typeface="Calibri"/>
              </a:endParaRPr>
            </a:p>
          </p:txBody>
        </p:sp>
        <p:sp>
          <p:nvSpPr>
            <p:cNvPr id="213" name="Google Shape;213;p10"/>
            <p:cNvSpPr/>
            <p:nvPr/>
          </p:nvSpPr>
          <p:spPr>
            <a:xfrm>
              <a:off x="1932511" y="3687105"/>
              <a:ext cx="2838133" cy="2838133"/>
            </a:xfrm>
            <a:prstGeom prst="ellipse">
              <a:avLst/>
            </a:prstGeom>
            <a:blipFill rotWithShape="1">
              <a:blip r:embed="rId3">
                <a:alphaModFix/>
              </a:blip>
              <a:stretch>
                <a:fillRect b="0" l="-20996" r="-20994"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4" name="Google Shape;214;p1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1"/>
          <p:cNvSpPr txBox="1"/>
          <p:nvPr>
            <p:ph type="title"/>
          </p:nvPr>
        </p:nvSpPr>
        <p:spPr>
          <a:xfrm>
            <a:off x="0" y="713943"/>
            <a:ext cx="18288000" cy="198834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6600"/>
              <a:buFont typeface="Calibri"/>
              <a:buNone/>
            </a:pPr>
            <a:r>
              <a:rPr b="1" lang="en-US" sz="6000">
                <a:solidFill>
                  <a:srgbClr val="2E75B5"/>
                </a:solidFill>
                <a:latin typeface="Times New Roman"/>
                <a:ea typeface="Times New Roman"/>
                <a:cs typeface="Times New Roman"/>
                <a:sym typeface="Times New Roman"/>
              </a:rPr>
              <a:t>Text Files </a:t>
            </a:r>
            <a:br>
              <a:rPr lang="en-US" sz="6000">
                <a:solidFill>
                  <a:srgbClr val="2E75B5"/>
                </a:solidFill>
                <a:latin typeface="Times New Roman"/>
                <a:ea typeface="Times New Roman"/>
                <a:cs typeface="Times New Roman"/>
                <a:sym typeface="Times New Roman"/>
              </a:rPr>
            </a:br>
            <a:endParaRPr sz="6000">
              <a:solidFill>
                <a:srgbClr val="2E75B5"/>
              </a:solidFill>
              <a:latin typeface="Times New Roman"/>
              <a:ea typeface="Times New Roman"/>
              <a:cs typeface="Times New Roman"/>
              <a:sym typeface="Times New Roman"/>
            </a:endParaRPr>
          </a:p>
        </p:txBody>
      </p:sp>
      <p:grpSp>
        <p:nvGrpSpPr>
          <p:cNvPr id="220" name="Google Shape;220;p11"/>
          <p:cNvGrpSpPr/>
          <p:nvPr/>
        </p:nvGrpSpPr>
        <p:grpSpPr>
          <a:xfrm>
            <a:off x="1690255" y="2632364"/>
            <a:ext cx="15156872" cy="6428510"/>
            <a:chOff x="0" y="3147"/>
            <a:chExt cx="17145000" cy="7156804"/>
          </a:xfrm>
        </p:grpSpPr>
        <p:sp>
          <p:nvSpPr>
            <p:cNvPr id="221" name="Google Shape;221;p11"/>
            <p:cNvSpPr/>
            <p:nvPr/>
          </p:nvSpPr>
          <p:spPr>
            <a:xfrm>
              <a:off x="0" y="3147"/>
              <a:ext cx="17145000" cy="1376250"/>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1"/>
            <p:cNvSpPr txBox="1"/>
            <p:nvPr/>
          </p:nvSpPr>
          <p:spPr>
            <a:xfrm>
              <a:off x="0" y="3147"/>
              <a:ext cx="17145000" cy="1376250"/>
            </a:xfrm>
            <a:prstGeom prst="rect">
              <a:avLst/>
            </a:prstGeom>
            <a:noFill/>
            <a:ln>
              <a:noFill/>
            </a:ln>
          </p:spPr>
          <p:txBody>
            <a:bodyPr anchorCtr="0" anchor="ctr" bIns="109200" lIns="109200" spcFirstLastPara="1" rIns="109200" wrap="square" tIns="109200">
              <a:noAutofit/>
            </a:bodyPr>
            <a:lstStyle/>
            <a:p>
              <a:pPr indent="0" lvl="0" marL="0" marR="0" rtl="0" algn="ctr">
                <a:lnSpc>
                  <a:spcPct val="90000"/>
                </a:lnSpc>
                <a:spcBef>
                  <a:spcPts val="0"/>
                </a:spcBef>
                <a:spcAft>
                  <a:spcPts val="0"/>
                </a:spcAft>
                <a:buClr>
                  <a:schemeClr val="dk1"/>
                </a:buClr>
                <a:buSzPts val="4300"/>
                <a:buFont typeface="Calibri"/>
                <a:buNone/>
              </a:pPr>
              <a:r>
                <a:rPr b="0" i="0" lang="en-US" sz="3600" u="none" cap="none" strike="noStrike">
                  <a:solidFill>
                    <a:schemeClr val="dk1"/>
                  </a:solidFill>
                  <a:latin typeface="Times New Roman"/>
                  <a:ea typeface="Times New Roman"/>
                  <a:cs typeface="Times New Roman"/>
                  <a:sym typeface="Times New Roman"/>
                </a:rPr>
                <a:t>Text files are simple texts in human readable format.</a:t>
              </a:r>
              <a:endParaRPr b="0" i="0" sz="3600" u="none" cap="none" strike="noStrike">
                <a:solidFill>
                  <a:schemeClr val="dk1"/>
                </a:solidFill>
                <a:latin typeface="Times New Roman"/>
                <a:ea typeface="Times New Roman"/>
                <a:cs typeface="Times New Roman"/>
                <a:sym typeface="Times New Roman"/>
              </a:endParaRPr>
            </a:p>
          </p:txBody>
        </p:sp>
        <p:sp>
          <p:nvSpPr>
            <p:cNvPr id="223" name="Google Shape;223;p11"/>
            <p:cNvSpPr/>
            <p:nvPr/>
          </p:nvSpPr>
          <p:spPr>
            <a:xfrm>
              <a:off x="0" y="1448211"/>
              <a:ext cx="17145000" cy="1376250"/>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1"/>
            <p:cNvSpPr txBox="1"/>
            <p:nvPr/>
          </p:nvSpPr>
          <p:spPr>
            <a:xfrm>
              <a:off x="0" y="1448211"/>
              <a:ext cx="17145000" cy="1376400"/>
            </a:xfrm>
            <a:prstGeom prst="rect">
              <a:avLst/>
            </a:prstGeom>
            <a:noFill/>
            <a:ln>
              <a:noFill/>
            </a:ln>
          </p:spPr>
          <p:txBody>
            <a:bodyPr anchorCtr="0" anchor="ctr" bIns="109200" lIns="109200" spcFirstLastPara="1" rIns="109200" wrap="square" tIns="109200">
              <a:noAutofit/>
            </a:bodyPr>
            <a:lstStyle/>
            <a:p>
              <a:pPr indent="0" lvl="0" marL="0" marR="0" rtl="0" algn="ctr">
                <a:lnSpc>
                  <a:spcPct val="90000"/>
                </a:lnSpc>
                <a:spcBef>
                  <a:spcPts val="0"/>
                </a:spcBef>
                <a:spcAft>
                  <a:spcPts val="0"/>
                </a:spcAft>
                <a:buClr>
                  <a:schemeClr val="dk1"/>
                </a:buClr>
                <a:buSzPts val="4300"/>
                <a:buFont typeface="Calibri"/>
                <a:buNone/>
              </a:pPr>
              <a:r>
                <a:rPr b="0" i="0" lang="en-US" sz="3600" u="none" cap="none" strike="noStrike">
                  <a:solidFill>
                    <a:schemeClr val="dk1"/>
                  </a:solidFill>
                  <a:latin typeface="Times New Roman"/>
                  <a:ea typeface="Times New Roman"/>
                  <a:cs typeface="Times New Roman"/>
                  <a:sym typeface="Times New Roman"/>
                </a:rPr>
                <a:t>It is stream of characters that are sequentially processed by a computer.</a:t>
              </a:r>
              <a:endParaRPr b="0" i="0" sz="3600" u="none" cap="none" strike="noStrike">
                <a:solidFill>
                  <a:schemeClr val="dk1"/>
                </a:solidFill>
                <a:latin typeface="Times New Roman"/>
                <a:ea typeface="Times New Roman"/>
                <a:cs typeface="Times New Roman"/>
                <a:sym typeface="Times New Roman"/>
              </a:endParaRPr>
            </a:p>
          </p:txBody>
        </p:sp>
        <p:sp>
          <p:nvSpPr>
            <p:cNvPr id="225" name="Google Shape;225;p11"/>
            <p:cNvSpPr/>
            <p:nvPr/>
          </p:nvSpPr>
          <p:spPr>
            <a:xfrm>
              <a:off x="0" y="2893274"/>
              <a:ext cx="17145000" cy="1376250"/>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1"/>
            <p:cNvSpPr txBox="1"/>
            <p:nvPr/>
          </p:nvSpPr>
          <p:spPr>
            <a:xfrm>
              <a:off x="0" y="2893274"/>
              <a:ext cx="17145000" cy="1376400"/>
            </a:xfrm>
            <a:prstGeom prst="rect">
              <a:avLst/>
            </a:prstGeom>
            <a:noFill/>
            <a:ln>
              <a:noFill/>
            </a:ln>
          </p:spPr>
          <p:txBody>
            <a:bodyPr anchorCtr="0" anchor="ctr" bIns="109200" lIns="109200" spcFirstLastPara="1" rIns="109200" wrap="square" tIns="109200">
              <a:noAutofit/>
            </a:bodyPr>
            <a:lstStyle/>
            <a:p>
              <a:pPr indent="0" lvl="0" marL="0" marR="0" rtl="0" algn="ctr">
                <a:lnSpc>
                  <a:spcPct val="90000"/>
                </a:lnSpc>
                <a:spcBef>
                  <a:spcPts val="0"/>
                </a:spcBef>
                <a:spcAft>
                  <a:spcPts val="0"/>
                </a:spcAft>
                <a:buClr>
                  <a:schemeClr val="dk1"/>
                </a:buClr>
                <a:buSzPts val="4300"/>
                <a:buFont typeface="Calibri"/>
                <a:buNone/>
              </a:pPr>
              <a:r>
                <a:rPr b="0" i="0" lang="en-US" sz="3600" u="none" cap="none" strike="noStrike">
                  <a:solidFill>
                    <a:schemeClr val="dk1"/>
                  </a:solidFill>
                  <a:latin typeface="Times New Roman"/>
                  <a:ea typeface="Times New Roman"/>
                  <a:cs typeface="Times New Roman"/>
                  <a:sym typeface="Times New Roman"/>
                </a:rPr>
                <a:t>It can be opened for reading, writing or appending.</a:t>
              </a:r>
              <a:endParaRPr b="0" i="0" sz="3600" u="none" cap="none" strike="noStrike">
                <a:solidFill>
                  <a:schemeClr val="dk1"/>
                </a:solidFill>
                <a:latin typeface="Times New Roman"/>
                <a:ea typeface="Times New Roman"/>
                <a:cs typeface="Times New Roman"/>
                <a:sym typeface="Times New Roman"/>
              </a:endParaRPr>
            </a:p>
          </p:txBody>
        </p:sp>
        <p:sp>
          <p:nvSpPr>
            <p:cNvPr id="227" name="Google Shape;227;p11"/>
            <p:cNvSpPr/>
            <p:nvPr/>
          </p:nvSpPr>
          <p:spPr>
            <a:xfrm>
              <a:off x="0" y="4338337"/>
              <a:ext cx="17145000" cy="1376250"/>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1"/>
            <p:cNvSpPr txBox="1"/>
            <p:nvPr/>
          </p:nvSpPr>
          <p:spPr>
            <a:xfrm>
              <a:off x="0" y="4338337"/>
              <a:ext cx="17145000" cy="1376250"/>
            </a:xfrm>
            <a:prstGeom prst="rect">
              <a:avLst/>
            </a:prstGeom>
            <a:noFill/>
            <a:ln>
              <a:noFill/>
            </a:ln>
          </p:spPr>
          <p:txBody>
            <a:bodyPr anchorCtr="0" anchor="ctr" bIns="109200" lIns="109200" spcFirstLastPara="1" rIns="109200" wrap="square" tIns="109200">
              <a:noAutofit/>
            </a:bodyPr>
            <a:lstStyle/>
            <a:p>
              <a:pPr indent="0" lvl="0" marL="0" marR="0" rtl="0" algn="ctr">
                <a:lnSpc>
                  <a:spcPct val="90000"/>
                </a:lnSpc>
                <a:spcBef>
                  <a:spcPts val="0"/>
                </a:spcBef>
                <a:spcAft>
                  <a:spcPts val="0"/>
                </a:spcAft>
                <a:buClr>
                  <a:schemeClr val="dk1"/>
                </a:buClr>
                <a:buSzPts val="4300"/>
                <a:buFont typeface="Calibri"/>
                <a:buNone/>
              </a:pPr>
              <a:r>
                <a:rPr b="0" i="0" lang="en-US" sz="3600" u="none" cap="none" strike="noStrike">
                  <a:solidFill>
                    <a:schemeClr val="dk1"/>
                  </a:solidFill>
                  <a:latin typeface="Times New Roman"/>
                  <a:ea typeface="Times New Roman"/>
                  <a:cs typeface="Times New Roman"/>
                  <a:sym typeface="Times New Roman"/>
                </a:rPr>
                <a:t>Each line contains zero or more characters and maximum of 255 characters.</a:t>
              </a:r>
              <a:endParaRPr b="0" i="0" sz="3600" u="none" cap="none" strike="noStrike">
                <a:solidFill>
                  <a:schemeClr val="dk1"/>
                </a:solidFill>
                <a:latin typeface="Times New Roman"/>
                <a:ea typeface="Times New Roman"/>
                <a:cs typeface="Times New Roman"/>
                <a:sym typeface="Times New Roman"/>
              </a:endParaRPr>
            </a:p>
          </p:txBody>
        </p:sp>
        <p:sp>
          <p:nvSpPr>
            <p:cNvPr id="229" name="Google Shape;229;p11"/>
            <p:cNvSpPr/>
            <p:nvPr/>
          </p:nvSpPr>
          <p:spPr>
            <a:xfrm>
              <a:off x="0" y="5783401"/>
              <a:ext cx="17145000" cy="1376250"/>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1"/>
            <p:cNvSpPr txBox="1"/>
            <p:nvPr/>
          </p:nvSpPr>
          <p:spPr>
            <a:xfrm>
              <a:off x="0" y="5783551"/>
              <a:ext cx="17145000" cy="1376400"/>
            </a:xfrm>
            <a:prstGeom prst="rect">
              <a:avLst/>
            </a:prstGeom>
            <a:noFill/>
            <a:ln>
              <a:noFill/>
            </a:ln>
          </p:spPr>
          <p:txBody>
            <a:bodyPr anchorCtr="0" anchor="ctr" bIns="109200" lIns="109200" spcFirstLastPara="1" rIns="109200" wrap="square" tIns="109200">
              <a:noAutofit/>
            </a:bodyPr>
            <a:lstStyle/>
            <a:p>
              <a:pPr indent="0" lvl="0" marL="0" marR="0" rtl="0" algn="ctr">
                <a:lnSpc>
                  <a:spcPct val="90000"/>
                </a:lnSpc>
                <a:spcBef>
                  <a:spcPts val="0"/>
                </a:spcBef>
                <a:spcAft>
                  <a:spcPts val="0"/>
                </a:spcAft>
                <a:buClr>
                  <a:schemeClr val="dk1"/>
                </a:buClr>
                <a:buSzPts val="4300"/>
                <a:buFont typeface="Calibri"/>
                <a:buNone/>
              </a:pPr>
              <a:r>
                <a:rPr b="0" i="0" lang="en-US" sz="3600" u="none" cap="none" strike="noStrike">
                  <a:solidFill>
                    <a:schemeClr val="dk1"/>
                  </a:solidFill>
                  <a:latin typeface="Times New Roman"/>
                  <a:ea typeface="Times New Roman"/>
                  <a:cs typeface="Times New Roman"/>
                  <a:sym typeface="Times New Roman"/>
                </a:rPr>
                <a:t>In text file each line is terminated by special character called EOL. </a:t>
              </a:r>
              <a:endParaRPr b="0" i="0" sz="3600" u="none" cap="none" strike="noStrike">
                <a:solidFill>
                  <a:schemeClr val="dk1"/>
                </a:solidFill>
                <a:latin typeface="Times New Roman"/>
                <a:ea typeface="Times New Roman"/>
                <a:cs typeface="Times New Roman"/>
                <a:sym typeface="Times New Roman"/>
              </a:endParaRPr>
            </a:p>
          </p:txBody>
        </p:sp>
      </p:grpSp>
      <p:sp>
        <p:nvSpPr>
          <p:cNvPr id="231" name="Google Shape;231;p1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grpSp>
        <p:nvGrpSpPr>
          <p:cNvPr id="236" name="Google Shape;236;p12"/>
          <p:cNvGrpSpPr/>
          <p:nvPr/>
        </p:nvGrpSpPr>
        <p:grpSpPr>
          <a:xfrm>
            <a:off x="471055" y="2671505"/>
            <a:ext cx="17145000" cy="2131516"/>
            <a:chOff x="0" y="1041"/>
            <a:chExt cx="17145000" cy="2131516"/>
          </a:xfrm>
        </p:grpSpPr>
        <p:sp>
          <p:nvSpPr>
            <p:cNvPr id="237" name="Google Shape;237;p12"/>
            <p:cNvSpPr/>
            <p:nvPr/>
          </p:nvSpPr>
          <p:spPr>
            <a:xfrm>
              <a:off x="0" y="1041"/>
              <a:ext cx="17145000" cy="2131516"/>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2"/>
            <p:cNvSpPr txBox="1"/>
            <p:nvPr/>
          </p:nvSpPr>
          <p:spPr>
            <a:xfrm>
              <a:off x="1274617" y="195006"/>
              <a:ext cx="15253855" cy="1623404"/>
            </a:xfrm>
            <a:prstGeom prst="rect">
              <a:avLst/>
            </a:prstGeom>
            <a:noFill/>
            <a:ln>
              <a:noFill/>
            </a:ln>
          </p:spPr>
          <p:txBody>
            <a:bodyPr anchorCtr="0" anchor="ctr" bIns="137150" lIns="137150" spcFirstLastPara="1" rIns="137150" wrap="square" tIns="137150">
              <a:noAutofit/>
            </a:bodyPr>
            <a:lstStyle/>
            <a:p>
              <a:pPr indent="0" lvl="0" marL="0" marR="0" rtl="0" algn="ctr">
                <a:lnSpc>
                  <a:spcPct val="90000"/>
                </a:lnSpc>
                <a:spcBef>
                  <a:spcPts val="0"/>
                </a:spcBef>
                <a:spcAft>
                  <a:spcPts val="0"/>
                </a:spcAft>
                <a:buClr>
                  <a:srgbClr val="000000"/>
                </a:buClr>
                <a:buSzPts val="5400"/>
                <a:buFont typeface="Calibri"/>
                <a:buNone/>
              </a:pPr>
              <a:r>
                <a:rPr b="0" i="0" lang="en-US" sz="3600" u="none" cap="none" strike="noStrike">
                  <a:solidFill>
                    <a:srgbClr val="000000"/>
                  </a:solidFill>
                  <a:latin typeface="Times New Roman"/>
                  <a:ea typeface="Times New Roman"/>
                  <a:cs typeface="Times New Roman"/>
                  <a:sym typeface="Times New Roman"/>
                </a:rPr>
                <a:t>Text files don’t have any specific encoding and it can be opened in normal text editor itself.</a:t>
              </a:r>
              <a:endParaRPr b="0" i="0" sz="3600" u="none" cap="none" strike="noStrike">
                <a:solidFill>
                  <a:schemeClr val="dk1"/>
                </a:solidFill>
                <a:latin typeface="Times New Roman"/>
                <a:ea typeface="Times New Roman"/>
                <a:cs typeface="Times New Roman"/>
                <a:sym typeface="Times New Roman"/>
              </a:endParaRPr>
            </a:p>
          </p:txBody>
        </p:sp>
      </p:grpSp>
      <p:sp>
        <p:nvSpPr>
          <p:cNvPr id="239" name="Google Shape;239;p1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240" name="Google Shape;240;p12"/>
          <p:cNvPicPr preferRelativeResize="0"/>
          <p:nvPr/>
        </p:nvPicPr>
        <p:blipFill rotWithShape="1">
          <a:blip r:embed="rId3">
            <a:alphaModFix/>
          </a:blip>
          <a:srcRect b="0" l="0" r="0" t="0"/>
          <a:stretch/>
        </p:blipFill>
        <p:spPr>
          <a:xfrm>
            <a:off x="3391070" y="5763490"/>
            <a:ext cx="12230100" cy="3131129"/>
          </a:xfrm>
          <a:prstGeom prst="rect">
            <a:avLst/>
          </a:prstGeom>
          <a:solidFill>
            <a:srgbClr val="000000"/>
          </a:solidFill>
          <a:ln cap="sq" cmpd="sng" w="444500">
            <a:solidFill>
              <a:srgbClr val="D8E2F3"/>
            </a:solidFill>
            <a:prstDash val="solid"/>
            <a:miter lim="800000"/>
            <a:headEnd len="sm" w="sm" type="none"/>
            <a:tailEnd len="sm" w="sm" type="none"/>
          </a:ln>
          <a:effectLst>
            <a:outerShdw blurRad="254000" rotWithShape="0" algn="bl" dir="2700000" dist="190500" sy="90000">
              <a:srgbClr val="000000">
                <a:alpha val="40000"/>
              </a:srgbClr>
            </a:outerShdw>
          </a:effectLst>
        </p:spPr>
      </p:pic>
      <p:sp>
        <p:nvSpPr>
          <p:cNvPr id="241" name="Google Shape;241;p12"/>
          <p:cNvSpPr txBox="1"/>
          <p:nvPr/>
        </p:nvSpPr>
        <p:spPr>
          <a:xfrm>
            <a:off x="0" y="713943"/>
            <a:ext cx="18288000" cy="19883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FF0000"/>
              </a:buClr>
              <a:buSzPts val="6600"/>
              <a:buFont typeface="Calibri"/>
              <a:buNone/>
            </a:pPr>
            <a:r>
              <a:rPr b="1" i="0" lang="en-US" sz="6000" u="none" cap="none" strike="noStrike">
                <a:solidFill>
                  <a:srgbClr val="2E75B5"/>
                </a:solidFill>
                <a:latin typeface="Times New Roman"/>
                <a:ea typeface="Times New Roman"/>
                <a:cs typeface="Times New Roman"/>
                <a:sym typeface="Times New Roman"/>
              </a:rPr>
              <a:t>Text Files </a:t>
            </a:r>
            <a:br>
              <a:rPr b="0" i="0" lang="en-US" sz="6000" u="none" cap="none" strike="noStrike">
                <a:solidFill>
                  <a:srgbClr val="2E75B5"/>
                </a:solidFill>
                <a:latin typeface="Times New Roman"/>
                <a:ea typeface="Times New Roman"/>
                <a:cs typeface="Times New Roman"/>
                <a:sym typeface="Times New Roman"/>
              </a:rPr>
            </a:br>
            <a:endParaRPr b="0" i="0" sz="6000" u="none" cap="none" strike="noStrike">
              <a:solidFill>
                <a:srgbClr val="2E75B5"/>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3"/>
          <p:cNvSpPr txBox="1"/>
          <p:nvPr>
            <p:ph type="title"/>
          </p:nvPr>
        </p:nvSpPr>
        <p:spPr>
          <a:xfrm>
            <a:off x="0" y="731259"/>
            <a:ext cx="18288000" cy="105251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FF0000"/>
              </a:buClr>
              <a:buSzPct val="100000"/>
              <a:buFont typeface="Calibri"/>
              <a:buNone/>
            </a:pPr>
            <a:br>
              <a:rPr b="1" lang="en-US">
                <a:solidFill>
                  <a:srgbClr val="2E75B5"/>
                </a:solidFill>
                <a:latin typeface="Times New Roman"/>
                <a:ea typeface="Times New Roman"/>
                <a:cs typeface="Times New Roman"/>
                <a:sym typeface="Times New Roman"/>
              </a:rPr>
            </a:br>
            <a:r>
              <a:rPr b="1" lang="en-US">
                <a:solidFill>
                  <a:srgbClr val="2E75B5"/>
                </a:solidFill>
                <a:latin typeface="Times New Roman"/>
                <a:ea typeface="Times New Roman"/>
                <a:cs typeface="Times New Roman"/>
                <a:sym typeface="Times New Roman"/>
              </a:rPr>
              <a:t>Binary Files </a:t>
            </a:r>
            <a:br>
              <a:rPr lang="en-US">
                <a:solidFill>
                  <a:srgbClr val="2E75B5"/>
                </a:solidFill>
                <a:latin typeface="Times New Roman"/>
                <a:ea typeface="Times New Roman"/>
                <a:cs typeface="Times New Roman"/>
                <a:sym typeface="Times New Roman"/>
              </a:rPr>
            </a:br>
            <a:endParaRPr>
              <a:solidFill>
                <a:srgbClr val="2E75B5"/>
              </a:solidFill>
              <a:latin typeface="Times New Roman"/>
              <a:ea typeface="Times New Roman"/>
              <a:cs typeface="Times New Roman"/>
              <a:sym typeface="Times New Roman"/>
            </a:endParaRPr>
          </a:p>
        </p:txBody>
      </p:sp>
      <p:grpSp>
        <p:nvGrpSpPr>
          <p:cNvPr id="247" name="Google Shape;247;p13"/>
          <p:cNvGrpSpPr/>
          <p:nvPr/>
        </p:nvGrpSpPr>
        <p:grpSpPr>
          <a:xfrm>
            <a:off x="1454727" y="2757055"/>
            <a:ext cx="14838219" cy="6234546"/>
            <a:chOff x="-112795" y="-277354"/>
            <a:chExt cx="17257795" cy="7436568"/>
          </a:xfrm>
        </p:grpSpPr>
        <p:sp>
          <p:nvSpPr>
            <p:cNvPr id="248" name="Google Shape;248;p13"/>
            <p:cNvSpPr/>
            <p:nvPr/>
          </p:nvSpPr>
          <p:spPr>
            <a:xfrm>
              <a:off x="0" y="3584"/>
              <a:ext cx="17145000" cy="1724248"/>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3"/>
            <p:cNvSpPr txBox="1"/>
            <p:nvPr/>
          </p:nvSpPr>
          <p:spPr>
            <a:xfrm>
              <a:off x="-112795" y="-277354"/>
              <a:ext cx="17257795" cy="2005185"/>
            </a:xfrm>
            <a:prstGeom prst="rect">
              <a:avLst/>
            </a:prstGeom>
            <a:noFill/>
            <a:ln>
              <a:noFill/>
            </a:ln>
          </p:spPr>
          <p:txBody>
            <a:bodyPr anchorCtr="0" anchor="ctr" bIns="111750" lIns="111750" spcFirstLastPara="1" rIns="111750" wrap="square" tIns="111750">
              <a:noAutofit/>
            </a:bodyPr>
            <a:lstStyle/>
            <a:p>
              <a:pPr indent="0" lvl="0" marL="0" marR="0" rtl="0" algn="ctr">
                <a:lnSpc>
                  <a:spcPct val="90000"/>
                </a:lnSpc>
                <a:spcBef>
                  <a:spcPts val="0"/>
                </a:spcBef>
                <a:spcAft>
                  <a:spcPts val="0"/>
                </a:spcAft>
                <a:buClr>
                  <a:schemeClr val="dk1"/>
                </a:buClr>
                <a:buSzPts val="4400"/>
                <a:buFont typeface="Calibri"/>
                <a:buNone/>
              </a:pPr>
              <a:r>
                <a:rPr b="0" i="0" lang="en-US" sz="3600" u="none" cap="none" strike="noStrike">
                  <a:solidFill>
                    <a:schemeClr val="dk1"/>
                  </a:solidFill>
                  <a:latin typeface="Times New Roman"/>
                  <a:ea typeface="Times New Roman"/>
                  <a:cs typeface="Times New Roman"/>
                  <a:sym typeface="Times New Roman"/>
                </a:rPr>
                <a:t>It stores the information in the same format as in the memory i.e. data is stored according to its data type so no translation occurs.</a:t>
              </a:r>
              <a:endParaRPr b="0" i="0" sz="3600" u="none" cap="none" strike="noStrike">
                <a:solidFill>
                  <a:schemeClr val="dk1"/>
                </a:solidFill>
                <a:latin typeface="Times New Roman"/>
                <a:ea typeface="Times New Roman"/>
                <a:cs typeface="Times New Roman"/>
                <a:sym typeface="Times New Roman"/>
              </a:endParaRPr>
            </a:p>
          </p:txBody>
        </p:sp>
        <p:sp>
          <p:nvSpPr>
            <p:cNvPr id="250" name="Google Shape;250;p13"/>
            <p:cNvSpPr/>
            <p:nvPr/>
          </p:nvSpPr>
          <p:spPr>
            <a:xfrm>
              <a:off x="0" y="1814045"/>
              <a:ext cx="17145000" cy="1724248"/>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3"/>
            <p:cNvSpPr txBox="1"/>
            <p:nvPr/>
          </p:nvSpPr>
          <p:spPr>
            <a:xfrm>
              <a:off x="0" y="1814045"/>
              <a:ext cx="17145000" cy="1724248"/>
            </a:xfrm>
            <a:prstGeom prst="rect">
              <a:avLst/>
            </a:prstGeom>
            <a:noFill/>
            <a:ln>
              <a:noFill/>
            </a:ln>
          </p:spPr>
          <p:txBody>
            <a:bodyPr anchorCtr="0" anchor="ctr" bIns="111750" lIns="111750" spcFirstLastPara="1" rIns="111750" wrap="square" tIns="111750">
              <a:noAutofit/>
            </a:bodyPr>
            <a:lstStyle/>
            <a:p>
              <a:pPr indent="0" lvl="0" marL="0" marR="0" rtl="0" algn="ctr">
                <a:lnSpc>
                  <a:spcPct val="90000"/>
                </a:lnSpc>
                <a:spcBef>
                  <a:spcPts val="0"/>
                </a:spcBef>
                <a:spcAft>
                  <a:spcPts val="0"/>
                </a:spcAft>
                <a:buClr>
                  <a:schemeClr val="dk1"/>
                </a:buClr>
                <a:buSzPts val="4400"/>
                <a:buFont typeface="Calibri"/>
                <a:buNone/>
              </a:pPr>
              <a:r>
                <a:rPr b="0" i="0" lang="en-US" sz="3600" u="none" cap="none" strike="noStrike">
                  <a:solidFill>
                    <a:schemeClr val="dk1"/>
                  </a:solidFill>
                  <a:latin typeface="Times New Roman"/>
                  <a:ea typeface="Times New Roman"/>
                  <a:cs typeface="Times New Roman"/>
                  <a:sym typeface="Times New Roman"/>
                </a:rPr>
                <a:t>In binary file there is no delimiter for a new line.</a:t>
              </a:r>
              <a:endParaRPr b="0" i="0" sz="3600" u="none" cap="none" strike="noStrike">
                <a:solidFill>
                  <a:schemeClr val="dk1"/>
                </a:solidFill>
                <a:latin typeface="Times New Roman"/>
                <a:ea typeface="Times New Roman"/>
                <a:cs typeface="Times New Roman"/>
                <a:sym typeface="Times New Roman"/>
              </a:endParaRPr>
            </a:p>
          </p:txBody>
        </p:sp>
        <p:sp>
          <p:nvSpPr>
            <p:cNvPr id="252" name="Google Shape;252;p13"/>
            <p:cNvSpPr/>
            <p:nvPr/>
          </p:nvSpPr>
          <p:spPr>
            <a:xfrm>
              <a:off x="0" y="3624506"/>
              <a:ext cx="17145000" cy="1724248"/>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3"/>
            <p:cNvSpPr txBox="1"/>
            <p:nvPr/>
          </p:nvSpPr>
          <p:spPr>
            <a:xfrm>
              <a:off x="0" y="3624506"/>
              <a:ext cx="17145000" cy="1724248"/>
            </a:xfrm>
            <a:prstGeom prst="rect">
              <a:avLst/>
            </a:prstGeom>
            <a:noFill/>
            <a:ln>
              <a:noFill/>
            </a:ln>
          </p:spPr>
          <p:txBody>
            <a:bodyPr anchorCtr="0" anchor="ctr" bIns="111750" lIns="111750" spcFirstLastPara="1" rIns="111750" wrap="square" tIns="111750">
              <a:noAutofit/>
            </a:bodyPr>
            <a:lstStyle/>
            <a:p>
              <a:pPr indent="0" lvl="0" marL="0" marR="0" rtl="0" algn="ctr">
                <a:lnSpc>
                  <a:spcPct val="90000"/>
                </a:lnSpc>
                <a:spcBef>
                  <a:spcPts val="0"/>
                </a:spcBef>
                <a:spcAft>
                  <a:spcPts val="0"/>
                </a:spcAft>
                <a:buClr>
                  <a:schemeClr val="dk1"/>
                </a:buClr>
                <a:buSzPts val="4400"/>
                <a:buFont typeface="Calibri"/>
                <a:buNone/>
              </a:pPr>
              <a:r>
                <a:rPr b="0" i="0" lang="en-US" sz="3600" u="none" cap="none" strike="noStrike">
                  <a:solidFill>
                    <a:schemeClr val="dk1"/>
                  </a:solidFill>
                  <a:latin typeface="Times New Roman"/>
                  <a:ea typeface="Times New Roman"/>
                  <a:cs typeface="Times New Roman"/>
                  <a:sym typeface="Times New Roman"/>
                </a:rPr>
                <a:t>Binary files are faster and easier for a program to read and write than text files.</a:t>
              </a:r>
              <a:endParaRPr b="0" i="0" sz="3600" u="none" cap="none" strike="noStrike">
                <a:solidFill>
                  <a:schemeClr val="dk1"/>
                </a:solidFill>
                <a:latin typeface="Times New Roman"/>
                <a:ea typeface="Times New Roman"/>
                <a:cs typeface="Times New Roman"/>
                <a:sym typeface="Times New Roman"/>
              </a:endParaRPr>
            </a:p>
          </p:txBody>
        </p:sp>
        <p:sp>
          <p:nvSpPr>
            <p:cNvPr id="254" name="Google Shape;254;p13"/>
            <p:cNvSpPr/>
            <p:nvPr/>
          </p:nvSpPr>
          <p:spPr>
            <a:xfrm>
              <a:off x="0" y="5434966"/>
              <a:ext cx="17145000" cy="1724248"/>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3"/>
            <p:cNvSpPr txBox="1"/>
            <p:nvPr/>
          </p:nvSpPr>
          <p:spPr>
            <a:xfrm>
              <a:off x="0" y="5434991"/>
              <a:ext cx="17145000" cy="1724100"/>
            </a:xfrm>
            <a:prstGeom prst="rect">
              <a:avLst/>
            </a:prstGeom>
            <a:noFill/>
            <a:ln>
              <a:noFill/>
            </a:ln>
          </p:spPr>
          <p:txBody>
            <a:bodyPr anchorCtr="0" anchor="ctr" bIns="111750" lIns="111750" spcFirstLastPara="1" rIns="111750" wrap="square" tIns="111750">
              <a:noAutofit/>
            </a:bodyPr>
            <a:lstStyle/>
            <a:p>
              <a:pPr indent="0" lvl="0" marL="0" marR="0" rtl="0" algn="ctr">
                <a:lnSpc>
                  <a:spcPct val="90000"/>
                </a:lnSpc>
                <a:spcBef>
                  <a:spcPts val="0"/>
                </a:spcBef>
                <a:spcAft>
                  <a:spcPts val="0"/>
                </a:spcAft>
                <a:buClr>
                  <a:schemeClr val="dk1"/>
                </a:buClr>
                <a:buSzPts val="4400"/>
                <a:buFont typeface="Calibri"/>
                <a:buNone/>
              </a:pPr>
              <a:r>
                <a:rPr b="0" i="0" lang="en-US" sz="3600" u="none" cap="none" strike="noStrike">
                  <a:solidFill>
                    <a:schemeClr val="dk1"/>
                  </a:solidFill>
                  <a:latin typeface="Times New Roman"/>
                  <a:ea typeface="Times New Roman"/>
                  <a:cs typeface="Times New Roman"/>
                  <a:sym typeface="Times New Roman"/>
                </a:rPr>
                <a:t>Data in binary files cannot be directly read, it can be read only through python program for the same</a:t>
              </a:r>
              <a:endParaRPr b="0" i="0" sz="3600" u="none" cap="none" strike="noStrike">
                <a:solidFill>
                  <a:schemeClr val="dk1"/>
                </a:solidFill>
                <a:latin typeface="Times New Roman"/>
                <a:ea typeface="Times New Roman"/>
                <a:cs typeface="Times New Roman"/>
                <a:sym typeface="Times New Roman"/>
              </a:endParaRPr>
            </a:p>
          </p:txBody>
        </p:sp>
      </p:grpSp>
      <p:sp>
        <p:nvSpPr>
          <p:cNvPr id="256" name="Google Shape;256;p13"/>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grpSp>
        <p:nvGrpSpPr>
          <p:cNvPr id="261" name="Google Shape;261;p14"/>
          <p:cNvGrpSpPr/>
          <p:nvPr/>
        </p:nvGrpSpPr>
        <p:grpSpPr>
          <a:xfrm>
            <a:off x="484909" y="2423164"/>
            <a:ext cx="17158854" cy="2131516"/>
            <a:chOff x="27709" y="556264"/>
            <a:chExt cx="17158854" cy="2131516"/>
          </a:xfrm>
        </p:grpSpPr>
        <p:sp>
          <p:nvSpPr>
            <p:cNvPr id="262" name="Google Shape;262;p14"/>
            <p:cNvSpPr/>
            <p:nvPr/>
          </p:nvSpPr>
          <p:spPr>
            <a:xfrm>
              <a:off x="41563" y="556264"/>
              <a:ext cx="17145000" cy="2131516"/>
            </a:xfrm>
            <a:prstGeom prst="rect">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4"/>
            <p:cNvSpPr txBox="1"/>
            <p:nvPr/>
          </p:nvSpPr>
          <p:spPr>
            <a:xfrm>
              <a:off x="27709" y="779318"/>
              <a:ext cx="17145000" cy="1551709"/>
            </a:xfrm>
            <a:prstGeom prst="rect">
              <a:avLst/>
            </a:prstGeom>
            <a:noFill/>
            <a:ln>
              <a:noFill/>
            </a:ln>
          </p:spPr>
          <p:txBody>
            <a:bodyPr anchorCtr="0" anchor="ctr" bIns="137150" lIns="137150" spcFirstLastPara="1" rIns="137150" wrap="square" tIns="137150">
              <a:noAutofit/>
            </a:bodyPr>
            <a:lstStyle/>
            <a:p>
              <a:pPr indent="0" lvl="0" marL="0" marR="0" rtl="0" algn="ctr">
                <a:lnSpc>
                  <a:spcPct val="90000"/>
                </a:lnSpc>
                <a:spcBef>
                  <a:spcPts val="0"/>
                </a:spcBef>
                <a:spcAft>
                  <a:spcPts val="0"/>
                </a:spcAft>
                <a:buClr>
                  <a:srgbClr val="000000"/>
                </a:buClr>
                <a:buSzPts val="5400"/>
                <a:buFont typeface="Calibri"/>
                <a:buNone/>
              </a:pPr>
              <a:r>
                <a:rPr b="0" i="0" lang="en-US" sz="3600" u="none" cap="none" strike="noStrike">
                  <a:solidFill>
                    <a:srgbClr val="000000"/>
                  </a:solidFill>
                  <a:latin typeface="Times New Roman"/>
                  <a:ea typeface="Times New Roman"/>
                  <a:cs typeface="Times New Roman"/>
                  <a:sym typeface="Times New Roman"/>
                </a:rPr>
                <a:t>Most of the files that we see in our computer system are called binary files.</a:t>
              </a:r>
              <a:endParaRPr b="0" i="0" sz="3600" u="none" cap="none" strike="noStrike">
                <a:solidFill>
                  <a:schemeClr val="dk1"/>
                </a:solidFill>
                <a:latin typeface="Times New Roman"/>
                <a:ea typeface="Times New Roman"/>
                <a:cs typeface="Times New Roman"/>
                <a:sym typeface="Times New Roman"/>
              </a:endParaRPr>
            </a:p>
          </p:txBody>
        </p:sp>
      </p:grpSp>
      <p:sp>
        <p:nvSpPr>
          <p:cNvPr id="264" name="Google Shape;264;p14"/>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265" name="Google Shape;265;p14"/>
          <p:cNvPicPr preferRelativeResize="0"/>
          <p:nvPr/>
        </p:nvPicPr>
        <p:blipFill rotWithShape="1">
          <a:blip r:embed="rId3">
            <a:alphaModFix/>
          </a:blip>
          <a:srcRect b="0" l="0" r="0" t="0"/>
          <a:stretch/>
        </p:blipFill>
        <p:spPr>
          <a:xfrm>
            <a:off x="4572000" y="5571764"/>
            <a:ext cx="8991600" cy="3475254"/>
          </a:xfrm>
          <a:prstGeom prst="rect">
            <a:avLst/>
          </a:prstGeom>
          <a:solidFill>
            <a:srgbClr val="000000"/>
          </a:solidFill>
          <a:ln cap="sq" cmpd="sng" w="444500">
            <a:solidFill>
              <a:srgbClr val="D8E2F3"/>
            </a:solidFill>
            <a:prstDash val="solid"/>
            <a:miter lim="800000"/>
            <a:headEnd len="sm" w="sm" type="none"/>
            <a:tailEnd len="sm" w="sm" type="none"/>
          </a:ln>
          <a:effectLst>
            <a:outerShdw blurRad="254000" rotWithShape="0" algn="bl" dir="2700000" dist="190500" sy="90000">
              <a:srgbClr val="000000">
                <a:alpha val="40000"/>
              </a:srgbClr>
            </a:outerShdw>
          </a:effectLst>
        </p:spPr>
      </p:pic>
      <p:sp>
        <p:nvSpPr>
          <p:cNvPr id="266" name="Google Shape;266;p14"/>
          <p:cNvSpPr txBox="1"/>
          <p:nvPr/>
        </p:nvSpPr>
        <p:spPr>
          <a:xfrm>
            <a:off x="0" y="731259"/>
            <a:ext cx="18288000" cy="1052514"/>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0000"/>
              </a:buClr>
              <a:buSzPts val="6000"/>
              <a:buFont typeface="Calibri"/>
              <a:buNone/>
            </a:pPr>
            <a:br>
              <a:rPr b="1" i="0" lang="en-US" sz="6000" u="none" cap="none" strike="noStrike">
                <a:solidFill>
                  <a:srgbClr val="2E75B5"/>
                </a:solidFill>
                <a:latin typeface="Times New Roman"/>
                <a:ea typeface="Times New Roman"/>
                <a:cs typeface="Times New Roman"/>
                <a:sym typeface="Times New Roman"/>
              </a:rPr>
            </a:br>
            <a:r>
              <a:rPr b="1" i="0" lang="en-US" sz="6000" u="none" cap="none" strike="noStrike">
                <a:solidFill>
                  <a:srgbClr val="2E75B5"/>
                </a:solidFill>
                <a:latin typeface="Times New Roman"/>
                <a:ea typeface="Times New Roman"/>
                <a:cs typeface="Times New Roman"/>
                <a:sym typeface="Times New Roman"/>
              </a:rPr>
              <a:t>Binary Files </a:t>
            </a:r>
            <a:br>
              <a:rPr b="0" i="0" lang="en-US" sz="6000" u="none" cap="none" strike="noStrike">
                <a:solidFill>
                  <a:srgbClr val="2E75B5"/>
                </a:solidFill>
                <a:latin typeface="Times New Roman"/>
                <a:ea typeface="Times New Roman"/>
                <a:cs typeface="Times New Roman"/>
                <a:sym typeface="Times New Roman"/>
              </a:rPr>
            </a:br>
            <a:endParaRPr b="0" i="0" sz="6000" u="none" cap="none" strike="noStrike">
              <a:solidFill>
                <a:srgbClr val="2E75B5"/>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5"/>
          <p:cNvSpPr/>
          <p:nvPr/>
        </p:nvSpPr>
        <p:spPr>
          <a:xfrm>
            <a:off x="10270327" y="2646432"/>
            <a:ext cx="1009769" cy="870050"/>
          </a:xfrm>
          <a:prstGeom prst="hexagon">
            <a:avLst>
              <a:gd fmla="val 28900" name="adj"/>
              <a:gd fmla="val 115470" name="vf"/>
            </a:avLst>
          </a:prstGeom>
          <a:solidFill>
            <a:srgbClr val="CFDE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5"/>
          <p:cNvSpPr/>
          <p:nvPr/>
        </p:nvSpPr>
        <p:spPr>
          <a:xfrm>
            <a:off x="9258946" y="4710760"/>
            <a:ext cx="1009769" cy="870050"/>
          </a:xfrm>
          <a:prstGeom prst="hexagon">
            <a:avLst>
              <a:gd fmla="val 28900" name="adj"/>
              <a:gd fmla="val 115470" name="vf"/>
            </a:avLst>
          </a:prstGeom>
          <a:solidFill>
            <a:srgbClr val="CFDE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5"/>
          <p:cNvSpPr txBox="1"/>
          <p:nvPr>
            <p:ph type="title"/>
          </p:nvPr>
        </p:nvSpPr>
        <p:spPr>
          <a:xfrm>
            <a:off x="1146463" y="3463637"/>
            <a:ext cx="6279573" cy="338050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8600"/>
              <a:buFont typeface="Calibri"/>
              <a:buNone/>
            </a:pPr>
            <a:r>
              <a:rPr b="1" lang="en-US" sz="7000">
                <a:solidFill>
                  <a:srgbClr val="2E75B5"/>
                </a:solidFill>
                <a:latin typeface="Times New Roman"/>
                <a:ea typeface="Times New Roman"/>
                <a:cs typeface="Times New Roman"/>
                <a:sym typeface="Times New Roman"/>
              </a:rPr>
              <a:t>File </a:t>
            </a:r>
            <a:br>
              <a:rPr b="1" lang="en-US" sz="7000">
                <a:solidFill>
                  <a:srgbClr val="2E75B5"/>
                </a:solidFill>
                <a:latin typeface="Times New Roman"/>
                <a:ea typeface="Times New Roman"/>
                <a:cs typeface="Times New Roman"/>
                <a:sym typeface="Times New Roman"/>
              </a:rPr>
            </a:br>
            <a:r>
              <a:rPr b="1" lang="en-US" sz="7000">
                <a:solidFill>
                  <a:srgbClr val="2E75B5"/>
                </a:solidFill>
                <a:latin typeface="Times New Roman"/>
                <a:ea typeface="Times New Roman"/>
                <a:cs typeface="Times New Roman"/>
                <a:sym typeface="Times New Roman"/>
              </a:rPr>
              <a:t>Operations</a:t>
            </a:r>
            <a:endParaRPr b="1" sz="7000">
              <a:solidFill>
                <a:srgbClr val="2E75B5"/>
              </a:solidFill>
              <a:latin typeface="Times New Roman"/>
              <a:ea typeface="Times New Roman"/>
              <a:cs typeface="Times New Roman"/>
              <a:sym typeface="Times New Roman"/>
            </a:endParaRPr>
          </a:p>
        </p:txBody>
      </p:sp>
      <p:grpSp>
        <p:nvGrpSpPr>
          <p:cNvPr id="274" name="Google Shape;274;p15"/>
          <p:cNvGrpSpPr/>
          <p:nvPr/>
        </p:nvGrpSpPr>
        <p:grpSpPr>
          <a:xfrm>
            <a:off x="8548254" y="1685493"/>
            <a:ext cx="6354693" cy="6527006"/>
            <a:chOff x="4644736" y="0"/>
            <a:chExt cx="6354693" cy="6527006"/>
          </a:xfrm>
        </p:grpSpPr>
        <p:sp>
          <p:nvSpPr>
            <p:cNvPr id="275" name="Google Shape;275;p15"/>
            <p:cNvSpPr/>
            <p:nvPr/>
          </p:nvSpPr>
          <p:spPr>
            <a:xfrm>
              <a:off x="4773970" y="3462577"/>
              <a:ext cx="2193229" cy="1897400"/>
            </a:xfrm>
            <a:prstGeom prst="hexagon">
              <a:avLst>
                <a:gd fmla="val 28570" name="adj"/>
                <a:gd fmla="val 115470" name="vf"/>
              </a:avLst>
            </a:prstGeom>
            <a:solidFill>
              <a:srgbClr val="599BD5">
                <a:alpha val="57647"/>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5"/>
            <p:cNvSpPr/>
            <p:nvPr/>
          </p:nvSpPr>
          <p:spPr>
            <a:xfrm>
              <a:off x="6548226" y="2105612"/>
              <a:ext cx="2676324" cy="2315129"/>
            </a:xfrm>
            <a:prstGeom prst="hexagon">
              <a:avLst>
                <a:gd fmla="val 28570" name="adj"/>
                <a:gd fmla="val 115470" name="vf"/>
              </a:avLst>
            </a:prstGeom>
            <a:solidFill>
              <a:srgbClr val="599BD5">
                <a:alpha val="80000"/>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5"/>
            <p:cNvSpPr txBox="1"/>
            <p:nvPr/>
          </p:nvSpPr>
          <p:spPr>
            <a:xfrm>
              <a:off x="6991729" y="2489261"/>
              <a:ext cx="1920207" cy="1547831"/>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Calibri"/>
                <a:buNone/>
              </a:pPr>
              <a:r>
                <a:rPr b="0" i="0" lang="en-US" sz="3600" u="none" cap="none" strike="noStrike">
                  <a:solidFill>
                    <a:schemeClr val="dk1"/>
                  </a:solidFill>
                  <a:latin typeface="Times New Roman"/>
                  <a:ea typeface="Times New Roman"/>
                  <a:cs typeface="Times New Roman"/>
                  <a:sym typeface="Times New Roman"/>
                </a:rPr>
                <a:t>Built in Functions</a:t>
              </a:r>
              <a:endParaRPr b="0" i="0" sz="3600" u="none" cap="none" strike="noStrike">
                <a:solidFill>
                  <a:schemeClr val="dk1"/>
                </a:solidFill>
                <a:latin typeface="Times New Roman"/>
                <a:ea typeface="Times New Roman"/>
                <a:cs typeface="Times New Roman"/>
                <a:sym typeface="Times New Roman"/>
              </a:endParaRPr>
            </a:p>
          </p:txBody>
        </p:sp>
        <p:sp>
          <p:nvSpPr>
            <p:cNvPr id="278" name="Google Shape;278;p15"/>
            <p:cNvSpPr/>
            <p:nvPr/>
          </p:nvSpPr>
          <p:spPr>
            <a:xfrm>
              <a:off x="8224119" y="997979"/>
              <a:ext cx="1009769" cy="870050"/>
            </a:xfrm>
            <a:prstGeom prst="hexagon">
              <a:avLst>
                <a:gd fmla="val 28900" name="adj"/>
                <a:gd fmla="val 115470" name="vf"/>
              </a:avLst>
            </a:prstGeom>
            <a:solidFill>
              <a:srgbClr val="CFDE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5"/>
            <p:cNvSpPr/>
            <p:nvPr/>
          </p:nvSpPr>
          <p:spPr>
            <a:xfrm>
              <a:off x="6794754" y="0"/>
              <a:ext cx="2193229" cy="1897400"/>
            </a:xfrm>
            <a:prstGeom prst="hexagon">
              <a:avLst>
                <a:gd fmla="val 28570" name="adj"/>
                <a:gd fmla="val 115470" name="vf"/>
              </a:avLst>
            </a:prstGeom>
            <a:solidFill>
              <a:srgbClr val="599BD5">
                <a:alpha val="89411"/>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5"/>
            <p:cNvSpPr txBox="1"/>
            <p:nvPr/>
          </p:nvSpPr>
          <p:spPr>
            <a:xfrm>
              <a:off x="7158219" y="314440"/>
              <a:ext cx="1466299" cy="126852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Calibri"/>
                <a:buNone/>
              </a:pPr>
              <a:r>
                <a:rPr b="0" i="0" lang="en-US" sz="3600" u="none" cap="none" strike="noStrike">
                  <a:solidFill>
                    <a:schemeClr val="dk1"/>
                  </a:solidFill>
                  <a:latin typeface="Times New Roman"/>
                  <a:ea typeface="Times New Roman"/>
                  <a:cs typeface="Times New Roman"/>
                  <a:sym typeface="Times New Roman"/>
                </a:rPr>
                <a:t>open()</a:t>
              </a:r>
              <a:endParaRPr b="0" i="0" sz="3600" u="none" cap="none" strike="noStrike">
                <a:solidFill>
                  <a:schemeClr val="dk1"/>
                </a:solidFill>
                <a:latin typeface="Times New Roman"/>
                <a:ea typeface="Times New Roman"/>
                <a:cs typeface="Times New Roman"/>
                <a:sym typeface="Times New Roman"/>
              </a:endParaRPr>
            </a:p>
          </p:txBody>
        </p:sp>
        <p:sp>
          <p:nvSpPr>
            <p:cNvPr id="281" name="Google Shape;281;p15"/>
            <p:cNvSpPr/>
            <p:nvPr/>
          </p:nvSpPr>
          <p:spPr>
            <a:xfrm>
              <a:off x="9402599" y="2624509"/>
              <a:ext cx="1009769" cy="870050"/>
            </a:xfrm>
            <a:prstGeom prst="hexagon">
              <a:avLst>
                <a:gd fmla="val 28900" name="adj"/>
                <a:gd fmla="val 115470" name="vf"/>
              </a:avLst>
            </a:prstGeom>
            <a:solidFill>
              <a:srgbClr val="CFDE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5"/>
            <p:cNvSpPr/>
            <p:nvPr/>
          </p:nvSpPr>
          <p:spPr>
            <a:xfrm>
              <a:off x="8806200" y="1167028"/>
              <a:ext cx="2193229" cy="1897400"/>
            </a:xfrm>
            <a:prstGeom prst="hexagon">
              <a:avLst>
                <a:gd fmla="val 28570" name="adj"/>
                <a:gd fmla="val 115470" name="vf"/>
              </a:avLst>
            </a:prstGeom>
            <a:solidFill>
              <a:srgbClr val="599BD5">
                <a:alpha val="81568"/>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5"/>
            <p:cNvSpPr txBox="1"/>
            <p:nvPr/>
          </p:nvSpPr>
          <p:spPr>
            <a:xfrm>
              <a:off x="9169665" y="1481468"/>
              <a:ext cx="1466299" cy="126852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Calibri"/>
                <a:buNone/>
              </a:pPr>
              <a:r>
                <a:rPr b="0" i="0" lang="en-US" sz="3600" u="none" cap="none" strike="noStrike">
                  <a:solidFill>
                    <a:schemeClr val="dk1"/>
                  </a:solidFill>
                  <a:latin typeface="Times New Roman"/>
                  <a:ea typeface="Times New Roman"/>
                  <a:cs typeface="Times New Roman"/>
                  <a:sym typeface="Times New Roman"/>
                </a:rPr>
                <a:t>close()</a:t>
              </a:r>
              <a:endParaRPr b="0" i="0" sz="3600" u="none" cap="none" strike="noStrike">
                <a:solidFill>
                  <a:schemeClr val="dk1"/>
                </a:solidFill>
                <a:latin typeface="Times New Roman"/>
                <a:ea typeface="Times New Roman"/>
                <a:cs typeface="Times New Roman"/>
                <a:sym typeface="Times New Roman"/>
              </a:endParaRPr>
            </a:p>
          </p:txBody>
        </p:sp>
        <p:sp>
          <p:nvSpPr>
            <p:cNvPr id="284" name="Google Shape;284;p15"/>
            <p:cNvSpPr/>
            <p:nvPr/>
          </p:nvSpPr>
          <p:spPr>
            <a:xfrm>
              <a:off x="8583951" y="4460556"/>
              <a:ext cx="1009769" cy="870050"/>
            </a:xfrm>
            <a:prstGeom prst="hexagon">
              <a:avLst>
                <a:gd fmla="val 28900" name="adj"/>
                <a:gd fmla="val 115470" name="vf"/>
              </a:avLst>
            </a:prstGeom>
            <a:solidFill>
              <a:srgbClr val="CFDE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5"/>
            <p:cNvSpPr/>
            <p:nvPr/>
          </p:nvSpPr>
          <p:spPr>
            <a:xfrm>
              <a:off x="8806200" y="3461271"/>
              <a:ext cx="2193229" cy="1897400"/>
            </a:xfrm>
            <a:prstGeom prst="hexagon">
              <a:avLst>
                <a:gd fmla="val 28570" name="adj"/>
                <a:gd fmla="val 115470" name="vf"/>
              </a:avLst>
            </a:prstGeom>
            <a:solidFill>
              <a:srgbClr val="599BD5">
                <a:alpha val="73725"/>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5"/>
            <p:cNvSpPr txBox="1"/>
            <p:nvPr/>
          </p:nvSpPr>
          <p:spPr>
            <a:xfrm>
              <a:off x="9169665" y="3775711"/>
              <a:ext cx="1466299" cy="126852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Calibri"/>
                <a:buNone/>
              </a:pPr>
              <a:r>
                <a:rPr b="0" i="0" lang="en-US" sz="3600" u="none" cap="none" strike="noStrike">
                  <a:solidFill>
                    <a:schemeClr val="dk1"/>
                  </a:solidFill>
                  <a:latin typeface="Times New Roman"/>
                  <a:ea typeface="Times New Roman"/>
                  <a:cs typeface="Times New Roman"/>
                  <a:sym typeface="Times New Roman"/>
                </a:rPr>
                <a:t>write()</a:t>
              </a:r>
              <a:endParaRPr b="0" i="0" sz="3600" u="none" cap="none" strike="noStrike">
                <a:solidFill>
                  <a:schemeClr val="dk1"/>
                </a:solidFill>
                <a:latin typeface="Times New Roman"/>
                <a:ea typeface="Times New Roman"/>
                <a:cs typeface="Times New Roman"/>
                <a:sym typeface="Times New Roman"/>
              </a:endParaRPr>
            </a:p>
          </p:txBody>
        </p:sp>
        <p:sp>
          <p:nvSpPr>
            <p:cNvPr id="287" name="Google Shape;287;p15"/>
            <p:cNvSpPr/>
            <p:nvPr/>
          </p:nvSpPr>
          <p:spPr>
            <a:xfrm>
              <a:off x="6553206" y="4651145"/>
              <a:ext cx="1009769" cy="870050"/>
            </a:xfrm>
            <a:prstGeom prst="hexagon">
              <a:avLst>
                <a:gd fmla="val 28900" name="adj"/>
                <a:gd fmla="val 115470" name="vf"/>
              </a:avLst>
            </a:prstGeom>
            <a:solidFill>
              <a:srgbClr val="CFDE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5"/>
            <p:cNvSpPr/>
            <p:nvPr/>
          </p:nvSpPr>
          <p:spPr>
            <a:xfrm>
              <a:off x="6794754" y="4629606"/>
              <a:ext cx="2193229" cy="1897400"/>
            </a:xfrm>
            <a:prstGeom prst="hexagon">
              <a:avLst>
                <a:gd fmla="val 28570" name="adj"/>
                <a:gd fmla="val 115470" name="vf"/>
              </a:avLst>
            </a:prstGeom>
            <a:solidFill>
              <a:srgbClr val="599BD5">
                <a:alpha val="65490"/>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5"/>
            <p:cNvSpPr txBox="1"/>
            <p:nvPr/>
          </p:nvSpPr>
          <p:spPr>
            <a:xfrm>
              <a:off x="6709064" y="5054882"/>
              <a:ext cx="2382982" cy="126852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Calibri"/>
                <a:buNone/>
              </a:pPr>
              <a:r>
                <a:rPr b="0" i="0" lang="en-US" sz="3200" u="none" cap="none" strike="noStrike">
                  <a:solidFill>
                    <a:schemeClr val="dk1"/>
                  </a:solidFill>
                  <a:latin typeface="Times New Roman"/>
                  <a:ea typeface="Times New Roman"/>
                  <a:cs typeface="Times New Roman"/>
                  <a:sym typeface="Times New Roman"/>
                </a:rPr>
                <a:t>writelines()</a:t>
              </a:r>
              <a:endParaRPr b="0" i="0" sz="3200" u="none" cap="none" strike="noStrike">
                <a:solidFill>
                  <a:schemeClr val="dk1"/>
                </a:solidFill>
                <a:latin typeface="Times New Roman"/>
                <a:ea typeface="Times New Roman"/>
                <a:cs typeface="Times New Roman"/>
                <a:sym typeface="Times New Roman"/>
              </a:endParaRPr>
            </a:p>
          </p:txBody>
        </p:sp>
        <p:sp>
          <p:nvSpPr>
            <p:cNvPr id="290" name="Google Shape;290;p15"/>
            <p:cNvSpPr txBox="1"/>
            <p:nvPr/>
          </p:nvSpPr>
          <p:spPr>
            <a:xfrm>
              <a:off x="5012744" y="3777017"/>
              <a:ext cx="1876429" cy="126852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Calibri"/>
                <a:buNone/>
              </a:pPr>
              <a:r>
                <a:rPr b="0" i="0" lang="en-US" sz="3600" u="none" cap="none" strike="noStrike">
                  <a:solidFill>
                    <a:schemeClr val="dk1"/>
                  </a:solidFill>
                  <a:latin typeface="Times New Roman"/>
                  <a:ea typeface="Times New Roman"/>
                  <a:cs typeface="Times New Roman"/>
                  <a:sym typeface="Times New Roman"/>
                </a:rPr>
                <a:t>append()</a:t>
              </a:r>
              <a:endParaRPr b="0" i="0" sz="3600" u="none" cap="none" strike="noStrike">
                <a:solidFill>
                  <a:schemeClr val="dk1"/>
                </a:solidFill>
                <a:latin typeface="Times New Roman"/>
                <a:ea typeface="Times New Roman"/>
                <a:cs typeface="Times New Roman"/>
                <a:sym typeface="Times New Roman"/>
              </a:endParaRPr>
            </a:p>
          </p:txBody>
        </p:sp>
        <p:sp>
          <p:nvSpPr>
            <p:cNvPr id="291" name="Google Shape;291;p15"/>
            <p:cNvSpPr/>
            <p:nvPr/>
          </p:nvSpPr>
          <p:spPr>
            <a:xfrm>
              <a:off x="4644736" y="960725"/>
              <a:ext cx="2322463" cy="2101093"/>
            </a:xfrm>
            <a:prstGeom prst="hexagon">
              <a:avLst>
                <a:gd fmla="val 28570" name="adj"/>
                <a:gd fmla="val 115470" name="vf"/>
              </a:avLst>
            </a:prstGeom>
            <a:solidFill>
              <a:srgbClr val="599BD5">
                <a:alpha val="49411"/>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5"/>
            <p:cNvSpPr txBox="1"/>
            <p:nvPr/>
          </p:nvSpPr>
          <p:spPr>
            <a:xfrm>
              <a:off x="5004955" y="1478858"/>
              <a:ext cx="1787236" cy="126852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Calibri"/>
                <a:buNone/>
              </a:pPr>
              <a:r>
                <a:rPr b="0" i="0" lang="en-US" sz="2700" u="none" cap="none" strike="noStrike">
                  <a:solidFill>
                    <a:schemeClr val="dk1"/>
                  </a:solidFill>
                  <a:latin typeface="Times New Roman"/>
                  <a:ea typeface="Times New Roman"/>
                  <a:cs typeface="Times New Roman"/>
                  <a:sym typeface="Times New Roman"/>
                </a:rPr>
                <a:t>read() &amp; readlines()</a:t>
              </a:r>
              <a:endParaRPr b="0" i="0" sz="2700" u="none" cap="none" strike="noStrike">
                <a:solidFill>
                  <a:schemeClr val="dk1"/>
                </a:solidFill>
                <a:latin typeface="Times New Roman"/>
                <a:ea typeface="Times New Roman"/>
                <a:cs typeface="Times New Roman"/>
                <a:sym typeface="Times New Roman"/>
              </a:endParaRPr>
            </a:p>
          </p:txBody>
        </p:sp>
      </p:grpSp>
      <p:sp>
        <p:nvSpPr>
          <p:cNvPr id="293" name="Google Shape;293;p15"/>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6"/>
          <p:cNvSpPr/>
          <p:nvPr/>
        </p:nvSpPr>
        <p:spPr>
          <a:xfrm>
            <a:off x="4059382" y="7758545"/>
            <a:ext cx="10543309" cy="969819"/>
          </a:xfrm>
          <a:prstGeom prst="rect">
            <a:avLst/>
          </a:prstGeom>
          <a:solidFill>
            <a:srgbClr val="9CC2E5"/>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9" name="Google Shape;299;p16"/>
          <p:cNvSpPr txBox="1"/>
          <p:nvPr>
            <p:ph type="title"/>
          </p:nvPr>
        </p:nvSpPr>
        <p:spPr>
          <a:xfrm>
            <a:off x="0" y="914400"/>
            <a:ext cx="18288000" cy="16383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6000">
                <a:solidFill>
                  <a:srgbClr val="2E75B5"/>
                </a:solidFill>
                <a:latin typeface="Times New Roman"/>
                <a:ea typeface="Times New Roman"/>
                <a:cs typeface="Times New Roman"/>
                <a:sym typeface="Times New Roman"/>
              </a:rPr>
              <a:t>The Open() Function</a:t>
            </a:r>
            <a:endParaRPr b="1" sz="6000">
              <a:solidFill>
                <a:srgbClr val="2E75B5"/>
              </a:solidFill>
              <a:latin typeface="Times New Roman"/>
              <a:ea typeface="Times New Roman"/>
              <a:cs typeface="Times New Roman"/>
              <a:sym typeface="Times New Roman"/>
            </a:endParaRPr>
          </a:p>
        </p:txBody>
      </p:sp>
      <p:sp>
        <p:nvSpPr>
          <p:cNvPr id="300" name="Google Shape;300;p16"/>
          <p:cNvSpPr txBox="1"/>
          <p:nvPr>
            <p:ph idx="1" type="body"/>
          </p:nvPr>
        </p:nvSpPr>
        <p:spPr>
          <a:xfrm>
            <a:off x="1101446" y="3392500"/>
            <a:ext cx="16459200" cy="7543800"/>
          </a:xfrm>
          <a:prstGeom prst="rect">
            <a:avLst/>
          </a:prstGeom>
          <a:noFill/>
          <a:ln>
            <a:noFill/>
          </a:ln>
        </p:spPr>
        <p:txBody>
          <a:bodyPr anchorCtr="0" anchor="t" bIns="68550" lIns="137125" spcFirstLastPara="1" rIns="137125" wrap="square" tIns="68550">
            <a:normAutofit/>
          </a:bodyPr>
          <a:lstStyle/>
          <a:p>
            <a:pPr indent="-342900" lvl="0" marL="342900" rtl="0" algn="just">
              <a:lnSpc>
                <a:spcPct val="90000"/>
              </a:lnSpc>
              <a:spcBef>
                <a:spcPts val="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Python has a built-in open() function to open files from the directory. </a:t>
            </a:r>
            <a:endParaRPr sz="4500">
              <a:latin typeface="Times New Roman"/>
              <a:ea typeface="Times New Roman"/>
              <a:cs typeface="Times New Roman"/>
              <a:sym typeface="Times New Roman"/>
            </a:endParaRPr>
          </a:p>
          <a:p>
            <a:pPr indent="-342900" lvl="0" marL="342900" rtl="0" algn="just">
              <a:lnSpc>
                <a:spcPct val="90000"/>
              </a:lnSpc>
              <a:spcBef>
                <a:spcPts val="96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Two arguments that are mainly needed by the open() function are: </a:t>
            </a:r>
            <a:endParaRPr sz="4500">
              <a:latin typeface="Times New Roman"/>
              <a:ea typeface="Times New Roman"/>
              <a:cs typeface="Times New Roman"/>
              <a:sym typeface="Times New Roman"/>
            </a:endParaRPr>
          </a:p>
          <a:p>
            <a:pPr indent="-342900" lvl="0" marL="342900" rtl="0" algn="just">
              <a:lnSpc>
                <a:spcPct val="90000"/>
              </a:lnSpc>
              <a:spcBef>
                <a:spcPts val="96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file name or file path and mode in which the file is opened.</a:t>
            </a:r>
            <a:endParaRPr/>
          </a:p>
          <a:p>
            <a:pPr indent="-139700" lvl="0" marL="342900" rtl="0" algn="just">
              <a:lnSpc>
                <a:spcPct val="90000"/>
              </a:lnSpc>
              <a:spcBef>
                <a:spcPts val="960"/>
              </a:spcBef>
              <a:spcAft>
                <a:spcPts val="0"/>
              </a:spcAft>
              <a:buClr>
                <a:schemeClr val="dk1"/>
              </a:buClr>
              <a:buSzPts val="3200"/>
              <a:buFont typeface="Noto Sans Symbols"/>
              <a:buNone/>
            </a:pPr>
            <a:r>
              <a:t/>
            </a:r>
            <a:endParaRPr sz="4500">
              <a:latin typeface="Times New Roman"/>
              <a:ea typeface="Times New Roman"/>
              <a:cs typeface="Times New Roman"/>
              <a:sym typeface="Times New Roman"/>
            </a:endParaRPr>
          </a:p>
          <a:p>
            <a:pPr indent="-342900" lvl="0" marL="342900" rtl="0" algn="just">
              <a:lnSpc>
                <a:spcPct val="90000"/>
              </a:lnSpc>
              <a:spcBef>
                <a:spcPts val="96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The syntax for opening a file is</a:t>
            </a:r>
            <a:endParaRPr sz="4500">
              <a:latin typeface="Times New Roman"/>
              <a:ea typeface="Times New Roman"/>
              <a:cs typeface="Times New Roman"/>
              <a:sym typeface="Times New Roman"/>
            </a:endParaRPr>
          </a:p>
          <a:p>
            <a:pPr indent="0" lvl="0" marL="0" rtl="0" algn="l">
              <a:lnSpc>
                <a:spcPct val="90000"/>
              </a:lnSpc>
              <a:spcBef>
                <a:spcPts val="960"/>
              </a:spcBef>
              <a:spcAft>
                <a:spcPts val="0"/>
              </a:spcAft>
              <a:buClr>
                <a:schemeClr val="dk1"/>
              </a:buClr>
              <a:buSzPts val="3200"/>
              <a:buNone/>
            </a:pPr>
            <a:r>
              <a:t/>
            </a:r>
            <a:endParaRPr sz="4800"/>
          </a:p>
          <a:p>
            <a:pPr indent="0" lvl="0" marL="0" rtl="0" algn="ctr">
              <a:lnSpc>
                <a:spcPct val="90000"/>
              </a:lnSpc>
              <a:spcBef>
                <a:spcPts val="960"/>
              </a:spcBef>
              <a:spcAft>
                <a:spcPts val="0"/>
              </a:spcAft>
              <a:buClr>
                <a:schemeClr val="dk1"/>
              </a:buClr>
              <a:buSzPts val="3200"/>
              <a:buNone/>
            </a:pPr>
            <a:r>
              <a:rPr lang="en-US" sz="4400">
                <a:solidFill>
                  <a:srgbClr val="262626"/>
                </a:solidFill>
              </a:rPr>
              <a:t>file_object = open(file_name , access_mode)</a:t>
            </a:r>
            <a:endParaRPr>
              <a:solidFill>
                <a:srgbClr val="262626"/>
              </a:solidFill>
            </a:endParaRPr>
          </a:p>
        </p:txBody>
      </p:sp>
      <p:sp>
        <p:nvSpPr>
          <p:cNvPr id="301" name="Google Shape;301;p16"/>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7"/>
          <p:cNvSpPr/>
          <p:nvPr/>
        </p:nvSpPr>
        <p:spPr>
          <a:xfrm>
            <a:off x="1828800" y="5250873"/>
            <a:ext cx="3061855" cy="581891"/>
          </a:xfrm>
          <a:prstGeom prst="rect">
            <a:avLst/>
          </a:prstGeom>
          <a:solidFill>
            <a:srgbClr val="9CC2E5"/>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7" name="Google Shape;307;p17"/>
          <p:cNvSpPr/>
          <p:nvPr/>
        </p:nvSpPr>
        <p:spPr>
          <a:xfrm>
            <a:off x="1814945" y="3408218"/>
            <a:ext cx="2327564" cy="581891"/>
          </a:xfrm>
          <a:prstGeom prst="rect">
            <a:avLst/>
          </a:prstGeom>
          <a:solidFill>
            <a:srgbClr val="9CC2E5"/>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8" name="Google Shape;308;p17"/>
          <p:cNvSpPr txBox="1"/>
          <p:nvPr>
            <p:ph type="title"/>
          </p:nvPr>
        </p:nvSpPr>
        <p:spPr>
          <a:xfrm>
            <a:off x="0" y="997879"/>
            <a:ext cx="18288000" cy="1267428"/>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a:solidFill>
                  <a:srgbClr val="2E75B5"/>
                </a:solidFill>
                <a:latin typeface="Times New Roman"/>
                <a:ea typeface="Times New Roman"/>
                <a:cs typeface="Times New Roman"/>
                <a:sym typeface="Times New Roman"/>
              </a:rPr>
              <a:t>open()</a:t>
            </a:r>
            <a:endParaRPr b="1">
              <a:solidFill>
                <a:srgbClr val="2E75B5"/>
              </a:solidFill>
              <a:latin typeface="Times New Roman"/>
              <a:ea typeface="Times New Roman"/>
              <a:cs typeface="Times New Roman"/>
              <a:sym typeface="Times New Roman"/>
            </a:endParaRPr>
          </a:p>
        </p:txBody>
      </p:sp>
      <p:sp>
        <p:nvSpPr>
          <p:cNvPr id="309" name="Google Shape;309;p17"/>
          <p:cNvSpPr txBox="1"/>
          <p:nvPr>
            <p:ph idx="1" type="body"/>
          </p:nvPr>
        </p:nvSpPr>
        <p:spPr>
          <a:xfrm>
            <a:off x="1392382" y="3307773"/>
            <a:ext cx="15371618" cy="6128347"/>
          </a:xfrm>
          <a:prstGeom prst="rect">
            <a:avLst/>
          </a:prstGeom>
          <a:noFill/>
          <a:ln>
            <a:noFill/>
          </a:ln>
        </p:spPr>
        <p:txBody>
          <a:bodyPr anchorCtr="0" anchor="t" bIns="68550" lIns="137125" spcFirstLastPara="1" rIns="137125" wrap="square" tIns="68550">
            <a:normAutofit/>
          </a:bodyPr>
          <a:lstStyle/>
          <a:p>
            <a:pPr indent="-342900" lvl="0" marL="342900" rtl="0" algn="just">
              <a:lnSpc>
                <a:spcPct val="90000"/>
              </a:lnSpc>
              <a:spcBef>
                <a:spcPts val="0"/>
              </a:spcBef>
              <a:spcAft>
                <a:spcPts val="0"/>
              </a:spcAft>
              <a:buClr>
                <a:schemeClr val="dk1"/>
              </a:buClr>
              <a:buSzPts val="3200"/>
              <a:buFont typeface="Courier New"/>
              <a:buChar char="o"/>
            </a:pPr>
            <a:r>
              <a:rPr lang="en-US" sz="4500">
                <a:latin typeface="Times New Roman"/>
                <a:ea typeface="Times New Roman"/>
                <a:cs typeface="Times New Roman"/>
                <a:sym typeface="Times New Roman"/>
              </a:rPr>
              <a:t>file_name: </a:t>
            </a:r>
            <a:r>
              <a:rPr lang="en-US" sz="3600">
                <a:latin typeface="Times New Roman"/>
                <a:ea typeface="Times New Roman"/>
                <a:cs typeface="Times New Roman"/>
                <a:sym typeface="Times New Roman"/>
              </a:rPr>
              <a:t>File name contains a string type value containing the name of the file which we want to access.</a:t>
            </a:r>
            <a:endParaRPr/>
          </a:p>
          <a:p>
            <a:pPr indent="-139700" lvl="0" marL="342900" rtl="0" algn="just">
              <a:lnSpc>
                <a:spcPct val="90000"/>
              </a:lnSpc>
              <a:spcBef>
                <a:spcPts val="0"/>
              </a:spcBef>
              <a:spcAft>
                <a:spcPts val="0"/>
              </a:spcAft>
              <a:buClr>
                <a:schemeClr val="dk1"/>
              </a:buClr>
              <a:buSzPts val="3200"/>
              <a:buFont typeface="Courier New"/>
              <a:buNone/>
            </a:pPr>
            <a:r>
              <a:t/>
            </a:r>
            <a:endParaRPr sz="4500">
              <a:latin typeface="Times New Roman"/>
              <a:ea typeface="Times New Roman"/>
              <a:cs typeface="Times New Roman"/>
              <a:sym typeface="Times New Roman"/>
            </a:endParaRPr>
          </a:p>
          <a:p>
            <a:pPr indent="-342900" lvl="0" marL="342900" rtl="0" algn="just">
              <a:lnSpc>
                <a:spcPct val="90000"/>
              </a:lnSpc>
              <a:spcBef>
                <a:spcPts val="0"/>
              </a:spcBef>
              <a:spcAft>
                <a:spcPts val="0"/>
              </a:spcAft>
              <a:buClr>
                <a:schemeClr val="dk1"/>
              </a:buClr>
              <a:buSzPts val="3200"/>
              <a:buFont typeface="Courier New"/>
              <a:buChar char="o"/>
            </a:pPr>
            <a:r>
              <a:rPr lang="en-US" sz="4500">
                <a:latin typeface="Times New Roman"/>
                <a:ea typeface="Times New Roman"/>
                <a:cs typeface="Times New Roman"/>
                <a:sym typeface="Times New Roman"/>
              </a:rPr>
              <a:t>access_mode: </a:t>
            </a:r>
            <a:r>
              <a:rPr lang="en-US" sz="3600">
                <a:latin typeface="Times New Roman"/>
                <a:ea typeface="Times New Roman"/>
                <a:cs typeface="Times New Roman"/>
                <a:sym typeface="Times New Roman"/>
              </a:rPr>
              <a:t>The value to access_mode specifies the mode in which we want to open the file, i.e., read, write, append, etc.</a:t>
            </a:r>
            <a:endParaRPr sz="3600">
              <a:latin typeface="Times New Roman"/>
              <a:ea typeface="Times New Roman"/>
              <a:cs typeface="Times New Roman"/>
              <a:sym typeface="Times New Roman"/>
            </a:endParaRPr>
          </a:p>
          <a:p>
            <a:pPr indent="-139700" lvl="0" marL="342900" rtl="0" algn="just">
              <a:lnSpc>
                <a:spcPct val="90000"/>
              </a:lnSpc>
              <a:spcBef>
                <a:spcPts val="0"/>
              </a:spcBef>
              <a:spcAft>
                <a:spcPts val="0"/>
              </a:spcAft>
              <a:buClr>
                <a:schemeClr val="dk1"/>
              </a:buClr>
              <a:buSzPts val="3200"/>
              <a:buFont typeface="Noto Sans Symbols"/>
              <a:buNone/>
            </a:pPr>
            <a:r>
              <a:t/>
            </a:r>
            <a:endParaRPr sz="4500">
              <a:latin typeface="Times New Roman"/>
              <a:ea typeface="Times New Roman"/>
              <a:cs typeface="Times New Roman"/>
              <a:sym typeface="Times New Roman"/>
            </a:endParaRPr>
          </a:p>
        </p:txBody>
      </p:sp>
      <p:sp>
        <p:nvSpPr>
          <p:cNvPr id="310" name="Google Shape;310;p1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8"/>
          <p:cNvSpPr txBox="1"/>
          <p:nvPr>
            <p:ph type="title"/>
          </p:nvPr>
        </p:nvSpPr>
        <p:spPr>
          <a:xfrm>
            <a:off x="0" y="407090"/>
            <a:ext cx="18288000" cy="19812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5000">
                <a:solidFill>
                  <a:srgbClr val="2E75B5"/>
                </a:solidFill>
                <a:latin typeface="Times New Roman"/>
                <a:ea typeface="Times New Roman"/>
                <a:cs typeface="Times New Roman"/>
                <a:sym typeface="Times New Roman"/>
              </a:rPr>
              <a:t>Example for open() </a:t>
            </a:r>
            <a:endParaRPr b="1" sz="5000">
              <a:solidFill>
                <a:srgbClr val="2E75B5"/>
              </a:solidFill>
              <a:latin typeface="Times New Roman"/>
              <a:ea typeface="Times New Roman"/>
              <a:cs typeface="Times New Roman"/>
              <a:sym typeface="Times New Roman"/>
            </a:endParaRPr>
          </a:p>
        </p:txBody>
      </p:sp>
      <p:sp>
        <p:nvSpPr>
          <p:cNvPr id="316" name="Google Shape;316;p18"/>
          <p:cNvSpPr txBox="1"/>
          <p:nvPr>
            <p:ph idx="1" type="body"/>
          </p:nvPr>
        </p:nvSpPr>
        <p:spPr>
          <a:xfrm>
            <a:off x="408711" y="1964190"/>
            <a:ext cx="17297398" cy="799376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None/>
            </a:pPr>
            <a:r>
              <a:rPr lang="en-US" sz="4500">
                <a:latin typeface="Times New Roman"/>
                <a:ea typeface="Times New Roman"/>
                <a:cs typeface="Times New Roman"/>
                <a:sym typeface="Times New Roman"/>
              </a:rPr>
              <a:t># Opening a file in current directory</a:t>
            </a:r>
            <a:endParaRPr sz="4500">
              <a:latin typeface="Times New Roman"/>
              <a:ea typeface="Times New Roman"/>
              <a:cs typeface="Times New Roman"/>
              <a:sym typeface="Times New Roman"/>
            </a:endParaRPr>
          </a:p>
          <a:p>
            <a:pPr indent="0" lvl="0" marL="0" rtl="0" algn="l">
              <a:lnSpc>
                <a:spcPct val="90000"/>
              </a:lnSpc>
              <a:spcBef>
                <a:spcPts val="960"/>
              </a:spcBef>
              <a:spcAft>
                <a:spcPts val="0"/>
              </a:spcAft>
              <a:buClr>
                <a:schemeClr val="dk1"/>
              </a:buClr>
              <a:buSzPts val="3200"/>
              <a:buNone/>
            </a:pPr>
            <a:r>
              <a:rPr lang="en-US" sz="4500">
                <a:latin typeface="Times New Roman"/>
                <a:ea typeface="Times New Roman"/>
                <a:cs typeface="Times New Roman"/>
                <a:sym typeface="Times New Roman"/>
              </a:rPr>
              <a:t>*first create any file with “.txt” extension in same folder.</a:t>
            </a:r>
            <a:endParaRPr/>
          </a:p>
          <a:p>
            <a:pPr indent="0" lvl="0" marL="0" rtl="0" algn="l">
              <a:lnSpc>
                <a:spcPct val="90000"/>
              </a:lnSpc>
              <a:spcBef>
                <a:spcPts val="960"/>
              </a:spcBef>
              <a:spcAft>
                <a:spcPts val="0"/>
              </a:spcAft>
              <a:buClr>
                <a:schemeClr val="dk1"/>
              </a:buClr>
              <a:buSzPts val="3200"/>
              <a:buNone/>
            </a:pPr>
            <a:r>
              <a:t/>
            </a:r>
            <a:endParaRPr sz="5000">
              <a:latin typeface="Times New Roman"/>
              <a:ea typeface="Times New Roman"/>
              <a:cs typeface="Times New Roman"/>
              <a:sym typeface="Times New Roman"/>
            </a:endParaRPr>
          </a:p>
          <a:p>
            <a:pPr indent="0" lvl="0" marL="0" rtl="0" algn="just">
              <a:lnSpc>
                <a:spcPct val="90000"/>
              </a:lnSpc>
              <a:spcBef>
                <a:spcPts val="960"/>
              </a:spcBef>
              <a:spcAft>
                <a:spcPts val="0"/>
              </a:spcAft>
              <a:buClr>
                <a:schemeClr val="dk1"/>
              </a:buClr>
              <a:buSzPts val="3200"/>
              <a:buNone/>
            </a:pPr>
            <a:r>
              <a:rPr lang="en-US" sz="4500" u="sng">
                <a:solidFill>
                  <a:srgbClr val="0070C0"/>
                </a:solidFill>
                <a:latin typeface="Times New Roman"/>
                <a:ea typeface="Times New Roman"/>
                <a:cs typeface="Times New Roman"/>
                <a:sym typeface="Times New Roman"/>
              </a:rPr>
              <a:t>Example:</a:t>
            </a:r>
            <a:endParaRPr sz="4500">
              <a:latin typeface="Times New Roman"/>
              <a:ea typeface="Times New Roman"/>
              <a:cs typeface="Times New Roman"/>
              <a:sym typeface="Times New Roman"/>
            </a:endParaRPr>
          </a:p>
          <a:p>
            <a:pPr indent="0" lvl="0" marL="0" rtl="0" algn="just">
              <a:lnSpc>
                <a:spcPct val="90000"/>
              </a:lnSpc>
              <a:spcBef>
                <a:spcPts val="1500"/>
              </a:spcBef>
              <a:spcAft>
                <a:spcPts val="0"/>
              </a:spcAft>
              <a:buClr>
                <a:schemeClr val="dk1"/>
              </a:buClr>
              <a:buSzPts val="5400"/>
              <a:buNone/>
            </a:pPr>
            <a:r>
              <a:rPr lang="en-US" sz="4500">
                <a:solidFill>
                  <a:schemeClr val="dk1"/>
                </a:solidFill>
                <a:latin typeface="Times New Roman"/>
                <a:ea typeface="Times New Roman"/>
                <a:cs typeface="Times New Roman"/>
                <a:sym typeface="Times New Roman"/>
              </a:rPr>
              <a:t>file=open("test.txt","rb")</a:t>
            </a:r>
            <a:endParaRPr sz="4500">
              <a:latin typeface="Times New Roman"/>
              <a:ea typeface="Times New Roman"/>
              <a:cs typeface="Times New Roman"/>
              <a:sym typeface="Times New Roman"/>
            </a:endParaRPr>
          </a:p>
          <a:p>
            <a:pPr indent="0" lvl="0" marL="0" rtl="0" algn="just">
              <a:lnSpc>
                <a:spcPct val="90000"/>
              </a:lnSpc>
              <a:spcBef>
                <a:spcPts val="1500"/>
              </a:spcBef>
              <a:spcAft>
                <a:spcPts val="0"/>
              </a:spcAft>
              <a:buClr>
                <a:schemeClr val="dk1"/>
              </a:buClr>
              <a:buSzPts val="5400"/>
              <a:buNone/>
            </a:pPr>
            <a:r>
              <a:rPr lang="en-US" sz="4500">
                <a:solidFill>
                  <a:schemeClr val="dk1"/>
                </a:solidFill>
                <a:latin typeface="Times New Roman"/>
                <a:ea typeface="Times New Roman"/>
                <a:cs typeface="Times New Roman"/>
                <a:sym typeface="Times New Roman"/>
              </a:rPr>
              <a:t>print(file)</a:t>
            </a:r>
            <a:endParaRPr sz="4500">
              <a:latin typeface="Times New Roman"/>
              <a:ea typeface="Times New Roman"/>
              <a:cs typeface="Times New Roman"/>
              <a:sym typeface="Times New Roman"/>
            </a:endParaRPr>
          </a:p>
          <a:p>
            <a:pPr indent="-47625" lvl="0" marL="428625" rtl="0" algn="just">
              <a:lnSpc>
                <a:spcPct val="90000"/>
              </a:lnSpc>
              <a:spcBef>
                <a:spcPts val="1500"/>
              </a:spcBef>
              <a:spcAft>
                <a:spcPts val="0"/>
              </a:spcAft>
              <a:buClr>
                <a:schemeClr val="dk1"/>
              </a:buClr>
              <a:buSzPts val="2400"/>
              <a:buNone/>
            </a:pPr>
            <a:r>
              <a:t/>
            </a:r>
            <a:endParaRPr sz="4500">
              <a:solidFill>
                <a:schemeClr val="dk1"/>
              </a:solidFill>
              <a:latin typeface="Times New Roman"/>
              <a:ea typeface="Times New Roman"/>
              <a:cs typeface="Times New Roman"/>
              <a:sym typeface="Times New Roman"/>
            </a:endParaRPr>
          </a:p>
          <a:p>
            <a:pPr indent="0" lvl="0" marL="0" rtl="0" algn="just">
              <a:lnSpc>
                <a:spcPct val="90000"/>
              </a:lnSpc>
              <a:spcBef>
                <a:spcPts val="1500"/>
              </a:spcBef>
              <a:spcAft>
                <a:spcPts val="0"/>
              </a:spcAft>
              <a:buClr>
                <a:srgbClr val="0070C0"/>
              </a:buClr>
              <a:buSzPts val="5400"/>
              <a:buNone/>
            </a:pPr>
            <a:r>
              <a:rPr lang="en-US" sz="4500" u="sng">
                <a:solidFill>
                  <a:srgbClr val="0070C0"/>
                </a:solidFill>
                <a:latin typeface="Times New Roman"/>
                <a:ea typeface="Times New Roman"/>
                <a:cs typeface="Times New Roman"/>
                <a:sym typeface="Times New Roman"/>
              </a:rPr>
              <a:t>Output:</a:t>
            </a:r>
            <a:endParaRPr sz="4500">
              <a:latin typeface="Times New Roman"/>
              <a:ea typeface="Times New Roman"/>
              <a:cs typeface="Times New Roman"/>
              <a:sym typeface="Times New Roman"/>
            </a:endParaRPr>
          </a:p>
          <a:p>
            <a:pPr indent="0" lvl="0" marL="0" rtl="0" algn="just">
              <a:lnSpc>
                <a:spcPct val="90000"/>
              </a:lnSpc>
              <a:spcBef>
                <a:spcPts val="1500"/>
              </a:spcBef>
              <a:spcAft>
                <a:spcPts val="0"/>
              </a:spcAft>
              <a:buClr>
                <a:schemeClr val="dk1"/>
              </a:buClr>
              <a:buSzPts val="5400"/>
              <a:buNone/>
            </a:pPr>
            <a:r>
              <a:rPr lang="en-US" sz="4500">
                <a:solidFill>
                  <a:schemeClr val="dk1"/>
                </a:solidFill>
                <a:latin typeface="Times New Roman"/>
                <a:ea typeface="Times New Roman"/>
                <a:cs typeface="Times New Roman"/>
                <a:sym typeface="Times New Roman"/>
              </a:rPr>
              <a:t>&lt;_io.BufferedReader name='test.txt'&gt;</a:t>
            </a:r>
            <a:endParaRPr sz="4500">
              <a:latin typeface="Times New Roman"/>
              <a:ea typeface="Times New Roman"/>
              <a:cs typeface="Times New Roman"/>
              <a:sym typeface="Times New Roman"/>
            </a:endParaRPr>
          </a:p>
          <a:p>
            <a:pPr indent="0" lvl="0" marL="0" rtl="0" algn="l">
              <a:lnSpc>
                <a:spcPct val="90000"/>
              </a:lnSpc>
              <a:spcBef>
                <a:spcPts val="960"/>
              </a:spcBef>
              <a:spcAft>
                <a:spcPts val="0"/>
              </a:spcAft>
              <a:buClr>
                <a:schemeClr val="dk1"/>
              </a:buClr>
              <a:buSzPts val="3200"/>
              <a:buNone/>
            </a:pPr>
            <a:r>
              <a:t/>
            </a:r>
            <a:endParaRPr/>
          </a:p>
          <a:p>
            <a:pPr indent="0" lvl="0" marL="0" rtl="0" algn="l">
              <a:lnSpc>
                <a:spcPct val="90000"/>
              </a:lnSpc>
              <a:spcBef>
                <a:spcPts val="960"/>
              </a:spcBef>
              <a:spcAft>
                <a:spcPts val="0"/>
              </a:spcAft>
              <a:buClr>
                <a:schemeClr val="dk1"/>
              </a:buClr>
              <a:buSzPts val="3200"/>
              <a:buNone/>
            </a:pPr>
            <a:r>
              <a:t/>
            </a:r>
            <a:endParaRPr/>
          </a:p>
          <a:p>
            <a:pPr indent="0" lvl="0" marL="0" rtl="0" algn="l">
              <a:lnSpc>
                <a:spcPct val="90000"/>
              </a:lnSpc>
              <a:spcBef>
                <a:spcPts val="960"/>
              </a:spcBef>
              <a:spcAft>
                <a:spcPts val="0"/>
              </a:spcAft>
              <a:buClr>
                <a:schemeClr val="dk1"/>
              </a:buClr>
              <a:buSzPts val="3200"/>
              <a:buNone/>
            </a:pPr>
            <a:r>
              <a:t/>
            </a:r>
            <a:endParaRPr/>
          </a:p>
        </p:txBody>
      </p:sp>
      <p:sp>
        <p:nvSpPr>
          <p:cNvPr id="317" name="Google Shape;317;p18"/>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9"/>
          <p:cNvSpPr txBox="1"/>
          <p:nvPr>
            <p:ph idx="1" type="body"/>
          </p:nvPr>
        </p:nvSpPr>
        <p:spPr>
          <a:xfrm>
            <a:off x="554181" y="2213265"/>
            <a:ext cx="17373600" cy="8686800"/>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500"/>
              <a:buNone/>
            </a:pPr>
            <a:r>
              <a:rPr lang="en-US" sz="3500">
                <a:solidFill>
                  <a:srgbClr val="0070C0"/>
                </a:solidFill>
                <a:latin typeface="Times New Roman"/>
                <a:ea typeface="Times New Roman"/>
                <a:cs typeface="Times New Roman"/>
                <a:sym typeface="Times New Roman"/>
              </a:rPr>
              <a:t># Opening a file in different directory</a:t>
            </a:r>
            <a:endParaRPr sz="3500">
              <a:solidFill>
                <a:srgbClr val="0070C0"/>
              </a:solidFill>
              <a:latin typeface="Times New Roman"/>
              <a:ea typeface="Times New Roman"/>
              <a:cs typeface="Times New Roman"/>
              <a:sym typeface="Times New Roman"/>
            </a:endParaRPr>
          </a:p>
          <a:p>
            <a:pPr indent="0" lvl="0" marL="0" rtl="0" algn="l">
              <a:lnSpc>
                <a:spcPct val="90000"/>
              </a:lnSpc>
              <a:spcBef>
                <a:spcPts val="775"/>
              </a:spcBef>
              <a:spcAft>
                <a:spcPts val="0"/>
              </a:spcAft>
              <a:buClr>
                <a:schemeClr val="dk1"/>
              </a:buClr>
              <a:buSzPts val="3500"/>
              <a:buNone/>
            </a:pPr>
            <a:r>
              <a:rPr lang="en-US" sz="3500">
                <a:latin typeface="Times New Roman"/>
                <a:ea typeface="Times New Roman"/>
                <a:cs typeface="Times New Roman"/>
                <a:sym typeface="Times New Roman"/>
              </a:rPr>
              <a:t>f=open("G:/DSU/CTPY/test.txt")</a:t>
            </a:r>
            <a:endParaRPr sz="3500">
              <a:latin typeface="Times New Roman"/>
              <a:ea typeface="Times New Roman"/>
              <a:cs typeface="Times New Roman"/>
              <a:sym typeface="Times New Roman"/>
            </a:endParaRPr>
          </a:p>
          <a:p>
            <a:pPr indent="0" lvl="0" marL="0" rtl="0" algn="l">
              <a:lnSpc>
                <a:spcPct val="90000"/>
              </a:lnSpc>
              <a:spcBef>
                <a:spcPts val="775"/>
              </a:spcBef>
              <a:spcAft>
                <a:spcPts val="0"/>
              </a:spcAft>
              <a:buClr>
                <a:schemeClr val="dk1"/>
              </a:buClr>
              <a:buSzPts val="3500"/>
              <a:buNone/>
            </a:pPr>
            <a:r>
              <a:rPr lang="en-US" sz="3500">
                <a:latin typeface="Times New Roman"/>
                <a:ea typeface="Times New Roman"/>
                <a:cs typeface="Times New Roman"/>
                <a:sym typeface="Times New Roman"/>
              </a:rPr>
              <a:t>f</a:t>
            </a:r>
            <a:endParaRPr sz="35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3500"/>
              <a:buNone/>
            </a:pPr>
            <a:r>
              <a:t/>
            </a:r>
            <a:endParaRPr sz="35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3500"/>
              <a:buNone/>
            </a:pPr>
            <a:r>
              <a:rPr lang="en-US" sz="3500">
                <a:solidFill>
                  <a:srgbClr val="0070C0"/>
                </a:solidFill>
                <a:latin typeface="Times New Roman"/>
                <a:ea typeface="Times New Roman"/>
                <a:cs typeface="Times New Roman"/>
                <a:sym typeface="Times New Roman"/>
              </a:rPr>
              <a:t># Opens in w mode(writing only)</a:t>
            </a:r>
            <a:endParaRPr sz="3500">
              <a:latin typeface="Times New Roman"/>
              <a:ea typeface="Times New Roman"/>
              <a:cs typeface="Times New Roman"/>
              <a:sym typeface="Times New Roman"/>
            </a:endParaRPr>
          </a:p>
          <a:p>
            <a:pPr indent="0" lvl="0" marL="0" rtl="0" algn="l">
              <a:lnSpc>
                <a:spcPct val="90000"/>
              </a:lnSpc>
              <a:spcBef>
                <a:spcPts val="775"/>
              </a:spcBef>
              <a:spcAft>
                <a:spcPts val="0"/>
              </a:spcAft>
              <a:buSzPts val="3500"/>
              <a:buNone/>
            </a:pPr>
            <a:r>
              <a:rPr lang="en-US" sz="3500">
                <a:latin typeface="Times New Roman"/>
                <a:ea typeface="Times New Roman"/>
                <a:cs typeface="Times New Roman"/>
                <a:sym typeface="Times New Roman"/>
              </a:rPr>
              <a:t>f=open("test.txt",'w')</a:t>
            </a:r>
            <a:endParaRPr sz="3500">
              <a:latin typeface="Times New Roman"/>
              <a:ea typeface="Times New Roman"/>
              <a:cs typeface="Times New Roman"/>
              <a:sym typeface="Times New Roman"/>
            </a:endParaRPr>
          </a:p>
          <a:p>
            <a:pPr indent="0" lvl="0" marL="0" rtl="0" algn="l">
              <a:lnSpc>
                <a:spcPct val="90000"/>
              </a:lnSpc>
              <a:spcBef>
                <a:spcPts val="775"/>
              </a:spcBef>
              <a:spcAft>
                <a:spcPts val="0"/>
              </a:spcAft>
              <a:buClr>
                <a:schemeClr val="dk1"/>
              </a:buClr>
              <a:buSzPts val="3500"/>
              <a:buNone/>
            </a:pPr>
            <a:r>
              <a:rPr lang="en-US" sz="3500">
                <a:latin typeface="Times New Roman"/>
                <a:ea typeface="Times New Roman"/>
                <a:cs typeface="Times New Roman"/>
                <a:sym typeface="Times New Roman"/>
              </a:rPr>
              <a:t>f</a:t>
            </a:r>
            <a:endParaRPr sz="3500">
              <a:latin typeface="Times New Roman"/>
              <a:ea typeface="Times New Roman"/>
              <a:cs typeface="Times New Roman"/>
              <a:sym typeface="Times New Roman"/>
            </a:endParaRPr>
          </a:p>
          <a:p>
            <a:pPr indent="0" lvl="0" marL="0" rtl="0" algn="l">
              <a:lnSpc>
                <a:spcPct val="90000"/>
              </a:lnSpc>
              <a:spcBef>
                <a:spcPts val="775"/>
              </a:spcBef>
              <a:spcAft>
                <a:spcPts val="0"/>
              </a:spcAft>
              <a:buClr>
                <a:schemeClr val="dk1"/>
              </a:buClr>
              <a:buSzPts val="3500"/>
              <a:buNone/>
            </a:pPr>
            <a:r>
              <a:rPr lang="en-US" sz="3500" u="sng">
                <a:latin typeface="Times New Roman"/>
                <a:ea typeface="Times New Roman"/>
                <a:cs typeface="Times New Roman"/>
                <a:sym typeface="Times New Roman"/>
              </a:rPr>
              <a:t> </a:t>
            </a:r>
            <a:r>
              <a:rPr lang="en-US" sz="3500" u="sng">
                <a:solidFill>
                  <a:srgbClr val="00B050"/>
                </a:solidFill>
                <a:latin typeface="Times New Roman"/>
                <a:ea typeface="Times New Roman"/>
                <a:cs typeface="Times New Roman"/>
                <a:sym typeface="Times New Roman"/>
              </a:rPr>
              <a:t>output: </a:t>
            </a:r>
            <a:r>
              <a:rPr lang="en-US" sz="3500">
                <a:latin typeface="Times New Roman"/>
                <a:ea typeface="Times New Roman"/>
                <a:cs typeface="Times New Roman"/>
                <a:sym typeface="Times New Roman"/>
              </a:rPr>
              <a:t>&lt;_io.TextIOWrapper name='test.txt' mode='w' encoding='cp1252'&gt;</a:t>
            </a:r>
            <a:endParaRPr sz="3500">
              <a:latin typeface="Times New Roman"/>
              <a:ea typeface="Times New Roman"/>
              <a:cs typeface="Times New Roman"/>
              <a:sym typeface="Times New Roman"/>
            </a:endParaRPr>
          </a:p>
          <a:p>
            <a:pPr indent="0" lvl="0" marL="0" rtl="0" algn="l">
              <a:lnSpc>
                <a:spcPct val="90000"/>
              </a:lnSpc>
              <a:spcBef>
                <a:spcPts val="775"/>
              </a:spcBef>
              <a:spcAft>
                <a:spcPts val="0"/>
              </a:spcAft>
              <a:buClr>
                <a:schemeClr val="dk1"/>
              </a:buClr>
              <a:buSzPts val="3500"/>
              <a:buNone/>
            </a:pPr>
            <a:r>
              <a:t/>
            </a:r>
            <a:endParaRPr sz="3500">
              <a:latin typeface="Times New Roman"/>
              <a:ea typeface="Times New Roman"/>
              <a:cs typeface="Times New Roman"/>
              <a:sym typeface="Times New Roman"/>
            </a:endParaRPr>
          </a:p>
          <a:p>
            <a:pPr indent="0" lvl="0" marL="0" rtl="0" algn="l">
              <a:lnSpc>
                <a:spcPct val="90000"/>
              </a:lnSpc>
              <a:spcBef>
                <a:spcPts val="775"/>
              </a:spcBef>
              <a:spcAft>
                <a:spcPts val="0"/>
              </a:spcAft>
              <a:buClr>
                <a:schemeClr val="dk1"/>
              </a:buClr>
              <a:buSzPts val="3500"/>
              <a:buNone/>
            </a:pPr>
            <a:r>
              <a:rPr lang="en-US" sz="3500">
                <a:solidFill>
                  <a:srgbClr val="0070C0"/>
                </a:solidFill>
                <a:latin typeface="Times New Roman"/>
                <a:ea typeface="Times New Roman"/>
                <a:cs typeface="Times New Roman"/>
                <a:sym typeface="Times New Roman"/>
              </a:rPr>
              <a:t>#read and write in binary mode</a:t>
            </a:r>
            <a:endParaRPr sz="3500">
              <a:latin typeface="Times New Roman"/>
              <a:ea typeface="Times New Roman"/>
              <a:cs typeface="Times New Roman"/>
              <a:sym typeface="Times New Roman"/>
            </a:endParaRPr>
          </a:p>
          <a:p>
            <a:pPr indent="0" lvl="0" marL="0" rtl="0" algn="l">
              <a:lnSpc>
                <a:spcPct val="90000"/>
              </a:lnSpc>
              <a:spcBef>
                <a:spcPts val="775"/>
              </a:spcBef>
              <a:spcAft>
                <a:spcPts val="0"/>
              </a:spcAft>
              <a:buSzPts val="3500"/>
              <a:buNone/>
            </a:pPr>
            <a:r>
              <a:rPr lang="en-US" sz="3500">
                <a:latin typeface="Times New Roman"/>
                <a:ea typeface="Times New Roman"/>
                <a:cs typeface="Times New Roman"/>
                <a:sym typeface="Times New Roman"/>
              </a:rPr>
              <a:t>f=open("test.txt", 'rb+')</a:t>
            </a:r>
            <a:endParaRPr sz="3500">
              <a:latin typeface="Times New Roman"/>
              <a:ea typeface="Times New Roman"/>
              <a:cs typeface="Times New Roman"/>
              <a:sym typeface="Times New Roman"/>
            </a:endParaRPr>
          </a:p>
          <a:p>
            <a:pPr indent="0" lvl="0" marL="0" rtl="0" algn="l">
              <a:lnSpc>
                <a:spcPct val="90000"/>
              </a:lnSpc>
              <a:spcBef>
                <a:spcPts val="775"/>
              </a:spcBef>
              <a:spcAft>
                <a:spcPts val="0"/>
              </a:spcAft>
              <a:buClr>
                <a:schemeClr val="dk1"/>
              </a:buClr>
              <a:buSzPts val="3500"/>
              <a:buNone/>
            </a:pPr>
            <a:r>
              <a:rPr lang="en-US" sz="3500">
                <a:latin typeface="Times New Roman"/>
                <a:ea typeface="Times New Roman"/>
                <a:cs typeface="Times New Roman"/>
                <a:sym typeface="Times New Roman"/>
              </a:rPr>
              <a:t>f</a:t>
            </a:r>
            <a:endParaRPr sz="3500">
              <a:latin typeface="Times New Roman"/>
              <a:ea typeface="Times New Roman"/>
              <a:cs typeface="Times New Roman"/>
              <a:sym typeface="Times New Roman"/>
            </a:endParaRPr>
          </a:p>
          <a:p>
            <a:pPr indent="0" lvl="0" marL="0" rtl="0" algn="l">
              <a:lnSpc>
                <a:spcPct val="90000"/>
              </a:lnSpc>
              <a:spcBef>
                <a:spcPts val="775"/>
              </a:spcBef>
              <a:spcAft>
                <a:spcPts val="0"/>
              </a:spcAft>
              <a:buClr>
                <a:schemeClr val="dk1"/>
              </a:buClr>
              <a:buSzPts val="3500"/>
              <a:buNone/>
            </a:pPr>
            <a:r>
              <a:rPr lang="en-US" sz="3500" u="sng">
                <a:latin typeface="Times New Roman"/>
                <a:ea typeface="Times New Roman"/>
                <a:cs typeface="Times New Roman"/>
                <a:sym typeface="Times New Roman"/>
              </a:rPr>
              <a:t> </a:t>
            </a:r>
            <a:r>
              <a:rPr lang="en-US" sz="3500" u="sng">
                <a:solidFill>
                  <a:srgbClr val="00B050"/>
                </a:solidFill>
                <a:latin typeface="Times New Roman"/>
                <a:ea typeface="Times New Roman"/>
                <a:cs typeface="Times New Roman"/>
                <a:sym typeface="Times New Roman"/>
              </a:rPr>
              <a:t>output: </a:t>
            </a:r>
            <a:r>
              <a:rPr lang="en-US" sz="3500">
                <a:latin typeface="Times New Roman"/>
                <a:ea typeface="Times New Roman"/>
                <a:cs typeface="Times New Roman"/>
                <a:sym typeface="Times New Roman"/>
              </a:rPr>
              <a:t> &lt;_io.BufferedRandom name='test.txt'&gt;</a:t>
            </a:r>
            <a:endParaRPr sz="3500">
              <a:latin typeface="Times New Roman"/>
              <a:ea typeface="Times New Roman"/>
              <a:cs typeface="Times New Roman"/>
              <a:sym typeface="Times New Roman"/>
            </a:endParaRPr>
          </a:p>
          <a:p>
            <a:pPr indent="0" lvl="0" marL="0" rtl="0" algn="l">
              <a:lnSpc>
                <a:spcPct val="90000"/>
              </a:lnSpc>
              <a:spcBef>
                <a:spcPts val="775"/>
              </a:spcBef>
              <a:spcAft>
                <a:spcPts val="0"/>
              </a:spcAft>
              <a:buClr>
                <a:schemeClr val="dk1"/>
              </a:buClr>
              <a:buSzPts val="4200"/>
              <a:buNone/>
            </a:pPr>
            <a:r>
              <a:t/>
            </a:r>
            <a:endParaRPr/>
          </a:p>
        </p:txBody>
      </p:sp>
      <p:sp>
        <p:nvSpPr>
          <p:cNvPr id="323" name="Google Shape;323;p19"/>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24" name="Google Shape;324;p19"/>
          <p:cNvSpPr txBox="1"/>
          <p:nvPr/>
        </p:nvSpPr>
        <p:spPr>
          <a:xfrm>
            <a:off x="0" y="407090"/>
            <a:ext cx="18288000" cy="1981200"/>
          </a:xfrm>
          <a:prstGeom prst="rect">
            <a:avLst/>
          </a:prstGeom>
          <a:noFill/>
          <a:ln>
            <a:noFill/>
          </a:ln>
        </p:spPr>
        <p:txBody>
          <a:bodyPr anchorCtr="0" anchor="ctr" bIns="68550" lIns="137125" spcFirstLastPara="1" rIns="137125" wrap="square" tIns="68550">
            <a:normAutofit/>
          </a:bodyPr>
          <a:lstStyle/>
          <a:p>
            <a:pPr indent="0" lvl="0" marL="0" marR="0" rtl="0" algn="ctr">
              <a:lnSpc>
                <a:spcPct val="90000"/>
              </a:lnSpc>
              <a:spcBef>
                <a:spcPts val="0"/>
              </a:spcBef>
              <a:spcAft>
                <a:spcPts val="0"/>
              </a:spcAft>
              <a:buClr>
                <a:schemeClr val="dk1"/>
              </a:buClr>
              <a:buSzPts val="4400"/>
              <a:buFont typeface="Calibri"/>
              <a:buNone/>
            </a:pPr>
            <a:r>
              <a:rPr b="1" i="0" lang="en-US" sz="5000" u="none" cap="none" strike="noStrike">
                <a:solidFill>
                  <a:srgbClr val="2E75B5"/>
                </a:solidFill>
                <a:latin typeface="Times New Roman"/>
                <a:ea typeface="Times New Roman"/>
                <a:cs typeface="Times New Roman"/>
                <a:sym typeface="Times New Roman"/>
              </a:rPr>
              <a:t>Example for open() </a:t>
            </a:r>
            <a:endParaRPr b="1" i="0" sz="5000" u="none" cap="none" strike="noStrike">
              <a:solidFill>
                <a:srgbClr val="2E75B5"/>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0"/>
          <p:cNvSpPr txBox="1"/>
          <p:nvPr>
            <p:ph type="title"/>
          </p:nvPr>
        </p:nvSpPr>
        <p:spPr>
          <a:xfrm>
            <a:off x="1257300" y="547688"/>
            <a:ext cx="15773400" cy="1988345"/>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330" name="Google Shape;330;p20"/>
          <p:cNvSpPr txBox="1"/>
          <p:nvPr>
            <p:ph idx="1" type="body"/>
          </p:nvPr>
        </p:nvSpPr>
        <p:spPr>
          <a:xfrm>
            <a:off x="1257300" y="2738438"/>
            <a:ext cx="15773400" cy="6527007"/>
          </a:xfrm>
          <a:prstGeom prst="rect">
            <a:avLst/>
          </a:prstGeom>
          <a:noFill/>
          <a:ln>
            <a:noFill/>
          </a:ln>
        </p:spPr>
        <p:txBody>
          <a:bodyPr anchorCtr="0" anchor="t" bIns="68550" lIns="137125" spcFirstLastPara="1" rIns="137125" wrap="square" tIns="68550">
            <a:normAutofit/>
          </a:bodyPr>
          <a:lstStyle/>
          <a:p>
            <a:pPr indent="-209550" lvl="0" marL="514350" rtl="0" algn="l">
              <a:lnSpc>
                <a:spcPct val="90000"/>
              </a:lnSpc>
              <a:spcBef>
                <a:spcPts val="0"/>
              </a:spcBef>
              <a:spcAft>
                <a:spcPts val="0"/>
              </a:spcAft>
              <a:buClr>
                <a:schemeClr val="dk1"/>
              </a:buClr>
              <a:buSzPts val="3200"/>
              <a:buNone/>
            </a:pPr>
            <a:r>
              <a:t/>
            </a:r>
            <a:endParaRPr/>
          </a:p>
        </p:txBody>
      </p:sp>
      <p:pic>
        <p:nvPicPr>
          <p:cNvPr id="331" name="Google Shape;331;p20"/>
          <p:cNvPicPr preferRelativeResize="0"/>
          <p:nvPr/>
        </p:nvPicPr>
        <p:blipFill rotWithShape="1">
          <a:blip r:embed="rId3">
            <a:alphaModFix/>
          </a:blip>
          <a:srcRect b="0" l="0" r="0" t="0"/>
          <a:stretch/>
        </p:blipFill>
        <p:spPr>
          <a:xfrm>
            <a:off x="819150" y="997527"/>
            <a:ext cx="16649700" cy="7952509"/>
          </a:xfrm>
          <a:prstGeom prst="rect">
            <a:avLst/>
          </a:prstGeom>
          <a:solidFill>
            <a:srgbClr val="000000"/>
          </a:solidFill>
          <a:ln cap="sq" cmpd="sng" w="444500">
            <a:solidFill>
              <a:srgbClr val="B3C6E7"/>
            </a:solidFill>
            <a:prstDash val="solid"/>
            <a:miter lim="800000"/>
            <a:headEnd len="sm" w="sm" type="none"/>
            <a:tailEnd len="sm" w="sm" type="none"/>
          </a:ln>
          <a:effectLst>
            <a:outerShdw blurRad="254000" rotWithShape="0" algn="bl" dir="2700000" dist="190500" sy="90000">
              <a:srgbClr val="000000">
                <a:alpha val="40000"/>
              </a:srgbClr>
            </a:outerShdw>
          </a:effectLst>
        </p:spPr>
      </p:pic>
      <p:sp>
        <p:nvSpPr>
          <p:cNvPr id="332" name="Google Shape;332;p2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1"/>
          <p:cNvSpPr txBox="1"/>
          <p:nvPr>
            <p:ph type="title"/>
          </p:nvPr>
        </p:nvSpPr>
        <p:spPr>
          <a:xfrm>
            <a:off x="0" y="471055"/>
            <a:ext cx="18288000" cy="19812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6000">
                <a:solidFill>
                  <a:srgbClr val="2E75B5"/>
                </a:solidFill>
                <a:latin typeface="Times New Roman"/>
                <a:ea typeface="Times New Roman"/>
                <a:cs typeface="Times New Roman"/>
                <a:sym typeface="Times New Roman"/>
              </a:rPr>
              <a:t>Closing a File</a:t>
            </a:r>
            <a:endParaRPr b="1" sz="6000">
              <a:solidFill>
                <a:srgbClr val="2E75B5"/>
              </a:solidFill>
              <a:latin typeface="Times New Roman"/>
              <a:ea typeface="Times New Roman"/>
              <a:cs typeface="Times New Roman"/>
              <a:sym typeface="Times New Roman"/>
            </a:endParaRPr>
          </a:p>
        </p:txBody>
      </p:sp>
      <p:sp>
        <p:nvSpPr>
          <p:cNvPr id="338" name="Google Shape;338;p21"/>
          <p:cNvSpPr txBox="1"/>
          <p:nvPr>
            <p:ph idx="1" type="body"/>
          </p:nvPr>
        </p:nvSpPr>
        <p:spPr>
          <a:xfrm>
            <a:off x="495300" y="3238500"/>
            <a:ext cx="17297400" cy="5108776"/>
          </a:xfrm>
          <a:prstGeom prst="rect">
            <a:avLst/>
          </a:prstGeom>
          <a:noFill/>
          <a:ln>
            <a:noFill/>
          </a:ln>
        </p:spPr>
        <p:txBody>
          <a:bodyPr anchorCtr="0" anchor="t" bIns="68550" lIns="137125" spcFirstLastPara="1" rIns="137125" wrap="square" tIns="68550">
            <a:noAutofit/>
          </a:bodyPr>
          <a:lstStyle/>
          <a:p>
            <a:pPr indent="-342900" lvl="0" marL="342900" rtl="0" algn="just">
              <a:lnSpc>
                <a:spcPct val="90000"/>
              </a:lnSpc>
              <a:spcBef>
                <a:spcPts val="0"/>
              </a:spcBef>
              <a:spcAft>
                <a:spcPts val="0"/>
              </a:spcAft>
              <a:buClr>
                <a:schemeClr val="dk1"/>
              </a:buClr>
              <a:buSzPts val="2800"/>
              <a:buFont typeface="Noto Sans Symbols"/>
              <a:buChar char="⮚"/>
            </a:pPr>
            <a:r>
              <a:rPr lang="en-US" sz="4000">
                <a:latin typeface="Times New Roman"/>
                <a:ea typeface="Times New Roman"/>
                <a:cs typeface="Times New Roman"/>
                <a:sym typeface="Times New Roman"/>
              </a:rPr>
              <a:t>When the operations that are to be performed on an opened file are finished, we have to close the file in order to release the resources. </a:t>
            </a:r>
            <a:endParaRPr sz="4000">
              <a:latin typeface="Times New Roman"/>
              <a:ea typeface="Times New Roman"/>
              <a:cs typeface="Times New Roman"/>
              <a:sym typeface="Times New Roman"/>
            </a:endParaRPr>
          </a:p>
          <a:p>
            <a:pPr indent="-165100" lvl="0" marL="342900" rtl="0" algn="just">
              <a:lnSpc>
                <a:spcPct val="90000"/>
              </a:lnSpc>
              <a:spcBef>
                <a:spcPts val="840"/>
              </a:spcBef>
              <a:spcAft>
                <a:spcPts val="0"/>
              </a:spcAft>
              <a:buClr>
                <a:schemeClr val="dk1"/>
              </a:buClr>
              <a:buSzPts val="2800"/>
              <a:buFont typeface="Noto Sans Symbols"/>
              <a:buNone/>
            </a:pPr>
            <a:r>
              <a:t/>
            </a:r>
            <a:endParaRPr sz="4000">
              <a:latin typeface="Times New Roman"/>
              <a:ea typeface="Times New Roman"/>
              <a:cs typeface="Times New Roman"/>
              <a:sym typeface="Times New Roman"/>
            </a:endParaRPr>
          </a:p>
          <a:p>
            <a:pPr indent="-342900" lvl="0" marL="342900" rtl="0" algn="just">
              <a:lnSpc>
                <a:spcPct val="90000"/>
              </a:lnSpc>
              <a:spcBef>
                <a:spcPts val="840"/>
              </a:spcBef>
              <a:spcAft>
                <a:spcPts val="0"/>
              </a:spcAft>
              <a:buClr>
                <a:schemeClr val="dk1"/>
              </a:buClr>
              <a:buSzPts val="2800"/>
              <a:buFont typeface="Noto Sans Symbols"/>
              <a:buChar char="⮚"/>
            </a:pPr>
            <a:r>
              <a:rPr lang="en-US" sz="4000">
                <a:latin typeface="Times New Roman"/>
                <a:ea typeface="Times New Roman"/>
                <a:cs typeface="Times New Roman"/>
                <a:sym typeface="Times New Roman"/>
              </a:rPr>
              <a:t>Although Python comes with a garbage collector responsible for cleaning up the unreferenced objects from the memory, we must not rely on it to close a file.</a:t>
            </a:r>
            <a:endParaRPr sz="4000">
              <a:latin typeface="Times New Roman"/>
              <a:ea typeface="Times New Roman"/>
              <a:cs typeface="Times New Roman"/>
              <a:sym typeface="Times New Roman"/>
            </a:endParaRPr>
          </a:p>
        </p:txBody>
      </p:sp>
      <p:sp>
        <p:nvSpPr>
          <p:cNvPr id="339" name="Google Shape;339;p2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2"/>
          <p:cNvSpPr/>
          <p:nvPr/>
        </p:nvSpPr>
        <p:spPr>
          <a:xfrm>
            <a:off x="3879273" y="5597236"/>
            <a:ext cx="4558145" cy="997528"/>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5" name="Google Shape;345;p22"/>
          <p:cNvSpPr txBox="1"/>
          <p:nvPr>
            <p:ph idx="1" type="body"/>
          </p:nvPr>
        </p:nvSpPr>
        <p:spPr>
          <a:xfrm>
            <a:off x="914398" y="2589112"/>
            <a:ext cx="16916401" cy="5108775"/>
          </a:xfrm>
          <a:prstGeom prst="rect">
            <a:avLst/>
          </a:prstGeom>
          <a:noFill/>
          <a:ln>
            <a:noFill/>
          </a:ln>
        </p:spPr>
        <p:txBody>
          <a:bodyPr anchorCtr="0" anchor="t" bIns="68550" lIns="137125" spcFirstLastPara="1" rIns="137125" wrap="square" tIns="68550">
            <a:normAutofit/>
          </a:bodyPr>
          <a:lstStyle/>
          <a:p>
            <a:pPr indent="-342900" lvl="0" marL="342900" rtl="0" algn="just">
              <a:lnSpc>
                <a:spcPct val="90000"/>
              </a:lnSpc>
              <a:spcBef>
                <a:spcPts val="0"/>
              </a:spcBef>
              <a:spcAft>
                <a:spcPts val="0"/>
              </a:spcAft>
              <a:buClr>
                <a:schemeClr val="dk1"/>
              </a:buClr>
              <a:buSzPts val="3200"/>
              <a:buFont typeface="Noto Sans Symbols"/>
              <a:buChar char="⮚"/>
            </a:pPr>
            <a:r>
              <a:rPr lang="en-US" sz="4800">
                <a:latin typeface="Times New Roman"/>
                <a:ea typeface="Times New Roman"/>
                <a:cs typeface="Times New Roman"/>
                <a:sym typeface="Times New Roman"/>
              </a:rPr>
              <a:t>Proper closing of a file frees up the resources held with the file. </a:t>
            </a:r>
            <a:endParaRPr sz="4800">
              <a:latin typeface="Times New Roman"/>
              <a:ea typeface="Times New Roman"/>
              <a:cs typeface="Times New Roman"/>
              <a:sym typeface="Times New Roman"/>
            </a:endParaRPr>
          </a:p>
          <a:p>
            <a:pPr indent="-342900" lvl="0" marL="342900" rtl="0" algn="just">
              <a:lnSpc>
                <a:spcPct val="90000"/>
              </a:lnSpc>
              <a:spcBef>
                <a:spcPts val="960"/>
              </a:spcBef>
              <a:spcAft>
                <a:spcPts val="0"/>
              </a:spcAft>
              <a:buClr>
                <a:schemeClr val="dk1"/>
              </a:buClr>
              <a:buSzPts val="3200"/>
              <a:buFont typeface="Noto Sans Symbols"/>
              <a:buChar char="⮚"/>
            </a:pPr>
            <a:r>
              <a:rPr lang="en-US" sz="4800">
                <a:latin typeface="Times New Roman"/>
                <a:ea typeface="Times New Roman"/>
                <a:cs typeface="Times New Roman"/>
                <a:sym typeface="Times New Roman"/>
              </a:rPr>
              <a:t>The closing of file is done with a built-in function close().</a:t>
            </a:r>
            <a:endParaRPr sz="4800">
              <a:latin typeface="Times New Roman"/>
              <a:ea typeface="Times New Roman"/>
              <a:cs typeface="Times New Roman"/>
              <a:sym typeface="Times New Roman"/>
            </a:endParaRPr>
          </a:p>
          <a:p>
            <a:pPr indent="-209550" lvl="0" marL="514350" rtl="0" algn="just">
              <a:lnSpc>
                <a:spcPct val="90000"/>
              </a:lnSpc>
              <a:spcBef>
                <a:spcPts val="960"/>
              </a:spcBef>
              <a:spcAft>
                <a:spcPts val="0"/>
              </a:spcAft>
              <a:buClr>
                <a:schemeClr val="dk1"/>
              </a:buClr>
              <a:buSzPts val="3200"/>
              <a:buNone/>
            </a:pPr>
            <a:r>
              <a:t/>
            </a:r>
            <a:endParaRPr sz="4800">
              <a:latin typeface="Times New Roman"/>
              <a:ea typeface="Times New Roman"/>
              <a:cs typeface="Times New Roman"/>
              <a:sym typeface="Times New Roman"/>
            </a:endParaRPr>
          </a:p>
          <a:p>
            <a:pPr indent="0" lvl="0" marL="0" rtl="0" algn="just">
              <a:lnSpc>
                <a:spcPct val="90000"/>
              </a:lnSpc>
              <a:spcBef>
                <a:spcPts val="960"/>
              </a:spcBef>
              <a:spcAft>
                <a:spcPts val="0"/>
              </a:spcAft>
              <a:buClr>
                <a:schemeClr val="dk1"/>
              </a:buClr>
              <a:buSzPts val="3200"/>
              <a:buNone/>
            </a:pPr>
            <a:r>
              <a:rPr lang="en-US" sz="4800" u="sng">
                <a:solidFill>
                  <a:srgbClr val="00B050"/>
                </a:solidFill>
                <a:latin typeface="Times New Roman"/>
                <a:ea typeface="Times New Roman"/>
                <a:cs typeface="Times New Roman"/>
                <a:sym typeface="Times New Roman"/>
              </a:rPr>
              <a:t>Syntax:</a:t>
            </a:r>
            <a:endParaRPr sz="4800" u="sng">
              <a:solidFill>
                <a:srgbClr val="00B050"/>
              </a:solidFill>
              <a:latin typeface="Times New Roman"/>
              <a:ea typeface="Times New Roman"/>
              <a:cs typeface="Times New Roman"/>
              <a:sym typeface="Times New Roman"/>
            </a:endParaRPr>
          </a:p>
          <a:p>
            <a:pPr indent="0" lvl="0" marL="0" rtl="0" algn="just">
              <a:lnSpc>
                <a:spcPct val="90000"/>
              </a:lnSpc>
              <a:spcBef>
                <a:spcPts val="960"/>
              </a:spcBef>
              <a:spcAft>
                <a:spcPts val="0"/>
              </a:spcAft>
              <a:buClr>
                <a:schemeClr val="dk1"/>
              </a:buClr>
              <a:buSzPts val="3200"/>
              <a:buNone/>
            </a:pPr>
            <a:r>
              <a:rPr lang="en-US" sz="4800">
                <a:latin typeface="Times New Roman"/>
                <a:ea typeface="Times New Roman"/>
                <a:cs typeface="Times New Roman"/>
                <a:sym typeface="Times New Roman"/>
              </a:rPr>
              <a:t>                    fileObject.close()</a:t>
            </a:r>
            <a:endParaRPr sz="4800">
              <a:latin typeface="Times New Roman"/>
              <a:ea typeface="Times New Roman"/>
              <a:cs typeface="Times New Roman"/>
              <a:sym typeface="Times New Roman"/>
            </a:endParaRPr>
          </a:p>
        </p:txBody>
      </p:sp>
      <p:sp>
        <p:nvSpPr>
          <p:cNvPr id="346" name="Google Shape;346;p2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47" name="Google Shape;347;p22"/>
          <p:cNvSpPr txBox="1"/>
          <p:nvPr>
            <p:ph type="title"/>
          </p:nvPr>
        </p:nvSpPr>
        <p:spPr>
          <a:xfrm>
            <a:off x="0" y="471055"/>
            <a:ext cx="18288000" cy="19812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6000">
                <a:solidFill>
                  <a:srgbClr val="2E75B5"/>
                </a:solidFill>
                <a:latin typeface="Times New Roman"/>
                <a:ea typeface="Times New Roman"/>
                <a:cs typeface="Times New Roman"/>
                <a:sym typeface="Times New Roman"/>
              </a:rPr>
              <a:t>Closing a File</a:t>
            </a:r>
            <a:endParaRPr b="1" sz="6000">
              <a:solidFill>
                <a:srgbClr val="2E75B5"/>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3"/>
          <p:cNvSpPr txBox="1"/>
          <p:nvPr>
            <p:ph idx="3" type="body"/>
          </p:nvPr>
        </p:nvSpPr>
        <p:spPr>
          <a:xfrm>
            <a:off x="1163238" y="1845525"/>
            <a:ext cx="15961500" cy="7315200"/>
          </a:xfrm>
          <a:prstGeom prst="rect">
            <a:avLst/>
          </a:prstGeom>
          <a:noFill/>
          <a:ln>
            <a:noFill/>
          </a:ln>
        </p:spPr>
        <p:txBody>
          <a:bodyPr anchorCtr="0" anchor="t" bIns="68550" lIns="137125" spcFirstLastPara="1" rIns="137125" wrap="square" tIns="68550">
            <a:noAutofit/>
          </a:bodyPr>
          <a:lstStyle/>
          <a:p>
            <a:pPr indent="-361950" lvl="0" marL="514350" rtl="0" algn="l">
              <a:lnSpc>
                <a:spcPct val="90000"/>
              </a:lnSpc>
              <a:spcBef>
                <a:spcPts val="0"/>
              </a:spcBef>
              <a:spcAft>
                <a:spcPts val="0"/>
              </a:spcAft>
              <a:buClr>
                <a:schemeClr val="dk1"/>
              </a:buClr>
              <a:buSzPts val="2400"/>
              <a:buNone/>
            </a:pPr>
            <a:r>
              <a:t/>
            </a:r>
            <a:endParaRPr b="0" sz="48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2400"/>
              <a:buNone/>
            </a:pPr>
            <a:r>
              <a:rPr b="0" lang="en-US" sz="5400">
                <a:solidFill>
                  <a:srgbClr val="00B050"/>
                </a:solidFill>
                <a:latin typeface="Times New Roman"/>
                <a:ea typeface="Times New Roman"/>
                <a:cs typeface="Times New Roman"/>
                <a:sym typeface="Times New Roman"/>
              </a:rPr>
              <a:t>Example 1</a:t>
            </a:r>
            <a:endParaRPr b="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2400"/>
              <a:buNone/>
            </a:pPr>
            <a:r>
              <a:rPr b="0" lang="en-US" sz="5400">
                <a:latin typeface="Times New Roman"/>
                <a:ea typeface="Times New Roman"/>
                <a:cs typeface="Times New Roman"/>
                <a:sym typeface="Times New Roman"/>
              </a:rPr>
              <a:t># open a file</a:t>
            </a:r>
            <a:endParaRPr b="0" sz="5400">
              <a:latin typeface="Times New Roman"/>
              <a:ea typeface="Times New Roman"/>
              <a:cs typeface="Times New Roman"/>
              <a:sym typeface="Times New Roman"/>
            </a:endParaRPr>
          </a:p>
          <a:p>
            <a:pPr indent="0" lvl="0" marL="0" rtl="0" algn="l">
              <a:lnSpc>
                <a:spcPct val="90000"/>
              </a:lnSpc>
              <a:spcBef>
                <a:spcPts val="720"/>
              </a:spcBef>
              <a:spcAft>
                <a:spcPts val="0"/>
              </a:spcAft>
              <a:buClr>
                <a:schemeClr val="dk1"/>
              </a:buClr>
              <a:buSzPts val="2400"/>
              <a:buNone/>
            </a:pPr>
            <a:r>
              <a:rPr b="0" lang="en-US" sz="5400">
                <a:latin typeface="Times New Roman"/>
                <a:ea typeface="Times New Roman"/>
                <a:cs typeface="Times New Roman"/>
                <a:sym typeface="Times New Roman"/>
              </a:rPr>
              <a:t>f = open("test.txt",'wb')</a:t>
            </a:r>
            <a:endParaRPr b="0" sz="5400">
              <a:latin typeface="Times New Roman"/>
              <a:ea typeface="Times New Roman"/>
              <a:cs typeface="Times New Roman"/>
              <a:sym typeface="Times New Roman"/>
            </a:endParaRPr>
          </a:p>
          <a:p>
            <a:pPr indent="0" lvl="0" marL="0" rtl="0" algn="l">
              <a:lnSpc>
                <a:spcPct val="90000"/>
              </a:lnSpc>
              <a:spcBef>
                <a:spcPts val="720"/>
              </a:spcBef>
              <a:spcAft>
                <a:spcPts val="0"/>
              </a:spcAft>
              <a:buClr>
                <a:schemeClr val="dk1"/>
              </a:buClr>
              <a:buSzPts val="2400"/>
              <a:buNone/>
            </a:pPr>
            <a:r>
              <a:t/>
            </a:r>
            <a:endParaRPr b="0" sz="5400">
              <a:latin typeface="Times New Roman"/>
              <a:ea typeface="Times New Roman"/>
              <a:cs typeface="Times New Roman"/>
              <a:sym typeface="Times New Roman"/>
            </a:endParaRPr>
          </a:p>
          <a:p>
            <a:pPr indent="0" lvl="0" marL="0" rtl="0" algn="l">
              <a:lnSpc>
                <a:spcPct val="90000"/>
              </a:lnSpc>
              <a:spcBef>
                <a:spcPts val="720"/>
              </a:spcBef>
              <a:spcAft>
                <a:spcPts val="0"/>
              </a:spcAft>
              <a:buClr>
                <a:schemeClr val="dk1"/>
              </a:buClr>
              <a:buSzPts val="2400"/>
              <a:buNone/>
            </a:pPr>
            <a:r>
              <a:rPr b="0" lang="en-US" sz="5400">
                <a:latin typeface="Times New Roman"/>
                <a:ea typeface="Times New Roman"/>
                <a:cs typeface="Times New Roman"/>
                <a:sym typeface="Times New Roman"/>
              </a:rPr>
              <a:t># perform file operations</a:t>
            </a:r>
            <a:endParaRPr b="0" sz="5400">
              <a:latin typeface="Times New Roman"/>
              <a:ea typeface="Times New Roman"/>
              <a:cs typeface="Times New Roman"/>
              <a:sym typeface="Times New Roman"/>
            </a:endParaRPr>
          </a:p>
          <a:p>
            <a:pPr indent="0" lvl="0" marL="0" rtl="0" algn="l">
              <a:lnSpc>
                <a:spcPct val="90000"/>
              </a:lnSpc>
              <a:spcBef>
                <a:spcPts val="720"/>
              </a:spcBef>
              <a:spcAft>
                <a:spcPts val="0"/>
              </a:spcAft>
              <a:buClr>
                <a:schemeClr val="dk1"/>
              </a:buClr>
              <a:buSzPts val="2400"/>
              <a:buNone/>
            </a:pPr>
            <a:r>
              <a:rPr b="0" lang="en-US" sz="5400">
                <a:latin typeface="Times New Roman"/>
                <a:ea typeface="Times New Roman"/>
                <a:cs typeface="Times New Roman"/>
                <a:sym typeface="Times New Roman"/>
              </a:rPr>
              <a:t># close the file</a:t>
            </a:r>
            <a:endParaRPr b="0" sz="5400">
              <a:latin typeface="Times New Roman"/>
              <a:ea typeface="Times New Roman"/>
              <a:cs typeface="Times New Roman"/>
              <a:sym typeface="Times New Roman"/>
            </a:endParaRPr>
          </a:p>
          <a:p>
            <a:pPr indent="0" lvl="0" marL="0" rtl="0" algn="l">
              <a:lnSpc>
                <a:spcPct val="90000"/>
              </a:lnSpc>
              <a:spcBef>
                <a:spcPts val="720"/>
              </a:spcBef>
              <a:spcAft>
                <a:spcPts val="0"/>
              </a:spcAft>
              <a:buClr>
                <a:schemeClr val="dk1"/>
              </a:buClr>
              <a:buSzPts val="2400"/>
              <a:buNone/>
            </a:pPr>
            <a:r>
              <a:rPr b="0" lang="en-US" sz="5400">
                <a:latin typeface="Times New Roman"/>
                <a:ea typeface="Times New Roman"/>
                <a:cs typeface="Times New Roman"/>
                <a:sym typeface="Times New Roman"/>
              </a:rPr>
              <a:t>f.close() </a:t>
            </a:r>
            <a:endParaRPr b="0" sz="5400">
              <a:latin typeface="Times New Roman"/>
              <a:ea typeface="Times New Roman"/>
              <a:cs typeface="Times New Roman"/>
              <a:sym typeface="Times New Roman"/>
            </a:endParaRPr>
          </a:p>
          <a:p>
            <a:pPr indent="0" lvl="0" marL="0" rtl="0" algn="l">
              <a:lnSpc>
                <a:spcPct val="90000"/>
              </a:lnSpc>
              <a:spcBef>
                <a:spcPts val="720"/>
              </a:spcBef>
              <a:spcAft>
                <a:spcPts val="0"/>
              </a:spcAft>
              <a:buClr>
                <a:schemeClr val="dk1"/>
              </a:buClr>
              <a:buSzPts val="2400"/>
              <a:buNone/>
            </a:pPr>
            <a:r>
              <a:rPr b="0" lang="en-US" sz="5400">
                <a:latin typeface="Times New Roman"/>
                <a:ea typeface="Times New Roman"/>
                <a:cs typeface="Times New Roman"/>
                <a:sym typeface="Times New Roman"/>
              </a:rPr>
              <a:t>f</a:t>
            </a:r>
            <a:endParaRPr b="0" sz="8000">
              <a:latin typeface="Times New Roman"/>
              <a:ea typeface="Times New Roman"/>
              <a:cs typeface="Times New Roman"/>
              <a:sym typeface="Times New Roman"/>
            </a:endParaRPr>
          </a:p>
        </p:txBody>
      </p:sp>
      <p:sp>
        <p:nvSpPr>
          <p:cNvPr id="353" name="Google Shape;353;p23"/>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54" name="Google Shape;354;p23"/>
          <p:cNvSpPr txBox="1"/>
          <p:nvPr/>
        </p:nvSpPr>
        <p:spPr>
          <a:xfrm>
            <a:off x="0" y="471055"/>
            <a:ext cx="18288000" cy="1981200"/>
          </a:xfrm>
          <a:prstGeom prst="rect">
            <a:avLst/>
          </a:prstGeom>
          <a:noFill/>
          <a:ln>
            <a:noFill/>
          </a:ln>
        </p:spPr>
        <p:txBody>
          <a:bodyPr anchorCtr="0" anchor="ctr" bIns="68550" lIns="137125" spcFirstLastPara="1" rIns="137125" wrap="square" tIns="68550">
            <a:normAutofit/>
          </a:bodyPr>
          <a:lstStyle/>
          <a:p>
            <a:pPr indent="0" lvl="0" marL="0" marR="0" rtl="0" algn="ctr">
              <a:lnSpc>
                <a:spcPct val="90000"/>
              </a:lnSpc>
              <a:spcBef>
                <a:spcPts val="0"/>
              </a:spcBef>
              <a:spcAft>
                <a:spcPts val="0"/>
              </a:spcAft>
              <a:buClr>
                <a:schemeClr val="dk1"/>
              </a:buClr>
              <a:buSzPts val="4400"/>
              <a:buFont typeface="Calibri"/>
              <a:buNone/>
            </a:pPr>
            <a:r>
              <a:rPr b="1" i="0" lang="en-US" sz="4800" u="none" cap="none" strike="noStrike">
                <a:solidFill>
                  <a:srgbClr val="2E75B5"/>
                </a:solidFill>
                <a:latin typeface="Times New Roman"/>
                <a:ea typeface="Times New Roman"/>
                <a:cs typeface="Times New Roman"/>
                <a:sym typeface="Times New Roman"/>
              </a:rPr>
              <a:t>Closing a File</a:t>
            </a:r>
            <a:endParaRPr b="1" i="0" sz="4800" u="none" cap="none" strike="noStrike">
              <a:solidFill>
                <a:srgbClr val="2E75B5"/>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4"/>
          <p:cNvSpPr txBox="1"/>
          <p:nvPr>
            <p:ph type="title"/>
          </p:nvPr>
        </p:nvSpPr>
        <p:spPr>
          <a:xfrm>
            <a:off x="1" y="232178"/>
            <a:ext cx="18287999" cy="1482322"/>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File Object Attributes</a:t>
            </a:r>
            <a:endParaRPr b="1" sz="4800">
              <a:solidFill>
                <a:srgbClr val="2E75B5"/>
              </a:solidFill>
              <a:latin typeface="Times New Roman"/>
              <a:ea typeface="Times New Roman"/>
              <a:cs typeface="Times New Roman"/>
              <a:sym typeface="Times New Roman"/>
            </a:endParaRPr>
          </a:p>
        </p:txBody>
      </p:sp>
      <p:sp>
        <p:nvSpPr>
          <p:cNvPr id="360" name="Google Shape;360;p24"/>
          <p:cNvSpPr txBox="1"/>
          <p:nvPr>
            <p:ph idx="1" type="body"/>
          </p:nvPr>
        </p:nvSpPr>
        <p:spPr>
          <a:xfrm>
            <a:off x="630382" y="1866900"/>
            <a:ext cx="17221200" cy="2552700"/>
          </a:xfrm>
          <a:prstGeom prst="rect">
            <a:avLst/>
          </a:prstGeom>
          <a:noFill/>
          <a:ln>
            <a:noFill/>
          </a:ln>
        </p:spPr>
        <p:txBody>
          <a:bodyPr anchorCtr="0" anchor="t" bIns="68550" lIns="137125" spcFirstLastPara="1" rIns="137125" wrap="square" tIns="68550">
            <a:normAutofit/>
          </a:bodyPr>
          <a:lstStyle/>
          <a:p>
            <a:pPr indent="-342900" lvl="0" marL="342900" rtl="0" algn="l">
              <a:lnSpc>
                <a:spcPct val="90000"/>
              </a:lnSpc>
              <a:spcBef>
                <a:spcPts val="0"/>
              </a:spcBef>
              <a:spcAft>
                <a:spcPts val="0"/>
              </a:spcAft>
              <a:buClr>
                <a:schemeClr val="dk1"/>
              </a:buClr>
              <a:buSzPts val="3200"/>
              <a:buFont typeface="Noto Sans Symbols"/>
              <a:buChar char="⮚"/>
            </a:pPr>
            <a:r>
              <a:rPr lang="en-US" sz="3600">
                <a:latin typeface="Times New Roman"/>
                <a:ea typeface="Times New Roman"/>
                <a:cs typeface="Times New Roman"/>
                <a:sym typeface="Times New Roman"/>
              </a:rPr>
              <a:t>Once a file is opened and a file object created</a:t>
            </a:r>
            <a:endParaRPr sz="3600">
              <a:latin typeface="Times New Roman"/>
              <a:ea typeface="Times New Roman"/>
              <a:cs typeface="Times New Roman"/>
              <a:sym typeface="Times New Roman"/>
            </a:endParaRPr>
          </a:p>
          <a:p>
            <a:pPr indent="-342900" lvl="0" marL="342900" rtl="0" algn="l">
              <a:lnSpc>
                <a:spcPct val="90000"/>
              </a:lnSpc>
              <a:spcBef>
                <a:spcPts val="960"/>
              </a:spcBef>
              <a:spcAft>
                <a:spcPts val="0"/>
              </a:spcAft>
              <a:buClr>
                <a:schemeClr val="dk1"/>
              </a:buClr>
              <a:buSzPts val="3200"/>
              <a:buFont typeface="Noto Sans Symbols"/>
              <a:buChar char="⮚"/>
            </a:pPr>
            <a:r>
              <a:rPr lang="en-US" sz="3600">
                <a:latin typeface="Times New Roman"/>
                <a:ea typeface="Times New Roman"/>
                <a:cs typeface="Times New Roman"/>
                <a:sym typeface="Times New Roman"/>
              </a:rPr>
              <a:t>Various pieces of information about that file can be gathered by using some predefined attributes.</a:t>
            </a:r>
            <a:endParaRPr sz="3600">
              <a:latin typeface="Times New Roman"/>
              <a:ea typeface="Times New Roman"/>
              <a:cs typeface="Times New Roman"/>
              <a:sym typeface="Times New Roman"/>
            </a:endParaRPr>
          </a:p>
        </p:txBody>
      </p:sp>
      <p:pic>
        <p:nvPicPr>
          <p:cNvPr id="361" name="Google Shape;361;p24"/>
          <p:cNvPicPr preferRelativeResize="0"/>
          <p:nvPr/>
        </p:nvPicPr>
        <p:blipFill rotWithShape="1">
          <a:blip r:embed="rId3">
            <a:alphaModFix/>
          </a:blip>
          <a:srcRect b="0" l="0" r="0" t="0"/>
          <a:stretch/>
        </p:blipFill>
        <p:spPr>
          <a:xfrm>
            <a:off x="2895600" y="4170218"/>
            <a:ext cx="12988241" cy="5361709"/>
          </a:xfrm>
          <a:prstGeom prst="rect">
            <a:avLst/>
          </a:prstGeom>
          <a:solidFill>
            <a:srgbClr val="000000"/>
          </a:solidFill>
          <a:ln cap="sq" cmpd="sng" w="444500">
            <a:solidFill>
              <a:srgbClr val="B3C6E7"/>
            </a:solidFill>
            <a:prstDash val="solid"/>
            <a:miter lim="800000"/>
            <a:headEnd len="sm" w="sm" type="none"/>
            <a:tailEnd len="sm" w="sm" type="none"/>
          </a:ln>
          <a:effectLst>
            <a:outerShdw blurRad="254000" rotWithShape="0" algn="bl" dir="2700000" dist="190500" sy="90000">
              <a:srgbClr val="000000">
                <a:alpha val="40000"/>
              </a:srgbClr>
            </a:outerShdw>
          </a:effectLst>
        </p:spPr>
      </p:pic>
      <p:sp>
        <p:nvSpPr>
          <p:cNvPr id="362" name="Google Shape;362;p24"/>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5"/>
          <p:cNvSpPr/>
          <p:nvPr/>
        </p:nvSpPr>
        <p:spPr>
          <a:xfrm>
            <a:off x="3962400" y="6844145"/>
            <a:ext cx="5029200" cy="803564"/>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8" name="Google Shape;368;p25"/>
          <p:cNvSpPr txBox="1"/>
          <p:nvPr>
            <p:ph type="title"/>
          </p:nvPr>
        </p:nvSpPr>
        <p:spPr>
          <a:xfrm>
            <a:off x="1" y="1126428"/>
            <a:ext cx="18287999" cy="19812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Writing in a File</a:t>
            </a:r>
            <a:endParaRPr b="1" sz="4800">
              <a:solidFill>
                <a:srgbClr val="2E75B5"/>
              </a:solidFill>
              <a:latin typeface="Times New Roman"/>
              <a:ea typeface="Times New Roman"/>
              <a:cs typeface="Times New Roman"/>
              <a:sym typeface="Times New Roman"/>
            </a:endParaRPr>
          </a:p>
        </p:txBody>
      </p:sp>
      <p:sp>
        <p:nvSpPr>
          <p:cNvPr id="369" name="Google Shape;369;p25"/>
          <p:cNvSpPr txBox="1"/>
          <p:nvPr>
            <p:ph idx="1" type="body"/>
          </p:nvPr>
        </p:nvSpPr>
        <p:spPr>
          <a:xfrm>
            <a:off x="235527" y="3460173"/>
            <a:ext cx="17602200" cy="6520904"/>
          </a:xfrm>
          <a:prstGeom prst="rect">
            <a:avLst/>
          </a:prstGeom>
          <a:noFill/>
          <a:ln>
            <a:noFill/>
          </a:ln>
        </p:spPr>
        <p:txBody>
          <a:bodyPr anchorCtr="0" anchor="t" bIns="68550" lIns="137125" spcFirstLastPara="1" rIns="137125" wrap="square" tIns="68550">
            <a:normAutofit/>
          </a:bodyPr>
          <a:lstStyle/>
          <a:p>
            <a:pPr indent="-342900" lvl="0" marL="342900" rtl="0" algn="just">
              <a:lnSpc>
                <a:spcPct val="90000"/>
              </a:lnSpc>
              <a:spcBef>
                <a:spcPts val="0"/>
              </a:spcBef>
              <a:spcAft>
                <a:spcPts val="0"/>
              </a:spcAft>
              <a:buClr>
                <a:schemeClr val="dk1"/>
              </a:buClr>
              <a:buSzPts val="3200"/>
              <a:buFont typeface="Noto Sans Symbols"/>
              <a:buChar char="⮚"/>
            </a:pPr>
            <a:r>
              <a:rPr lang="en-US" sz="4000">
                <a:latin typeface="Times New Roman"/>
                <a:ea typeface="Times New Roman"/>
                <a:cs typeface="Times New Roman"/>
                <a:sym typeface="Times New Roman"/>
              </a:rPr>
              <a:t>open it with ‘w’ mode, or ‘a’ mode, or any writing-enabling mode. </a:t>
            </a:r>
            <a:endParaRPr sz="4000">
              <a:latin typeface="Times New Roman"/>
              <a:ea typeface="Times New Roman"/>
              <a:cs typeface="Times New Roman"/>
              <a:sym typeface="Times New Roman"/>
            </a:endParaRPr>
          </a:p>
          <a:p>
            <a:pPr indent="-342900" lvl="0" marL="342900" rtl="0" algn="just">
              <a:lnSpc>
                <a:spcPct val="90000"/>
              </a:lnSpc>
              <a:spcBef>
                <a:spcPts val="960"/>
              </a:spcBef>
              <a:spcAft>
                <a:spcPts val="0"/>
              </a:spcAft>
              <a:buClr>
                <a:schemeClr val="dk1"/>
              </a:buClr>
              <a:buSzPts val="3200"/>
              <a:buFont typeface="Noto Sans Symbols"/>
              <a:buChar char="⮚"/>
            </a:pPr>
            <a:r>
              <a:rPr lang="en-US" sz="4000">
                <a:latin typeface="Times New Roman"/>
                <a:ea typeface="Times New Roman"/>
                <a:cs typeface="Times New Roman"/>
                <a:sym typeface="Times New Roman"/>
              </a:rPr>
              <a:t>We should be careful when using the w mode because in this mode overwriting persists in case the file already exists.</a:t>
            </a:r>
            <a:endParaRPr sz="4000">
              <a:latin typeface="Times New Roman"/>
              <a:ea typeface="Times New Roman"/>
              <a:cs typeface="Times New Roman"/>
              <a:sym typeface="Times New Roman"/>
            </a:endParaRPr>
          </a:p>
          <a:p>
            <a:pPr indent="-209550" lvl="0" marL="514350" rtl="0" algn="just">
              <a:lnSpc>
                <a:spcPct val="90000"/>
              </a:lnSpc>
              <a:spcBef>
                <a:spcPts val="960"/>
              </a:spcBef>
              <a:spcAft>
                <a:spcPts val="0"/>
              </a:spcAft>
              <a:buClr>
                <a:schemeClr val="dk1"/>
              </a:buClr>
              <a:buSzPts val="3200"/>
              <a:buNone/>
            </a:pPr>
            <a:r>
              <a:t/>
            </a:r>
            <a:endParaRPr sz="4800">
              <a:latin typeface="Times New Roman"/>
              <a:ea typeface="Times New Roman"/>
              <a:cs typeface="Times New Roman"/>
              <a:sym typeface="Times New Roman"/>
            </a:endParaRPr>
          </a:p>
          <a:p>
            <a:pPr indent="0" lvl="0" marL="0" rtl="0" algn="l">
              <a:lnSpc>
                <a:spcPct val="90000"/>
              </a:lnSpc>
              <a:spcBef>
                <a:spcPts val="960"/>
              </a:spcBef>
              <a:spcAft>
                <a:spcPts val="0"/>
              </a:spcAft>
              <a:buClr>
                <a:schemeClr val="dk1"/>
              </a:buClr>
              <a:buSzPts val="3200"/>
              <a:buNone/>
            </a:pPr>
            <a:r>
              <a:rPr lang="en-US" sz="4400">
                <a:solidFill>
                  <a:srgbClr val="0C0C0C"/>
                </a:solidFill>
                <a:latin typeface="Times New Roman"/>
                <a:ea typeface="Times New Roman"/>
                <a:cs typeface="Times New Roman"/>
                <a:sym typeface="Times New Roman"/>
              </a:rPr>
              <a:t>              Syntax</a:t>
            </a:r>
            <a:br>
              <a:rPr lang="en-US" sz="4400">
                <a:solidFill>
                  <a:srgbClr val="0C0C0C"/>
                </a:solidFill>
                <a:latin typeface="Times New Roman"/>
                <a:ea typeface="Times New Roman"/>
                <a:cs typeface="Times New Roman"/>
                <a:sym typeface="Times New Roman"/>
              </a:rPr>
            </a:br>
            <a:r>
              <a:rPr lang="en-US" sz="4400">
                <a:solidFill>
                  <a:srgbClr val="0C0C0C"/>
                </a:solidFill>
                <a:latin typeface="Times New Roman"/>
                <a:ea typeface="Times New Roman"/>
                <a:cs typeface="Times New Roman"/>
                <a:sym typeface="Times New Roman"/>
              </a:rPr>
              <a:t>                          fileobject.write(string)</a:t>
            </a:r>
            <a:endParaRPr sz="4400">
              <a:solidFill>
                <a:srgbClr val="0C0C0C"/>
              </a:solidFill>
              <a:latin typeface="Times New Roman"/>
              <a:ea typeface="Times New Roman"/>
              <a:cs typeface="Times New Roman"/>
              <a:sym typeface="Times New Roman"/>
            </a:endParaRPr>
          </a:p>
        </p:txBody>
      </p:sp>
      <p:sp>
        <p:nvSpPr>
          <p:cNvPr id="370" name="Google Shape;370;p25"/>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6"/>
          <p:cNvSpPr txBox="1"/>
          <p:nvPr>
            <p:ph type="title"/>
          </p:nvPr>
        </p:nvSpPr>
        <p:spPr>
          <a:xfrm>
            <a:off x="0" y="346364"/>
            <a:ext cx="18288000" cy="871538"/>
          </a:xfrm>
          <a:prstGeom prst="rect">
            <a:avLst/>
          </a:prstGeom>
          <a:noFill/>
          <a:ln>
            <a:noFill/>
          </a:ln>
        </p:spPr>
        <p:txBody>
          <a:bodyPr anchorCtr="0" anchor="b" bIns="68550" lIns="137125" spcFirstLastPara="1" rIns="137125" wrap="square" tIns="68550">
            <a:normAutofit fontScale="90000"/>
          </a:bodyPr>
          <a:lstStyle/>
          <a:p>
            <a:pPr indent="0" lvl="0" marL="0" rtl="0" algn="ctr">
              <a:lnSpc>
                <a:spcPct val="90000"/>
              </a:lnSpc>
              <a:spcBef>
                <a:spcPts val="0"/>
              </a:spcBef>
              <a:spcAft>
                <a:spcPts val="0"/>
              </a:spcAft>
              <a:buClr>
                <a:schemeClr val="dk1"/>
              </a:buClr>
              <a:buSzPct val="47000"/>
              <a:buFont typeface="Calibri"/>
              <a:buNone/>
            </a:pPr>
            <a:r>
              <a:rPr b="1" lang="en-US" sz="6600">
                <a:solidFill>
                  <a:srgbClr val="2E75B5"/>
                </a:solidFill>
                <a:latin typeface="Times New Roman"/>
                <a:ea typeface="Times New Roman"/>
                <a:cs typeface="Times New Roman"/>
                <a:sym typeface="Times New Roman"/>
              </a:rPr>
              <a:t>Example</a:t>
            </a:r>
            <a:endParaRPr b="1" sz="6600">
              <a:solidFill>
                <a:srgbClr val="2E75B5"/>
              </a:solidFill>
              <a:latin typeface="Times New Roman"/>
              <a:ea typeface="Times New Roman"/>
              <a:cs typeface="Times New Roman"/>
              <a:sym typeface="Times New Roman"/>
            </a:endParaRPr>
          </a:p>
        </p:txBody>
      </p:sp>
      <p:sp>
        <p:nvSpPr>
          <p:cNvPr id="376" name="Google Shape;376;p26"/>
          <p:cNvSpPr txBox="1"/>
          <p:nvPr>
            <p:ph idx="1" type="body"/>
          </p:nvPr>
        </p:nvSpPr>
        <p:spPr>
          <a:xfrm>
            <a:off x="907473" y="1981200"/>
            <a:ext cx="9829800" cy="7772400"/>
          </a:xfrm>
          <a:prstGeom prst="rect">
            <a:avLst/>
          </a:prstGeom>
          <a:noFill/>
          <a:ln>
            <a:noFill/>
          </a:ln>
        </p:spPr>
        <p:txBody>
          <a:bodyPr anchorCtr="0" anchor="t" bIns="68550" lIns="137125" spcFirstLastPara="1" rIns="137125" wrap="square" tIns="68550">
            <a:noAutofit/>
          </a:bodyPr>
          <a:lstStyle/>
          <a:p>
            <a:pPr indent="0" lvl="0" marL="0" rtl="0" algn="l">
              <a:lnSpc>
                <a:spcPct val="90000"/>
              </a:lnSpc>
              <a:spcBef>
                <a:spcPts val="0"/>
              </a:spcBef>
              <a:spcAft>
                <a:spcPts val="0"/>
              </a:spcAft>
              <a:buClr>
                <a:schemeClr val="dk1"/>
              </a:buClr>
              <a:buSzPts val="2000"/>
              <a:buNone/>
            </a:pPr>
            <a:r>
              <a:rPr lang="en-US" sz="3600">
                <a:solidFill>
                  <a:srgbClr val="2E75B5"/>
                </a:solidFill>
                <a:latin typeface="Times New Roman"/>
                <a:ea typeface="Times New Roman"/>
                <a:cs typeface="Times New Roman"/>
                <a:sym typeface="Times New Roman"/>
              </a:rPr>
              <a:t># open the file with w mode</a:t>
            </a:r>
            <a:endParaRPr sz="3600">
              <a:solidFill>
                <a:srgbClr val="2E75B5"/>
              </a:solidFill>
              <a:latin typeface="Times New Roman"/>
              <a:ea typeface="Times New Roman"/>
              <a:cs typeface="Times New Roman"/>
              <a:sym typeface="Times New Roman"/>
            </a:endParaRPr>
          </a:p>
          <a:p>
            <a:pPr indent="0" lvl="0" marL="0" rtl="0" algn="l">
              <a:lnSpc>
                <a:spcPct val="90000"/>
              </a:lnSpc>
              <a:spcBef>
                <a:spcPts val="600"/>
              </a:spcBef>
              <a:spcAft>
                <a:spcPts val="0"/>
              </a:spcAft>
              <a:buClr>
                <a:schemeClr val="dk1"/>
              </a:buClr>
              <a:buSzPts val="2000"/>
              <a:buNone/>
            </a:pPr>
            <a:r>
              <a:rPr lang="en-US" sz="3600">
                <a:latin typeface="Times New Roman"/>
                <a:ea typeface="Times New Roman"/>
                <a:cs typeface="Times New Roman"/>
                <a:sym typeface="Times New Roman"/>
              </a:rPr>
              <a:t>f = open("test_write.txt",'w’)</a:t>
            </a:r>
            <a:endParaRPr sz="3600">
              <a:latin typeface="Times New Roman"/>
              <a:ea typeface="Times New Roman"/>
              <a:cs typeface="Times New Roman"/>
              <a:sym typeface="Times New Roman"/>
            </a:endParaRPr>
          </a:p>
          <a:p>
            <a:pPr indent="0" lvl="0" marL="0" rtl="0" algn="l">
              <a:lnSpc>
                <a:spcPct val="90000"/>
              </a:lnSpc>
              <a:spcBef>
                <a:spcPts val="600"/>
              </a:spcBef>
              <a:spcAft>
                <a:spcPts val="0"/>
              </a:spcAft>
              <a:buClr>
                <a:schemeClr val="dk1"/>
              </a:buClr>
              <a:buSzPts val="2000"/>
              <a:buNone/>
            </a:pPr>
            <a:r>
              <a:t/>
            </a:r>
            <a:endParaRPr sz="3600">
              <a:latin typeface="Times New Roman"/>
              <a:ea typeface="Times New Roman"/>
              <a:cs typeface="Times New Roman"/>
              <a:sym typeface="Times New Roman"/>
            </a:endParaRPr>
          </a:p>
          <a:p>
            <a:pPr indent="0" lvl="0" marL="0" rtl="0" algn="l">
              <a:lnSpc>
                <a:spcPct val="90000"/>
              </a:lnSpc>
              <a:spcBef>
                <a:spcPts val="600"/>
              </a:spcBef>
              <a:spcAft>
                <a:spcPts val="0"/>
              </a:spcAft>
              <a:buClr>
                <a:schemeClr val="dk1"/>
              </a:buClr>
              <a:buSzPts val="2000"/>
              <a:buNone/>
            </a:pPr>
            <a:r>
              <a:rPr lang="en-US" sz="3600">
                <a:solidFill>
                  <a:srgbClr val="2E75B5"/>
                </a:solidFill>
                <a:latin typeface="Times New Roman"/>
                <a:ea typeface="Times New Roman"/>
                <a:cs typeface="Times New Roman"/>
                <a:sym typeface="Times New Roman"/>
              </a:rPr>
              <a:t># perform write operation</a:t>
            </a:r>
            <a:endParaRPr sz="3600">
              <a:solidFill>
                <a:srgbClr val="2E75B5"/>
              </a:solidFill>
              <a:latin typeface="Times New Roman"/>
              <a:ea typeface="Times New Roman"/>
              <a:cs typeface="Times New Roman"/>
              <a:sym typeface="Times New Roman"/>
            </a:endParaRPr>
          </a:p>
          <a:p>
            <a:pPr indent="0" lvl="0" marL="0" rtl="0" algn="l">
              <a:lnSpc>
                <a:spcPct val="90000"/>
              </a:lnSpc>
              <a:spcBef>
                <a:spcPts val="600"/>
              </a:spcBef>
              <a:spcAft>
                <a:spcPts val="0"/>
              </a:spcAft>
              <a:buClr>
                <a:schemeClr val="dk1"/>
              </a:buClr>
              <a:buSzPts val="2000"/>
              <a:buNone/>
            </a:pPr>
            <a:r>
              <a:rPr lang="en-US" sz="3600">
                <a:latin typeface="Times New Roman"/>
                <a:ea typeface="Times New Roman"/>
                <a:cs typeface="Times New Roman"/>
                <a:sym typeface="Times New Roman"/>
              </a:rPr>
              <a:t>f.write('Hello All 1\n')</a:t>
            </a:r>
            <a:endParaRPr sz="3600">
              <a:latin typeface="Times New Roman"/>
              <a:ea typeface="Times New Roman"/>
              <a:cs typeface="Times New Roman"/>
              <a:sym typeface="Times New Roman"/>
            </a:endParaRPr>
          </a:p>
          <a:p>
            <a:pPr indent="0" lvl="0" marL="0" rtl="0" algn="l">
              <a:lnSpc>
                <a:spcPct val="90000"/>
              </a:lnSpc>
              <a:spcBef>
                <a:spcPts val="600"/>
              </a:spcBef>
              <a:spcAft>
                <a:spcPts val="0"/>
              </a:spcAft>
              <a:buClr>
                <a:schemeClr val="dk1"/>
              </a:buClr>
              <a:buSzPts val="2000"/>
              <a:buNone/>
            </a:pPr>
            <a:r>
              <a:rPr lang="en-US" sz="3600">
                <a:latin typeface="Times New Roman"/>
                <a:ea typeface="Times New Roman"/>
                <a:cs typeface="Times New Roman"/>
                <a:sym typeface="Times New Roman"/>
              </a:rPr>
              <a:t>f.write('Welcome to DSU 2\n')</a:t>
            </a:r>
            <a:endParaRPr sz="3600">
              <a:latin typeface="Times New Roman"/>
              <a:ea typeface="Times New Roman"/>
              <a:cs typeface="Times New Roman"/>
              <a:sym typeface="Times New Roman"/>
            </a:endParaRPr>
          </a:p>
          <a:p>
            <a:pPr indent="0" lvl="0" marL="0" rtl="0" algn="l">
              <a:lnSpc>
                <a:spcPct val="90000"/>
              </a:lnSpc>
              <a:spcBef>
                <a:spcPts val="600"/>
              </a:spcBef>
              <a:spcAft>
                <a:spcPts val="0"/>
              </a:spcAft>
              <a:buClr>
                <a:schemeClr val="dk1"/>
              </a:buClr>
              <a:buSzPts val="2000"/>
              <a:buNone/>
            </a:pPr>
            <a:r>
              <a:rPr lang="en-US" sz="3600">
                <a:latin typeface="Times New Roman"/>
                <a:ea typeface="Times New Roman"/>
                <a:cs typeface="Times New Roman"/>
                <a:sym typeface="Times New Roman"/>
              </a:rPr>
              <a:t>f.write('This is our Python class 3\n')</a:t>
            </a:r>
            <a:endParaRPr sz="3600">
              <a:latin typeface="Times New Roman"/>
              <a:ea typeface="Times New Roman"/>
              <a:cs typeface="Times New Roman"/>
              <a:sym typeface="Times New Roman"/>
            </a:endParaRPr>
          </a:p>
          <a:p>
            <a:pPr indent="0" lvl="0" marL="0" rtl="0" algn="l">
              <a:lnSpc>
                <a:spcPct val="90000"/>
              </a:lnSpc>
              <a:spcBef>
                <a:spcPts val="600"/>
              </a:spcBef>
              <a:spcAft>
                <a:spcPts val="0"/>
              </a:spcAft>
              <a:buClr>
                <a:schemeClr val="dk1"/>
              </a:buClr>
              <a:buSzPts val="2000"/>
              <a:buNone/>
            </a:pPr>
            <a:r>
              <a:rPr lang="en-US" sz="3600">
                <a:latin typeface="Times New Roman"/>
                <a:ea typeface="Times New Roman"/>
                <a:cs typeface="Times New Roman"/>
                <a:sym typeface="Times New Roman"/>
              </a:rPr>
              <a:t>f.write('It is an interesting programming language')</a:t>
            </a:r>
            <a:endParaRPr sz="3600">
              <a:latin typeface="Times New Roman"/>
              <a:ea typeface="Times New Roman"/>
              <a:cs typeface="Times New Roman"/>
              <a:sym typeface="Times New Roman"/>
            </a:endParaRPr>
          </a:p>
          <a:p>
            <a:pPr indent="0" lvl="0" marL="0" rtl="0" algn="l">
              <a:lnSpc>
                <a:spcPct val="90000"/>
              </a:lnSpc>
              <a:spcBef>
                <a:spcPts val="600"/>
              </a:spcBef>
              <a:spcAft>
                <a:spcPts val="0"/>
              </a:spcAft>
              <a:buClr>
                <a:schemeClr val="dk1"/>
              </a:buClr>
              <a:buSzPts val="2000"/>
              <a:buNone/>
            </a:pPr>
            <a:r>
              <a:t/>
            </a:r>
            <a:endParaRPr sz="3600">
              <a:solidFill>
                <a:srgbClr val="2E75B5"/>
              </a:solidFill>
              <a:latin typeface="Times New Roman"/>
              <a:ea typeface="Times New Roman"/>
              <a:cs typeface="Times New Roman"/>
              <a:sym typeface="Times New Roman"/>
            </a:endParaRPr>
          </a:p>
          <a:p>
            <a:pPr indent="0" lvl="0" marL="0" rtl="0" algn="l">
              <a:lnSpc>
                <a:spcPct val="90000"/>
              </a:lnSpc>
              <a:spcBef>
                <a:spcPts val="600"/>
              </a:spcBef>
              <a:spcAft>
                <a:spcPts val="0"/>
              </a:spcAft>
              <a:buClr>
                <a:schemeClr val="dk1"/>
              </a:buClr>
              <a:buSzPts val="2000"/>
              <a:buNone/>
            </a:pPr>
            <a:r>
              <a:rPr lang="en-US" sz="3600">
                <a:solidFill>
                  <a:srgbClr val="2E75B5"/>
                </a:solidFill>
                <a:latin typeface="Times New Roman"/>
                <a:ea typeface="Times New Roman"/>
                <a:cs typeface="Times New Roman"/>
                <a:sym typeface="Times New Roman"/>
              </a:rPr>
              <a:t># close the file after writing</a:t>
            </a:r>
            <a:endParaRPr sz="3600">
              <a:solidFill>
                <a:srgbClr val="2E75B5"/>
              </a:solidFill>
              <a:latin typeface="Times New Roman"/>
              <a:ea typeface="Times New Roman"/>
              <a:cs typeface="Times New Roman"/>
              <a:sym typeface="Times New Roman"/>
            </a:endParaRPr>
          </a:p>
          <a:p>
            <a:pPr indent="0" lvl="0" marL="0" rtl="0" algn="l">
              <a:lnSpc>
                <a:spcPct val="90000"/>
              </a:lnSpc>
              <a:spcBef>
                <a:spcPts val="600"/>
              </a:spcBef>
              <a:spcAft>
                <a:spcPts val="0"/>
              </a:spcAft>
              <a:buClr>
                <a:schemeClr val="dk1"/>
              </a:buClr>
              <a:buSzPts val="2000"/>
              <a:buNone/>
            </a:pPr>
            <a:r>
              <a:rPr lang="en-US" sz="3600">
                <a:latin typeface="Times New Roman"/>
                <a:ea typeface="Times New Roman"/>
                <a:cs typeface="Times New Roman"/>
                <a:sym typeface="Times New Roman"/>
              </a:rPr>
              <a:t>f.close()</a:t>
            </a:r>
            <a:endParaRPr sz="3600">
              <a:latin typeface="Times New Roman"/>
              <a:ea typeface="Times New Roman"/>
              <a:cs typeface="Times New Roman"/>
              <a:sym typeface="Times New Roman"/>
            </a:endParaRPr>
          </a:p>
        </p:txBody>
      </p:sp>
      <p:pic>
        <p:nvPicPr>
          <p:cNvPr id="377" name="Google Shape;377;p26"/>
          <p:cNvPicPr preferRelativeResize="0"/>
          <p:nvPr/>
        </p:nvPicPr>
        <p:blipFill rotWithShape="1">
          <a:blip r:embed="rId3">
            <a:alphaModFix/>
          </a:blip>
          <a:srcRect b="0" l="0" r="0" t="0"/>
          <a:stretch/>
        </p:blipFill>
        <p:spPr>
          <a:xfrm>
            <a:off x="11125200" y="3048000"/>
            <a:ext cx="6286500" cy="4394055"/>
          </a:xfrm>
          <a:prstGeom prst="rect">
            <a:avLst/>
          </a:prstGeom>
          <a:noFill/>
          <a:ln>
            <a:noFill/>
          </a:ln>
        </p:spPr>
      </p:pic>
      <p:sp>
        <p:nvSpPr>
          <p:cNvPr id="378" name="Google Shape;378;p26"/>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7"/>
          <p:cNvSpPr/>
          <p:nvPr/>
        </p:nvSpPr>
        <p:spPr>
          <a:xfrm>
            <a:off x="12579927" y="4890655"/>
            <a:ext cx="1510146" cy="706581"/>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4" name="Google Shape;384;p27"/>
          <p:cNvSpPr/>
          <p:nvPr/>
        </p:nvSpPr>
        <p:spPr>
          <a:xfrm>
            <a:off x="10681855" y="2701636"/>
            <a:ext cx="2105890" cy="665019"/>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5" name="Google Shape;385;p27"/>
          <p:cNvSpPr txBox="1"/>
          <p:nvPr>
            <p:ph type="title"/>
          </p:nvPr>
        </p:nvSpPr>
        <p:spPr>
          <a:xfrm>
            <a:off x="0" y="803565"/>
            <a:ext cx="18288000" cy="1257300"/>
          </a:xfrm>
          <a:prstGeom prst="rect">
            <a:avLst/>
          </a:prstGeom>
          <a:noFill/>
          <a:ln>
            <a:noFill/>
          </a:ln>
        </p:spPr>
        <p:txBody>
          <a:bodyPr anchorCtr="0" anchor="b" bIns="68550" lIns="137125" spcFirstLastPara="1" rIns="137125" wrap="square" tIns="68550">
            <a:normAutofit/>
          </a:bodyPr>
          <a:lstStyle/>
          <a:p>
            <a:pPr indent="0" lvl="0" marL="0" rtl="0" algn="ctr">
              <a:lnSpc>
                <a:spcPct val="90000"/>
              </a:lnSpc>
              <a:spcBef>
                <a:spcPts val="0"/>
              </a:spcBef>
              <a:spcAft>
                <a:spcPts val="0"/>
              </a:spcAft>
              <a:buClr>
                <a:schemeClr val="dk1"/>
              </a:buClr>
              <a:buSzPts val="3200"/>
              <a:buFont typeface="Calibri"/>
              <a:buNone/>
            </a:pPr>
            <a:r>
              <a:rPr b="1" lang="en-US">
                <a:solidFill>
                  <a:srgbClr val="2E75B5"/>
                </a:solidFill>
                <a:latin typeface="Times New Roman"/>
                <a:ea typeface="Times New Roman"/>
                <a:cs typeface="Times New Roman"/>
                <a:sym typeface="Times New Roman"/>
              </a:rPr>
              <a:t>Reading from File </a:t>
            </a:r>
            <a:endParaRPr b="1">
              <a:solidFill>
                <a:srgbClr val="2E75B5"/>
              </a:solidFill>
              <a:latin typeface="Times New Roman"/>
              <a:ea typeface="Times New Roman"/>
              <a:cs typeface="Times New Roman"/>
              <a:sym typeface="Times New Roman"/>
            </a:endParaRPr>
          </a:p>
        </p:txBody>
      </p:sp>
      <p:sp>
        <p:nvSpPr>
          <p:cNvPr id="386" name="Google Shape;386;p27"/>
          <p:cNvSpPr txBox="1"/>
          <p:nvPr>
            <p:ph idx="2" type="body"/>
          </p:nvPr>
        </p:nvSpPr>
        <p:spPr>
          <a:xfrm>
            <a:off x="297873" y="2615046"/>
            <a:ext cx="17602200" cy="8762999"/>
          </a:xfrm>
          <a:prstGeom prst="rect">
            <a:avLst/>
          </a:prstGeom>
          <a:noFill/>
          <a:ln>
            <a:noFill/>
          </a:ln>
        </p:spPr>
        <p:txBody>
          <a:bodyPr anchorCtr="0" anchor="t" bIns="68550" lIns="137125" spcFirstLastPara="1" rIns="137125" wrap="square" tIns="68550">
            <a:noAutofit/>
          </a:bodyPr>
          <a:lstStyle/>
          <a:p>
            <a:pPr indent="-685800" lvl="0" marL="685800" rtl="0" algn="l">
              <a:lnSpc>
                <a:spcPct val="90000"/>
              </a:lnSpc>
              <a:spcBef>
                <a:spcPts val="0"/>
              </a:spcBef>
              <a:spcAft>
                <a:spcPts val="0"/>
              </a:spcAft>
              <a:buClr>
                <a:schemeClr val="dk1"/>
              </a:buClr>
              <a:buSzPts val="2400"/>
              <a:buFont typeface="Noto Sans Symbols"/>
              <a:buChar char="⮚"/>
            </a:pPr>
            <a:r>
              <a:rPr lang="en-US" sz="4800">
                <a:latin typeface="Times New Roman"/>
                <a:ea typeface="Times New Roman"/>
                <a:cs typeface="Times New Roman"/>
                <a:sym typeface="Times New Roman"/>
              </a:rPr>
              <a:t>Must open the file in the reading mode (r mode).</a:t>
            </a:r>
            <a:endParaRPr sz="4800">
              <a:latin typeface="Times New Roman"/>
              <a:ea typeface="Times New Roman"/>
              <a:cs typeface="Times New Roman"/>
              <a:sym typeface="Times New Roman"/>
            </a:endParaRPr>
          </a:p>
          <a:p>
            <a:pPr indent="-685800" lvl="0" marL="685800" rtl="0" algn="l">
              <a:lnSpc>
                <a:spcPct val="90000"/>
              </a:lnSpc>
              <a:spcBef>
                <a:spcPts val="720"/>
              </a:spcBef>
              <a:spcAft>
                <a:spcPts val="0"/>
              </a:spcAft>
              <a:buClr>
                <a:schemeClr val="dk1"/>
              </a:buClr>
              <a:buSzPts val="2400"/>
              <a:buFont typeface="Noto Sans Symbols"/>
              <a:buChar char="⮚"/>
            </a:pPr>
            <a:r>
              <a:rPr lang="en-US" sz="4800">
                <a:latin typeface="Times New Roman"/>
                <a:ea typeface="Times New Roman"/>
                <a:cs typeface="Times New Roman"/>
                <a:sym typeface="Times New Roman"/>
              </a:rPr>
              <a:t>We can use read(size) method to read the data specified by size. </a:t>
            </a:r>
            <a:endParaRPr sz="4800">
              <a:latin typeface="Times New Roman"/>
              <a:ea typeface="Times New Roman"/>
              <a:cs typeface="Times New Roman"/>
              <a:sym typeface="Times New Roman"/>
            </a:endParaRPr>
          </a:p>
          <a:p>
            <a:pPr indent="-685800" lvl="0" marL="685800" rtl="0" algn="l">
              <a:lnSpc>
                <a:spcPct val="90000"/>
              </a:lnSpc>
              <a:spcBef>
                <a:spcPts val="720"/>
              </a:spcBef>
              <a:spcAft>
                <a:spcPts val="0"/>
              </a:spcAft>
              <a:buClr>
                <a:schemeClr val="dk1"/>
              </a:buClr>
              <a:buSzPts val="2400"/>
              <a:buFont typeface="Noto Sans Symbols"/>
              <a:buChar char="⮚"/>
            </a:pPr>
            <a:r>
              <a:rPr lang="en-US" sz="4800">
                <a:latin typeface="Times New Roman"/>
                <a:ea typeface="Times New Roman"/>
                <a:cs typeface="Times New Roman"/>
                <a:sym typeface="Times New Roman"/>
              </a:rPr>
              <a:t>If no size is provided, it will end up reading to the end of the file.</a:t>
            </a:r>
            <a:endParaRPr sz="4800">
              <a:latin typeface="Times New Roman"/>
              <a:ea typeface="Times New Roman"/>
              <a:cs typeface="Times New Roman"/>
              <a:sym typeface="Times New Roman"/>
            </a:endParaRPr>
          </a:p>
          <a:p>
            <a:pPr indent="-685800" lvl="0" marL="685800" rtl="0" algn="l">
              <a:lnSpc>
                <a:spcPct val="90000"/>
              </a:lnSpc>
              <a:spcBef>
                <a:spcPts val="720"/>
              </a:spcBef>
              <a:spcAft>
                <a:spcPts val="0"/>
              </a:spcAft>
              <a:buClr>
                <a:schemeClr val="dk1"/>
              </a:buClr>
              <a:buSzPts val="2400"/>
              <a:buFont typeface="Noto Sans Symbols"/>
              <a:buChar char="⮚"/>
            </a:pPr>
            <a:r>
              <a:rPr lang="en-US" sz="4800">
                <a:latin typeface="Times New Roman"/>
                <a:ea typeface="Times New Roman"/>
                <a:cs typeface="Times New Roman"/>
                <a:sym typeface="Times New Roman"/>
              </a:rPr>
              <a:t>Reading from any file is done with the method read(). </a:t>
            </a:r>
            <a:endParaRPr sz="4800">
              <a:latin typeface="Times New Roman"/>
              <a:ea typeface="Times New Roman"/>
              <a:cs typeface="Times New Roman"/>
              <a:sym typeface="Times New Roman"/>
            </a:endParaRPr>
          </a:p>
          <a:p>
            <a:pPr indent="-685800" lvl="0" marL="685800" rtl="0" algn="l">
              <a:lnSpc>
                <a:spcPct val="90000"/>
              </a:lnSpc>
              <a:spcBef>
                <a:spcPts val="720"/>
              </a:spcBef>
              <a:spcAft>
                <a:spcPts val="0"/>
              </a:spcAft>
              <a:buClr>
                <a:schemeClr val="dk1"/>
              </a:buClr>
              <a:buSzPts val="2400"/>
              <a:buFont typeface="Noto Sans Symbols"/>
              <a:buChar char="⮚"/>
            </a:pPr>
            <a:r>
              <a:rPr lang="en-US" sz="4800">
                <a:latin typeface="Times New Roman"/>
                <a:ea typeface="Times New Roman"/>
                <a:cs typeface="Times New Roman"/>
                <a:sym typeface="Times New Roman"/>
              </a:rPr>
              <a:t>The read() method enables us to read the strings from an opened file.</a:t>
            </a:r>
            <a:endParaRPr sz="4800">
              <a:latin typeface="Times New Roman"/>
              <a:ea typeface="Times New Roman"/>
              <a:cs typeface="Times New Roman"/>
              <a:sym typeface="Times New Roman"/>
            </a:endParaRPr>
          </a:p>
        </p:txBody>
      </p:sp>
      <p:sp>
        <p:nvSpPr>
          <p:cNvPr id="387" name="Google Shape;387;p2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8"/>
          <p:cNvSpPr txBox="1"/>
          <p:nvPr/>
        </p:nvSpPr>
        <p:spPr>
          <a:xfrm>
            <a:off x="5160819" y="2926773"/>
            <a:ext cx="10591800" cy="5791200"/>
          </a:xfrm>
          <a:prstGeom prst="rect">
            <a:avLst/>
          </a:prstGeom>
          <a:noFill/>
          <a:ln>
            <a:noFill/>
          </a:ln>
        </p:spPr>
        <p:txBody>
          <a:bodyPr anchorCtr="0" anchor="t" bIns="68550" lIns="137125" spcFirstLastPara="1" rIns="137125" wrap="square" tIns="68550">
            <a:normAutofit/>
          </a:bodyPr>
          <a:lstStyle/>
          <a:p>
            <a:pPr indent="0" lvl="0" marL="0" marR="0" rtl="0" algn="just">
              <a:lnSpc>
                <a:spcPct val="90000"/>
              </a:lnSpc>
              <a:spcBef>
                <a:spcPts val="0"/>
              </a:spcBef>
              <a:spcAft>
                <a:spcPts val="0"/>
              </a:spcAft>
              <a:buClr>
                <a:schemeClr val="dk1"/>
              </a:buClr>
              <a:buSzPts val="2000"/>
              <a:buFont typeface="Arial"/>
              <a:buNone/>
            </a:pPr>
            <a:r>
              <a:rPr b="0" i="0" lang="en-US" sz="4800" u="none" cap="none" strike="noStrike">
                <a:solidFill>
                  <a:srgbClr val="2E75B5"/>
                </a:solidFill>
                <a:latin typeface="Times New Roman"/>
                <a:ea typeface="Times New Roman"/>
                <a:cs typeface="Times New Roman"/>
                <a:sym typeface="Times New Roman"/>
              </a:rPr>
              <a:t>#Reading from a file</a:t>
            </a:r>
            <a:endParaRPr/>
          </a:p>
          <a:p>
            <a:pPr indent="0" lvl="0" marL="0" marR="0" rtl="0" algn="just">
              <a:lnSpc>
                <a:spcPct val="90000"/>
              </a:lnSpc>
              <a:spcBef>
                <a:spcPts val="0"/>
              </a:spcBef>
              <a:spcAft>
                <a:spcPts val="0"/>
              </a:spcAft>
              <a:buClr>
                <a:schemeClr val="dk1"/>
              </a:buClr>
              <a:buSzPts val="2000"/>
              <a:buFont typeface="Arial"/>
              <a:buNone/>
            </a:pPr>
            <a:r>
              <a:t/>
            </a:r>
            <a:endParaRPr b="0" i="0" sz="1400" u="none" cap="none" strike="noStrike">
              <a:solidFill>
                <a:srgbClr val="2E75B5"/>
              </a:solidFill>
              <a:latin typeface="Times New Roman"/>
              <a:ea typeface="Times New Roman"/>
              <a:cs typeface="Times New Roman"/>
              <a:sym typeface="Times New Roman"/>
            </a:endParaRPr>
          </a:p>
          <a:p>
            <a:pPr indent="0" lvl="0" marL="0" marR="0" rtl="0" algn="just">
              <a:lnSpc>
                <a:spcPct val="90000"/>
              </a:lnSpc>
              <a:spcBef>
                <a:spcPts val="600"/>
              </a:spcBef>
              <a:spcAft>
                <a:spcPts val="0"/>
              </a:spcAft>
              <a:buClr>
                <a:schemeClr val="dk1"/>
              </a:buClr>
              <a:buSzPts val="2000"/>
              <a:buFont typeface="Arial"/>
              <a:buNone/>
            </a:pPr>
            <a:r>
              <a:rPr b="0" i="0" lang="en-US" sz="4800" u="none" cap="none" strike="noStrike">
                <a:solidFill>
                  <a:schemeClr val="dk1"/>
                </a:solidFill>
                <a:latin typeface="Times New Roman"/>
                <a:ea typeface="Times New Roman"/>
                <a:cs typeface="Times New Roman"/>
                <a:sym typeface="Times New Roman"/>
              </a:rPr>
              <a:t>f = open("test_write.txt",'r')</a:t>
            </a:r>
            <a:endParaRPr b="0" i="0" sz="1400" u="none" cap="none" strike="noStrike">
              <a:solidFill>
                <a:srgbClr val="000000"/>
              </a:solidFill>
              <a:latin typeface="Times New Roman"/>
              <a:ea typeface="Times New Roman"/>
              <a:cs typeface="Times New Roman"/>
              <a:sym typeface="Times New Roman"/>
            </a:endParaRPr>
          </a:p>
          <a:p>
            <a:pPr indent="0" lvl="0" marL="0" marR="0" rtl="0" algn="just">
              <a:lnSpc>
                <a:spcPct val="90000"/>
              </a:lnSpc>
              <a:spcBef>
                <a:spcPts val="600"/>
              </a:spcBef>
              <a:spcAft>
                <a:spcPts val="0"/>
              </a:spcAft>
              <a:buClr>
                <a:schemeClr val="dk1"/>
              </a:buClr>
              <a:buSzPts val="2000"/>
              <a:buFont typeface="Arial"/>
              <a:buNone/>
            </a:pPr>
            <a:r>
              <a:rPr b="0" i="0" lang="en-US" sz="4800" u="none" cap="none" strike="noStrike">
                <a:solidFill>
                  <a:schemeClr val="dk1"/>
                </a:solidFill>
                <a:latin typeface="Times New Roman"/>
                <a:ea typeface="Times New Roman"/>
                <a:cs typeface="Times New Roman"/>
                <a:sym typeface="Times New Roman"/>
              </a:rPr>
              <a:t>f.read(5)</a:t>
            </a:r>
            <a:endParaRPr b="0" i="0" sz="1400" u="none" cap="none" strike="noStrike">
              <a:solidFill>
                <a:srgbClr val="000000"/>
              </a:solidFill>
              <a:latin typeface="Times New Roman"/>
              <a:ea typeface="Times New Roman"/>
              <a:cs typeface="Times New Roman"/>
              <a:sym typeface="Times New Roman"/>
            </a:endParaRPr>
          </a:p>
          <a:p>
            <a:pPr indent="0" lvl="0" marL="0" marR="0" rtl="0" algn="just">
              <a:lnSpc>
                <a:spcPct val="90000"/>
              </a:lnSpc>
              <a:spcBef>
                <a:spcPts val="600"/>
              </a:spcBef>
              <a:spcAft>
                <a:spcPts val="0"/>
              </a:spcAft>
              <a:buClr>
                <a:schemeClr val="dk1"/>
              </a:buClr>
              <a:buSzPts val="2000"/>
              <a:buFont typeface="Arial"/>
              <a:buNone/>
            </a:pPr>
            <a:r>
              <a:rPr b="0" i="0" lang="en-US" sz="4800" u="none" cap="none" strike="noStrike">
                <a:solidFill>
                  <a:schemeClr val="dk1"/>
                </a:solidFill>
                <a:latin typeface="Times New Roman"/>
                <a:ea typeface="Times New Roman"/>
                <a:cs typeface="Times New Roman"/>
                <a:sym typeface="Times New Roman"/>
              </a:rPr>
              <a:t>f.read(7)</a:t>
            </a:r>
            <a:endParaRPr b="0" i="0" sz="1400" u="none" cap="none" strike="noStrike">
              <a:solidFill>
                <a:srgbClr val="000000"/>
              </a:solidFill>
              <a:latin typeface="Times New Roman"/>
              <a:ea typeface="Times New Roman"/>
              <a:cs typeface="Times New Roman"/>
              <a:sym typeface="Times New Roman"/>
            </a:endParaRPr>
          </a:p>
          <a:p>
            <a:pPr indent="0" lvl="0" marL="0" marR="0" rtl="0" algn="just">
              <a:lnSpc>
                <a:spcPct val="90000"/>
              </a:lnSpc>
              <a:spcBef>
                <a:spcPts val="600"/>
              </a:spcBef>
              <a:spcAft>
                <a:spcPts val="0"/>
              </a:spcAft>
              <a:buClr>
                <a:schemeClr val="dk1"/>
              </a:buClr>
              <a:buSzPts val="2000"/>
              <a:buFont typeface="Arial"/>
              <a:buNone/>
            </a:pPr>
            <a:r>
              <a:rPr b="0" i="0" lang="en-US" sz="4800" u="none" cap="none" strike="noStrike">
                <a:solidFill>
                  <a:schemeClr val="dk1"/>
                </a:solidFill>
                <a:latin typeface="Times New Roman"/>
                <a:ea typeface="Times New Roman"/>
                <a:cs typeface="Times New Roman"/>
                <a:sym typeface="Times New Roman"/>
              </a:rPr>
              <a:t>f.read()</a:t>
            </a:r>
            <a:endParaRPr b="0" i="0" sz="1400" u="none" cap="none" strike="noStrike">
              <a:solidFill>
                <a:srgbClr val="000000"/>
              </a:solidFill>
              <a:latin typeface="Times New Roman"/>
              <a:ea typeface="Times New Roman"/>
              <a:cs typeface="Times New Roman"/>
              <a:sym typeface="Times New Roman"/>
            </a:endParaRPr>
          </a:p>
        </p:txBody>
      </p:sp>
      <p:sp>
        <p:nvSpPr>
          <p:cNvPr id="393" name="Google Shape;393;p28"/>
          <p:cNvSpPr txBox="1"/>
          <p:nvPr/>
        </p:nvSpPr>
        <p:spPr>
          <a:xfrm>
            <a:off x="1517073" y="1710050"/>
            <a:ext cx="8305800" cy="101562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rgbClr val="2E75B5"/>
                </a:solidFill>
                <a:latin typeface="Times New Roman"/>
                <a:ea typeface="Times New Roman"/>
                <a:cs typeface="Times New Roman"/>
                <a:sym typeface="Times New Roman"/>
              </a:rPr>
              <a:t>Example</a:t>
            </a:r>
            <a:endParaRPr b="0" i="0" sz="6000" u="none" cap="none" strike="noStrike">
              <a:solidFill>
                <a:srgbClr val="2E75B5"/>
              </a:solidFill>
              <a:latin typeface="Times New Roman"/>
              <a:ea typeface="Times New Roman"/>
              <a:cs typeface="Times New Roman"/>
              <a:sym typeface="Times New Roman"/>
            </a:endParaRPr>
          </a:p>
        </p:txBody>
      </p:sp>
      <p:sp>
        <p:nvSpPr>
          <p:cNvPr id="394" name="Google Shape;394;p28"/>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9"/>
          <p:cNvSpPr/>
          <p:nvPr/>
        </p:nvSpPr>
        <p:spPr>
          <a:xfrm>
            <a:off x="2161309" y="5430982"/>
            <a:ext cx="6525491" cy="1565563"/>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00" name="Google Shape;400;p29"/>
          <p:cNvSpPr txBox="1"/>
          <p:nvPr>
            <p:ph idx="1" type="body"/>
          </p:nvPr>
        </p:nvSpPr>
        <p:spPr>
          <a:xfrm>
            <a:off x="1260764" y="2412601"/>
            <a:ext cx="15572509" cy="7524571"/>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readline() is a method of reading a file line by line. Whenever we write fileobject.readline().</a:t>
            </a:r>
            <a:endParaRPr sz="4500">
              <a:latin typeface="Times New Roman"/>
              <a:ea typeface="Times New Roman"/>
              <a:cs typeface="Times New Roman"/>
              <a:sym typeface="Times New Roman"/>
            </a:endParaRPr>
          </a:p>
          <a:p>
            <a:pPr indent="-342900" lvl="0" marL="342900" rtl="0" algn="just">
              <a:lnSpc>
                <a:spcPct val="90000"/>
              </a:lnSpc>
              <a:spcBef>
                <a:spcPts val="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 it prints one line from that file and continues in this way until the end of the file.</a:t>
            </a:r>
            <a:endParaRPr/>
          </a:p>
          <a:p>
            <a:pPr indent="-139700" lvl="0" marL="342900" rtl="0" algn="just">
              <a:lnSpc>
                <a:spcPct val="90000"/>
              </a:lnSpc>
              <a:spcBef>
                <a:spcPts val="0"/>
              </a:spcBef>
              <a:spcAft>
                <a:spcPts val="0"/>
              </a:spcAft>
              <a:buClr>
                <a:schemeClr val="dk1"/>
              </a:buClr>
              <a:buSzPts val="3200"/>
              <a:buFont typeface="Noto Sans Symbols"/>
              <a:buNone/>
            </a:pPr>
            <a:r>
              <a:t/>
            </a:r>
            <a:endParaRPr sz="45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800"/>
              <a:buNone/>
            </a:pPr>
            <a:r>
              <a:rPr lang="en-US" sz="4500">
                <a:latin typeface="Times New Roman"/>
                <a:ea typeface="Times New Roman"/>
                <a:cs typeface="Times New Roman"/>
                <a:sym typeface="Times New Roman"/>
              </a:rPr>
              <a:t>	f = open("test_write.txt",'r')</a:t>
            </a:r>
            <a:endParaRPr sz="4500">
              <a:latin typeface="Times New Roman"/>
              <a:ea typeface="Times New Roman"/>
              <a:cs typeface="Times New Roman"/>
              <a:sym typeface="Times New Roman"/>
            </a:endParaRPr>
          </a:p>
          <a:p>
            <a:pPr indent="0" lvl="0" marL="0" rtl="0" algn="l">
              <a:lnSpc>
                <a:spcPct val="90000"/>
              </a:lnSpc>
              <a:spcBef>
                <a:spcPts val="720"/>
              </a:spcBef>
              <a:spcAft>
                <a:spcPts val="0"/>
              </a:spcAft>
              <a:buClr>
                <a:schemeClr val="dk1"/>
              </a:buClr>
              <a:buSzPts val="2400"/>
              <a:buNone/>
            </a:pPr>
            <a:r>
              <a:rPr lang="en-US" sz="4500">
                <a:latin typeface="Times New Roman"/>
                <a:ea typeface="Times New Roman"/>
                <a:cs typeface="Times New Roman"/>
                <a:sym typeface="Times New Roman"/>
              </a:rPr>
              <a:t>	f.readline()</a:t>
            </a:r>
            <a:endParaRPr sz="4500">
              <a:latin typeface="Times New Roman"/>
              <a:ea typeface="Times New Roman"/>
              <a:cs typeface="Times New Roman"/>
              <a:sym typeface="Times New Roman"/>
            </a:endParaRPr>
          </a:p>
          <a:p>
            <a:pPr indent="-38100" lvl="0" marL="342900" rtl="0" algn="l">
              <a:lnSpc>
                <a:spcPct val="90000"/>
              </a:lnSpc>
              <a:spcBef>
                <a:spcPts val="1500"/>
              </a:spcBef>
              <a:spcAft>
                <a:spcPts val="0"/>
              </a:spcAft>
              <a:buClr>
                <a:schemeClr val="dk1"/>
              </a:buClr>
              <a:buSzPts val="4800"/>
              <a:buNone/>
            </a:pPr>
            <a:r>
              <a:t/>
            </a:r>
            <a:endParaRPr/>
          </a:p>
        </p:txBody>
      </p:sp>
      <p:sp>
        <p:nvSpPr>
          <p:cNvPr id="401" name="Google Shape;401;p29"/>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02" name="Google Shape;402;p29"/>
          <p:cNvSpPr txBox="1"/>
          <p:nvPr/>
        </p:nvSpPr>
        <p:spPr>
          <a:xfrm>
            <a:off x="0" y="718249"/>
            <a:ext cx="18288000" cy="101562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rgbClr val="2E75B5"/>
                </a:solidFill>
                <a:latin typeface="Times New Roman"/>
                <a:ea typeface="Times New Roman"/>
                <a:cs typeface="Times New Roman"/>
                <a:sym typeface="Times New Roman"/>
              </a:rPr>
              <a:t>readline()</a:t>
            </a:r>
            <a:endParaRPr b="1" i="0" sz="6000" u="none" cap="none" strike="noStrike">
              <a:solidFill>
                <a:srgbClr val="2E75B5"/>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0"/>
          <p:cNvSpPr/>
          <p:nvPr/>
        </p:nvSpPr>
        <p:spPr>
          <a:xfrm>
            <a:off x="7038109" y="2022764"/>
            <a:ext cx="997528" cy="471054"/>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08" name="Google Shape;408;p30"/>
          <p:cNvSpPr txBox="1"/>
          <p:nvPr>
            <p:ph type="title"/>
          </p:nvPr>
        </p:nvSpPr>
        <p:spPr>
          <a:xfrm>
            <a:off x="0" y="769362"/>
            <a:ext cx="18288000" cy="93821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800"/>
              <a:buFont typeface="Calibri"/>
              <a:buNone/>
            </a:pPr>
            <a:r>
              <a:rPr b="1" lang="en-US" sz="4800">
                <a:solidFill>
                  <a:srgbClr val="2E75B5"/>
                </a:solidFill>
                <a:latin typeface="Times New Roman"/>
                <a:ea typeface="Times New Roman"/>
                <a:cs typeface="Times New Roman"/>
                <a:sym typeface="Times New Roman"/>
              </a:rPr>
              <a:t>Opening Files using with Keyword</a:t>
            </a:r>
            <a:endParaRPr sz="4800">
              <a:solidFill>
                <a:srgbClr val="2E75B5"/>
              </a:solidFill>
              <a:latin typeface="Times New Roman"/>
              <a:ea typeface="Times New Roman"/>
              <a:cs typeface="Times New Roman"/>
              <a:sym typeface="Times New Roman"/>
            </a:endParaRPr>
          </a:p>
        </p:txBody>
      </p:sp>
      <p:sp>
        <p:nvSpPr>
          <p:cNvPr id="409" name="Google Shape;409;p30"/>
          <p:cNvSpPr txBox="1"/>
          <p:nvPr>
            <p:ph idx="1" type="body"/>
          </p:nvPr>
        </p:nvSpPr>
        <p:spPr>
          <a:xfrm>
            <a:off x="457200" y="1943100"/>
            <a:ext cx="16573500" cy="7322345"/>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4400"/>
              <a:buFont typeface="Noto Sans Symbols"/>
              <a:buChar char="⮚"/>
            </a:pPr>
            <a:r>
              <a:rPr lang="en-US" sz="4000">
                <a:latin typeface="Times New Roman"/>
                <a:ea typeface="Times New Roman"/>
                <a:cs typeface="Times New Roman"/>
                <a:sym typeface="Times New Roman"/>
              </a:rPr>
              <a:t>When the file is opened using </a:t>
            </a:r>
            <a:r>
              <a:rPr lang="en-US" sz="4000">
                <a:solidFill>
                  <a:srgbClr val="0C0C0C"/>
                </a:solidFill>
                <a:latin typeface="Times New Roman"/>
                <a:ea typeface="Times New Roman"/>
                <a:cs typeface="Times New Roman"/>
                <a:sym typeface="Times New Roman"/>
              </a:rPr>
              <a:t>with</a:t>
            </a:r>
            <a:r>
              <a:rPr lang="en-US" sz="4000">
                <a:latin typeface="Times New Roman"/>
                <a:ea typeface="Times New Roman"/>
                <a:cs typeface="Times New Roman"/>
                <a:sym typeface="Times New Roman"/>
              </a:rPr>
              <a:t> keyword, file will be automatically closed once the block of code finishes execution.</a:t>
            </a:r>
            <a:endParaRPr sz="4000">
              <a:latin typeface="Times New Roman"/>
              <a:ea typeface="Times New Roman"/>
              <a:cs typeface="Times New Roman"/>
              <a:sym typeface="Times New Roman"/>
            </a:endParaRPr>
          </a:p>
          <a:p>
            <a:pPr indent="-342900" lvl="0" marL="342900" rtl="0" algn="l">
              <a:lnSpc>
                <a:spcPct val="90000"/>
              </a:lnSpc>
              <a:spcBef>
                <a:spcPts val="1500"/>
              </a:spcBef>
              <a:spcAft>
                <a:spcPts val="0"/>
              </a:spcAft>
              <a:buClr>
                <a:schemeClr val="dk1"/>
              </a:buClr>
              <a:buSzPts val="4400"/>
              <a:buFont typeface="Noto Sans Symbols"/>
              <a:buChar char="⮚"/>
            </a:pPr>
            <a:r>
              <a:rPr lang="en-US" sz="4000">
                <a:latin typeface="Times New Roman"/>
                <a:ea typeface="Times New Roman"/>
                <a:cs typeface="Times New Roman"/>
                <a:sym typeface="Times New Roman"/>
              </a:rPr>
              <a:t>Ex: </a:t>
            </a:r>
            <a:endParaRPr sz="4000">
              <a:latin typeface="Times New Roman"/>
              <a:ea typeface="Times New Roman"/>
              <a:cs typeface="Times New Roman"/>
              <a:sym typeface="Times New Roman"/>
            </a:endParaRPr>
          </a:p>
        </p:txBody>
      </p:sp>
      <p:sp>
        <p:nvSpPr>
          <p:cNvPr id="410" name="Google Shape;410;p3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11" name="Google Shape;411;p30"/>
          <p:cNvSpPr/>
          <p:nvPr/>
        </p:nvSpPr>
        <p:spPr>
          <a:xfrm>
            <a:off x="2604655" y="3432464"/>
            <a:ext cx="13182600" cy="2971800"/>
          </a:xfrm>
          <a:prstGeom prst="roundRect">
            <a:avLst>
              <a:gd fmla="val 16667" name="adj"/>
            </a:avLst>
          </a:prstGeom>
          <a:solidFill>
            <a:srgbClr val="B3C6E7"/>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4400"/>
              <a:buFont typeface="Calibri"/>
              <a:buNone/>
            </a:pPr>
            <a:r>
              <a:rPr b="0" i="0" lang="en-US" sz="3200" u="none" cap="none" strike="noStrike">
                <a:solidFill>
                  <a:schemeClr val="dk1"/>
                </a:solidFill>
                <a:latin typeface="Times New Roman"/>
                <a:ea typeface="Times New Roman"/>
                <a:cs typeface="Times New Roman"/>
                <a:sym typeface="Times New Roman"/>
              </a:rPr>
              <a:t>with open("test.txt","r") as file:</a:t>
            </a:r>
            <a:endParaRPr b="0" i="0" sz="3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4400"/>
              <a:buFont typeface="Calibri"/>
              <a:buNone/>
            </a:pPr>
            <a:r>
              <a:rPr b="0" i="0" lang="en-US" sz="3200" u="none" cap="none" strike="noStrike">
                <a:solidFill>
                  <a:schemeClr val="dk1"/>
                </a:solidFill>
                <a:latin typeface="Times New Roman"/>
                <a:ea typeface="Times New Roman"/>
                <a:cs typeface="Times New Roman"/>
                <a:sym typeface="Times New Roman"/>
              </a:rPr>
              <a:t>    for line in file:</a:t>
            </a:r>
            <a:endParaRPr b="0" i="0" sz="3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4400"/>
              <a:buFont typeface="Calibri"/>
              <a:buNone/>
            </a:pPr>
            <a:r>
              <a:rPr b="0" i="0" lang="en-US" sz="3200" u="none" cap="none" strike="noStrike">
                <a:solidFill>
                  <a:schemeClr val="dk1"/>
                </a:solidFill>
                <a:latin typeface="Times New Roman"/>
                <a:ea typeface="Times New Roman"/>
                <a:cs typeface="Times New Roman"/>
                <a:sym typeface="Times New Roman"/>
              </a:rPr>
              <a:t>        print(line)</a:t>
            </a:r>
            <a:endParaRPr b="0" i="0" sz="3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4400"/>
              <a:buFont typeface="Calibri"/>
              <a:buNone/>
            </a:pPr>
            <a:r>
              <a:rPr b="0" i="0" lang="en-US" sz="3200" u="none" cap="none" strike="noStrike">
                <a:solidFill>
                  <a:schemeClr val="dk1"/>
                </a:solidFill>
                <a:latin typeface="Times New Roman"/>
                <a:ea typeface="Times New Roman"/>
                <a:cs typeface="Times New Roman"/>
                <a:sym typeface="Times New Roman"/>
              </a:rPr>
              <a:t>print("lets check if the file is closed:",file.closed</a:t>
            </a:r>
            <a:r>
              <a:rPr b="0" i="0" lang="en-US" sz="4400" u="none" cap="none" strike="noStrike">
                <a:solidFill>
                  <a:schemeClr val="dk1"/>
                </a:solidFill>
                <a:latin typeface="Calibri"/>
                <a:ea typeface="Calibri"/>
                <a:cs typeface="Calibri"/>
                <a:sym typeface="Calibri"/>
              </a:rPr>
              <a:t>)</a:t>
            </a:r>
            <a:endParaRPr b="0" i="0" sz="4400" u="none" cap="none" strike="noStrike">
              <a:solidFill>
                <a:schemeClr val="dk1"/>
              </a:solidFill>
              <a:latin typeface="Calibri"/>
              <a:ea typeface="Calibri"/>
              <a:cs typeface="Calibri"/>
              <a:sym typeface="Calibri"/>
            </a:endParaRPr>
          </a:p>
        </p:txBody>
      </p:sp>
      <p:sp>
        <p:nvSpPr>
          <p:cNvPr id="412" name="Google Shape;412;p30"/>
          <p:cNvSpPr/>
          <p:nvPr/>
        </p:nvSpPr>
        <p:spPr>
          <a:xfrm>
            <a:off x="4284518" y="6612082"/>
            <a:ext cx="10480016" cy="3411681"/>
          </a:xfrm>
          <a:prstGeom prst="ellipse">
            <a:avLst/>
          </a:prstGeom>
          <a:solidFill>
            <a:srgbClr val="D8E2F3"/>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Times New Roman"/>
                <a:ea typeface="Times New Roman"/>
                <a:cs typeface="Times New Roman"/>
                <a:sym typeface="Times New Roman"/>
              </a:rPr>
              <a:t>Output:</a:t>
            </a:r>
            <a:endParaRPr b="0" i="0" sz="22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Times New Roman"/>
                <a:ea typeface="Times New Roman"/>
                <a:cs typeface="Times New Roman"/>
                <a:sym typeface="Times New Roman"/>
              </a:rPr>
              <a:t>hello</a:t>
            </a:r>
            <a:endParaRPr b="0" i="0" sz="22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Times New Roman"/>
                <a:ea typeface="Times New Roman"/>
                <a:cs typeface="Times New Roman"/>
                <a:sym typeface="Times New Roman"/>
              </a:rPr>
              <a:t>python</a:t>
            </a:r>
            <a:endParaRPr b="0" i="0" sz="22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Times New Roman"/>
                <a:ea typeface="Times New Roman"/>
                <a:cs typeface="Times New Roman"/>
                <a:sym typeface="Times New Roman"/>
              </a:rPr>
              <a:t>jupiter</a:t>
            </a:r>
            <a:endParaRPr b="1" i="0" sz="2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Times New Roman"/>
                <a:ea typeface="Times New Roman"/>
                <a:cs typeface="Times New Roman"/>
                <a:sym typeface="Times New Roman"/>
              </a:rPr>
              <a:t>dsu</a:t>
            </a:r>
            <a:endParaRPr b="1" i="0" sz="2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Times New Roman"/>
                <a:ea typeface="Times New Roman"/>
                <a:cs typeface="Times New Roman"/>
                <a:sym typeface="Times New Roman"/>
              </a:rPr>
              <a:t>programming</a:t>
            </a:r>
            <a:endParaRPr b="0" i="0" sz="22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Times New Roman"/>
                <a:ea typeface="Times New Roman"/>
                <a:cs typeface="Times New Roman"/>
                <a:sym typeface="Times New Roman"/>
              </a:rPr>
              <a:t>lets check if the file is closed: True</a:t>
            </a:r>
            <a:endParaRPr b="0" i="0" sz="22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1"/>
          <p:cNvSpPr txBox="1"/>
          <p:nvPr>
            <p:ph type="title"/>
          </p:nvPr>
        </p:nvSpPr>
        <p:spPr>
          <a:xfrm>
            <a:off x="0" y="547689"/>
            <a:ext cx="18288000" cy="93821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800"/>
              <a:buFont typeface="Calibri"/>
              <a:buNone/>
            </a:pPr>
            <a:r>
              <a:rPr b="1" lang="en-US" sz="4800">
                <a:solidFill>
                  <a:srgbClr val="2E75B5"/>
                </a:solidFill>
                <a:latin typeface="Times New Roman"/>
                <a:ea typeface="Times New Roman"/>
                <a:cs typeface="Times New Roman"/>
                <a:sym typeface="Times New Roman"/>
              </a:rPr>
              <a:t>Using open()</a:t>
            </a:r>
            <a:endParaRPr sz="4800">
              <a:solidFill>
                <a:srgbClr val="2E75B5"/>
              </a:solidFill>
              <a:latin typeface="Times New Roman"/>
              <a:ea typeface="Times New Roman"/>
              <a:cs typeface="Times New Roman"/>
              <a:sym typeface="Times New Roman"/>
            </a:endParaRPr>
          </a:p>
        </p:txBody>
      </p:sp>
      <p:sp>
        <p:nvSpPr>
          <p:cNvPr id="418" name="Google Shape;418;p31"/>
          <p:cNvSpPr txBox="1"/>
          <p:nvPr>
            <p:ph idx="1" type="body"/>
          </p:nvPr>
        </p:nvSpPr>
        <p:spPr>
          <a:xfrm>
            <a:off x="457200" y="1943100"/>
            <a:ext cx="16573500" cy="7322345"/>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4400"/>
              <a:buFont typeface="Noto Sans Symbols"/>
              <a:buChar char="⮚"/>
            </a:pPr>
            <a:r>
              <a:rPr lang="en-US" sz="4400">
                <a:latin typeface="Times New Roman"/>
                <a:ea typeface="Times New Roman"/>
                <a:cs typeface="Times New Roman"/>
                <a:sym typeface="Times New Roman"/>
              </a:rPr>
              <a:t>When the file is opened using </a:t>
            </a:r>
            <a:r>
              <a:rPr lang="en-US" sz="4800">
                <a:solidFill>
                  <a:srgbClr val="0070C0"/>
                </a:solidFill>
                <a:latin typeface="Times New Roman"/>
                <a:ea typeface="Times New Roman"/>
                <a:cs typeface="Times New Roman"/>
                <a:sym typeface="Times New Roman"/>
              </a:rPr>
              <a:t>open() function</a:t>
            </a:r>
            <a:r>
              <a:rPr lang="en-US" sz="4400">
                <a:latin typeface="Times New Roman"/>
                <a:ea typeface="Times New Roman"/>
                <a:cs typeface="Times New Roman"/>
                <a:sym typeface="Times New Roman"/>
              </a:rPr>
              <a:t>, file will not be automatically closed.</a:t>
            </a:r>
            <a:endParaRPr>
              <a:latin typeface="Times New Roman"/>
              <a:ea typeface="Times New Roman"/>
              <a:cs typeface="Times New Roman"/>
              <a:sym typeface="Times New Roman"/>
            </a:endParaRPr>
          </a:p>
          <a:p>
            <a:pPr indent="-342900" lvl="0" marL="342900" rtl="0" algn="l">
              <a:lnSpc>
                <a:spcPct val="90000"/>
              </a:lnSpc>
              <a:spcBef>
                <a:spcPts val="1500"/>
              </a:spcBef>
              <a:spcAft>
                <a:spcPts val="0"/>
              </a:spcAft>
              <a:buClr>
                <a:schemeClr val="dk1"/>
              </a:buClr>
              <a:buSzPts val="4400"/>
              <a:buFont typeface="Noto Sans Symbols"/>
              <a:buChar char="⮚"/>
            </a:pPr>
            <a:r>
              <a:rPr lang="en-US" sz="4400">
                <a:latin typeface="Times New Roman"/>
                <a:ea typeface="Times New Roman"/>
                <a:cs typeface="Times New Roman"/>
                <a:sym typeface="Times New Roman"/>
              </a:rPr>
              <a:t>Ex: </a:t>
            </a:r>
            <a:endParaRPr>
              <a:latin typeface="Times New Roman"/>
              <a:ea typeface="Times New Roman"/>
              <a:cs typeface="Times New Roman"/>
              <a:sym typeface="Times New Roman"/>
            </a:endParaRPr>
          </a:p>
        </p:txBody>
      </p:sp>
      <p:sp>
        <p:nvSpPr>
          <p:cNvPr id="419" name="Google Shape;419;p3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20" name="Google Shape;420;p31"/>
          <p:cNvSpPr/>
          <p:nvPr/>
        </p:nvSpPr>
        <p:spPr>
          <a:xfrm>
            <a:off x="2859232" y="3477491"/>
            <a:ext cx="13182600" cy="2774372"/>
          </a:xfrm>
          <a:prstGeom prst="roundRect">
            <a:avLst>
              <a:gd fmla="val 16667" name="adj"/>
            </a:avLst>
          </a:prstGeom>
          <a:solidFill>
            <a:srgbClr val="B3C6E7"/>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Times New Roman"/>
                <a:ea typeface="Times New Roman"/>
                <a:cs typeface="Times New Roman"/>
                <a:sym typeface="Times New Roman"/>
              </a:rPr>
              <a:t>f11=open("test1.txt","r")</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Times New Roman"/>
                <a:ea typeface="Times New Roman"/>
                <a:cs typeface="Times New Roman"/>
                <a:sym typeface="Times New Roman"/>
              </a:rPr>
              <a:t>for lines in f11:</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Times New Roman"/>
                <a:ea typeface="Times New Roman"/>
                <a:cs typeface="Times New Roman"/>
                <a:sym typeface="Times New Roman"/>
              </a:rPr>
              <a:t>    print(lines)</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Times New Roman"/>
                <a:ea typeface="Times New Roman"/>
                <a:cs typeface="Times New Roman"/>
                <a:sym typeface="Times New Roman"/>
              </a:rPr>
              <a:t>print("lets check if the file is closed:",f11.closed)</a:t>
            </a:r>
            <a:endParaRPr b="0" i="0" sz="4400" u="none" cap="none" strike="noStrike">
              <a:solidFill>
                <a:schemeClr val="dk1"/>
              </a:solidFill>
              <a:latin typeface="Times New Roman"/>
              <a:ea typeface="Times New Roman"/>
              <a:cs typeface="Times New Roman"/>
              <a:sym typeface="Times New Roman"/>
            </a:endParaRPr>
          </a:p>
        </p:txBody>
      </p:sp>
      <p:sp>
        <p:nvSpPr>
          <p:cNvPr id="421" name="Google Shape;421;p31"/>
          <p:cNvSpPr/>
          <p:nvPr/>
        </p:nvSpPr>
        <p:spPr>
          <a:xfrm>
            <a:off x="4270663" y="6362700"/>
            <a:ext cx="10480016" cy="3646099"/>
          </a:xfrm>
          <a:prstGeom prst="ellipse">
            <a:avLst/>
          </a:prstGeom>
          <a:solidFill>
            <a:srgbClr val="D8E2F3"/>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Output:</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jupiter</a:t>
            </a:r>
            <a:endParaRPr b="1"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moon</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sun</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lets check if the file is closed: False</a:t>
            </a:r>
            <a:endParaRPr b="1" i="0" sz="36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2"/>
          <p:cNvSpPr/>
          <p:nvPr/>
        </p:nvSpPr>
        <p:spPr>
          <a:xfrm>
            <a:off x="4752109" y="4488873"/>
            <a:ext cx="1177636" cy="692727"/>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7" name="Google Shape;427;p32"/>
          <p:cNvSpPr txBox="1"/>
          <p:nvPr>
            <p:ph type="title"/>
          </p:nvPr>
        </p:nvSpPr>
        <p:spPr>
          <a:xfrm>
            <a:off x="0" y="0"/>
            <a:ext cx="18288000" cy="19812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File Position</a:t>
            </a:r>
            <a:endParaRPr b="1" sz="4800">
              <a:solidFill>
                <a:srgbClr val="2E75B5"/>
              </a:solidFill>
              <a:latin typeface="Times New Roman"/>
              <a:ea typeface="Times New Roman"/>
              <a:cs typeface="Times New Roman"/>
              <a:sym typeface="Times New Roman"/>
            </a:endParaRPr>
          </a:p>
        </p:txBody>
      </p:sp>
      <p:sp>
        <p:nvSpPr>
          <p:cNvPr id="428" name="Google Shape;428;p32"/>
          <p:cNvSpPr txBox="1"/>
          <p:nvPr>
            <p:ph idx="1" type="body"/>
          </p:nvPr>
        </p:nvSpPr>
        <p:spPr>
          <a:xfrm>
            <a:off x="762000" y="1823014"/>
            <a:ext cx="16840200" cy="7239032"/>
          </a:xfrm>
          <a:prstGeom prst="rect">
            <a:avLst/>
          </a:prstGeom>
          <a:noFill/>
          <a:ln>
            <a:noFill/>
          </a:ln>
        </p:spPr>
        <p:txBody>
          <a:bodyPr anchorCtr="0" anchor="t" bIns="68550" lIns="137125" spcFirstLastPara="1" rIns="137125" wrap="square" tIns="68550">
            <a:normAutofit/>
          </a:bodyPr>
          <a:lstStyle/>
          <a:p>
            <a:pPr indent="-342900" lvl="0" marL="342900" rtl="0" algn="just">
              <a:lnSpc>
                <a:spcPct val="90000"/>
              </a:lnSpc>
              <a:spcBef>
                <a:spcPts val="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When we read a line or some data from a file, the pointer points to the next line or data, and that when we end up reading whole file, it returns the empty string. </a:t>
            </a:r>
            <a:endParaRPr sz="4500">
              <a:latin typeface="Times New Roman"/>
              <a:ea typeface="Times New Roman"/>
              <a:cs typeface="Times New Roman"/>
              <a:sym typeface="Times New Roman"/>
            </a:endParaRPr>
          </a:p>
          <a:p>
            <a:pPr indent="-139700" lvl="0" marL="342900" rtl="0" algn="just">
              <a:lnSpc>
                <a:spcPct val="90000"/>
              </a:lnSpc>
              <a:spcBef>
                <a:spcPts val="0"/>
              </a:spcBef>
              <a:spcAft>
                <a:spcPts val="0"/>
              </a:spcAft>
              <a:buClr>
                <a:schemeClr val="dk1"/>
              </a:buClr>
              <a:buSzPts val="3200"/>
              <a:buFont typeface="Noto Sans Symbols"/>
              <a:buNone/>
            </a:pPr>
            <a:r>
              <a:t/>
            </a:r>
            <a:endParaRPr sz="4500">
              <a:latin typeface="Times New Roman"/>
              <a:ea typeface="Times New Roman"/>
              <a:cs typeface="Times New Roman"/>
              <a:sym typeface="Times New Roman"/>
            </a:endParaRPr>
          </a:p>
          <a:p>
            <a:pPr indent="-342900" lvl="0" marL="342900" rtl="0" algn="just">
              <a:lnSpc>
                <a:spcPct val="90000"/>
              </a:lnSpc>
              <a:spcBef>
                <a:spcPts val="96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In Python, the </a:t>
            </a:r>
            <a:r>
              <a:rPr lang="en-US" sz="4500">
                <a:solidFill>
                  <a:srgbClr val="0C0C0C"/>
                </a:solidFill>
                <a:latin typeface="Times New Roman"/>
                <a:ea typeface="Times New Roman"/>
                <a:cs typeface="Times New Roman"/>
                <a:sym typeface="Times New Roman"/>
              </a:rPr>
              <a:t>tell() method </a:t>
            </a:r>
            <a:r>
              <a:rPr lang="en-US" sz="4500">
                <a:latin typeface="Times New Roman"/>
                <a:ea typeface="Times New Roman"/>
                <a:cs typeface="Times New Roman"/>
                <a:sym typeface="Times New Roman"/>
              </a:rPr>
              <a:t>tells us about the current position of the pointer. </a:t>
            </a:r>
            <a:endParaRPr sz="4500">
              <a:latin typeface="Times New Roman"/>
              <a:ea typeface="Times New Roman"/>
              <a:cs typeface="Times New Roman"/>
              <a:sym typeface="Times New Roman"/>
            </a:endParaRPr>
          </a:p>
          <a:p>
            <a:pPr indent="-139700" lvl="0" marL="342900" rtl="0" algn="just">
              <a:lnSpc>
                <a:spcPct val="90000"/>
              </a:lnSpc>
              <a:spcBef>
                <a:spcPts val="960"/>
              </a:spcBef>
              <a:spcAft>
                <a:spcPts val="0"/>
              </a:spcAft>
              <a:buClr>
                <a:schemeClr val="dk1"/>
              </a:buClr>
              <a:buSzPts val="3200"/>
              <a:buFont typeface="Noto Sans Symbols"/>
              <a:buNone/>
            </a:pPr>
            <a:r>
              <a:t/>
            </a:r>
            <a:endParaRPr sz="4500">
              <a:latin typeface="Times New Roman"/>
              <a:ea typeface="Times New Roman"/>
              <a:cs typeface="Times New Roman"/>
              <a:sym typeface="Times New Roman"/>
            </a:endParaRPr>
          </a:p>
          <a:p>
            <a:pPr indent="-342900" lvl="0" marL="342900" rtl="0" algn="just">
              <a:lnSpc>
                <a:spcPct val="90000"/>
              </a:lnSpc>
              <a:spcBef>
                <a:spcPts val="96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The current position tells us where reading will start from at present.</a:t>
            </a:r>
            <a:endParaRPr sz="4500">
              <a:latin typeface="Times New Roman"/>
              <a:ea typeface="Times New Roman"/>
              <a:cs typeface="Times New Roman"/>
              <a:sym typeface="Times New Roman"/>
            </a:endParaRPr>
          </a:p>
          <a:p>
            <a:pPr indent="0" lvl="0" marL="0" rtl="0" algn="just">
              <a:lnSpc>
                <a:spcPct val="90000"/>
              </a:lnSpc>
              <a:spcBef>
                <a:spcPts val="960"/>
              </a:spcBef>
              <a:spcAft>
                <a:spcPts val="0"/>
              </a:spcAft>
              <a:buClr>
                <a:schemeClr val="dk1"/>
              </a:buClr>
              <a:buSzPts val="3200"/>
              <a:buNone/>
            </a:pPr>
            <a:r>
              <a:t/>
            </a:r>
            <a:endParaRPr sz="5400"/>
          </a:p>
        </p:txBody>
      </p:sp>
      <p:sp>
        <p:nvSpPr>
          <p:cNvPr id="429" name="Google Shape;429;p3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3"/>
          <p:cNvSpPr/>
          <p:nvPr/>
        </p:nvSpPr>
        <p:spPr>
          <a:xfrm>
            <a:off x="2216727" y="3158836"/>
            <a:ext cx="4696691" cy="595746"/>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5" name="Google Shape;435;p33"/>
          <p:cNvSpPr/>
          <p:nvPr/>
        </p:nvSpPr>
        <p:spPr>
          <a:xfrm>
            <a:off x="16237527" y="1870364"/>
            <a:ext cx="1413164" cy="678872"/>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6" name="Google Shape;436;p33"/>
          <p:cNvSpPr txBox="1"/>
          <p:nvPr>
            <p:ph idx="1" type="body"/>
          </p:nvPr>
        </p:nvSpPr>
        <p:spPr>
          <a:xfrm>
            <a:off x="0" y="1807229"/>
            <a:ext cx="17754599" cy="7985599"/>
          </a:xfrm>
          <a:prstGeom prst="rect">
            <a:avLst/>
          </a:prstGeom>
          <a:noFill/>
          <a:ln>
            <a:noFill/>
          </a:ln>
        </p:spPr>
        <p:txBody>
          <a:bodyPr anchorCtr="0" anchor="t" bIns="68550" lIns="137125" spcFirstLastPara="1" rIns="137125" wrap="square" tIns="68550">
            <a:normAutofit/>
          </a:bodyPr>
          <a:lstStyle/>
          <a:p>
            <a:pPr indent="-342900" lvl="0" marL="342900" rtl="0" algn="just">
              <a:lnSpc>
                <a:spcPct val="90000"/>
              </a:lnSpc>
              <a:spcBef>
                <a:spcPts val="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We can also change the position of the pointer with the help of </a:t>
            </a:r>
            <a:r>
              <a:rPr lang="en-US" sz="4500">
                <a:solidFill>
                  <a:srgbClr val="0C0C0C"/>
                </a:solidFill>
                <a:latin typeface="Times New Roman"/>
                <a:ea typeface="Times New Roman"/>
                <a:cs typeface="Times New Roman"/>
                <a:sym typeface="Times New Roman"/>
              </a:rPr>
              <a:t>seek() method</a:t>
            </a:r>
            <a:r>
              <a:rPr lang="en-US" sz="4500">
                <a:latin typeface="Times New Roman"/>
                <a:ea typeface="Times New Roman"/>
                <a:cs typeface="Times New Roman"/>
                <a:sym typeface="Times New Roman"/>
              </a:rPr>
              <a:t>. </a:t>
            </a:r>
            <a:endParaRPr sz="4500">
              <a:latin typeface="Times New Roman"/>
              <a:ea typeface="Times New Roman"/>
              <a:cs typeface="Times New Roman"/>
              <a:sym typeface="Times New Roman"/>
            </a:endParaRPr>
          </a:p>
          <a:p>
            <a:pPr indent="-342900" lvl="0" marL="342900" rtl="0" algn="just">
              <a:lnSpc>
                <a:spcPct val="90000"/>
              </a:lnSpc>
              <a:spcBef>
                <a:spcPts val="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Syntax: seek(offset[,from])</a:t>
            </a:r>
            <a:endParaRPr sz="4500">
              <a:latin typeface="Times New Roman"/>
              <a:ea typeface="Times New Roman"/>
              <a:cs typeface="Times New Roman"/>
              <a:sym typeface="Times New Roman"/>
            </a:endParaRPr>
          </a:p>
          <a:p>
            <a:pPr indent="-342900" lvl="0" marL="342900" rtl="0" algn="just">
              <a:lnSpc>
                <a:spcPct val="90000"/>
              </a:lnSpc>
              <a:spcBef>
                <a:spcPts val="96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Offset-A number of bytes are passed to be moved by the pointer as arguments to the seek() method.</a:t>
            </a:r>
            <a:endParaRPr sz="4500">
              <a:latin typeface="Times New Roman"/>
              <a:ea typeface="Times New Roman"/>
              <a:cs typeface="Times New Roman"/>
              <a:sym typeface="Times New Roman"/>
            </a:endParaRPr>
          </a:p>
          <a:p>
            <a:pPr indent="-342900" lvl="0" marL="342900" rtl="0" algn="just">
              <a:lnSpc>
                <a:spcPct val="90000"/>
              </a:lnSpc>
              <a:spcBef>
                <a:spcPts val="960"/>
              </a:spcBef>
              <a:spcAft>
                <a:spcPts val="0"/>
              </a:spcAft>
              <a:buClr>
                <a:schemeClr val="dk1"/>
              </a:buClr>
              <a:buSzPts val="3200"/>
              <a:buFont typeface="Noto Sans Symbols"/>
              <a:buChar char="⮚"/>
            </a:pPr>
            <a:r>
              <a:rPr lang="en-US" sz="4500">
                <a:latin typeface="Times New Roman"/>
                <a:ea typeface="Times New Roman"/>
                <a:cs typeface="Times New Roman"/>
                <a:sym typeface="Times New Roman"/>
              </a:rPr>
              <a:t>from-is given in table</a:t>
            </a:r>
            <a:endParaRPr sz="4500">
              <a:latin typeface="Times New Roman"/>
              <a:ea typeface="Times New Roman"/>
              <a:cs typeface="Times New Roman"/>
              <a:sym typeface="Times New Roman"/>
            </a:endParaRPr>
          </a:p>
        </p:txBody>
      </p:sp>
      <p:pic>
        <p:nvPicPr>
          <p:cNvPr id="437" name="Google Shape;437;p33"/>
          <p:cNvPicPr preferRelativeResize="0"/>
          <p:nvPr/>
        </p:nvPicPr>
        <p:blipFill rotWithShape="1">
          <a:blip r:embed="rId3">
            <a:alphaModFix/>
          </a:blip>
          <a:srcRect b="0" l="0" r="0" t="0"/>
          <a:stretch/>
        </p:blipFill>
        <p:spPr>
          <a:xfrm>
            <a:off x="9247908" y="5306289"/>
            <a:ext cx="8188068" cy="3685309"/>
          </a:xfrm>
          <a:prstGeom prst="rect">
            <a:avLst/>
          </a:prstGeom>
          <a:solidFill>
            <a:srgbClr val="000000"/>
          </a:solidFill>
          <a:ln cap="sq" cmpd="sng" w="444500">
            <a:solidFill>
              <a:srgbClr val="B3C6E7"/>
            </a:solidFill>
            <a:prstDash val="solid"/>
            <a:miter lim="800000"/>
            <a:headEnd len="sm" w="sm" type="none"/>
            <a:tailEnd len="sm" w="sm" type="none"/>
          </a:ln>
          <a:effectLst>
            <a:outerShdw blurRad="254000" rotWithShape="0" algn="bl" dir="2700000" dist="190500" sy="90000">
              <a:srgbClr val="000000">
                <a:alpha val="40000"/>
              </a:srgbClr>
            </a:outerShdw>
          </a:effectLst>
        </p:spPr>
      </p:pic>
      <p:sp>
        <p:nvSpPr>
          <p:cNvPr id="438" name="Google Shape;438;p33"/>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39" name="Google Shape;439;p33"/>
          <p:cNvSpPr txBox="1"/>
          <p:nvPr>
            <p:ph type="title"/>
          </p:nvPr>
        </p:nvSpPr>
        <p:spPr>
          <a:xfrm>
            <a:off x="0" y="0"/>
            <a:ext cx="18288000" cy="19812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File Position</a:t>
            </a:r>
            <a:endParaRPr b="1" sz="4800">
              <a:solidFill>
                <a:srgbClr val="2E75B5"/>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4"/>
          <p:cNvSpPr txBox="1"/>
          <p:nvPr>
            <p:ph type="title"/>
          </p:nvPr>
        </p:nvSpPr>
        <p:spPr>
          <a:xfrm>
            <a:off x="0" y="0"/>
            <a:ext cx="18288000" cy="1585732"/>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Example of File position</a:t>
            </a:r>
            <a:endParaRPr b="1" sz="4800">
              <a:solidFill>
                <a:srgbClr val="2E75B5"/>
              </a:solidFill>
              <a:latin typeface="Times New Roman"/>
              <a:ea typeface="Times New Roman"/>
              <a:cs typeface="Times New Roman"/>
              <a:sym typeface="Times New Roman"/>
            </a:endParaRPr>
          </a:p>
        </p:txBody>
      </p:sp>
      <p:sp>
        <p:nvSpPr>
          <p:cNvPr id="445" name="Google Shape;445;p34"/>
          <p:cNvSpPr txBox="1"/>
          <p:nvPr>
            <p:ph idx="1" type="body"/>
          </p:nvPr>
        </p:nvSpPr>
        <p:spPr>
          <a:xfrm>
            <a:off x="900545" y="1614187"/>
            <a:ext cx="17145000" cy="867281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5400"/>
              <a:buNone/>
            </a:pPr>
            <a:r>
              <a:rPr lang="en-US" sz="4500">
                <a:solidFill>
                  <a:srgbClr val="00B050"/>
                </a:solidFill>
                <a:latin typeface="Times New Roman"/>
                <a:ea typeface="Times New Roman"/>
                <a:cs typeface="Times New Roman"/>
                <a:sym typeface="Times New Roman"/>
              </a:rPr>
              <a:t># open the file</a:t>
            </a:r>
            <a:endParaRPr sz="4500">
              <a:solidFill>
                <a:srgbClr val="00B050"/>
              </a:solidFill>
              <a:latin typeface="Times New Roman"/>
              <a:ea typeface="Times New Roman"/>
              <a:cs typeface="Times New Roman"/>
              <a:sym typeface="Times New Roman"/>
            </a:endParaRPr>
          </a:p>
          <a:p>
            <a:pPr indent="0" lvl="0" marL="0" rtl="0" algn="l">
              <a:lnSpc>
                <a:spcPct val="90000"/>
              </a:lnSpc>
              <a:spcBef>
                <a:spcPts val="815"/>
              </a:spcBef>
              <a:spcAft>
                <a:spcPts val="0"/>
              </a:spcAft>
              <a:buClr>
                <a:schemeClr val="dk1"/>
              </a:buClr>
              <a:buSzPts val="5400"/>
              <a:buNone/>
            </a:pPr>
            <a:r>
              <a:rPr lang="en-US" sz="4500">
                <a:latin typeface="Times New Roman"/>
                <a:ea typeface="Times New Roman"/>
                <a:cs typeface="Times New Roman"/>
                <a:sym typeface="Times New Roman"/>
              </a:rPr>
              <a:t>       f = open("test_write.txt",'r')</a:t>
            </a:r>
            <a:endParaRPr sz="4500">
              <a:latin typeface="Times New Roman"/>
              <a:ea typeface="Times New Roman"/>
              <a:cs typeface="Times New Roman"/>
              <a:sym typeface="Times New Roman"/>
            </a:endParaRPr>
          </a:p>
          <a:p>
            <a:pPr indent="0" lvl="0" marL="0" rtl="0" algn="l">
              <a:lnSpc>
                <a:spcPct val="90000"/>
              </a:lnSpc>
              <a:spcBef>
                <a:spcPts val="815"/>
              </a:spcBef>
              <a:spcAft>
                <a:spcPts val="0"/>
              </a:spcAft>
              <a:buClr>
                <a:schemeClr val="dk1"/>
              </a:buClr>
              <a:buSzPts val="5400"/>
              <a:buNone/>
            </a:pPr>
            <a:r>
              <a:rPr lang="en-US" sz="4500">
                <a:solidFill>
                  <a:srgbClr val="00B050"/>
                </a:solidFill>
                <a:latin typeface="Times New Roman"/>
                <a:ea typeface="Times New Roman"/>
                <a:cs typeface="Times New Roman"/>
                <a:sym typeface="Times New Roman"/>
              </a:rPr>
              <a:t># read 28 bytes of data</a:t>
            </a:r>
            <a:endParaRPr sz="4500">
              <a:solidFill>
                <a:srgbClr val="00B050"/>
              </a:solidFill>
              <a:latin typeface="Times New Roman"/>
              <a:ea typeface="Times New Roman"/>
              <a:cs typeface="Times New Roman"/>
              <a:sym typeface="Times New Roman"/>
            </a:endParaRPr>
          </a:p>
          <a:p>
            <a:pPr indent="0" lvl="0" marL="0" rtl="0" algn="l">
              <a:lnSpc>
                <a:spcPct val="90000"/>
              </a:lnSpc>
              <a:spcBef>
                <a:spcPts val="815"/>
              </a:spcBef>
              <a:spcAft>
                <a:spcPts val="0"/>
              </a:spcAft>
              <a:buClr>
                <a:schemeClr val="dk1"/>
              </a:buClr>
              <a:buSzPts val="5400"/>
              <a:buNone/>
            </a:pPr>
            <a:r>
              <a:rPr lang="en-US" sz="4500">
                <a:latin typeface="Times New Roman"/>
                <a:ea typeface="Times New Roman"/>
                <a:cs typeface="Times New Roman"/>
                <a:sym typeface="Times New Roman"/>
              </a:rPr>
              <a:t>       f.read(28)</a:t>
            </a:r>
            <a:endParaRPr sz="4500">
              <a:latin typeface="Times New Roman"/>
              <a:ea typeface="Times New Roman"/>
              <a:cs typeface="Times New Roman"/>
              <a:sym typeface="Times New Roman"/>
            </a:endParaRPr>
          </a:p>
          <a:p>
            <a:pPr indent="0" lvl="0" marL="0" rtl="0" algn="l">
              <a:lnSpc>
                <a:spcPct val="90000"/>
              </a:lnSpc>
              <a:spcBef>
                <a:spcPts val="815"/>
              </a:spcBef>
              <a:spcAft>
                <a:spcPts val="0"/>
              </a:spcAft>
              <a:buClr>
                <a:schemeClr val="dk1"/>
              </a:buClr>
              <a:buSzPts val="5400"/>
              <a:buNone/>
            </a:pPr>
            <a:r>
              <a:rPr lang="en-US" sz="4500">
                <a:solidFill>
                  <a:srgbClr val="00B050"/>
                </a:solidFill>
                <a:latin typeface="Times New Roman"/>
                <a:ea typeface="Times New Roman"/>
                <a:cs typeface="Times New Roman"/>
                <a:sym typeface="Times New Roman"/>
              </a:rPr>
              <a:t># check the current position</a:t>
            </a:r>
            <a:endParaRPr sz="4500">
              <a:solidFill>
                <a:srgbClr val="00B050"/>
              </a:solidFill>
              <a:latin typeface="Times New Roman"/>
              <a:ea typeface="Times New Roman"/>
              <a:cs typeface="Times New Roman"/>
              <a:sym typeface="Times New Roman"/>
            </a:endParaRPr>
          </a:p>
          <a:p>
            <a:pPr indent="0" lvl="0" marL="0" rtl="0" algn="l">
              <a:lnSpc>
                <a:spcPct val="90000"/>
              </a:lnSpc>
              <a:spcBef>
                <a:spcPts val="815"/>
              </a:spcBef>
              <a:spcAft>
                <a:spcPts val="0"/>
              </a:spcAft>
              <a:buClr>
                <a:schemeClr val="dk1"/>
              </a:buClr>
              <a:buSzPts val="5400"/>
              <a:buNone/>
            </a:pPr>
            <a:r>
              <a:rPr lang="en-US" sz="4500">
                <a:latin typeface="Times New Roman"/>
                <a:ea typeface="Times New Roman"/>
                <a:cs typeface="Times New Roman"/>
                <a:sym typeface="Times New Roman"/>
              </a:rPr>
              <a:t>       f.tell()</a:t>
            </a:r>
            <a:endParaRPr sz="4500">
              <a:latin typeface="Times New Roman"/>
              <a:ea typeface="Times New Roman"/>
              <a:cs typeface="Times New Roman"/>
              <a:sym typeface="Times New Roman"/>
            </a:endParaRPr>
          </a:p>
          <a:p>
            <a:pPr indent="0" lvl="0" marL="0" rtl="0" algn="l">
              <a:lnSpc>
                <a:spcPct val="90000"/>
              </a:lnSpc>
              <a:spcBef>
                <a:spcPts val="815"/>
              </a:spcBef>
              <a:spcAft>
                <a:spcPts val="0"/>
              </a:spcAft>
              <a:buClr>
                <a:schemeClr val="dk1"/>
              </a:buClr>
              <a:buSzPts val="5400"/>
              <a:buNone/>
            </a:pPr>
            <a:r>
              <a:rPr lang="en-US" sz="4500">
                <a:solidFill>
                  <a:srgbClr val="00B050"/>
                </a:solidFill>
                <a:latin typeface="Times New Roman"/>
                <a:ea typeface="Times New Roman"/>
                <a:cs typeface="Times New Roman"/>
                <a:sym typeface="Times New Roman"/>
              </a:rPr>
              <a:t># change the position to beginning</a:t>
            </a:r>
            <a:endParaRPr sz="4500">
              <a:solidFill>
                <a:srgbClr val="00B050"/>
              </a:solidFill>
              <a:latin typeface="Times New Roman"/>
              <a:ea typeface="Times New Roman"/>
              <a:cs typeface="Times New Roman"/>
              <a:sym typeface="Times New Roman"/>
            </a:endParaRPr>
          </a:p>
          <a:p>
            <a:pPr indent="0" lvl="0" marL="0" rtl="0" algn="l">
              <a:lnSpc>
                <a:spcPct val="90000"/>
              </a:lnSpc>
              <a:spcBef>
                <a:spcPts val="815"/>
              </a:spcBef>
              <a:spcAft>
                <a:spcPts val="0"/>
              </a:spcAft>
              <a:buClr>
                <a:schemeClr val="dk1"/>
              </a:buClr>
              <a:buSzPts val="5400"/>
              <a:buNone/>
            </a:pPr>
            <a:r>
              <a:rPr lang="en-US" sz="4500">
                <a:latin typeface="Times New Roman"/>
                <a:ea typeface="Times New Roman"/>
                <a:cs typeface="Times New Roman"/>
                <a:sym typeface="Times New Roman"/>
              </a:rPr>
              <a:t>       f.seek(0)</a:t>
            </a:r>
            <a:endParaRPr sz="4500">
              <a:latin typeface="Times New Roman"/>
              <a:ea typeface="Times New Roman"/>
              <a:cs typeface="Times New Roman"/>
              <a:sym typeface="Times New Roman"/>
            </a:endParaRPr>
          </a:p>
          <a:p>
            <a:pPr indent="0" lvl="0" marL="0" rtl="0" algn="l">
              <a:lnSpc>
                <a:spcPct val="90000"/>
              </a:lnSpc>
              <a:spcBef>
                <a:spcPts val="815"/>
              </a:spcBef>
              <a:spcAft>
                <a:spcPts val="0"/>
              </a:spcAft>
              <a:buClr>
                <a:schemeClr val="dk1"/>
              </a:buClr>
              <a:buSzPts val="5400"/>
              <a:buNone/>
            </a:pPr>
            <a:r>
              <a:rPr lang="en-US" sz="4500">
                <a:solidFill>
                  <a:srgbClr val="00B050"/>
                </a:solidFill>
                <a:latin typeface="Times New Roman"/>
                <a:ea typeface="Times New Roman"/>
                <a:cs typeface="Times New Roman"/>
                <a:sym typeface="Times New Roman"/>
              </a:rPr>
              <a:t># again read 25 bytes</a:t>
            </a:r>
            <a:endParaRPr sz="4500">
              <a:solidFill>
                <a:srgbClr val="00B050"/>
              </a:solidFill>
              <a:latin typeface="Times New Roman"/>
              <a:ea typeface="Times New Roman"/>
              <a:cs typeface="Times New Roman"/>
              <a:sym typeface="Times New Roman"/>
            </a:endParaRPr>
          </a:p>
          <a:p>
            <a:pPr indent="0" lvl="0" marL="0" rtl="0" algn="l">
              <a:lnSpc>
                <a:spcPct val="90000"/>
              </a:lnSpc>
              <a:spcBef>
                <a:spcPts val="815"/>
              </a:spcBef>
              <a:spcAft>
                <a:spcPts val="0"/>
              </a:spcAft>
              <a:buClr>
                <a:schemeClr val="dk1"/>
              </a:buClr>
              <a:buSzPts val="5400"/>
              <a:buNone/>
            </a:pPr>
            <a:r>
              <a:rPr lang="en-US" sz="4500">
                <a:latin typeface="Times New Roman"/>
                <a:ea typeface="Times New Roman"/>
                <a:cs typeface="Times New Roman"/>
                <a:sym typeface="Times New Roman"/>
              </a:rPr>
              <a:t>       f.read(25)</a:t>
            </a:r>
            <a:endParaRPr sz="4500">
              <a:latin typeface="Times New Roman"/>
              <a:ea typeface="Times New Roman"/>
              <a:cs typeface="Times New Roman"/>
              <a:sym typeface="Times New Roman"/>
            </a:endParaRPr>
          </a:p>
        </p:txBody>
      </p:sp>
      <p:sp>
        <p:nvSpPr>
          <p:cNvPr id="446" name="Google Shape;446;p34"/>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5"/>
          <p:cNvSpPr/>
          <p:nvPr/>
        </p:nvSpPr>
        <p:spPr>
          <a:xfrm>
            <a:off x="1330036" y="6470073"/>
            <a:ext cx="11554691" cy="858982"/>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2" name="Google Shape;452;p35"/>
          <p:cNvSpPr/>
          <p:nvPr/>
        </p:nvSpPr>
        <p:spPr>
          <a:xfrm>
            <a:off x="2078182" y="3449782"/>
            <a:ext cx="2355273" cy="623454"/>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3" name="Google Shape;453;p35"/>
          <p:cNvSpPr txBox="1"/>
          <p:nvPr>
            <p:ph type="title"/>
          </p:nvPr>
        </p:nvSpPr>
        <p:spPr>
          <a:xfrm>
            <a:off x="0" y="0"/>
            <a:ext cx="18288000" cy="19812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Renaming a File</a:t>
            </a:r>
            <a:endParaRPr b="1" sz="4800">
              <a:solidFill>
                <a:srgbClr val="2E75B5"/>
              </a:solidFill>
              <a:latin typeface="Times New Roman"/>
              <a:ea typeface="Times New Roman"/>
              <a:cs typeface="Times New Roman"/>
              <a:sym typeface="Times New Roman"/>
            </a:endParaRPr>
          </a:p>
        </p:txBody>
      </p:sp>
      <p:sp>
        <p:nvSpPr>
          <p:cNvPr id="454" name="Google Shape;454;p35"/>
          <p:cNvSpPr txBox="1"/>
          <p:nvPr>
            <p:ph idx="1" type="body"/>
          </p:nvPr>
        </p:nvSpPr>
        <p:spPr>
          <a:xfrm>
            <a:off x="422564" y="1932973"/>
            <a:ext cx="17068799" cy="8163527"/>
          </a:xfrm>
          <a:prstGeom prst="rect">
            <a:avLst/>
          </a:prstGeom>
          <a:noFill/>
          <a:ln>
            <a:noFill/>
          </a:ln>
        </p:spPr>
        <p:txBody>
          <a:bodyPr anchorCtr="0" anchor="t" bIns="68550" lIns="137125" spcFirstLastPara="1" rIns="137125" wrap="square" tIns="68550">
            <a:normAutofit/>
          </a:bodyPr>
          <a:lstStyle/>
          <a:p>
            <a:pPr indent="-342900" lvl="0" marL="342900" rtl="0" algn="just">
              <a:lnSpc>
                <a:spcPct val="90000"/>
              </a:lnSpc>
              <a:spcBef>
                <a:spcPts val="0"/>
              </a:spcBef>
              <a:spcAft>
                <a:spcPts val="0"/>
              </a:spcAft>
              <a:buClr>
                <a:schemeClr val="dk1"/>
              </a:buClr>
              <a:buSzPts val="3200"/>
              <a:buFont typeface="Noto Sans Symbols"/>
              <a:buChar char="⮚"/>
            </a:pPr>
            <a:r>
              <a:rPr lang="en-US" sz="5000">
                <a:latin typeface="Times New Roman"/>
                <a:ea typeface="Times New Roman"/>
                <a:cs typeface="Times New Roman"/>
                <a:sym typeface="Times New Roman"/>
              </a:rPr>
              <a:t>Renaming a file in Python is done with the help of the rename() method. </a:t>
            </a:r>
            <a:endParaRPr sz="5000">
              <a:latin typeface="Times New Roman"/>
              <a:ea typeface="Times New Roman"/>
              <a:cs typeface="Times New Roman"/>
              <a:sym typeface="Times New Roman"/>
            </a:endParaRPr>
          </a:p>
          <a:p>
            <a:pPr indent="-342900" lvl="0" marL="342900" rtl="0" algn="just">
              <a:lnSpc>
                <a:spcPct val="90000"/>
              </a:lnSpc>
              <a:spcBef>
                <a:spcPts val="0"/>
              </a:spcBef>
              <a:spcAft>
                <a:spcPts val="0"/>
              </a:spcAft>
              <a:buClr>
                <a:schemeClr val="dk1"/>
              </a:buClr>
              <a:buSzPts val="3200"/>
              <a:buFont typeface="Noto Sans Symbols"/>
              <a:buChar char="⮚"/>
            </a:pPr>
            <a:r>
              <a:rPr lang="en-US" sz="5000">
                <a:latin typeface="Times New Roman"/>
                <a:ea typeface="Times New Roman"/>
                <a:cs typeface="Times New Roman"/>
                <a:sym typeface="Times New Roman"/>
              </a:rPr>
              <a:t>The rename() method is passed with two arguments, the current filename and the new filename.</a:t>
            </a:r>
            <a:endParaRPr sz="5000">
              <a:latin typeface="Times New Roman"/>
              <a:ea typeface="Times New Roman"/>
              <a:cs typeface="Times New Roman"/>
              <a:sym typeface="Times New Roman"/>
            </a:endParaRPr>
          </a:p>
          <a:p>
            <a:pPr indent="0" lvl="0" marL="0" rtl="0" algn="just">
              <a:lnSpc>
                <a:spcPct val="90000"/>
              </a:lnSpc>
              <a:spcBef>
                <a:spcPts val="960"/>
              </a:spcBef>
              <a:spcAft>
                <a:spcPts val="0"/>
              </a:spcAft>
              <a:buClr>
                <a:schemeClr val="dk1"/>
              </a:buClr>
              <a:buSzPts val="3200"/>
              <a:buNone/>
            </a:pPr>
            <a:r>
              <a:t/>
            </a:r>
            <a:endParaRPr sz="5000">
              <a:solidFill>
                <a:srgbClr val="0070C0"/>
              </a:solidFill>
              <a:latin typeface="Times New Roman"/>
              <a:ea typeface="Times New Roman"/>
              <a:cs typeface="Times New Roman"/>
              <a:sym typeface="Times New Roman"/>
            </a:endParaRPr>
          </a:p>
          <a:p>
            <a:pPr indent="0" lvl="0" marL="0" rtl="0" algn="just">
              <a:lnSpc>
                <a:spcPct val="90000"/>
              </a:lnSpc>
              <a:spcBef>
                <a:spcPts val="960"/>
              </a:spcBef>
              <a:spcAft>
                <a:spcPts val="0"/>
              </a:spcAft>
              <a:buClr>
                <a:schemeClr val="dk1"/>
              </a:buClr>
              <a:buSzPts val="3200"/>
              <a:buNone/>
            </a:pPr>
            <a:r>
              <a:rPr lang="en-US" sz="5000">
                <a:solidFill>
                  <a:srgbClr val="0070C0"/>
                </a:solidFill>
                <a:latin typeface="Times New Roman"/>
                <a:ea typeface="Times New Roman"/>
                <a:cs typeface="Times New Roman"/>
                <a:sym typeface="Times New Roman"/>
              </a:rPr>
              <a:t>Syntax</a:t>
            </a:r>
            <a:endParaRPr sz="5000">
              <a:solidFill>
                <a:srgbClr val="0070C0"/>
              </a:solidFill>
              <a:latin typeface="Times New Roman"/>
              <a:ea typeface="Times New Roman"/>
              <a:cs typeface="Times New Roman"/>
              <a:sym typeface="Times New Roman"/>
            </a:endParaRPr>
          </a:p>
          <a:p>
            <a:pPr indent="0" lvl="0" marL="0" rtl="0" algn="just">
              <a:lnSpc>
                <a:spcPct val="90000"/>
              </a:lnSpc>
              <a:spcBef>
                <a:spcPts val="960"/>
              </a:spcBef>
              <a:spcAft>
                <a:spcPts val="0"/>
              </a:spcAft>
              <a:buClr>
                <a:schemeClr val="dk1"/>
              </a:buClr>
              <a:buSzPts val="3200"/>
              <a:buNone/>
            </a:pPr>
            <a:r>
              <a:rPr lang="en-US" sz="5000">
                <a:solidFill>
                  <a:srgbClr val="00B050"/>
                </a:solidFill>
                <a:latin typeface="Times New Roman"/>
                <a:ea typeface="Times New Roman"/>
                <a:cs typeface="Times New Roman"/>
                <a:sym typeface="Times New Roman"/>
              </a:rPr>
              <a:t>	os.rename(current_filename, new_filename)</a:t>
            </a:r>
            <a:endParaRPr sz="5000">
              <a:solidFill>
                <a:srgbClr val="00B050"/>
              </a:solidFill>
              <a:latin typeface="Times New Roman"/>
              <a:ea typeface="Times New Roman"/>
              <a:cs typeface="Times New Roman"/>
              <a:sym typeface="Times New Roman"/>
            </a:endParaRPr>
          </a:p>
        </p:txBody>
      </p:sp>
      <p:sp>
        <p:nvSpPr>
          <p:cNvPr id="455" name="Google Shape;455;p35"/>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6"/>
          <p:cNvSpPr/>
          <p:nvPr/>
        </p:nvSpPr>
        <p:spPr>
          <a:xfrm>
            <a:off x="2369127" y="6179127"/>
            <a:ext cx="1191491" cy="595746"/>
          </a:xfrm>
          <a:prstGeom prst="rect">
            <a:avLst/>
          </a:prstGeom>
          <a:solidFill>
            <a:srgbClr val="B3C6E7"/>
          </a:solidFill>
          <a:ln cap="flat" cmpd="sng" w="25400">
            <a:solidFill>
              <a:srgbClr val="B3C6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1" name="Google Shape;461;p36"/>
          <p:cNvSpPr/>
          <p:nvPr/>
        </p:nvSpPr>
        <p:spPr>
          <a:xfrm>
            <a:off x="4752109" y="6220691"/>
            <a:ext cx="2230583" cy="595745"/>
          </a:xfrm>
          <a:prstGeom prst="rect">
            <a:avLst/>
          </a:prstGeom>
          <a:solidFill>
            <a:srgbClr val="B3C6E7"/>
          </a:solidFill>
          <a:ln cap="flat" cmpd="sng" w="25400">
            <a:solidFill>
              <a:srgbClr val="B3C6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2" name="Google Shape;462;p36"/>
          <p:cNvSpPr txBox="1"/>
          <p:nvPr>
            <p:ph type="title"/>
          </p:nvPr>
        </p:nvSpPr>
        <p:spPr>
          <a:xfrm>
            <a:off x="0" y="857811"/>
            <a:ext cx="18288000" cy="1374499"/>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OS Module</a:t>
            </a:r>
            <a:endParaRPr b="1" sz="4800">
              <a:solidFill>
                <a:srgbClr val="2E75B5"/>
              </a:solidFill>
              <a:latin typeface="Times New Roman"/>
              <a:ea typeface="Times New Roman"/>
              <a:cs typeface="Times New Roman"/>
              <a:sym typeface="Times New Roman"/>
            </a:endParaRPr>
          </a:p>
        </p:txBody>
      </p:sp>
      <p:sp>
        <p:nvSpPr>
          <p:cNvPr id="463" name="Google Shape;463;p36"/>
          <p:cNvSpPr txBox="1"/>
          <p:nvPr>
            <p:ph idx="1" type="body"/>
          </p:nvPr>
        </p:nvSpPr>
        <p:spPr>
          <a:xfrm>
            <a:off x="630382" y="2703364"/>
            <a:ext cx="17068800" cy="7801845"/>
          </a:xfrm>
          <a:prstGeom prst="rect">
            <a:avLst/>
          </a:prstGeom>
          <a:noFill/>
          <a:ln>
            <a:noFill/>
          </a:ln>
        </p:spPr>
        <p:txBody>
          <a:bodyPr anchorCtr="0" anchor="t" bIns="68550" lIns="137125" spcFirstLastPara="1" rIns="137125" wrap="square" tIns="68550">
            <a:normAutofit/>
          </a:bodyPr>
          <a:lstStyle/>
          <a:p>
            <a:pPr indent="-342900" lvl="0" marL="342900" rtl="0" algn="just">
              <a:lnSpc>
                <a:spcPct val="90000"/>
              </a:lnSpc>
              <a:spcBef>
                <a:spcPts val="0"/>
              </a:spcBef>
              <a:spcAft>
                <a:spcPts val="0"/>
              </a:spcAft>
              <a:buClr>
                <a:schemeClr val="dk1"/>
              </a:buClr>
              <a:buSzPts val="4800"/>
              <a:buFont typeface="Noto Sans Symbols"/>
              <a:buChar char="⮚"/>
            </a:pPr>
            <a:r>
              <a:rPr lang="en-US" sz="4500">
                <a:latin typeface="Times New Roman"/>
                <a:ea typeface="Times New Roman"/>
                <a:cs typeface="Times New Roman"/>
                <a:sym typeface="Times New Roman"/>
              </a:rPr>
              <a:t>The OS module in Python provides functions for interacting with the operating system. </a:t>
            </a:r>
            <a:endParaRPr sz="4500">
              <a:latin typeface="Times New Roman"/>
              <a:ea typeface="Times New Roman"/>
              <a:cs typeface="Times New Roman"/>
              <a:sym typeface="Times New Roman"/>
            </a:endParaRPr>
          </a:p>
          <a:p>
            <a:pPr indent="-342900" lvl="0" marL="342900" rtl="0" algn="just">
              <a:lnSpc>
                <a:spcPct val="90000"/>
              </a:lnSpc>
              <a:spcBef>
                <a:spcPts val="890"/>
              </a:spcBef>
              <a:spcAft>
                <a:spcPts val="0"/>
              </a:spcAft>
              <a:buClr>
                <a:schemeClr val="dk1"/>
              </a:buClr>
              <a:buSzPts val="4800"/>
              <a:buFont typeface="Noto Sans Symbols"/>
              <a:buChar char="⮚"/>
            </a:pPr>
            <a:r>
              <a:rPr lang="en-US" sz="4500">
                <a:latin typeface="Times New Roman"/>
                <a:ea typeface="Times New Roman"/>
                <a:cs typeface="Times New Roman"/>
                <a:sym typeface="Times New Roman"/>
              </a:rPr>
              <a:t>OS comes under Python’s standard utility modules.</a:t>
            </a:r>
            <a:endParaRPr sz="4500">
              <a:latin typeface="Times New Roman"/>
              <a:ea typeface="Times New Roman"/>
              <a:cs typeface="Times New Roman"/>
              <a:sym typeface="Times New Roman"/>
            </a:endParaRPr>
          </a:p>
          <a:p>
            <a:pPr indent="-342900" lvl="0" marL="342900" rtl="0" algn="just">
              <a:lnSpc>
                <a:spcPct val="90000"/>
              </a:lnSpc>
              <a:spcBef>
                <a:spcPts val="890"/>
              </a:spcBef>
              <a:spcAft>
                <a:spcPts val="0"/>
              </a:spcAft>
              <a:buClr>
                <a:schemeClr val="dk1"/>
              </a:buClr>
              <a:buSzPts val="4800"/>
              <a:buFont typeface="Noto Sans Symbols"/>
              <a:buChar char="⮚"/>
            </a:pPr>
            <a:r>
              <a:rPr lang="en-US" sz="4500">
                <a:latin typeface="Times New Roman"/>
                <a:ea typeface="Times New Roman"/>
                <a:cs typeface="Times New Roman"/>
                <a:sym typeface="Times New Roman"/>
              </a:rPr>
              <a:t> This module provides a portable way of using operating system-dependent functionality.</a:t>
            </a:r>
            <a:endParaRPr sz="4500">
              <a:latin typeface="Times New Roman"/>
              <a:ea typeface="Times New Roman"/>
              <a:cs typeface="Times New Roman"/>
              <a:sym typeface="Times New Roman"/>
            </a:endParaRPr>
          </a:p>
          <a:p>
            <a:pPr indent="-342900" lvl="0" marL="342900" rtl="0" algn="just">
              <a:lnSpc>
                <a:spcPct val="90000"/>
              </a:lnSpc>
              <a:spcBef>
                <a:spcPts val="890"/>
              </a:spcBef>
              <a:spcAft>
                <a:spcPts val="0"/>
              </a:spcAft>
              <a:buClr>
                <a:schemeClr val="dk1"/>
              </a:buClr>
              <a:buSzPts val="4800"/>
              <a:buFont typeface="Noto Sans Symbols"/>
              <a:buChar char="⮚"/>
            </a:pPr>
            <a:r>
              <a:rPr lang="en-US" sz="4500">
                <a:latin typeface="Times New Roman"/>
                <a:ea typeface="Times New Roman"/>
                <a:cs typeface="Times New Roman"/>
                <a:sym typeface="Times New Roman"/>
              </a:rPr>
              <a:t> The *os* and *os.path* modules include many functions to interact with the file system.</a:t>
            </a:r>
            <a:endParaRPr sz="4500">
              <a:latin typeface="Times New Roman"/>
              <a:ea typeface="Times New Roman"/>
              <a:cs typeface="Times New Roman"/>
              <a:sym typeface="Times New Roman"/>
            </a:endParaRPr>
          </a:p>
          <a:p>
            <a:pPr indent="0" lvl="0" marL="0" rtl="0" algn="just">
              <a:lnSpc>
                <a:spcPct val="90000"/>
              </a:lnSpc>
              <a:spcBef>
                <a:spcPts val="890"/>
              </a:spcBef>
              <a:spcAft>
                <a:spcPts val="0"/>
              </a:spcAft>
              <a:buClr>
                <a:schemeClr val="dk1"/>
              </a:buClr>
              <a:buSzPts val="4200"/>
              <a:buNone/>
            </a:pPr>
            <a:br>
              <a:rPr lang="en-US"/>
            </a:br>
            <a:r>
              <a:rPr lang="en-US"/>
              <a:t> </a:t>
            </a:r>
            <a:endParaRPr/>
          </a:p>
        </p:txBody>
      </p:sp>
      <p:sp>
        <p:nvSpPr>
          <p:cNvPr id="464" name="Google Shape;464;p36"/>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7"/>
          <p:cNvSpPr/>
          <p:nvPr/>
        </p:nvSpPr>
        <p:spPr>
          <a:xfrm>
            <a:off x="15336982" y="2258291"/>
            <a:ext cx="2410691" cy="762000"/>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0" name="Google Shape;470;p37"/>
          <p:cNvSpPr/>
          <p:nvPr/>
        </p:nvSpPr>
        <p:spPr>
          <a:xfrm>
            <a:off x="4461164" y="6082145"/>
            <a:ext cx="5389418" cy="775855"/>
          </a:xfrm>
          <a:prstGeom prst="rect">
            <a:avLst/>
          </a:prstGeom>
          <a:solidFill>
            <a:srgbClr val="9CC2E5"/>
          </a:solidFill>
          <a:ln cap="flat" cmpd="sng" w="25400">
            <a:solidFill>
              <a:srgbClr val="BBD6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1" name="Google Shape;471;p37"/>
          <p:cNvSpPr txBox="1"/>
          <p:nvPr>
            <p:ph type="title"/>
          </p:nvPr>
        </p:nvSpPr>
        <p:spPr>
          <a:xfrm>
            <a:off x="0" y="342900"/>
            <a:ext cx="18288000" cy="12954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Deleting File </a:t>
            </a:r>
            <a:endParaRPr b="1" sz="4800">
              <a:solidFill>
                <a:srgbClr val="2E75B5"/>
              </a:solidFill>
              <a:latin typeface="Times New Roman"/>
              <a:ea typeface="Times New Roman"/>
              <a:cs typeface="Times New Roman"/>
              <a:sym typeface="Times New Roman"/>
            </a:endParaRPr>
          </a:p>
        </p:txBody>
      </p:sp>
      <p:sp>
        <p:nvSpPr>
          <p:cNvPr id="472" name="Google Shape;472;p37"/>
          <p:cNvSpPr txBox="1"/>
          <p:nvPr>
            <p:ph idx="1" type="body"/>
          </p:nvPr>
        </p:nvSpPr>
        <p:spPr>
          <a:xfrm>
            <a:off x="692727" y="2217078"/>
            <a:ext cx="17145000" cy="7551549"/>
          </a:xfrm>
          <a:prstGeom prst="rect">
            <a:avLst/>
          </a:prstGeom>
          <a:noFill/>
          <a:ln>
            <a:noFill/>
          </a:ln>
        </p:spPr>
        <p:txBody>
          <a:bodyPr anchorCtr="0" anchor="t" bIns="68550" lIns="137125" spcFirstLastPara="1" rIns="137125" wrap="square" tIns="68550">
            <a:normAutofit/>
          </a:bodyPr>
          <a:lstStyle/>
          <a:p>
            <a:pPr indent="-342900" lvl="0" marL="342900" rtl="0" algn="just">
              <a:lnSpc>
                <a:spcPct val="90000"/>
              </a:lnSpc>
              <a:spcBef>
                <a:spcPts val="0"/>
              </a:spcBef>
              <a:spcAft>
                <a:spcPts val="0"/>
              </a:spcAft>
              <a:buClr>
                <a:schemeClr val="dk1"/>
              </a:buClr>
              <a:buSzPts val="3200"/>
              <a:buFont typeface="Noto Sans Symbols"/>
              <a:buChar char="⮚"/>
            </a:pPr>
            <a:r>
              <a:rPr lang="en-US" sz="5000">
                <a:latin typeface="Times New Roman"/>
                <a:ea typeface="Times New Roman"/>
                <a:cs typeface="Times New Roman"/>
                <a:sym typeface="Times New Roman"/>
              </a:rPr>
              <a:t>Deleting a file in Python is done with the help of the remove() method. </a:t>
            </a:r>
            <a:endParaRPr sz="5000">
              <a:latin typeface="Times New Roman"/>
              <a:ea typeface="Times New Roman"/>
              <a:cs typeface="Times New Roman"/>
              <a:sym typeface="Times New Roman"/>
            </a:endParaRPr>
          </a:p>
          <a:p>
            <a:pPr indent="-342900" lvl="0" marL="342900" rtl="0" algn="just">
              <a:lnSpc>
                <a:spcPct val="90000"/>
              </a:lnSpc>
              <a:spcBef>
                <a:spcPts val="960"/>
              </a:spcBef>
              <a:spcAft>
                <a:spcPts val="0"/>
              </a:spcAft>
              <a:buClr>
                <a:schemeClr val="dk1"/>
              </a:buClr>
              <a:buSzPts val="3200"/>
              <a:buFont typeface="Noto Sans Symbols"/>
              <a:buChar char="⮚"/>
            </a:pPr>
            <a:r>
              <a:rPr lang="en-US" sz="5000">
                <a:latin typeface="Times New Roman"/>
                <a:ea typeface="Times New Roman"/>
                <a:cs typeface="Times New Roman"/>
                <a:sym typeface="Times New Roman"/>
              </a:rPr>
              <a:t>It takes the filename as an argument to be deleted.</a:t>
            </a:r>
            <a:endParaRPr/>
          </a:p>
          <a:p>
            <a:pPr indent="-342900" lvl="0" marL="342900" rtl="0" algn="just">
              <a:lnSpc>
                <a:spcPct val="90000"/>
              </a:lnSpc>
              <a:spcBef>
                <a:spcPts val="960"/>
              </a:spcBef>
              <a:spcAft>
                <a:spcPts val="0"/>
              </a:spcAft>
              <a:buClr>
                <a:schemeClr val="dk1"/>
              </a:buClr>
              <a:buSzPts val="3200"/>
              <a:buNone/>
            </a:pPr>
            <a:r>
              <a:t/>
            </a:r>
            <a:endParaRPr sz="5000">
              <a:latin typeface="Times New Roman"/>
              <a:ea typeface="Times New Roman"/>
              <a:cs typeface="Times New Roman"/>
              <a:sym typeface="Times New Roman"/>
            </a:endParaRPr>
          </a:p>
          <a:p>
            <a:pPr indent="-342900" lvl="0" marL="342900" rtl="0" algn="l">
              <a:lnSpc>
                <a:spcPct val="90000"/>
              </a:lnSpc>
              <a:spcBef>
                <a:spcPts val="960"/>
              </a:spcBef>
              <a:spcAft>
                <a:spcPts val="0"/>
              </a:spcAft>
              <a:buClr>
                <a:schemeClr val="dk1"/>
              </a:buClr>
              <a:buSzPts val="3200"/>
              <a:buNone/>
            </a:pPr>
            <a:r>
              <a:rPr lang="en-US" sz="5000">
                <a:latin typeface="Times New Roman"/>
                <a:ea typeface="Times New Roman"/>
                <a:cs typeface="Times New Roman"/>
                <a:sym typeface="Times New Roman"/>
              </a:rPr>
              <a:t>				Syntax</a:t>
            </a:r>
            <a:br>
              <a:rPr lang="en-US" sz="5000">
                <a:latin typeface="Times New Roman"/>
                <a:ea typeface="Times New Roman"/>
                <a:cs typeface="Times New Roman"/>
                <a:sym typeface="Times New Roman"/>
              </a:rPr>
            </a:br>
            <a:r>
              <a:rPr lang="en-US" sz="5000">
                <a:latin typeface="Times New Roman"/>
                <a:ea typeface="Times New Roman"/>
                <a:cs typeface="Times New Roman"/>
                <a:sym typeface="Times New Roman"/>
              </a:rPr>
              <a:t> 				os.remove(filename)</a:t>
            </a:r>
            <a:endParaRPr sz="5000">
              <a:latin typeface="Times New Roman"/>
              <a:ea typeface="Times New Roman"/>
              <a:cs typeface="Times New Roman"/>
              <a:sym typeface="Times New Roman"/>
            </a:endParaRPr>
          </a:p>
        </p:txBody>
      </p:sp>
      <p:sp>
        <p:nvSpPr>
          <p:cNvPr id="473" name="Google Shape;473;p3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38"/>
          <p:cNvSpPr txBox="1"/>
          <p:nvPr>
            <p:ph type="title"/>
          </p:nvPr>
        </p:nvSpPr>
        <p:spPr>
          <a:xfrm>
            <a:off x="-2483428" y="1074160"/>
            <a:ext cx="15773400" cy="1988345"/>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Example </a:t>
            </a:r>
            <a:endParaRPr b="1" sz="4800">
              <a:solidFill>
                <a:srgbClr val="2E75B5"/>
              </a:solidFill>
              <a:latin typeface="Times New Roman"/>
              <a:ea typeface="Times New Roman"/>
              <a:cs typeface="Times New Roman"/>
              <a:sym typeface="Times New Roman"/>
            </a:endParaRPr>
          </a:p>
        </p:txBody>
      </p:sp>
      <p:sp>
        <p:nvSpPr>
          <p:cNvPr id="479" name="Google Shape;479;p38"/>
          <p:cNvSpPr txBox="1"/>
          <p:nvPr>
            <p:ph idx="1" type="body"/>
          </p:nvPr>
        </p:nvSpPr>
        <p:spPr>
          <a:xfrm>
            <a:off x="3650565" y="3114277"/>
            <a:ext cx="12159207" cy="5821160"/>
          </a:xfrm>
          <a:prstGeom prst="rect">
            <a:avLst/>
          </a:prstGeom>
          <a:noFill/>
          <a:ln>
            <a:noFill/>
          </a:ln>
        </p:spPr>
        <p:txBody>
          <a:bodyPr anchorCtr="0" anchor="t" bIns="68550" lIns="137125" spcFirstLastPara="1" rIns="137125" wrap="square" tIns="68550">
            <a:normAutofit/>
          </a:bodyPr>
          <a:lstStyle/>
          <a:p>
            <a:pPr indent="-857250" lvl="1" marL="1371600" rtl="0" algn="l">
              <a:lnSpc>
                <a:spcPct val="90000"/>
              </a:lnSpc>
              <a:spcBef>
                <a:spcPts val="0"/>
              </a:spcBef>
              <a:spcAft>
                <a:spcPts val="0"/>
              </a:spcAft>
              <a:buClr>
                <a:schemeClr val="dk1"/>
              </a:buClr>
              <a:buSzPts val="3200"/>
              <a:buNone/>
            </a:pPr>
            <a:r>
              <a:rPr lang="en-US" sz="4000">
                <a:latin typeface="Times New Roman"/>
                <a:ea typeface="Times New Roman"/>
                <a:cs typeface="Times New Roman"/>
                <a:sym typeface="Times New Roman"/>
              </a:rPr>
              <a:t># import os</a:t>
            </a:r>
            <a:endParaRPr sz="4000">
              <a:latin typeface="Times New Roman"/>
              <a:ea typeface="Times New Roman"/>
              <a:cs typeface="Times New Roman"/>
              <a:sym typeface="Times New Roman"/>
            </a:endParaRPr>
          </a:p>
          <a:p>
            <a:pPr indent="-857250" lvl="1" marL="1371600" rtl="0" algn="l">
              <a:lnSpc>
                <a:spcPct val="90000"/>
              </a:lnSpc>
              <a:spcBef>
                <a:spcPts val="0"/>
              </a:spcBef>
              <a:spcAft>
                <a:spcPts val="0"/>
              </a:spcAft>
              <a:buClr>
                <a:schemeClr val="dk1"/>
              </a:buClr>
              <a:buSzPts val="3200"/>
              <a:buNone/>
            </a:pPr>
            <a:r>
              <a:rPr lang="en-US" sz="4000">
                <a:latin typeface="Times New Roman"/>
                <a:ea typeface="Times New Roman"/>
                <a:cs typeface="Times New Roman"/>
                <a:sym typeface="Times New Roman"/>
              </a:rPr>
              <a:t>&gt;&gt;&gt;import os</a:t>
            </a:r>
            <a:endParaRPr sz="4000">
              <a:latin typeface="Times New Roman"/>
              <a:ea typeface="Times New Roman"/>
              <a:cs typeface="Times New Roman"/>
              <a:sym typeface="Times New Roman"/>
            </a:endParaRPr>
          </a:p>
          <a:p>
            <a:pPr indent="-857250" lvl="1" marL="1371600" rtl="0" algn="l">
              <a:lnSpc>
                <a:spcPct val="90000"/>
              </a:lnSpc>
              <a:spcBef>
                <a:spcPts val="0"/>
              </a:spcBef>
              <a:spcAft>
                <a:spcPts val="0"/>
              </a:spcAft>
              <a:buClr>
                <a:schemeClr val="dk1"/>
              </a:buClr>
              <a:buSzPts val="3200"/>
              <a:buNone/>
            </a:pPr>
            <a:r>
              <a:t/>
            </a:r>
            <a:endParaRPr sz="4000">
              <a:latin typeface="Times New Roman"/>
              <a:ea typeface="Times New Roman"/>
              <a:cs typeface="Times New Roman"/>
              <a:sym typeface="Times New Roman"/>
            </a:endParaRPr>
          </a:p>
          <a:p>
            <a:pPr indent="-857250" lvl="1" marL="1371600" rtl="0" algn="l">
              <a:lnSpc>
                <a:spcPct val="90000"/>
              </a:lnSpc>
              <a:spcBef>
                <a:spcPts val="0"/>
              </a:spcBef>
              <a:spcAft>
                <a:spcPts val="0"/>
              </a:spcAft>
              <a:buClr>
                <a:schemeClr val="dk1"/>
              </a:buClr>
              <a:buSzPts val="3200"/>
              <a:buNone/>
            </a:pPr>
            <a:r>
              <a:rPr lang="en-US" sz="4000">
                <a:latin typeface="Times New Roman"/>
                <a:ea typeface="Times New Roman"/>
                <a:cs typeface="Times New Roman"/>
                <a:sym typeface="Times New Roman"/>
              </a:rPr>
              <a:t># deleting the file</a:t>
            </a:r>
            <a:endParaRPr/>
          </a:p>
          <a:p>
            <a:pPr indent="-857250" lvl="1" marL="1371600" rtl="0" algn="l">
              <a:lnSpc>
                <a:spcPct val="90000"/>
              </a:lnSpc>
              <a:spcBef>
                <a:spcPts val="0"/>
              </a:spcBef>
              <a:spcAft>
                <a:spcPts val="0"/>
              </a:spcAft>
              <a:buClr>
                <a:schemeClr val="dk1"/>
              </a:buClr>
              <a:buSzPts val="3200"/>
              <a:buNone/>
            </a:pPr>
            <a:r>
              <a:rPr lang="en-US" sz="4000">
                <a:latin typeface="Times New Roman"/>
                <a:ea typeface="Times New Roman"/>
                <a:cs typeface="Times New Roman"/>
                <a:sym typeface="Times New Roman"/>
              </a:rPr>
              <a:t>&gt;&gt;&gt;os.remove(“test1.txt”)</a:t>
            </a:r>
            <a:endParaRPr sz="4000">
              <a:latin typeface="Times New Roman"/>
              <a:ea typeface="Times New Roman"/>
              <a:cs typeface="Times New Roman"/>
              <a:sym typeface="Times New Roman"/>
            </a:endParaRPr>
          </a:p>
        </p:txBody>
      </p:sp>
      <p:sp>
        <p:nvSpPr>
          <p:cNvPr id="480" name="Google Shape;480;p38"/>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9"/>
          <p:cNvSpPr txBox="1"/>
          <p:nvPr>
            <p:ph type="title"/>
          </p:nvPr>
        </p:nvSpPr>
        <p:spPr>
          <a:xfrm>
            <a:off x="0" y="623994"/>
            <a:ext cx="18288000" cy="1048942"/>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Methods to Manipulate Files</a:t>
            </a:r>
            <a:endParaRPr sz="4800">
              <a:solidFill>
                <a:srgbClr val="2E75B5"/>
              </a:solidFill>
              <a:latin typeface="Times New Roman"/>
              <a:ea typeface="Times New Roman"/>
              <a:cs typeface="Times New Roman"/>
              <a:sym typeface="Times New Roman"/>
            </a:endParaRPr>
          </a:p>
        </p:txBody>
      </p:sp>
      <p:pic>
        <p:nvPicPr>
          <p:cNvPr id="486" name="Google Shape;486;p39"/>
          <p:cNvPicPr preferRelativeResize="0"/>
          <p:nvPr/>
        </p:nvPicPr>
        <p:blipFill rotWithShape="1">
          <a:blip r:embed="rId3">
            <a:alphaModFix/>
          </a:blip>
          <a:srcRect b="0" l="0" r="0" t="0"/>
          <a:stretch/>
        </p:blipFill>
        <p:spPr>
          <a:xfrm>
            <a:off x="3352800" y="2466109"/>
            <a:ext cx="12527664" cy="6816436"/>
          </a:xfrm>
          <a:prstGeom prst="rect">
            <a:avLst/>
          </a:prstGeom>
          <a:solidFill>
            <a:srgbClr val="000000"/>
          </a:solidFill>
          <a:ln cap="sq" cmpd="sng" w="444500">
            <a:solidFill>
              <a:srgbClr val="D8E2F3"/>
            </a:solidFill>
            <a:prstDash val="solid"/>
            <a:miter lim="800000"/>
            <a:headEnd len="sm" w="sm" type="none"/>
            <a:tailEnd len="sm" w="sm" type="none"/>
          </a:ln>
          <a:effectLst>
            <a:outerShdw blurRad="254000" rotWithShape="0" algn="bl" dir="2700000" dist="190500" sy="90000">
              <a:srgbClr val="000000">
                <a:alpha val="40000"/>
              </a:srgbClr>
            </a:outerShdw>
          </a:effectLst>
        </p:spPr>
      </p:pic>
      <p:sp>
        <p:nvSpPr>
          <p:cNvPr id="487" name="Google Shape;487;p39"/>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0"/>
          <p:cNvSpPr txBox="1"/>
          <p:nvPr>
            <p:ph type="title"/>
          </p:nvPr>
        </p:nvSpPr>
        <p:spPr>
          <a:xfrm>
            <a:off x="3491345" y="457200"/>
            <a:ext cx="10591799" cy="1224956"/>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sz="4800">
                <a:solidFill>
                  <a:srgbClr val="2E75B5"/>
                </a:solidFill>
                <a:latin typeface="Times New Roman"/>
                <a:ea typeface="Times New Roman"/>
                <a:cs typeface="Times New Roman"/>
                <a:sym typeface="Times New Roman"/>
              </a:rPr>
              <a:t>Methods to Manipulate Files</a:t>
            </a:r>
            <a:endParaRPr b="1" sz="4800">
              <a:solidFill>
                <a:srgbClr val="2E75B5"/>
              </a:solidFill>
              <a:latin typeface="Times New Roman"/>
              <a:ea typeface="Times New Roman"/>
              <a:cs typeface="Times New Roman"/>
              <a:sym typeface="Times New Roman"/>
            </a:endParaRPr>
          </a:p>
        </p:txBody>
      </p:sp>
      <p:pic>
        <p:nvPicPr>
          <p:cNvPr id="493" name="Google Shape;493;p40"/>
          <p:cNvPicPr preferRelativeResize="0"/>
          <p:nvPr/>
        </p:nvPicPr>
        <p:blipFill rotWithShape="1">
          <a:blip r:embed="rId3">
            <a:alphaModFix/>
          </a:blip>
          <a:srcRect b="0" l="0" r="0" t="0"/>
          <a:stretch/>
        </p:blipFill>
        <p:spPr>
          <a:xfrm>
            <a:off x="2535382" y="2358737"/>
            <a:ext cx="12899021" cy="7256318"/>
          </a:xfrm>
          <a:prstGeom prst="rect">
            <a:avLst/>
          </a:prstGeom>
          <a:solidFill>
            <a:srgbClr val="000000"/>
          </a:solidFill>
          <a:ln cap="sq" cmpd="sng" w="444500">
            <a:solidFill>
              <a:srgbClr val="D8E2F3"/>
            </a:solidFill>
            <a:prstDash val="solid"/>
            <a:miter lim="800000"/>
            <a:headEnd len="sm" w="sm" type="none"/>
            <a:tailEnd len="sm" w="sm" type="none"/>
          </a:ln>
          <a:effectLst>
            <a:outerShdw blurRad="254000" rotWithShape="0" algn="bl" dir="2700000" dist="190500" sy="90000">
              <a:srgbClr val="000000">
                <a:alpha val="40000"/>
              </a:srgbClr>
            </a:outerShdw>
          </a:effectLst>
        </p:spPr>
      </p:pic>
      <p:sp>
        <p:nvSpPr>
          <p:cNvPr id="494" name="Google Shape;494;p4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1"/>
          <p:cNvSpPr txBox="1"/>
          <p:nvPr>
            <p:ph type="title"/>
          </p:nvPr>
        </p:nvSpPr>
        <p:spPr>
          <a:xfrm>
            <a:off x="4456778" y="595745"/>
            <a:ext cx="9521570" cy="19812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a:solidFill>
                  <a:srgbClr val="2E75B5"/>
                </a:solidFill>
                <a:latin typeface="Jacques Francois Shadow"/>
                <a:ea typeface="Jacques Francois Shadow"/>
                <a:cs typeface="Jacques Francois Shadow"/>
                <a:sym typeface="Jacques Francois Shadow"/>
              </a:rPr>
              <a:t>Activity</a:t>
            </a:r>
            <a:endParaRPr b="1">
              <a:solidFill>
                <a:srgbClr val="2E75B5"/>
              </a:solidFill>
              <a:latin typeface="Jacques Francois Shadow"/>
              <a:ea typeface="Jacques Francois Shadow"/>
              <a:cs typeface="Jacques Francois Shadow"/>
              <a:sym typeface="Jacques Francois Shadow"/>
            </a:endParaRPr>
          </a:p>
        </p:txBody>
      </p:sp>
      <p:sp>
        <p:nvSpPr>
          <p:cNvPr id="500" name="Google Shape;500;p41"/>
          <p:cNvSpPr txBox="1"/>
          <p:nvPr>
            <p:ph idx="1" type="body"/>
          </p:nvPr>
        </p:nvSpPr>
        <p:spPr>
          <a:xfrm>
            <a:off x="374073" y="3186414"/>
            <a:ext cx="17678400" cy="7100586"/>
          </a:xfrm>
          <a:prstGeom prst="rect">
            <a:avLst/>
          </a:prstGeom>
          <a:noFill/>
          <a:ln>
            <a:noFill/>
          </a:ln>
        </p:spPr>
        <p:txBody>
          <a:bodyPr anchorCtr="0" anchor="t" bIns="68550" lIns="137125" spcFirstLastPara="1" rIns="137125" wrap="square" tIns="68550">
            <a:normAutofit/>
          </a:bodyPr>
          <a:lstStyle/>
          <a:p>
            <a:pPr indent="-771525" lvl="0" marL="771525" rtl="0" algn="just">
              <a:lnSpc>
                <a:spcPct val="90000"/>
              </a:lnSpc>
              <a:spcBef>
                <a:spcPts val="0"/>
              </a:spcBef>
              <a:spcAft>
                <a:spcPts val="0"/>
              </a:spcAft>
              <a:buClr>
                <a:schemeClr val="dk1"/>
              </a:buClr>
              <a:buSzPts val="3200"/>
              <a:buFont typeface="Noto Sans Symbols"/>
              <a:buChar char="❑"/>
            </a:pPr>
            <a:r>
              <a:rPr i="1" lang="en-US">
                <a:latin typeface="Times New Roman"/>
                <a:ea typeface="Times New Roman"/>
                <a:cs typeface="Times New Roman"/>
                <a:sym typeface="Times New Roman"/>
              </a:rPr>
              <a:t>Write a function in python to read the content from a text file “introduction.txt" line by line and display the same on screen.</a:t>
            </a:r>
            <a:endParaRPr/>
          </a:p>
          <a:p>
            <a:pPr indent="-568325" lvl="0" marL="771525" rtl="0" algn="just">
              <a:lnSpc>
                <a:spcPct val="90000"/>
              </a:lnSpc>
              <a:spcBef>
                <a:spcPts val="960"/>
              </a:spcBef>
              <a:spcAft>
                <a:spcPts val="0"/>
              </a:spcAft>
              <a:buClr>
                <a:schemeClr val="dk1"/>
              </a:buClr>
              <a:buSzPts val="3200"/>
              <a:buFont typeface="Noto Sans Symbols"/>
              <a:buNone/>
            </a:pPr>
            <a:r>
              <a:t/>
            </a:r>
            <a:endParaRPr>
              <a:latin typeface="Times New Roman"/>
              <a:ea typeface="Times New Roman"/>
              <a:cs typeface="Times New Roman"/>
              <a:sym typeface="Times New Roman"/>
            </a:endParaRPr>
          </a:p>
          <a:p>
            <a:pPr indent="-771525" lvl="0" marL="771525" rtl="0" algn="just">
              <a:lnSpc>
                <a:spcPct val="90000"/>
              </a:lnSpc>
              <a:spcBef>
                <a:spcPts val="960"/>
              </a:spcBef>
              <a:spcAft>
                <a:spcPts val="0"/>
              </a:spcAft>
              <a:buClr>
                <a:schemeClr val="dk1"/>
              </a:buClr>
              <a:buSzPts val="3200"/>
              <a:buFont typeface="Noto Sans Symbols"/>
              <a:buChar char="❑"/>
            </a:pPr>
            <a:r>
              <a:rPr i="1" lang="en-US">
                <a:latin typeface="Times New Roman"/>
                <a:ea typeface="Times New Roman"/>
                <a:cs typeface="Times New Roman"/>
                <a:sym typeface="Times New Roman"/>
              </a:rPr>
              <a:t>Create a text file and write some contents and few lines will start with letter ‘M’. Write a function in python to count the number of lines from a text file "introduction.txt" which is not starting with an alphabet “M".</a:t>
            </a:r>
            <a:endParaRPr i="1">
              <a:latin typeface="Times New Roman"/>
              <a:ea typeface="Times New Roman"/>
              <a:cs typeface="Times New Roman"/>
              <a:sym typeface="Times New Roman"/>
            </a:endParaRPr>
          </a:p>
        </p:txBody>
      </p:sp>
      <p:sp>
        <p:nvSpPr>
          <p:cNvPr id="501" name="Google Shape;501;p4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2"/>
          <p:cNvSpPr txBox="1"/>
          <p:nvPr>
            <p:ph idx="1" type="body"/>
          </p:nvPr>
        </p:nvSpPr>
        <p:spPr>
          <a:xfrm>
            <a:off x="581891" y="3505200"/>
            <a:ext cx="16840200" cy="6781800"/>
          </a:xfrm>
          <a:prstGeom prst="rect">
            <a:avLst/>
          </a:prstGeom>
          <a:noFill/>
          <a:ln>
            <a:noFill/>
          </a:ln>
        </p:spPr>
        <p:txBody>
          <a:bodyPr anchorCtr="0" anchor="t" bIns="68550" lIns="137125" spcFirstLastPara="1" rIns="137125" wrap="square" tIns="68550">
            <a:normAutofit/>
          </a:bodyPr>
          <a:lstStyle/>
          <a:p>
            <a:pPr indent="-304800" lvl="0" marL="0" rtl="0" algn="just">
              <a:lnSpc>
                <a:spcPct val="90000"/>
              </a:lnSpc>
              <a:spcBef>
                <a:spcPts val="0"/>
              </a:spcBef>
              <a:spcAft>
                <a:spcPts val="0"/>
              </a:spcAft>
              <a:buClr>
                <a:schemeClr val="dk1"/>
              </a:buClr>
              <a:buSzPts val="4800"/>
              <a:buFont typeface="Noto Sans Symbols"/>
              <a:buChar char="❑"/>
            </a:pPr>
            <a:r>
              <a:rPr i="1" lang="en-US" sz="4000">
                <a:latin typeface="Times New Roman"/>
                <a:ea typeface="Times New Roman"/>
                <a:cs typeface="Times New Roman"/>
                <a:sym typeface="Times New Roman"/>
              </a:rPr>
              <a:t>  </a:t>
            </a:r>
            <a:r>
              <a:rPr i="1" lang="en-US">
                <a:latin typeface="Times New Roman"/>
                <a:ea typeface="Times New Roman"/>
                <a:cs typeface="Times New Roman"/>
                <a:sym typeface="Times New Roman"/>
              </a:rPr>
              <a:t>Write a function in Python to read lines from a text file “introduction.txt". Your function should find and display the occurrence of the word “is".</a:t>
            </a:r>
            <a:endParaRPr/>
          </a:p>
          <a:p>
            <a:pPr indent="0" lvl="0" marL="0" rtl="0" algn="just">
              <a:lnSpc>
                <a:spcPct val="90000"/>
              </a:lnSpc>
              <a:spcBef>
                <a:spcPts val="0"/>
              </a:spcBef>
              <a:spcAft>
                <a:spcPts val="0"/>
              </a:spcAft>
              <a:buClr>
                <a:schemeClr val="dk1"/>
              </a:buClr>
              <a:buSzPts val="4800"/>
              <a:buFont typeface="Noto Sans Symbols"/>
              <a:buNone/>
            </a:pPr>
            <a:r>
              <a:t/>
            </a:r>
            <a:endParaRPr>
              <a:latin typeface="Times New Roman"/>
              <a:ea typeface="Times New Roman"/>
              <a:cs typeface="Times New Roman"/>
              <a:sym typeface="Times New Roman"/>
            </a:endParaRPr>
          </a:p>
          <a:p>
            <a:pPr indent="-304800" lvl="0" marL="0" rtl="0" algn="just">
              <a:lnSpc>
                <a:spcPct val="90000"/>
              </a:lnSpc>
              <a:spcBef>
                <a:spcPts val="890"/>
              </a:spcBef>
              <a:spcAft>
                <a:spcPts val="0"/>
              </a:spcAft>
              <a:buClr>
                <a:schemeClr val="dk1"/>
              </a:buClr>
              <a:buSzPts val="4800"/>
              <a:buFont typeface="Noto Sans Symbols"/>
              <a:buChar char="❑"/>
            </a:pPr>
            <a:r>
              <a:rPr i="1" lang="en-US">
                <a:latin typeface="Times New Roman"/>
                <a:ea typeface="Times New Roman"/>
                <a:cs typeface="Times New Roman"/>
                <a:sym typeface="Times New Roman"/>
              </a:rPr>
              <a:t>  Create a text file and store some contents in that file. Display the contents of the text which needs to be displayed such that every next character is separated by a symbol “*". Write a function definition for that it would display the entire content of the file in the desired format.</a:t>
            </a:r>
            <a:endParaRPr i="1">
              <a:latin typeface="Times New Roman"/>
              <a:ea typeface="Times New Roman"/>
              <a:cs typeface="Times New Roman"/>
              <a:sym typeface="Times New Roman"/>
            </a:endParaRPr>
          </a:p>
        </p:txBody>
      </p:sp>
      <p:sp>
        <p:nvSpPr>
          <p:cNvPr id="507" name="Google Shape;507;p4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08" name="Google Shape;508;p42"/>
          <p:cNvSpPr txBox="1"/>
          <p:nvPr>
            <p:ph type="title"/>
          </p:nvPr>
        </p:nvSpPr>
        <p:spPr>
          <a:xfrm>
            <a:off x="4456778" y="595745"/>
            <a:ext cx="9521570" cy="1981200"/>
          </a:xfrm>
          <a:prstGeom prst="rect">
            <a:avLst/>
          </a:prstGeom>
          <a:noFill/>
          <a:ln>
            <a:noFill/>
          </a:ln>
        </p:spPr>
        <p:txBody>
          <a:bodyPr anchorCtr="0" anchor="ctr" bIns="68550" lIns="137125" spcFirstLastPara="1" rIns="137125" wrap="square" tIns="68550">
            <a:normAutofit/>
          </a:bodyPr>
          <a:lstStyle/>
          <a:p>
            <a:pPr indent="0" lvl="0" marL="0" rtl="0" algn="ctr">
              <a:lnSpc>
                <a:spcPct val="90000"/>
              </a:lnSpc>
              <a:spcBef>
                <a:spcPts val="0"/>
              </a:spcBef>
              <a:spcAft>
                <a:spcPts val="0"/>
              </a:spcAft>
              <a:buClr>
                <a:schemeClr val="dk1"/>
              </a:buClr>
              <a:buSzPts val="4400"/>
              <a:buFont typeface="Calibri"/>
              <a:buNone/>
            </a:pPr>
            <a:r>
              <a:rPr b="1" lang="en-US">
                <a:solidFill>
                  <a:srgbClr val="2E75B5"/>
                </a:solidFill>
                <a:latin typeface="Jacques Francois Shadow"/>
                <a:ea typeface="Jacques Francois Shadow"/>
                <a:cs typeface="Jacques Francois Shadow"/>
                <a:sym typeface="Jacques Francois Shadow"/>
              </a:rPr>
              <a:t>Activity</a:t>
            </a:r>
            <a:endParaRPr b="1">
              <a:solidFill>
                <a:srgbClr val="2E75B5"/>
              </a:solidFill>
              <a:latin typeface="Jacques Francois Shadow"/>
              <a:ea typeface="Jacques Francois Shadow"/>
              <a:cs typeface="Jacques Francois Shadow"/>
              <a:sym typeface="Jacques Francois Shadow"/>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3"/>
          <p:cNvSpPr txBox="1"/>
          <p:nvPr>
            <p:ph type="ctrTitle"/>
          </p:nvPr>
        </p:nvSpPr>
        <p:spPr>
          <a:xfrm>
            <a:off x="0" y="2370715"/>
            <a:ext cx="18288000" cy="3811905"/>
          </a:xfrm>
          <a:prstGeom prst="rect">
            <a:avLst/>
          </a:prstGeom>
          <a:noFill/>
          <a:ln>
            <a:noFill/>
          </a:ln>
        </p:spPr>
        <p:txBody>
          <a:bodyPr anchorCtr="0" anchor="b" bIns="0" lIns="137125" spcFirstLastPara="1" rIns="137125" wrap="square" tIns="68550">
            <a:normAutofit/>
          </a:bodyPr>
          <a:lstStyle/>
          <a:p>
            <a:pPr indent="0" lvl="0" marL="0" rtl="0" algn="ctr">
              <a:lnSpc>
                <a:spcPct val="90000"/>
              </a:lnSpc>
              <a:spcBef>
                <a:spcPts val="0"/>
              </a:spcBef>
              <a:spcAft>
                <a:spcPts val="0"/>
              </a:spcAft>
              <a:buSzPts val="4800"/>
              <a:buNone/>
            </a:pPr>
            <a:r>
              <a:rPr b="1" lang="en-US" sz="4800">
                <a:latin typeface="Cambria"/>
                <a:ea typeface="Cambria"/>
                <a:cs typeface="Cambria"/>
                <a:sym typeface="Cambria"/>
              </a:rPr>
              <a:t>UNIT- 4: Part 2</a:t>
            </a:r>
            <a:br>
              <a:rPr b="1" lang="en-US" sz="4800">
                <a:latin typeface="Times New Roman"/>
                <a:ea typeface="Times New Roman"/>
                <a:cs typeface="Times New Roman"/>
                <a:sym typeface="Times New Roman"/>
              </a:rPr>
            </a:br>
            <a:br>
              <a:rPr b="1" lang="en-US" sz="4800">
                <a:latin typeface="Times New Roman"/>
                <a:ea typeface="Times New Roman"/>
                <a:cs typeface="Times New Roman"/>
                <a:sym typeface="Times New Roman"/>
              </a:rPr>
            </a:br>
            <a:r>
              <a:rPr b="1" lang="en-US" sz="4800">
                <a:solidFill>
                  <a:schemeClr val="accent1"/>
                </a:solidFill>
                <a:latin typeface="Times New Roman"/>
                <a:ea typeface="Times New Roman"/>
                <a:cs typeface="Times New Roman"/>
                <a:sym typeface="Times New Roman"/>
              </a:rPr>
              <a:t>USER DEFINED CLASSES AND OBJECTS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4"/>
          <p:cNvSpPr txBox="1"/>
          <p:nvPr>
            <p:ph type="title"/>
          </p:nvPr>
        </p:nvSpPr>
        <p:spPr>
          <a:xfrm>
            <a:off x="2177369" y="1449666"/>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CLASSES AND OBJECTS</a:t>
            </a:r>
            <a:endParaRPr/>
          </a:p>
        </p:txBody>
      </p:sp>
      <p:sp>
        <p:nvSpPr>
          <p:cNvPr id="519" name="Google Shape;519;p44"/>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Autofit/>
          </a:bodyPr>
          <a:lstStyle/>
          <a:p>
            <a:pPr indent="-228600" lvl="0" marL="228600" rtl="0" algn="just">
              <a:lnSpc>
                <a:spcPct val="120000"/>
              </a:lnSpc>
              <a:spcBef>
                <a:spcPts val="0"/>
              </a:spcBef>
              <a:spcAft>
                <a:spcPts val="0"/>
              </a:spcAft>
              <a:buSzPts val="2000"/>
              <a:buChar char="•"/>
            </a:pPr>
            <a:r>
              <a:rPr lang="en-US" sz="2800">
                <a:latin typeface="Times New Roman"/>
                <a:ea typeface="Times New Roman"/>
                <a:cs typeface="Times New Roman"/>
                <a:sym typeface="Times New Roman"/>
              </a:rPr>
              <a:t>A</a:t>
            </a:r>
            <a:r>
              <a:rPr lang="en-US" sz="2800">
                <a:solidFill>
                  <a:schemeClr val="dk1"/>
                </a:solidFill>
                <a:latin typeface="Times New Roman"/>
                <a:ea typeface="Times New Roman"/>
                <a:cs typeface="Times New Roman"/>
                <a:sym typeface="Times New Roman"/>
              </a:rPr>
              <a:t> </a:t>
            </a:r>
            <a:r>
              <a:rPr b="1" lang="en-US" sz="2800">
                <a:solidFill>
                  <a:schemeClr val="dk1"/>
                </a:solidFill>
                <a:latin typeface="Times New Roman"/>
                <a:ea typeface="Times New Roman"/>
                <a:cs typeface="Times New Roman"/>
                <a:sym typeface="Times New Roman"/>
              </a:rPr>
              <a:t>class</a:t>
            </a:r>
            <a:r>
              <a:rPr b="1" lang="en-US" sz="2800">
                <a:solidFill>
                  <a:srgbClr val="FF0000"/>
                </a:solidFill>
                <a:latin typeface="Times New Roman"/>
                <a:ea typeface="Times New Roman"/>
                <a:cs typeface="Times New Roman"/>
                <a:sym typeface="Times New Roman"/>
              </a:rPr>
              <a:t> </a:t>
            </a:r>
            <a:r>
              <a:rPr lang="en-US" sz="2800">
                <a:solidFill>
                  <a:schemeClr val="dk1"/>
                </a:solidFill>
                <a:latin typeface="Times New Roman"/>
                <a:ea typeface="Times New Roman"/>
                <a:cs typeface="Times New Roman"/>
                <a:sym typeface="Times New Roman"/>
              </a:rPr>
              <a:t>is</a:t>
            </a:r>
            <a:r>
              <a:rPr lang="en-US" sz="2800">
                <a:latin typeface="Times New Roman"/>
                <a:ea typeface="Times New Roman"/>
                <a:cs typeface="Times New Roman"/>
                <a:sym typeface="Times New Roman"/>
              </a:rPr>
              <a:t> a </a:t>
            </a:r>
            <a:r>
              <a:rPr b="1" lang="en-US" sz="2800">
                <a:solidFill>
                  <a:schemeClr val="accent1"/>
                </a:solidFill>
                <a:latin typeface="Times New Roman"/>
                <a:ea typeface="Times New Roman"/>
                <a:cs typeface="Times New Roman"/>
                <a:sym typeface="Times New Roman"/>
              </a:rPr>
              <a:t>blueprint</a:t>
            </a:r>
            <a:r>
              <a:rPr b="1" lang="en-US" sz="2800">
                <a:latin typeface="Times New Roman"/>
                <a:ea typeface="Times New Roman"/>
                <a:cs typeface="Times New Roman"/>
                <a:sym typeface="Times New Roman"/>
              </a:rPr>
              <a:t> </a:t>
            </a:r>
            <a:r>
              <a:rPr lang="en-US" sz="2800">
                <a:latin typeface="Times New Roman"/>
                <a:ea typeface="Times New Roman"/>
                <a:cs typeface="Times New Roman"/>
                <a:sym typeface="Times New Roman"/>
              </a:rPr>
              <a:t>or </a:t>
            </a:r>
            <a:r>
              <a:rPr b="1" lang="en-US" sz="2800">
                <a:solidFill>
                  <a:schemeClr val="accent1"/>
                </a:solidFill>
                <a:latin typeface="Times New Roman"/>
                <a:ea typeface="Times New Roman"/>
                <a:cs typeface="Times New Roman"/>
                <a:sym typeface="Times New Roman"/>
              </a:rPr>
              <a:t>template</a:t>
            </a:r>
            <a:r>
              <a:rPr lang="en-US" sz="2800">
                <a:latin typeface="Times New Roman"/>
                <a:ea typeface="Times New Roman"/>
                <a:cs typeface="Times New Roman"/>
                <a:sym typeface="Times New Roman"/>
              </a:rPr>
              <a:t>, using which</a:t>
            </a:r>
            <a:r>
              <a:rPr b="1" lang="en-US" sz="2800">
                <a:solidFill>
                  <a:srgbClr val="FF0000"/>
                </a:solidFill>
                <a:latin typeface="Times New Roman"/>
                <a:ea typeface="Times New Roman"/>
                <a:cs typeface="Times New Roman"/>
                <a:sym typeface="Times New Roman"/>
              </a:rPr>
              <a:t> </a:t>
            </a:r>
            <a:r>
              <a:rPr b="1" lang="en-US" sz="2800">
                <a:solidFill>
                  <a:schemeClr val="dk1"/>
                </a:solidFill>
                <a:latin typeface="Times New Roman"/>
                <a:ea typeface="Times New Roman"/>
                <a:cs typeface="Times New Roman"/>
                <a:sym typeface="Times New Roman"/>
              </a:rPr>
              <a:t>objects</a:t>
            </a:r>
            <a:r>
              <a:rPr lang="en-US" sz="2800">
                <a:latin typeface="Times New Roman"/>
                <a:ea typeface="Times New Roman"/>
                <a:cs typeface="Times New Roman"/>
                <a:sym typeface="Times New Roman"/>
              </a:rPr>
              <a:t> are created.</a:t>
            </a:r>
            <a:endParaRPr/>
          </a:p>
          <a:p>
            <a:pPr indent="-101600" lvl="0" marL="228600" rtl="0" algn="just">
              <a:lnSpc>
                <a:spcPct val="120000"/>
              </a:lnSpc>
              <a:spcBef>
                <a:spcPts val="0"/>
              </a:spcBef>
              <a:spcAft>
                <a:spcPts val="0"/>
              </a:spcAft>
              <a:buSzPts val="2000"/>
              <a:buNone/>
            </a:pPr>
            <a:r>
              <a:t/>
            </a:r>
            <a:endParaRPr sz="2800">
              <a:latin typeface="Times New Roman"/>
              <a:ea typeface="Times New Roman"/>
              <a:cs typeface="Times New Roman"/>
              <a:sym typeface="Times New Roman"/>
            </a:endParaRPr>
          </a:p>
          <a:p>
            <a:pPr indent="-228600" lvl="0" marL="228600" rtl="0" algn="just">
              <a:lnSpc>
                <a:spcPct val="120000"/>
              </a:lnSpc>
              <a:spcBef>
                <a:spcPts val="0"/>
              </a:spcBef>
              <a:spcAft>
                <a:spcPts val="0"/>
              </a:spcAft>
              <a:buSzPts val="2000"/>
              <a:buChar char="•"/>
            </a:pPr>
            <a:r>
              <a:rPr lang="en-US" sz="2800">
                <a:latin typeface="Times New Roman"/>
                <a:ea typeface="Times New Roman"/>
                <a:cs typeface="Times New Roman"/>
                <a:sym typeface="Times New Roman"/>
              </a:rPr>
              <a:t>Class defines the</a:t>
            </a:r>
            <a:r>
              <a:rPr b="1" lang="en-US" sz="2800">
                <a:latin typeface="Times New Roman"/>
                <a:ea typeface="Times New Roman"/>
                <a:cs typeface="Times New Roman"/>
                <a:sym typeface="Times New Roman"/>
              </a:rPr>
              <a:t> </a:t>
            </a:r>
            <a:r>
              <a:rPr b="1" lang="en-US" sz="2800">
                <a:solidFill>
                  <a:srgbClr val="2E75B5"/>
                </a:solidFill>
                <a:latin typeface="Times New Roman"/>
                <a:ea typeface="Times New Roman"/>
                <a:cs typeface="Times New Roman"/>
                <a:sym typeface="Times New Roman"/>
              </a:rPr>
              <a:t>structure</a:t>
            </a:r>
            <a:r>
              <a:rPr lang="en-US" sz="2800">
                <a:latin typeface="Times New Roman"/>
                <a:ea typeface="Times New Roman"/>
                <a:cs typeface="Times New Roman"/>
                <a:sym typeface="Times New Roman"/>
              </a:rPr>
              <a:t> and</a:t>
            </a:r>
            <a:r>
              <a:rPr b="1" lang="en-US" sz="2800">
                <a:latin typeface="Times New Roman"/>
                <a:ea typeface="Times New Roman"/>
                <a:cs typeface="Times New Roman"/>
                <a:sym typeface="Times New Roman"/>
              </a:rPr>
              <a:t> </a:t>
            </a:r>
            <a:r>
              <a:rPr b="1" lang="en-US" sz="2800">
                <a:solidFill>
                  <a:srgbClr val="2E75B5"/>
                </a:solidFill>
                <a:latin typeface="Times New Roman"/>
                <a:ea typeface="Times New Roman"/>
                <a:cs typeface="Times New Roman"/>
                <a:sym typeface="Times New Roman"/>
              </a:rPr>
              <a:t>behavior</a:t>
            </a:r>
            <a:r>
              <a:rPr b="1" lang="en-US" sz="2800">
                <a:latin typeface="Times New Roman"/>
                <a:ea typeface="Times New Roman"/>
                <a:cs typeface="Times New Roman"/>
                <a:sym typeface="Times New Roman"/>
              </a:rPr>
              <a:t> </a:t>
            </a:r>
            <a:r>
              <a:rPr lang="en-US" sz="2800">
                <a:latin typeface="Times New Roman"/>
                <a:ea typeface="Times New Roman"/>
                <a:cs typeface="Times New Roman"/>
                <a:sym typeface="Times New Roman"/>
              </a:rPr>
              <a:t>that objects of that type will possess. This includes data members also known as</a:t>
            </a:r>
            <a:r>
              <a:rPr b="1" lang="en-US" sz="2800">
                <a:latin typeface="Times New Roman"/>
                <a:ea typeface="Times New Roman"/>
                <a:cs typeface="Times New Roman"/>
                <a:sym typeface="Times New Roman"/>
              </a:rPr>
              <a:t> </a:t>
            </a:r>
            <a:r>
              <a:rPr b="1" lang="en-US" sz="2800">
                <a:solidFill>
                  <a:schemeClr val="dk1"/>
                </a:solidFill>
                <a:latin typeface="Times New Roman"/>
                <a:ea typeface="Times New Roman"/>
                <a:cs typeface="Times New Roman"/>
                <a:sym typeface="Times New Roman"/>
              </a:rPr>
              <a:t>attributes</a:t>
            </a:r>
            <a:r>
              <a:rPr lang="en-US" sz="2800">
                <a:solidFill>
                  <a:schemeClr val="dk1"/>
                </a:solidFill>
                <a:latin typeface="Times New Roman"/>
                <a:ea typeface="Times New Roman"/>
                <a:cs typeface="Times New Roman"/>
                <a:sym typeface="Times New Roman"/>
              </a:rPr>
              <a:t> </a:t>
            </a:r>
            <a:r>
              <a:rPr lang="en-US" sz="2800">
                <a:latin typeface="Times New Roman"/>
                <a:ea typeface="Times New Roman"/>
                <a:cs typeface="Times New Roman"/>
                <a:sym typeface="Times New Roman"/>
              </a:rPr>
              <a:t>and member functions also known as </a:t>
            </a:r>
            <a:r>
              <a:rPr b="1" lang="en-US" sz="2800">
                <a:solidFill>
                  <a:schemeClr val="dk1"/>
                </a:solidFill>
                <a:latin typeface="Times New Roman"/>
                <a:ea typeface="Times New Roman"/>
                <a:cs typeface="Times New Roman"/>
                <a:sym typeface="Times New Roman"/>
              </a:rPr>
              <a:t>methods</a:t>
            </a:r>
            <a:r>
              <a:rPr lang="en-US" sz="2800">
                <a:solidFill>
                  <a:schemeClr val="dk1"/>
                </a:solidFill>
                <a:latin typeface="Times New Roman"/>
                <a:ea typeface="Times New Roman"/>
                <a:cs typeface="Times New Roman"/>
                <a:sym typeface="Times New Roman"/>
              </a:rPr>
              <a:t> </a:t>
            </a:r>
            <a:r>
              <a:rPr lang="en-US" sz="2800">
                <a:latin typeface="Times New Roman"/>
                <a:ea typeface="Times New Roman"/>
                <a:cs typeface="Times New Roman"/>
                <a:sym typeface="Times New Roman"/>
              </a:rPr>
              <a:t>that operate on that data.</a:t>
            </a:r>
            <a:endParaRPr/>
          </a:p>
          <a:p>
            <a:pPr indent="-101600" lvl="0" marL="228600" rtl="0" algn="just">
              <a:lnSpc>
                <a:spcPct val="120000"/>
              </a:lnSpc>
              <a:spcBef>
                <a:spcPts val="0"/>
              </a:spcBef>
              <a:spcAft>
                <a:spcPts val="0"/>
              </a:spcAft>
              <a:buSzPts val="2000"/>
              <a:buNone/>
            </a:pPr>
            <a:r>
              <a:t/>
            </a:r>
            <a:endParaRPr sz="2800">
              <a:latin typeface="Times New Roman"/>
              <a:ea typeface="Times New Roman"/>
              <a:cs typeface="Times New Roman"/>
              <a:sym typeface="Times New Roman"/>
            </a:endParaRPr>
          </a:p>
          <a:p>
            <a:pPr indent="-228600" lvl="0" marL="228600" rtl="0" algn="just">
              <a:lnSpc>
                <a:spcPct val="120000"/>
              </a:lnSpc>
              <a:spcBef>
                <a:spcPts val="0"/>
              </a:spcBef>
              <a:spcAft>
                <a:spcPts val="0"/>
              </a:spcAft>
              <a:buSzPts val="2000"/>
              <a:buChar char="•"/>
            </a:pPr>
            <a:r>
              <a:rPr lang="en-US" sz="2800">
                <a:latin typeface="Times New Roman"/>
                <a:ea typeface="Times New Roman"/>
                <a:cs typeface="Times New Roman"/>
                <a:sym typeface="Times New Roman"/>
              </a:rPr>
              <a:t>When a class is "</a:t>
            </a:r>
            <a:r>
              <a:rPr b="1" lang="en-US" sz="2800">
                <a:latin typeface="Times New Roman"/>
                <a:ea typeface="Times New Roman"/>
                <a:cs typeface="Times New Roman"/>
                <a:sym typeface="Times New Roman"/>
              </a:rPr>
              <a:t>instantiated,</a:t>
            </a:r>
            <a:r>
              <a:rPr lang="en-US" sz="2800">
                <a:latin typeface="Times New Roman"/>
                <a:ea typeface="Times New Roman"/>
                <a:cs typeface="Times New Roman"/>
                <a:sym typeface="Times New Roman"/>
              </a:rPr>
              <a:t>" an object is created based on the specifications defined by the class. Each object has its own unique set of attribute values, but shares the same methods as other objects of the same class. Hence an </a:t>
            </a:r>
            <a:r>
              <a:rPr b="1" lang="en-US" sz="2800">
                <a:latin typeface="Times New Roman"/>
                <a:ea typeface="Times New Roman"/>
                <a:cs typeface="Times New Roman"/>
                <a:sym typeface="Times New Roman"/>
              </a:rPr>
              <a:t>object</a:t>
            </a:r>
            <a:r>
              <a:rPr lang="en-US" sz="2800">
                <a:latin typeface="Times New Roman"/>
                <a:ea typeface="Times New Roman"/>
                <a:cs typeface="Times New Roman"/>
                <a:sym typeface="Times New Roman"/>
              </a:rPr>
              <a:t> can be visualised as an </a:t>
            </a:r>
            <a:r>
              <a:rPr b="1" lang="en-US" sz="2800">
                <a:solidFill>
                  <a:srgbClr val="2E75B5"/>
                </a:solidFill>
                <a:latin typeface="Times New Roman"/>
                <a:ea typeface="Times New Roman"/>
                <a:cs typeface="Times New Roman"/>
                <a:sym typeface="Times New Roman"/>
              </a:rPr>
              <a:t>instance</a:t>
            </a:r>
            <a:r>
              <a:rPr lang="en-US" sz="2800">
                <a:latin typeface="Times New Roman"/>
                <a:ea typeface="Times New Roman"/>
                <a:cs typeface="Times New Roman"/>
                <a:sym typeface="Times New Roman"/>
              </a:rPr>
              <a:t> of a</a:t>
            </a:r>
            <a:r>
              <a:rPr b="1" lang="en-US" sz="2800">
                <a:latin typeface="Times New Roman"/>
                <a:ea typeface="Times New Roman"/>
                <a:cs typeface="Times New Roman"/>
                <a:sym typeface="Times New Roman"/>
              </a:rPr>
              <a:t> class</a:t>
            </a:r>
            <a:r>
              <a:rPr lang="en-US" sz="2800">
                <a:latin typeface="Times New Roman"/>
                <a:ea typeface="Times New Roman"/>
                <a:cs typeface="Times New Roman"/>
                <a:sym typeface="Times New Roman"/>
              </a:rPr>
              <a:t>.</a:t>
            </a:r>
            <a:endParaRPr/>
          </a:p>
          <a:p>
            <a:pPr indent="-101600" lvl="0" marL="228600" rtl="0" algn="just">
              <a:lnSpc>
                <a:spcPct val="120000"/>
              </a:lnSpc>
              <a:spcBef>
                <a:spcPts val="0"/>
              </a:spcBef>
              <a:spcAft>
                <a:spcPts val="0"/>
              </a:spcAft>
              <a:buSzPts val="2000"/>
              <a:buNone/>
            </a:pPr>
            <a:r>
              <a:t/>
            </a:r>
            <a:endParaRPr sz="2800">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5"/>
          <p:cNvSpPr txBox="1"/>
          <p:nvPr>
            <p:ph type="title"/>
          </p:nvPr>
        </p:nvSpPr>
        <p:spPr>
          <a:xfrm>
            <a:off x="2423431" y="1704301"/>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INTRODUCTION</a:t>
            </a:r>
            <a:endParaRPr/>
          </a:p>
        </p:txBody>
      </p:sp>
      <p:sp>
        <p:nvSpPr>
          <p:cNvPr id="525" name="Google Shape;525;p45"/>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fontScale="97500" lnSpcReduction="10000"/>
          </a:bodyPr>
          <a:lstStyle/>
          <a:p>
            <a:pPr indent="-228600" lvl="0" marL="228600" rtl="0" algn="just">
              <a:lnSpc>
                <a:spcPct val="120000"/>
              </a:lnSpc>
              <a:spcBef>
                <a:spcPts val="0"/>
              </a:spcBef>
              <a:spcAft>
                <a:spcPts val="0"/>
              </a:spcAft>
              <a:buSzPct val="65957"/>
              <a:buChar char="•"/>
            </a:pPr>
            <a:r>
              <a:rPr lang="en-US" sz="3110">
                <a:latin typeface="Times New Roman"/>
                <a:ea typeface="Times New Roman"/>
                <a:cs typeface="Times New Roman"/>
                <a:sym typeface="Times New Roman"/>
              </a:rPr>
              <a:t>Procedure-oriented programming</a:t>
            </a:r>
            <a:endParaRPr/>
          </a:p>
          <a:p>
            <a:pPr indent="-228600" lvl="1" marL="685800" rtl="0" algn="just">
              <a:lnSpc>
                <a:spcPct val="120000"/>
              </a:lnSpc>
              <a:spcBef>
                <a:spcPts val="500"/>
              </a:spcBef>
              <a:spcAft>
                <a:spcPts val="0"/>
              </a:spcAft>
              <a:buSzPct val="59361"/>
              <a:buChar char="•"/>
            </a:pPr>
            <a:r>
              <a:rPr lang="en-US" sz="3110">
                <a:solidFill>
                  <a:schemeClr val="dk1"/>
                </a:solidFill>
                <a:latin typeface="Times New Roman"/>
                <a:ea typeface="Times New Roman"/>
                <a:cs typeface="Times New Roman"/>
                <a:sym typeface="Times New Roman"/>
              </a:rPr>
              <a:t>Program is written using </a:t>
            </a:r>
            <a:r>
              <a:rPr b="1" lang="en-US" sz="3110">
                <a:solidFill>
                  <a:schemeClr val="accent1"/>
                </a:solidFill>
                <a:latin typeface="Times New Roman"/>
                <a:ea typeface="Times New Roman"/>
                <a:cs typeface="Times New Roman"/>
                <a:sym typeface="Times New Roman"/>
              </a:rPr>
              <a:t>functions</a:t>
            </a:r>
            <a:r>
              <a:rPr lang="en-US" sz="3110">
                <a:solidFill>
                  <a:schemeClr val="dk1"/>
                </a:solidFill>
                <a:latin typeface="Times New Roman"/>
                <a:ea typeface="Times New Roman"/>
                <a:cs typeface="Times New Roman"/>
                <a:sym typeface="Times New Roman"/>
              </a:rPr>
              <a:t> or blocks of statements to manipulate data.</a:t>
            </a:r>
            <a:endParaRPr/>
          </a:p>
          <a:p>
            <a:pPr indent="-228600" lvl="0" marL="228600" rtl="0" algn="just">
              <a:lnSpc>
                <a:spcPct val="120000"/>
              </a:lnSpc>
              <a:spcBef>
                <a:spcPts val="1000"/>
              </a:spcBef>
              <a:spcAft>
                <a:spcPts val="0"/>
              </a:spcAft>
              <a:buSzPct val="65957"/>
              <a:buChar char="•"/>
            </a:pPr>
            <a:r>
              <a:rPr lang="en-US" sz="3110">
                <a:latin typeface="Times New Roman"/>
                <a:ea typeface="Times New Roman"/>
                <a:cs typeface="Times New Roman"/>
                <a:sym typeface="Times New Roman"/>
              </a:rPr>
              <a:t>Object oriented programming</a:t>
            </a:r>
            <a:endParaRPr/>
          </a:p>
          <a:p>
            <a:pPr indent="-228600" lvl="1" marL="685800" rtl="0" algn="just">
              <a:lnSpc>
                <a:spcPct val="120000"/>
              </a:lnSpc>
              <a:spcBef>
                <a:spcPts val="500"/>
              </a:spcBef>
              <a:spcAft>
                <a:spcPts val="0"/>
              </a:spcAft>
              <a:buSzPct val="59361"/>
              <a:buChar char="•"/>
            </a:pPr>
            <a:r>
              <a:rPr lang="en-US" sz="3110">
                <a:latin typeface="Times New Roman"/>
                <a:ea typeface="Times New Roman"/>
                <a:cs typeface="Times New Roman"/>
                <a:sym typeface="Times New Roman"/>
              </a:rPr>
              <a:t>Object Oriented Programming is a programming paradigm based on the concept of </a:t>
            </a:r>
            <a:r>
              <a:rPr b="1" lang="en-US" sz="3110">
                <a:solidFill>
                  <a:schemeClr val="accent1"/>
                </a:solidFill>
                <a:latin typeface="Times New Roman"/>
                <a:ea typeface="Times New Roman"/>
                <a:cs typeface="Times New Roman"/>
                <a:sym typeface="Times New Roman"/>
              </a:rPr>
              <a:t>objects</a:t>
            </a:r>
            <a:r>
              <a:rPr lang="en-US" sz="3110">
                <a:latin typeface="Times New Roman"/>
                <a:ea typeface="Times New Roman"/>
                <a:cs typeface="Times New Roman"/>
                <a:sym typeface="Times New Roman"/>
              </a:rPr>
              <a:t>.</a:t>
            </a:r>
            <a:endParaRPr/>
          </a:p>
          <a:p>
            <a:pPr indent="-228600" lvl="1" marL="685800" rtl="0" algn="just">
              <a:lnSpc>
                <a:spcPct val="120000"/>
              </a:lnSpc>
              <a:spcBef>
                <a:spcPts val="500"/>
              </a:spcBef>
              <a:spcAft>
                <a:spcPts val="0"/>
              </a:spcAft>
              <a:buSzPct val="59361"/>
              <a:buChar char="•"/>
            </a:pPr>
            <a:r>
              <a:rPr lang="en-US" sz="3110">
                <a:latin typeface="Times New Roman"/>
                <a:ea typeface="Times New Roman"/>
                <a:cs typeface="Times New Roman"/>
                <a:sym typeface="Times New Roman"/>
              </a:rPr>
              <a:t>Objects contain data, in the form of attributes, and actions, in the form of functions known as methods.</a:t>
            </a:r>
            <a:endParaRPr/>
          </a:p>
          <a:p>
            <a:pPr indent="-228600" lvl="1" marL="685800" rtl="0" algn="just">
              <a:lnSpc>
                <a:spcPct val="120000"/>
              </a:lnSpc>
              <a:spcBef>
                <a:spcPts val="500"/>
              </a:spcBef>
              <a:spcAft>
                <a:spcPts val="0"/>
              </a:spcAft>
              <a:buSzPct val="59361"/>
              <a:buChar char="•"/>
            </a:pPr>
            <a:r>
              <a:rPr lang="en-US" sz="3110">
                <a:latin typeface="Times New Roman"/>
                <a:ea typeface="Times New Roman"/>
                <a:cs typeface="Times New Roman"/>
                <a:sym typeface="Times New Roman"/>
              </a:rPr>
              <a:t>The aim of object oriented programming is to reuse the same code by providing the flexibility to create each object with their own features</a:t>
            </a:r>
            <a:r>
              <a:rPr lang="en-US">
                <a:latin typeface="Times New Roman"/>
                <a:ea typeface="Times New Roman"/>
                <a:cs typeface="Times New Roman"/>
                <a:sym typeface="Times New Roman"/>
              </a:rPr>
              <a: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6"/>
          <p:cNvSpPr txBox="1"/>
          <p:nvPr>
            <p:ph type="title"/>
          </p:nvPr>
        </p:nvSpPr>
        <p:spPr>
          <a:xfrm>
            <a:off x="2177369" y="1449666"/>
            <a:ext cx="14404913" cy="15738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Example</a:t>
            </a:r>
            <a:endParaRPr/>
          </a:p>
        </p:txBody>
      </p:sp>
      <p:sp>
        <p:nvSpPr>
          <p:cNvPr id="531" name="Google Shape;531;p46"/>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p:txBody>
      </p:sp>
      <p:sp>
        <p:nvSpPr>
          <p:cNvPr id="532" name="Google Shape;532;p46"/>
          <p:cNvSpPr txBox="1"/>
          <p:nvPr/>
        </p:nvSpPr>
        <p:spPr>
          <a:xfrm>
            <a:off x="2177415" y="3283268"/>
            <a:ext cx="14059853" cy="5018723"/>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If "</a:t>
            </a:r>
            <a:r>
              <a:rPr b="1" i="0" lang="en-US" sz="2800" u="none" cap="none" strike="noStrike">
                <a:solidFill>
                  <a:schemeClr val="accent1"/>
                </a:solidFill>
                <a:latin typeface="Times New Roman"/>
                <a:ea typeface="Times New Roman"/>
                <a:cs typeface="Times New Roman"/>
                <a:sym typeface="Times New Roman"/>
              </a:rPr>
              <a:t>Car</a:t>
            </a:r>
            <a:r>
              <a:rPr b="0" i="0" lang="en-US" sz="2800" u="none" cap="none" strike="noStrike">
                <a:solidFill>
                  <a:srgbClr val="000000"/>
                </a:solidFill>
                <a:latin typeface="Times New Roman"/>
                <a:ea typeface="Times New Roman"/>
                <a:cs typeface="Times New Roman"/>
                <a:sym typeface="Times New Roman"/>
              </a:rPr>
              <a:t>" is a </a:t>
            </a:r>
            <a:r>
              <a:rPr b="1" i="0" lang="en-US" sz="2800" u="none" cap="none" strike="noStrike">
                <a:solidFill>
                  <a:srgbClr val="000000"/>
                </a:solidFill>
                <a:latin typeface="Times New Roman"/>
                <a:ea typeface="Times New Roman"/>
                <a:cs typeface="Times New Roman"/>
                <a:sym typeface="Times New Roman"/>
              </a:rPr>
              <a:t>class</a:t>
            </a:r>
            <a:r>
              <a:rPr b="0" i="0" lang="en-US" sz="2800" u="none" cap="none" strike="noStrike">
                <a:solidFill>
                  <a:srgbClr val="000000"/>
                </a:solidFill>
                <a:latin typeface="Times New Roman"/>
                <a:ea typeface="Times New Roman"/>
                <a:cs typeface="Times New Roman"/>
                <a:sym typeface="Times New Roman"/>
              </a:rPr>
              <a:t>, it might define </a:t>
            </a:r>
            <a:r>
              <a:rPr b="1" i="0" lang="en-US" sz="2800" u="none" cap="none" strike="noStrike">
                <a:solidFill>
                  <a:srgbClr val="000000"/>
                </a:solidFill>
                <a:latin typeface="Times New Roman"/>
                <a:ea typeface="Times New Roman"/>
                <a:cs typeface="Times New Roman"/>
                <a:sym typeface="Times New Roman"/>
              </a:rPr>
              <a:t>attributes </a:t>
            </a:r>
            <a:r>
              <a:rPr b="0" i="0" lang="en-US" sz="2800" u="none" cap="none" strike="noStrike">
                <a:solidFill>
                  <a:srgbClr val="000000"/>
                </a:solidFill>
                <a:latin typeface="Times New Roman"/>
                <a:ea typeface="Times New Roman"/>
                <a:cs typeface="Times New Roman"/>
                <a:sym typeface="Times New Roman"/>
              </a:rPr>
              <a:t>like "</a:t>
            </a:r>
            <a:r>
              <a:rPr b="1" i="0" lang="en-US" sz="2800" u="none" cap="none" strike="noStrike">
                <a:solidFill>
                  <a:schemeClr val="accent1"/>
                </a:solidFill>
                <a:latin typeface="Times New Roman"/>
                <a:ea typeface="Times New Roman"/>
                <a:cs typeface="Times New Roman"/>
                <a:sym typeface="Times New Roman"/>
              </a:rPr>
              <a:t>color</a:t>
            </a:r>
            <a:r>
              <a:rPr b="0"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chemeClr val="accent1"/>
                </a:solidFill>
                <a:latin typeface="Times New Roman"/>
                <a:ea typeface="Times New Roman"/>
                <a:cs typeface="Times New Roman"/>
                <a:sym typeface="Times New Roman"/>
              </a:rPr>
              <a:t>make</a:t>
            </a:r>
            <a:r>
              <a:rPr b="0" i="0" lang="en-US" sz="2800" u="none" cap="none" strike="noStrike">
                <a:solidFill>
                  <a:srgbClr val="000000"/>
                </a:solidFill>
                <a:latin typeface="Times New Roman"/>
                <a:ea typeface="Times New Roman"/>
                <a:cs typeface="Times New Roman"/>
                <a:sym typeface="Times New Roman"/>
              </a:rPr>
              <a:t>," and "</a:t>
            </a:r>
            <a:r>
              <a:rPr b="1" i="0" lang="en-US" sz="2800" u="none" cap="none" strike="noStrike">
                <a:solidFill>
                  <a:schemeClr val="accent1"/>
                </a:solidFill>
                <a:latin typeface="Times New Roman"/>
                <a:ea typeface="Times New Roman"/>
                <a:cs typeface="Times New Roman"/>
                <a:sym typeface="Times New Roman"/>
              </a:rPr>
              <a:t>model</a:t>
            </a:r>
            <a:r>
              <a:rPr b="0" i="0" lang="en-US" sz="2800" u="none" cap="none" strike="noStrike">
                <a:solidFill>
                  <a:srgbClr val="000000"/>
                </a:solidFill>
                <a:latin typeface="Times New Roman"/>
                <a:ea typeface="Times New Roman"/>
                <a:cs typeface="Times New Roman"/>
                <a:sym typeface="Times New Roman"/>
              </a:rPr>
              <a:t>," and </a:t>
            </a:r>
            <a:r>
              <a:rPr b="1" i="0" lang="en-US" sz="2800" u="none" cap="none" strike="noStrike">
                <a:solidFill>
                  <a:srgbClr val="000000"/>
                </a:solidFill>
                <a:latin typeface="Times New Roman"/>
                <a:ea typeface="Times New Roman"/>
                <a:cs typeface="Times New Roman"/>
                <a:sym typeface="Times New Roman"/>
              </a:rPr>
              <a:t>methods </a:t>
            </a:r>
            <a:r>
              <a:rPr b="0" i="0" lang="en-US" sz="2800" u="none" cap="none" strike="noStrike">
                <a:solidFill>
                  <a:srgbClr val="000000"/>
                </a:solidFill>
                <a:latin typeface="Times New Roman"/>
                <a:ea typeface="Times New Roman"/>
                <a:cs typeface="Times New Roman"/>
                <a:sym typeface="Times New Roman"/>
              </a:rPr>
              <a:t>like "</a:t>
            </a:r>
            <a:r>
              <a:rPr b="1" i="0" lang="en-US" sz="2800" u="none" cap="none" strike="noStrike">
                <a:solidFill>
                  <a:schemeClr val="accent1"/>
                </a:solidFill>
                <a:latin typeface="Times New Roman"/>
                <a:ea typeface="Times New Roman"/>
                <a:cs typeface="Times New Roman"/>
                <a:sym typeface="Times New Roman"/>
              </a:rPr>
              <a:t>startEngine()</a:t>
            </a:r>
            <a:r>
              <a:rPr b="0" i="0" lang="en-US" sz="2800" u="none" cap="none" strike="noStrike">
                <a:solidFill>
                  <a:srgbClr val="000000"/>
                </a:solidFill>
                <a:latin typeface="Times New Roman"/>
                <a:ea typeface="Times New Roman"/>
                <a:cs typeface="Times New Roman"/>
                <a:sym typeface="Times New Roman"/>
              </a:rPr>
              <a:t>" or "</a:t>
            </a:r>
            <a:r>
              <a:rPr b="1" i="0" lang="en-US" sz="2800" u="none" cap="none" strike="noStrike">
                <a:solidFill>
                  <a:schemeClr val="accent1"/>
                </a:solidFill>
                <a:latin typeface="Times New Roman"/>
                <a:ea typeface="Times New Roman"/>
                <a:cs typeface="Times New Roman"/>
                <a:sym typeface="Times New Roman"/>
              </a:rPr>
              <a:t>accelerate()</a:t>
            </a:r>
            <a:r>
              <a:rPr b="1" i="0" lang="en-US" sz="2800" u="none" cap="none" strike="noStrike">
                <a:solidFill>
                  <a:srgbClr val="FF0000"/>
                </a:solidFill>
                <a:latin typeface="Times New Roman"/>
                <a:ea typeface="Times New Roman"/>
                <a:cs typeface="Times New Roman"/>
                <a:sym typeface="Times New Roman"/>
              </a:rPr>
              <a:t>.</a:t>
            </a:r>
            <a:r>
              <a:rPr b="0" i="0" lang="en-US" sz="2800" u="none" cap="none" strike="noStrike">
                <a:solidFill>
                  <a:srgbClr val="000000"/>
                </a:solidFill>
                <a:latin typeface="Times New Roman"/>
                <a:ea typeface="Times New Roman"/>
                <a:cs typeface="Times New Roman"/>
                <a:sym typeface="Times New Roman"/>
              </a:rPr>
              <a:t>" </a:t>
            </a:r>
            <a:endParaRPr/>
          </a:p>
          <a:p>
            <a:pPr indent="-165100" lvl="0" marL="3429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An object, like "</a:t>
            </a:r>
            <a:r>
              <a:rPr b="1" i="0" lang="en-US" sz="2800" u="none" cap="none" strike="noStrike">
                <a:solidFill>
                  <a:schemeClr val="accent1"/>
                </a:solidFill>
                <a:latin typeface="Times New Roman"/>
                <a:ea typeface="Times New Roman"/>
                <a:cs typeface="Times New Roman"/>
                <a:sym typeface="Times New Roman"/>
              </a:rPr>
              <a:t>myCar</a:t>
            </a:r>
            <a:r>
              <a:rPr b="0" i="0" lang="en-US" sz="2800" u="none" cap="none" strike="noStrike">
                <a:solidFill>
                  <a:srgbClr val="000000"/>
                </a:solidFill>
                <a:latin typeface="Times New Roman"/>
                <a:ea typeface="Times New Roman"/>
                <a:cs typeface="Times New Roman"/>
                <a:sym typeface="Times New Roman"/>
              </a:rPr>
              <a:t>," would be an instance of the "</a:t>
            </a:r>
            <a:r>
              <a:rPr b="1" i="0" lang="en-US" sz="2800" u="none" cap="none" strike="noStrike">
                <a:solidFill>
                  <a:schemeClr val="accent1"/>
                </a:solidFill>
                <a:latin typeface="Times New Roman"/>
                <a:ea typeface="Times New Roman"/>
                <a:cs typeface="Times New Roman"/>
                <a:sym typeface="Times New Roman"/>
              </a:rPr>
              <a:t>Car</a:t>
            </a:r>
            <a:r>
              <a:rPr b="0" i="0" lang="en-US" sz="2800" u="none" cap="none" strike="noStrike">
                <a:solidFill>
                  <a:srgbClr val="000000"/>
                </a:solidFill>
                <a:latin typeface="Times New Roman"/>
                <a:ea typeface="Times New Roman"/>
                <a:cs typeface="Times New Roman"/>
                <a:sym typeface="Times New Roman"/>
              </a:rPr>
              <a:t>" class, with specific values for its attributes (e.g., "red," "Toyota," "Camry").</a:t>
            </a:r>
            <a:endParaRPr/>
          </a:p>
          <a:p>
            <a:pPr indent="-165100" lvl="0" marL="3429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In Python, everything is an object or an instance of some class. For example, all integer variables are instances of class </a:t>
            </a:r>
            <a:r>
              <a:rPr b="1" i="1" lang="en-US" sz="2800" u="none" cap="none" strike="noStrike">
                <a:solidFill>
                  <a:srgbClr val="000000"/>
                </a:solidFill>
                <a:latin typeface="Times New Roman"/>
                <a:ea typeface="Times New Roman"/>
                <a:cs typeface="Times New Roman"/>
                <a:sym typeface="Times New Roman"/>
              </a:rPr>
              <a:t>int</a:t>
            </a:r>
            <a:r>
              <a:rPr b="0" i="0" lang="en-US" sz="2800" u="none" cap="none" strike="noStrike">
                <a:solidFill>
                  <a:srgbClr val="000000"/>
                </a:solidFill>
                <a:latin typeface="Times New Roman"/>
                <a:ea typeface="Times New Roman"/>
                <a:cs typeface="Times New Roman"/>
                <a:sym typeface="Times New Roman"/>
              </a:rPr>
              <a:t> and all string variables are instances of class </a:t>
            </a:r>
            <a:r>
              <a:rPr b="1" i="1" lang="en-US" sz="2800" u="none" cap="none" strike="noStrike">
                <a:solidFill>
                  <a:srgbClr val="000000"/>
                </a:solidFill>
                <a:latin typeface="Times New Roman"/>
                <a:ea typeface="Times New Roman"/>
                <a:cs typeface="Times New Roman"/>
                <a:sym typeface="Times New Roman"/>
              </a:rPr>
              <a:t>str</a:t>
            </a:r>
            <a:r>
              <a:rPr b="0" i="0" lang="en-US" sz="2800" u="none" cap="none" strike="noStrike">
                <a:solidFill>
                  <a:srgbClr val="000000"/>
                </a:solidFill>
                <a:latin typeface="Times New Roman"/>
                <a:ea typeface="Times New Roman"/>
                <a:cs typeface="Times New Roman"/>
                <a:sym typeface="Times New Roman"/>
              </a:rPr>
              <a:t>.</a:t>
            </a:r>
            <a:endParaRPr/>
          </a:p>
          <a:p>
            <a:pPr indent="-165100" lvl="0" marL="3429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7"/>
          <p:cNvSpPr txBox="1"/>
          <p:nvPr>
            <p:ph type="title"/>
          </p:nvPr>
        </p:nvSpPr>
        <p:spPr>
          <a:xfrm>
            <a:off x="2177369" y="1449666"/>
            <a:ext cx="14404913" cy="15738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Example</a:t>
            </a:r>
            <a:endParaRPr/>
          </a:p>
        </p:txBody>
      </p:sp>
      <p:sp>
        <p:nvSpPr>
          <p:cNvPr id="538" name="Google Shape;538;p47"/>
          <p:cNvSpPr txBox="1"/>
          <p:nvPr>
            <p:ph idx="1" type="body"/>
          </p:nvPr>
        </p:nvSpPr>
        <p:spPr>
          <a:xfrm>
            <a:off x="2177415" y="3023235"/>
            <a:ext cx="14404658" cy="5783580"/>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228600" lvl="0" marL="457200" rtl="0" algn="l">
              <a:lnSpc>
                <a:spcPct val="90000"/>
              </a:lnSpc>
              <a:spcBef>
                <a:spcPts val="1500"/>
              </a:spcBef>
              <a:spcAft>
                <a:spcPts val="0"/>
              </a:spcAft>
              <a:buClr>
                <a:schemeClr val="dk1"/>
              </a:buClr>
              <a:buSzPts val="1800"/>
              <a:buNone/>
            </a:pPr>
            <a:r>
              <a:t/>
            </a:r>
            <a:endParaRPr/>
          </a:p>
        </p:txBody>
      </p:sp>
      <p:pic>
        <p:nvPicPr>
          <p:cNvPr id="539" name="Google Shape;539;p47"/>
          <p:cNvPicPr preferRelativeResize="0"/>
          <p:nvPr/>
        </p:nvPicPr>
        <p:blipFill rotWithShape="1">
          <a:blip r:embed="rId3">
            <a:alphaModFix/>
          </a:blip>
          <a:srcRect b="0" l="0" r="0" t="0"/>
          <a:stretch/>
        </p:blipFill>
        <p:spPr>
          <a:xfrm>
            <a:off x="3744278" y="3303270"/>
            <a:ext cx="11133773" cy="477869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8"/>
          <p:cNvSpPr txBox="1"/>
          <p:nvPr>
            <p:ph type="title"/>
          </p:nvPr>
        </p:nvSpPr>
        <p:spPr>
          <a:xfrm>
            <a:off x="2264999" y="1583334"/>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DEFINING A CLASS</a:t>
            </a:r>
            <a:endParaRPr/>
          </a:p>
        </p:txBody>
      </p:sp>
      <p:sp>
        <p:nvSpPr>
          <p:cNvPr id="545" name="Google Shape;545;p48"/>
          <p:cNvSpPr txBox="1"/>
          <p:nvPr>
            <p:ph idx="1" type="body"/>
          </p:nvPr>
        </p:nvSpPr>
        <p:spPr>
          <a:xfrm>
            <a:off x="2264999" y="3356021"/>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lang="en-US" sz="2800">
                <a:latin typeface="Times New Roman"/>
                <a:ea typeface="Times New Roman"/>
                <a:cs typeface="Times New Roman"/>
                <a:sym typeface="Times New Roman"/>
              </a:rPr>
              <a:t>A class is created with the keyword </a:t>
            </a:r>
            <a:r>
              <a:rPr b="1" i="1" lang="en-US" sz="2800">
                <a:latin typeface="Times New Roman"/>
                <a:ea typeface="Times New Roman"/>
                <a:cs typeface="Times New Roman"/>
                <a:sym typeface="Times New Roman"/>
              </a:rPr>
              <a:t>class</a:t>
            </a:r>
            <a:r>
              <a:rPr lang="en-US" sz="2800">
                <a:latin typeface="Times New Roman"/>
                <a:ea typeface="Times New Roman"/>
                <a:cs typeface="Times New Roman"/>
                <a:sym typeface="Times New Roman"/>
              </a:rPr>
              <a:t> followed by the class name.</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Within the indentation of the </a:t>
            </a:r>
            <a:r>
              <a:rPr b="1" i="1" lang="en-US" sz="2800">
                <a:latin typeface="Times New Roman"/>
                <a:ea typeface="Times New Roman"/>
                <a:cs typeface="Times New Roman"/>
                <a:sym typeface="Times New Roman"/>
              </a:rPr>
              <a:t>class</a:t>
            </a:r>
            <a:r>
              <a:rPr lang="en-US" sz="2800">
                <a:latin typeface="Times New Roman"/>
                <a:ea typeface="Times New Roman"/>
                <a:cs typeface="Times New Roman"/>
                <a:sym typeface="Times New Roman"/>
              </a:rPr>
              <a:t> block, write the class members i.e., </a:t>
            </a:r>
            <a:r>
              <a:rPr b="1" lang="en-US" sz="2800">
                <a:latin typeface="Times New Roman"/>
                <a:ea typeface="Times New Roman"/>
                <a:cs typeface="Times New Roman"/>
                <a:sym typeface="Times New Roman"/>
              </a:rPr>
              <a:t>attributes</a:t>
            </a:r>
            <a:r>
              <a:rPr lang="en-US" sz="2800">
                <a:latin typeface="Times New Roman"/>
                <a:ea typeface="Times New Roman"/>
                <a:cs typeface="Times New Roman"/>
                <a:sym typeface="Times New Roman"/>
              </a:rPr>
              <a:t> and </a:t>
            </a:r>
            <a:r>
              <a:rPr b="1" lang="en-US" sz="2800">
                <a:latin typeface="Times New Roman"/>
                <a:ea typeface="Times New Roman"/>
                <a:cs typeface="Times New Roman"/>
                <a:sym typeface="Times New Roman"/>
              </a:rPr>
              <a:t>actions</a:t>
            </a:r>
            <a:r>
              <a:rPr lang="en-US" sz="2800">
                <a:latin typeface="Times New Roman"/>
                <a:ea typeface="Times New Roman"/>
                <a:cs typeface="Times New Roman"/>
                <a:sym typeface="Times New Roman"/>
              </a:rPr>
              <a:t>.</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The attributes are represented by </a:t>
            </a:r>
            <a:r>
              <a:rPr b="1" lang="en-US" sz="2800">
                <a:latin typeface="Times New Roman"/>
                <a:ea typeface="Times New Roman"/>
                <a:cs typeface="Times New Roman"/>
                <a:sym typeface="Times New Roman"/>
              </a:rPr>
              <a:t>variables </a:t>
            </a:r>
            <a:r>
              <a:rPr lang="en-US" sz="2800">
                <a:latin typeface="Times New Roman"/>
                <a:ea typeface="Times New Roman"/>
                <a:cs typeface="Times New Roman"/>
                <a:sym typeface="Times New Roman"/>
              </a:rPr>
              <a:t>and actions are performed by </a:t>
            </a:r>
            <a:r>
              <a:rPr b="1" lang="en-US" sz="2800">
                <a:latin typeface="Times New Roman"/>
                <a:ea typeface="Times New Roman"/>
                <a:cs typeface="Times New Roman"/>
                <a:sym typeface="Times New Roman"/>
              </a:rPr>
              <a:t>methods</a:t>
            </a:r>
            <a:r>
              <a:rPr lang="en-US" sz="2800">
                <a:latin typeface="Times New Roman"/>
                <a:ea typeface="Times New Roman"/>
                <a:cs typeface="Times New Roman"/>
                <a:sym typeface="Times New Roman"/>
              </a:rPr>
              <a:t>.</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Class members are accessed through </a:t>
            </a:r>
            <a:r>
              <a:rPr b="1" lang="en-US" sz="2800">
                <a:latin typeface="Times New Roman"/>
                <a:ea typeface="Times New Roman"/>
                <a:cs typeface="Times New Roman"/>
                <a:sym typeface="Times New Roman"/>
              </a:rPr>
              <a:t>objects </a:t>
            </a:r>
            <a:r>
              <a:rPr lang="en-US" sz="2800">
                <a:latin typeface="Times New Roman"/>
                <a:ea typeface="Times New Roman"/>
                <a:cs typeface="Times New Roman"/>
                <a:sym typeface="Times New Roman"/>
              </a:rPr>
              <a:t>of that particular class.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9"/>
          <p:cNvSpPr txBox="1"/>
          <p:nvPr>
            <p:ph type="title"/>
          </p:nvPr>
        </p:nvSpPr>
        <p:spPr>
          <a:xfrm>
            <a:off x="2177369" y="1450619"/>
            <a:ext cx="14404950" cy="1573650"/>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DEFINING A CLASS</a:t>
            </a:r>
            <a:endParaRPr/>
          </a:p>
        </p:txBody>
      </p:sp>
      <p:sp>
        <p:nvSpPr>
          <p:cNvPr id="551" name="Google Shape;551;p49"/>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b="1" lang="en-US" sz="2800">
                <a:latin typeface="Times New Roman"/>
                <a:ea typeface="Times New Roman"/>
                <a:cs typeface="Times New Roman"/>
                <a:sym typeface="Times New Roman"/>
              </a:rPr>
              <a:t>Naming Convention</a:t>
            </a:r>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Each word of a class name should start with a </a:t>
            </a:r>
            <a:r>
              <a:rPr b="1" lang="en-US" sz="2800">
                <a:latin typeface="Times New Roman"/>
                <a:ea typeface="Times New Roman"/>
                <a:cs typeface="Times New Roman"/>
                <a:sym typeface="Times New Roman"/>
              </a:rPr>
              <a:t>capital letter</a:t>
            </a:r>
            <a:r>
              <a:rPr lang="en-US" sz="2800">
                <a:latin typeface="Times New Roman"/>
                <a:ea typeface="Times New Roman"/>
                <a:cs typeface="Times New Roman"/>
                <a:sym typeface="Times New Roman"/>
              </a:rPr>
              <a:t>.</a:t>
            </a:r>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When a class represents exception, then its name should end with the word </a:t>
            </a:r>
            <a:r>
              <a:rPr b="1" lang="en-US" sz="2800">
                <a:latin typeface="Times New Roman"/>
                <a:ea typeface="Times New Roman"/>
                <a:cs typeface="Times New Roman"/>
                <a:sym typeface="Times New Roman"/>
              </a:rPr>
              <a:t>'error'</a:t>
            </a:r>
            <a:r>
              <a:rPr lang="en-US" sz="2800">
                <a:latin typeface="Times New Roman"/>
                <a:ea typeface="Times New Roman"/>
                <a:cs typeface="Times New Roman"/>
                <a:sym typeface="Times New Roman"/>
              </a:rPr>
              <a:t>.</a:t>
            </a:r>
            <a:endParaRPr/>
          </a:p>
          <a:p>
            <a:pPr indent="-228600" lvl="0" marL="228600" rtl="0" algn="just">
              <a:lnSpc>
                <a:spcPct val="120000"/>
              </a:lnSpc>
              <a:spcBef>
                <a:spcPts val="0"/>
              </a:spcBef>
              <a:spcAft>
                <a:spcPts val="0"/>
              </a:spcAft>
              <a:buSzPts val="2000"/>
              <a:buChar char="•"/>
            </a:pPr>
            <a:r>
              <a:rPr b="1" lang="en-US" sz="2800">
                <a:latin typeface="Times New Roman"/>
                <a:ea typeface="Times New Roman"/>
                <a:cs typeface="Times New Roman"/>
                <a:sym typeface="Times New Roman"/>
              </a:rPr>
              <a:t>Note:</a:t>
            </a:r>
            <a:endParaRPr b="1" sz="2800">
              <a:latin typeface="Times New Roman"/>
              <a:ea typeface="Times New Roman"/>
              <a:cs typeface="Times New Roman"/>
              <a:sym typeface="Times New Roman"/>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Class definition can appear anywhere in the program.</a:t>
            </a:r>
            <a:endParaRPr sz="2800">
              <a:latin typeface="Times New Roman"/>
              <a:ea typeface="Times New Roman"/>
              <a:cs typeface="Times New Roman"/>
              <a:sym typeface="Times New Roman"/>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Usually class definition is written near the beginning of the program, after the </a:t>
            </a:r>
            <a:r>
              <a:rPr b="1" i="1" lang="en-US" sz="2800">
                <a:latin typeface="Times New Roman"/>
                <a:ea typeface="Times New Roman"/>
                <a:cs typeface="Times New Roman"/>
                <a:sym typeface="Times New Roman"/>
              </a:rPr>
              <a:t>import</a:t>
            </a:r>
            <a:r>
              <a:rPr lang="en-US" sz="2800">
                <a:latin typeface="Times New Roman"/>
                <a:ea typeface="Times New Roman"/>
                <a:cs typeface="Times New Roman"/>
                <a:sym typeface="Times New Roman"/>
              </a:rPr>
              <a:t> statement.</a:t>
            </a:r>
            <a:endParaRPr sz="2800">
              <a:latin typeface="Times New Roman"/>
              <a:ea typeface="Times New Roman"/>
              <a:cs typeface="Times New Roman"/>
              <a:sym typeface="Times New Roman"/>
            </a:endParaRPr>
          </a:p>
          <a:p>
            <a:pPr indent="-114300" lvl="1" marL="685800" rtl="0" algn="just">
              <a:lnSpc>
                <a:spcPct val="120000"/>
              </a:lnSpc>
              <a:spcBef>
                <a:spcPts val="500"/>
              </a:spcBef>
              <a:spcAft>
                <a:spcPts val="0"/>
              </a:spcAft>
              <a:buSzPts val="1800"/>
              <a:buNone/>
            </a:pPr>
            <a:r>
              <a:t/>
            </a:r>
            <a:endParaRPr sz="2800">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0"/>
          <p:cNvSpPr txBox="1"/>
          <p:nvPr>
            <p:ph type="title"/>
          </p:nvPr>
        </p:nvSpPr>
        <p:spPr>
          <a:xfrm>
            <a:off x="1941784" y="1449666"/>
            <a:ext cx="14404913" cy="15738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DEFINING A CLASS</a:t>
            </a:r>
            <a:endParaRPr/>
          </a:p>
        </p:txBody>
      </p:sp>
      <p:sp>
        <p:nvSpPr>
          <p:cNvPr id="557" name="Google Shape;557;p50"/>
          <p:cNvSpPr txBox="1"/>
          <p:nvPr>
            <p:ph idx="1" type="body"/>
          </p:nvPr>
        </p:nvSpPr>
        <p:spPr>
          <a:xfrm>
            <a:off x="1294401" y="3023598"/>
            <a:ext cx="14404913" cy="5175920"/>
          </a:xfrm>
          <a:prstGeom prst="rect">
            <a:avLst/>
          </a:prstGeom>
          <a:noFill/>
          <a:ln>
            <a:noFill/>
          </a:ln>
        </p:spPr>
        <p:txBody>
          <a:bodyPr anchorCtr="0" anchor="t" bIns="45700" lIns="91425" spcFirstLastPara="1" rIns="91425" wrap="square" tIns="45700">
            <a:normAutofit/>
          </a:bodyPr>
          <a:lstStyle/>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A class creates a new local namespace where all its members are defined.  Namespace defines the scope of members specific to the class which means all attributes (variables) and methods (functions) defined within the class body belong to this class's local namespace. They are distinct from names in other namespaces (like the global module namespace or other class namespaces). This local namespace prevents name conflicts. For example, if you have a variable named name inside a class and another name variable in the global scope, they are treated as separate entities.</a:t>
            </a:r>
            <a:endParaRPr sz="2800">
              <a:latin typeface="Times New Roman"/>
              <a:ea typeface="Times New Roman"/>
              <a:cs typeface="Times New Roman"/>
              <a:sym typeface="Times New Roman"/>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A class that has no statements should have a </a:t>
            </a:r>
            <a:r>
              <a:rPr b="1" i="1" lang="en-US" sz="2800">
                <a:latin typeface="Times New Roman"/>
                <a:ea typeface="Times New Roman"/>
                <a:cs typeface="Times New Roman"/>
                <a:sym typeface="Times New Roman"/>
              </a:rPr>
              <a:t>pass</a:t>
            </a:r>
            <a:r>
              <a:rPr lang="en-US" sz="2800">
                <a:latin typeface="Times New Roman"/>
                <a:ea typeface="Times New Roman"/>
                <a:cs typeface="Times New Roman"/>
                <a:sym typeface="Times New Roman"/>
              </a:rPr>
              <a:t> statement at least.</a:t>
            </a:r>
            <a:endParaRPr sz="2800">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1"/>
          <p:cNvSpPr txBox="1"/>
          <p:nvPr>
            <p:ph type="title"/>
          </p:nvPr>
        </p:nvSpPr>
        <p:spPr>
          <a:xfrm>
            <a:off x="2177369" y="1350289"/>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DEFINING A CLASS</a:t>
            </a:r>
            <a:endParaRPr/>
          </a:p>
        </p:txBody>
      </p:sp>
      <p:pic>
        <p:nvPicPr>
          <p:cNvPr id="563" name="Google Shape;563;p51"/>
          <p:cNvPicPr preferRelativeResize="0"/>
          <p:nvPr/>
        </p:nvPicPr>
        <p:blipFill rotWithShape="1">
          <a:blip r:embed="rId3">
            <a:alphaModFix/>
          </a:blip>
          <a:srcRect b="18910" l="4575" r="53274" t="43302"/>
          <a:stretch/>
        </p:blipFill>
        <p:spPr>
          <a:xfrm>
            <a:off x="2410778" y="3235643"/>
            <a:ext cx="13147358" cy="5148263"/>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2"/>
          <p:cNvSpPr txBox="1"/>
          <p:nvPr>
            <p:ph type="title"/>
          </p:nvPr>
        </p:nvSpPr>
        <p:spPr>
          <a:xfrm>
            <a:off x="2177369" y="1463954"/>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CREATING OBJECTS</a:t>
            </a:r>
            <a:endParaRPr/>
          </a:p>
        </p:txBody>
      </p:sp>
      <p:sp>
        <p:nvSpPr>
          <p:cNvPr id="569" name="Google Shape;569;p52"/>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800"/>
              <a:buChar char="•"/>
            </a:pPr>
            <a:r>
              <a:rPr lang="en-US" sz="2800">
                <a:latin typeface="Times New Roman"/>
                <a:ea typeface="Times New Roman"/>
                <a:cs typeface="Times New Roman"/>
                <a:sym typeface="Times New Roman"/>
              </a:rPr>
              <a:t>Once a class is created, the next job is to create an object or instance of that class.</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The class members are accessed through the class object using the dot (.) operator.</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Creating an object or instance of a class is known as </a:t>
            </a:r>
            <a:r>
              <a:rPr b="1" i="1" lang="en-US" sz="2800">
                <a:latin typeface="Times New Roman"/>
                <a:ea typeface="Times New Roman"/>
                <a:cs typeface="Times New Roman"/>
                <a:sym typeface="Times New Roman"/>
              </a:rPr>
              <a:t>class instantiation</a:t>
            </a:r>
            <a:r>
              <a:rPr lang="en-US" sz="2800">
                <a:latin typeface="Times New Roman"/>
                <a:ea typeface="Times New Roman"/>
                <a:cs typeface="Times New Roman"/>
                <a:sym typeface="Times New Roman"/>
              </a:rPr>
              <a:t>.</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The code shown in the next slide creates an empty object of the class Person.</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When an instance of the class (object) is created, the instance name holds the memory address of the instance. </a:t>
            </a:r>
            <a:endParaRPr/>
          </a:p>
          <a:p>
            <a:pPr indent="-50800" lvl="0" marL="228600" rtl="0" algn="just">
              <a:lnSpc>
                <a:spcPct val="120000"/>
              </a:lnSpc>
              <a:spcBef>
                <a:spcPts val="1000"/>
              </a:spcBef>
              <a:spcAft>
                <a:spcPts val="0"/>
              </a:spcAft>
              <a:buSzPts val="2800"/>
              <a:buNone/>
            </a:pPr>
            <a:r>
              <a:t/>
            </a:r>
            <a:endParaRPr sz="2800">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3"/>
          <p:cNvSpPr txBox="1"/>
          <p:nvPr>
            <p:ph type="title"/>
          </p:nvPr>
        </p:nvSpPr>
        <p:spPr>
          <a:xfrm>
            <a:off x="2177369" y="1481099"/>
            <a:ext cx="14404913" cy="15738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CREATING OBJECTS</a:t>
            </a:r>
            <a:endParaRPr/>
          </a:p>
        </p:txBody>
      </p:sp>
      <p:pic>
        <p:nvPicPr>
          <p:cNvPr id="575" name="Google Shape;575;p53"/>
          <p:cNvPicPr preferRelativeResize="0"/>
          <p:nvPr/>
        </p:nvPicPr>
        <p:blipFill rotWithShape="1">
          <a:blip r:embed="rId3">
            <a:alphaModFix/>
          </a:blip>
          <a:srcRect b="35423" l="4575" r="64794" t="43302"/>
          <a:stretch/>
        </p:blipFill>
        <p:spPr>
          <a:xfrm>
            <a:off x="2402205" y="3536633"/>
            <a:ext cx="5640705" cy="2597468"/>
          </a:xfrm>
          <a:prstGeom prst="rect">
            <a:avLst/>
          </a:prstGeom>
          <a:noFill/>
          <a:ln>
            <a:noFill/>
          </a:ln>
        </p:spPr>
      </p:pic>
      <p:pic>
        <p:nvPicPr>
          <p:cNvPr id="576" name="Google Shape;576;p53"/>
          <p:cNvPicPr preferRelativeResize="0"/>
          <p:nvPr/>
        </p:nvPicPr>
        <p:blipFill rotWithShape="1">
          <a:blip r:embed="rId4">
            <a:alphaModFix/>
          </a:blip>
          <a:srcRect b="49999" l="4575" r="51249" t="27638"/>
          <a:stretch/>
        </p:blipFill>
        <p:spPr>
          <a:xfrm>
            <a:off x="8682990" y="3536633"/>
            <a:ext cx="7740968" cy="2596515"/>
          </a:xfrm>
          <a:prstGeom prst="rect">
            <a:avLst/>
          </a:prstGeom>
          <a:noFill/>
          <a:ln>
            <a:noFill/>
          </a:ln>
        </p:spPr>
      </p:pic>
      <p:sp>
        <p:nvSpPr>
          <p:cNvPr id="577" name="Google Shape;577;p53"/>
          <p:cNvSpPr txBox="1"/>
          <p:nvPr/>
        </p:nvSpPr>
        <p:spPr>
          <a:xfrm>
            <a:off x="2177415" y="7124700"/>
            <a:ext cx="14178915" cy="11744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Gill Sans"/>
                <a:ea typeface="Gill Sans"/>
                <a:cs typeface="Gill Sans"/>
                <a:sym typeface="Gill Sans"/>
              </a:rPr>
              <a:t>Note: </a:t>
            </a:r>
            <a:r>
              <a:rPr b="0" i="0" lang="en-US" sz="2800" u="none" cap="none" strike="noStrike">
                <a:solidFill>
                  <a:srgbClr val="000000"/>
                </a:solidFill>
                <a:latin typeface="Gill Sans"/>
                <a:ea typeface="Gill Sans"/>
                <a:cs typeface="Gill Sans"/>
                <a:sym typeface="Gill Sans"/>
              </a:rPr>
              <a:t>The above result shows that an instance was built from Person class and the instance is stored in memory location.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4"/>
          <p:cNvSpPr txBox="1"/>
          <p:nvPr>
            <p:ph type="title"/>
          </p:nvPr>
        </p:nvSpPr>
        <p:spPr>
          <a:xfrm>
            <a:off x="2177369" y="1206779"/>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CREATING MULTIPLE INSTANCES</a:t>
            </a:r>
            <a:endParaRPr/>
          </a:p>
        </p:txBody>
      </p:sp>
      <p:sp>
        <p:nvSpPr>
          <p:cNvPr id="583" name="Google Shape;583;p54"/>
          <p:cNvSpPr txBox="1"/>
          <p:nvPr>
            <p:ph idx="1" type="body"/>
          </p:nvPr>
        </p:nvSpPr>
        <p:spPr>
          <a:xfrm>
            <a:off x="2177415" y="2796223"/>
            <a:ext cx="14404658" cy="6477953"/>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800"/>
              <a:buChar char="•"/>
            </a:pPr>
            <a:r>
              <a:rPr lang="en-US" sz="2800">
                <a:latin typeface="Times New Roman"/>
                <a:ea typeface="Times New Roman"/>
                <a:cs typeface="Times New Roman"/>
                <a:sym typeface="Times New Roman"/>
              </a:rPr>
              <a:t>We can create as many instances as we want from each class.</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Store each instance in a separate variable.</a:t>
            </a:r>
            <a:endParaRPr/>
          </a:p>
          <a:p>
            <a:pPr indent="-228600" lvl="0" marL="228600" rtl="0" algn="just">
              <a:lnSpc>
                <a:spcPct val="120000"/>
              </a:lnSpc>
              <a:spcBef>
                <a:spcPts val="1000"/>
              </a:spcBef>
              <a:spcAft>
                <a:spcPts val="0"/>
              </a:spcAft>
              <a:buSzPts val="2800"/>
              <a:buChar char="•"/>
            </a:pPr>
            <a:r>
              <a:rPr b="1" lang="en-US" sz="2800">
                <a:latin typeface="Times New Roman"/>
                <a:ea typeface="Times New Roman"/>
                <a:cs typeface="Times New Roman"/>
                <a:sym typeface="Times New Roman"/>
              </a:rPr>
              <a:t>Note: </a:t>
            </a:r>
            <a:r>
              <a:rPr lang="en-US" sz="2800">
                <a:latin typeface="Times New Roman"/>
                <a:ea typeface="Times New Roman"/>
                <a:cs typeface="Times New Roman"/>
                <a:sym typeface="Times New Roman"/>
              </a:rPr>
              <a:t>Although the two instances are created from the same class, they are stored as separate entities within the program.</a:t>
            </a:r>
            <a:endParaRPr/>
          </a:p>
        </p:txBody>
      </p:sp>
      <p:pic>
        <p:nvPicPr>
          <p:cNvPr id="584" name="Google Shape;584;p54"/>
          <p:cNvPicPr preferRelativeResize="0"/>
          <p:nvPr/>
        </p:nvPicPr>
        <p:blipFill rotWithShape="1">
          <a:blip r:embed="rId3">
            <a:alphaModFix/>
          </a:blip>
          <a:srcRect b="35423" l="4575" r="70722" t="43302"/>
          <a:stretch/>
        </p:blipFill>
        <p:spPr>
          <a:xfrm>
            <a:off x="4651693" y="5828030"/>
            <a:ext cx="8081010" cy="288036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5"/>
          <p:cNvSpPr txBox="1"/>
          <p:nvPr>
            <p:ph type="title"/>
          </p:nvPr>
        </p:nvSpPr>
        <p:spPr>
          <a:xfrm>
            <a:off x="2177369" y="1510626"/>
            <a:ext cx="14404913" cy="15738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CREATING MULTIPLE INSTANCES</a:t>
            </a:r>
            <a:endParaRPr/>
          </a:p>
        </p:txBody>
      </p:sp>
      <p:pic>
        <p:nvPicPr>
          <p:cNvPr id="590" name="Google Shape;590;p55"/>
          <p:cNvPicPr preferRelativeResize="0"/>
          <p:nvPr/>
        </p:nvPicPr>
        <p:blipFill rotWithShape="1">
          <a:blip r:embed="rId3">
            <a:alphaModFix/>
          </a:blip>
          <a:srcRect b="23767" l="4500" r="47350" t="36868"/>
          <a:stretch/>
        </p:blipFill>
        <p:spPr>
          <a:xfrm>
            <a:off x="2177415" y="3300730"/>
            <a:ext cx="13376910" cy="56610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6"/>
          <p:cNvSpPr txBox="1"/>
          <p:nvPr>
            <p:ph type="title"/>
          </p:nvPr>
        </p:nvSpPr>
        <p:spPr>
          <a:xfrm>
            <a:off x="2032589" y="1465224"/>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EXERCISE</a:t>
            </a:r>
            <a:endParaRPr/>
          </a:p>
        </p:txBody>
      </p:sp>
      <p:sp>
        <p:nvSpPr>
          <p:cNvPr id="596" name="Google Shape;596;p56"/>
          <p:cNvSpPr txBox="1"/>
          <p:nvPr>
            <p:ph idx="1" type="body"/>
          </p:nvPr>
        </p:nvSpPr>
        <p:spPr>
          <a:xfrm>
            <a:off x="2032635" y="2640965"/>
            <a:ext cx="14404658" cy="6506528"/>
          </a:xfrm>
          <a:prstGeom prst="rect">
            <a:avLst/>
          </a:prstGeom>
          <a:noFill/>
          <a:ln>
            <a:noFill/>
          </a:ln>
        </p:spPr>
        <p:txBody>
          <a:bodyPr anchorCtr="0" anchor="t" bIns="68550" lIns="137125" spcFirstLastPara="1" rIns="137125" wrap="square" tIns="68550">
            <a:normAutofit/>
          </a:bodyPr>
          <a:lstStyle/>
          <a:p>
            <a:pPr indent="-228600" lvl="0" marL="228600" rtl="0" algn="l">
              <a:lnSpc>
                <a:spcPct val="120000"/>
              </a:lnSpc>
              <a:spcBef>
                <a:spcPts val="0"/>
              </a:spcBef>
              <a:spcAft>
                <a:spcPts val="0"/>
              </a:spcAft>
              <a:buSzPts val="2000"/>
              <a:buChar char="•"/>
            </a:pPr>
            <a:r>
              <a:rPr lang="en-US" sz="2800">
                <a:latin typeface="Times New Roman"/>
                <a:ea typeface="Times New Roman"/>
                <a:cs typeface="Times New Roman"/>
                <a:sym typeface="Times New Roman"/>
              </a:rPr>
              <a:t>Create a class called "Animals", and create 2 instances from it, namely, "lion" and "tiger".</a:t>
            </a:r>
            <a:endParaRPr/>
          </a:p>
        </p:txBody>
      </p:sp>
      <p:pic>
        <p:nvPicPr>
          <p:cNvPr id="597" name="Google Shape;597;p56"/>
          <p:cNvPicPr preferRelativeResize="0"/>
          <p:nvPr/>
        </p:nvPicPr>
        <p:blipFill rotWithShape="1">
          <a:blip r:embed="rId3">
            <a:alphaModFix/>
          </a:blip>
          <a:srcRect b="18910" l="4725" r="40972" t="36883"/>
          <a:stretch/>
        </p:blipFill>
        <p:spPr>
          <a:xfrm>
            <a:off x="2459990" y="3679190"/>
            <a:ext cx="13534390" cy="529653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57"/>
          <p:cNvSpPr txBox="1"/>
          <p:nvPr>
            <p:ph type="title"/>
          </p:nvPr>
        </p:nvSpPr>
        <p:spPr>
          <a:xfrm>
            <a:off x="2177369" y="1449666"/>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DATA ABSTRACTION</a:t>
            </a:r>
            <a:endParaRPr/>
          </a:p>
        </p:txBody>
      </p:sp>
      <p:sp>
        <p:nvSpPr>
          <p:cNvPr id="603" name="Google Shape;603;p57"/>
          <p:cNvSpPr txBox="1"/>
          <p:nvPr>
            <p:ph idx="1" type="body"/>
          </p:nvPr>
        </p:nvSpPr>
        <p:spPr>
          <a:xfrm>
            <a:off x="2177369" y="329410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b="1" lang="en-US" sz="2800">
                <a:latin typeface="Times New Roman"/>
                <a:ea typeface="Times New Roman"/>
                <a:cs typeface="Times New Roman"/>
                <a:sym typeface="Times New Roman"/>
              </a:rPr>
              <a:t>Data abstraction</a:t>
            </a:r>
            <a:r>
              <a:rPr lang="en-US" sz="2800">
                <a:latin typeface="Times New Roman"/>
                <a:ea typeface="Times New Roman"/>
                <a:cs typeface="Times New Roman"/>
                <a:sym typeface="Times New Roman"/>
              </a:rPr>
              <a:t> is a process by which data and functions are defined in such a way that only essential details are provided to the outside world and the implementation details are </a:t>
            </a:r>
            <a:r>
              <a:rPr b="1" lang="en-US" sz="2800">
                <a:latin typeface="Times New Roman"/>
                <a:ea typeface="Times New Roman"/>
                <a:cs typeface="Times New Roman"/>
                <a:sym typeface="Times New Roman"/>
              </a:rPr>
              <a:t>hidden</a:t>
            </a:r>
            <a:r>
              <a:rPr lang="en-US" sz="2800">
                <a:latin typeface="Times New Roman"/>
                <a:ea typeface="Times New Roman"/>
                <a:cs typeface="Times New Roman"/>
                <a:sym typeface="Times New Roman"/>
              </a:rPr>
              <a:t>.</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In Python, a class provides </a:t>
            </a:r>
            <a:r>
              <a:rPr b="1" lang="en-US" sz="2800">
                <a:latin typeface="Times New Roman"/>
                <a:ea typeface="Times New Roman"/>
                <a:cs typeface="Times New Roman"/>
                <a:sym typeface="Times New Roman"/>
              </a:rPr>
              <a:t>methods</a:t>
            </a:r>
            <a:r>
              <a:rPr lang="en-US" sz="2800">
                <a:latin typeface="Times New Roman"/>
                <a:ea typeface="Times New Roman"/>
                <a:cs typeface="Times New Roman"/>
                <a:sym typeface="Times New Roman"/>
              </a:rPr>
              <a:t> to the outside world to provide the functionality of the object or to manipulate the object's data.</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8"/>
          <p:cNvSpPr txBox="1"/>
          <p:nvPr>
            <p:ph type="title"/>
          </p:nvPr>
        </p:nvSpPr>
        <p:spPr>
          <a:xfrm>
            <a:off x="2177369" y="1211224"/>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DATA ENCAPSULATION</a:t>
            </a:r>
            <a:endParaRPr/>
          </a:p>
        </p:txBody>
      </p:sp>
      <p:sp>
        <p:nvSpPr>
          <p:cNvPr id="609" name="Google Shape;609;p58"/>
          <p:cNvSpPr txBox="1"/>
          <p:nvPr>
            <p:ph idx="1" type="body"/>
          </p:nvPr>
        </p:nvSpPr>
        <p:spPr>
          <a:xfrm>
            <a:off x="2177369" y="2784838"/>
            <a:ext cx="14404913" cy="5175920"/>
          </a:xfrm>
          <a:prstGeom prst="rect">
            <a:avLst/>
          </a:prstGeom>
          <a:noFill/>
          <a:ln>
            <a:noFill/>
          </a:ln>
        </p:spPr>
        <p:txBody>
          <a:bodyPr anchorCtr="0" anchor="t" bIns="68550" lIns="137125" spcFirstLastPara="1" rIns="137125" wrap="square" tIns="68550">
            <a:noAutofit/>
          </a:bodyPr>
          <a:lstStyle/>
          <a:p>
            <a:pPr indent="-228600" lvl="0" marL="228600" rtl="0" algn="just">
              <a:lnSpc>
                <a:spcPct val="120000"/>
              </a:lnSpc>
              <a:spcBef>
                <a:spcPts val="0"/>
              </a:spcBef>
              <a:spcAft>
                <a:spcPts val="0"/>
              </a:spcAft>
              <a:buSzPts val="2800"/>
              <a:buChar char="•"/>
            </a:pPr>
            <a:r>
              <a:rPr b="1" lang="en-US" sz="2800">
                <a:solidFill>
                  <a:schemeClr val="dk1"/>
                </a:solidFill>
                <a:latin typeface="Times New Roman"/>
                <a:ea typeface="Times New Roman"/>
                <a:cs typeface="Times New Roman"/>
                <a:sym typeface="Times New Roman"/>
              </a:rPr>
              <a:t>Encapsulation </a:t>
            </a:r>
            <a:r>
              <a:rPr lang="en-US" sz="2800">
                <a:solidFill>
                  <a:schemeClr val="dk1"/>
                </a:solidFill>
                <a:latin typeface="Times New Roman"/>
                <a:ea typeface="Times New Roman"/>
                <a:cs typeface="Times New Roman"/>
                <a:sym typeface="Times New Roman"/>
              </a:rPr>
              <a:t>involves the </a:t>
            </a:r>
            <a:r>
              <a:rPr b="1" lang="en-US" sz="2800">
                <a:solidFill>
                  <a:schemeClr val="dk1"/>
                </a:solidFill>
                <a:latin typeface="Times New Roman"/>
                <a:ea typeface="Times New Roman"/>
                <a:cs typeface="Times New Roman"/>
                <a:sym typeface="Times New Roman"/>
              </a:rPr>
              <a:t>bundling </a:t>
            </a:r>
            <a:r>
              <a:rPr lang="en-US" sz="2800">
                <a:solidFill>
                  <a:schemeClr val="dk1"/>
                </a:solidFill>
                <a:latin typeface="Times New Roman"/>
                <a:ea typeface="Times New Roman"/>
                <a:cs typeface="Times New Roman"/>
                <a:sym typeface="Times New Roman"/>
              </a:rPr>
              <a:t>of data members and functions inside a single class.</a:t>
            </a:r>
            <a:endParaRPr/>
          </a:p>
          <a:p>
            <a:pPr indent="-228600" lvl="0" marL="228600" rtl="0" algn="just">
              <a:lnSpc>
                <a:spcPct val="120000"/>
              </a:lnSpc>
              <a:spcBef>
                <a:spcPts val="1000"/>
              </a:spcBef>
              <a:spcAft>
                <a:spcPts val="0"/>
              </a:spcAft>
              <a:buSzPts val="2800"/>
              <a:buChar char="•"/>
            </a:pPr>
            <a:r>
              <a:rPr lang="en-US" sz="2800">
                <a:solidFill>
                  <a:schemeClr val="dk1"/>
                </a:solidFill>
                <a:latin typeface="Times New Roman"/>
                <a:ea typeface="Times New Roman"/>
                <a:cs typeface="Times New Roman"/>
                <a:sym typeface="Times New Roman"/>
              </a:rPr>
              <a:t>Encapsulation defines different </a:t>
            </a:r>
            <a:r>
              <a:rPr b="1" lang="en-US" sz="2800">
                <a:solidFill>
                  <a:schemeClr val="dk1"/>
                </a:solidFill>
                <a:latin typeface="Times New Roman"/>
                <a:ea typeface="Times New Roman"/>
                <a:cs typeface="Times New Roman"/>
                <a:sym typeface="Times New Roman"/>
              </a:rPr>
              <a:t>access levels </a:t>
            </a:r>
            <a:r>
              <a:rPr lang="en-US" sz="2800">
                <a:solidFill>
                  <a:schemeClr val="dk1"/>
                </a:solidFill>
                <a:latin typeface="Times New Roman"/>
                <a:ea typeface="Times New Roman"/>
                <a:cs typeface="Times New Roman"/>
                <a:sym typeface="Times New Roman"/>
              </a:rPr>
              <a:t>for data variables and member functions of the class:</a:t>
            </a:r>
            <a:endParaRPr/>
          </a:p>
          <a:p>
            <a:pPr indent="-228600" lvl="1" marL="685800" rtl="0" algn="just">
              <a:lnSpc>
                <a:spcPct val="120000"/>
              </a:lnSpc>
              <a:spcBef>
                <a:spcPts val="500"/>
              </a:spcBef>
              <a:spcAft>
                <a:spcPts val="0"/>
              </a:spcAft>
              <a:buSzPts val="2800"/>
              <a:buChar char="•"/>
            </a:pPr>
            <a:r>
              <a:rPr b="1" lang="en-US" sz="2800">
                <a:solidFill>
                  <a:schemeClr val="dk1"/>
                </a:solidFill>
                <a:latin typeface="Times New Roman"/>
                <a:ea typeface="Times New Roman"/>
                <a:cs typeface="Times New Roman"/>
                <a:sym typeface="Times New Roman"/>
              </a:rPr>
              <a:t>public</a:t>
            </a:r>
            <a:endParaRPr/>
          </a:p>
          <a:p>
            <a:pPr indent="-228600" lvl="2" marL="1143000" rtl="0" algn="just">
              <a:lnSpc>
                <a:spcPct val="120000"/>
              </a:lnSpc>
              <a:spcBef>
                <a:spcPts val="500"/>
              </a:spcBef>
              <a:spcAft>
                <a:spcPts val="0"/>
              </a:spcAft>
              <a:buSzPts val="2800"/>
              <a:buChar char="•"/>
            </a:pPr>
            <a:r>
              <a:rPr lang="en-US" sz="2800">
                <a:solidFill>
                  <a:schemeClr val="dk1"/>
                </a:solidFill>
                <a:latin typeface="Times New Roman"/>
                <a:ea typeface="Times New Roman"/>
                <a:cs typeface="Times New Roman"/>
                <a:sym typeface="Times New Roman"/>
              </a:rPr>
              <a:t>Any data or function with access level public can be accessed by any function belonging to any class.</a:t>
            </a:r>
            <a:endParaRPr/>
          </a:p>
          <a:p>
            <a:pPr indent="-228600" lvl="1" marL="685800" rtl="0" algn="just">
              <a:lnSpc>
                <a:spcPct val="120000"/>
              </a:lnSpc>
              <a:spcBef>
                <a:spcPts val="500"/>
              </a:spcBef>
              <a:spcAft>
                <a:spcPts val="0"/>
              </a:spcAft>
              <a:buSzPts val="2800"/>
              <a:buChar char="•"/>
            </a:pPr>
            <a:r>
              <a:rPr b="1" lang="en-US" sz="2800">
                <a:solidFill>
                  <a:schemeClr val="dk1"/>
                </a:solidFill>
                <a:latin typeface="Times New Roman"/>
                <a:ea typeface="Times New Roman"/>
                <a:cs typeface="Times New Roman"/>
                <a:sym typeface="Times New Roman"/>
              </a:rPr>
              <a:t>private</a:t>
            </a:r>
            <a:endParaRPr/>
          </a:p>
          <a:p>
            <a:pPr indent="-228600" lvl="2" marL="1143000" rtl="0" algn="just">
              <a:lnSpc>
                <a:spcPct val="120000"/>
              </a:lnSpc>
              <a:spcBef>
                <a:spcPts val="500"/>
              </a:spcBef>
              <a:spcAft>
                <a:spcPts val="0"/>
              </a:spcAft>
              <a:buSzPts val="2800"/>
              <a:buChar char="•"/>
            </a:pPr>
            <a:r>
              <a:rPr lang="en-US" sz="2800">
                <a:solidFill>
                  <a:schemeClr val="dk1"/>
                </a:solidFill>
                <a:latin typeface="Times New Roman"/>
                <a:ea typeface="Times New Roman"/>
                <a:cs typeface="Times New Roman"/>
                <a:sym typeface="Times New Roman"/>
              </a:rPr>
              <a:t>Any data or function with access level private can be accessed only by the class members, in which it is declared. </a:t>
            </a:r>
            <a:endParaRPr/>
          </a:p>
          <a:p>
            <a:pPr indent="-228600" lvl="2" marL="1143000" rtl="0" algn="just">
              <a:lnSpc>
                <a:spcPct val="120000"/>
              </a:lnSpc>
              <a:spcBef>
                <a:spcPts val="500"/>
              </a:spcBef>
              <a:spcAft>
                <a:spcPts val="0"/>
              </a:spcAft>
              <a:buSzPts val="2800"/>
              <a:buChar char="•"/>
            </a:pPr>
            <a:r>
              <a:rPr lang="en-US" sz="2800">
                <a:solidFill>
                  <a:schemeClr val="dk1"/>
                </a:solidFill>
                <a:latin typeface="Times New Roman"/>
                <a:ea typeface="Times New Roman"/>
                <a:cs typeface="Times New Roman"/>
                <a:sym typeface="Times New Roman"/>
              </a:rPr>
              <a:t>In Python, private variables are prefixed with a double underscore.</a:t>
            </a:r>
            <a:endParaRPr/>
          </a:p>
          <a:p>
            <a:pPr indent="-228600" lvl="2" marL="1143000" rtl="0" algn="just">
              <a:lnSpc>
                <a:spcPct val="120000"/>
              </a:lnSpc>
              <a:spcBef>
                <a:spcPts val="500"/>
              </a:spcBef>
              <a:spcAft>
                <a:spcPts val="0"/>
              </a:spcAft>
              <a:buSzPts val="2800"/>
              <a:buChar char="•"/>
            </a:pPr>
            <a:r>
              <a:rPr lang="en-US" sz="2800">
                <a:solidFill>
                  <a:schemeClr val="dk1"/>
                </a:solidFill>
                <a:latin typeface="Times New Roman"/>
                <a:ea typeface="Times New Roman"/>
                <a:cs typeface="Times New Roman"/>
                <a:sym typeface="Times New Roman"/>
              </a:rPr>
              <a:t>Example: __date_of_birth = None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59"/>
          <p:cNvSpPr txBox="1"/>
          <p:nvPr>
            <p:ph type="title"/>
          </p:nvPr>
        </p:nvSpPr>
        <p:spPr>
          <a:xfrm>
            <a:off x="2177369" y="1568729"/>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METHOD</a:t>
            </a:r>
            <a:endParaRPr/>
          </a:p>
        </p:txBody>
      </p:sp>
      <p:sp>
        <p:nvSpPr>
          <p:cNvPr id="615" name="Google Shape;615;p59"/>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lang="en-US" sz="2800">
                <a:latin typeface="Times New Roman"/>
                <a:ea typeface="Times New Roman"/>
                <a:cs typeface="Times New Roman"/>
                <a:sym typeface="Times New Roman"/>
              </a:rPr>
              <a:t>Objects are associated with certain </a:t>
            </a:r>
            <a:r>
              <a:rPr b="1" lang="en-US" sz="2800">
                <a:latin typeface="Times New Roman"/>
                <a:ea typeface="Times New Roman"/>
                <a:cs typeface="Times New Roman"/>
                <a:sym typeface="Times New Roman"/>
              </a:rPr>
              <a:t>attributes</a:t>
            </a:r>
            <a:r>
              <a:rPr lang="en-US" sz="2800">
                <a:latin typeface="Times New Roman"/>
                <a:ea typeface="Times New Roman"/>
                <a:cs typeface="Times New Roman"/>
                <a:sym typeface="Times New Roman"/>
              </a:rPr>
              <a:t> and </a:t>
            </a:r>
            <a:r>
              <a:rPr b="1" lang="en-US" sz="2800">
                <a:latin typeface="Times New Roman"/>
                <a:ea typeface="Times New Roman"/>
                <a:cs typeface="Times New Roman"/>
                <a:sym typeface="Times New Roman"/>
              </a:rPr>
              <a:t>actions </a:t>
            </a:r>
            <a:r>
              <a:rPr lang="en-US" sz="2800">
                <a:latin typeface="Times New Roman"/>
                <a:ea typeface="Times New Roman"/>
                <a:cs typeface="Times New Roman"/>
                <a:sym typeface="Times New Roman"/>
              </a:rPr>
              <a:t>with them.</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Example: </a:t>
            </a:r>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Consider a car. It has attributes like make, model, variant, color, number of wheels, etc. </a:t>
            </a:r>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It also perform actions like accelerate, stop, turn, etc.</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In a class, actions are represented through </a:t>
            </a:r>
            <a:r>
              <a:rPr b="1" lang="en-US" sz="2800">
                <a:latin typeface="Times New Roman"/>
                <a:ea typeface="Times New Roman"/>
                <a:cs typeface="Times New Roman"/>
                <a:sym typeface="Times New Roman"/>
              </a:rPr>
              <a:t>methods</a:t>
            </a:r>
            <a:r>
              <a:rPr lang="en-US" sz="2800">
                <a:latin typeface="Times New Roman"/>
                <a:ea typeface="Times New Roman"/>
                <a:cs typeface="Times New Roman"/>
                <a:sym typeface="Times New Roman"/>
              </a:rPr>
              <a:t>. </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Methods are essentially functions defined in the class.</a:t>
            </a:r>
            <a:endParaRPr/>
          </a:p>
        </p:txBody>
      </p:sp>
      <p:sp>
        <p:nvSpPr>
          <p:cNvPr id="616" name="Google Shape;616;p59"/>
          <p:cNvSpPr txBox="1"/>
          <p:nvPr/>
        </p:nvSpPr>
        <p:spPr>
          <a:xfrm>
            <a:off x="2052320" y="1712595"/>
            <a:ext cx="6096000" cy="975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accent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60"/>
          <p:cNvSpPr txBox="1"/>
          <p:nvPr>
            <p:ph type="title"/>
          </p:nvPr>
        </p:nvSpPr>
        <p:spPr>
          <a:xfrm>
            <a:off x="2076404" y="1623021"/>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DEFINING AND CALLING A METHOD</a:t>
            </a:r>
            <a:endParaRPr/>
          </a:p>
        </p:txBody>
      </p:sp>
      <p:sp>
        <p:nvSpPr>
          <p:cNvPr id="622" name="Google Shape;622;p60"/>
          <p:cNvSpPr txBox="1"/>
          <p:nvPr>
            <p:ph idx="1" type="body"/>
          </p:nvPr>
        </p:nvSpPr>
        <p:spPr>
          <a:xfrm>
            <a:off x="2177369" y="3196953"/>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lang="en-US" sz="2800">
                <a:latin typeface="Times New Roman"/>
                <a:ea typeface="Times New Roman"/>
                <a:cs typeface="Times New Roman"/>
                <a:sym typeface="Times New Roman"/>
              </a:rPr>
              <a:t>To define a method, define a function within the </a:t>
            </a:r>
            <a:r>
              <a:rPr b="1" i="1" lang="en-US" sz="2800">
                <a:latin typeface="Times New Roman"/>
                <a:ea typeface="Times New Roman"/>
                <a:cs typeface="Times New Roman"/>
                <a:sym typeface="Times New Roman"/>
              </a:rPr>
              <a:t>class</a:t>
            </a:r>
            <a:r>
              <a:rPr lang="en-US" sz="2800">
                <a:latin typeface="Times New Roman"/>
                <a:ea typeface="Times New Roman"/>
                <a:cs typeface="Times New Roman"/>
                <a:sym typeface="Times New Roman"/>
              </a:rPr>
              <a:t> indentation block.</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To call the method use </a:t>
            </a:r>
            <a:r>
              <a:rPr b="1" lang="en-US" sz="2800">
                <a:latin typeface="Times New Roman"/>
                <a:ea typeface="Times New Roman"/>
                <a:cs typeface="Times New Roman"/>
                <a:sym typeface="Times New Roman"/>
              </a:rPr>
              <a:t>dot syntax </a:t>
            </a:r>
            <a:r>
              <a:rPr lang="en-US" sz="2800">
                <a:latin typeface="Times New Roman"/>
                <a:ea typeface="Times New Roman"/>
                <a:cs typeface="Times New Roman"/>
                <a:sym typeface="Times New Roman"/>
              </a:rPr>
              <a:t>and use parenthesis after the name.</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Naming Convention</a:t>
            </a:r>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Method name should be all </a:t>
            </a:r>
            <a:r>
              <a:rPr b="1" lang="en-US" sz="2800">
                <a:latin typeface="Times New Roman"/>
                <a:ea typeface="Times New Roman"/>
                <a:cs typeface="Times New Roman"/>
                <a:sym typeface="Times New Roman"/>
              </a:rPr>
              <a:t>lower case letters</a:t>
            </a:r>
            <a:r>
              <a:rPr lang="en-US" sz="2800">
                <a:latin typeface="Times New Roman"/>
                <a:ea typeface="Times New Roman"/>
                <a:cs typeface="Times New Roman"/>
                <a:sym typeface="Times New Roman"/>
              </a:rPr>
              <a:t>.</a:t>
            </a:r>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When multiple words are used for a name, separate them using an underscore.</a:t>
            </a:r>
            <a:endParaRPr/>
          </a:p>
          <a:p>
            <a:pPr indent="-101600" lvl="0" marL="228600" rtl="0" algn="just">
              <a:lnSpc>
                <a:spcPct val="120000"/>
              </a:lnSpc>
              <a:spcBef>
                <a:spcPts val="1000"/>
              </a:spcBef>
              <a:spcAft>
                <a:spcPts val="0"/>
              </a:spcAft>
              <a:buSzPts val="2000"/>
              <a:buNone/>
            </a:pPr>
            <a:r>
              <a:t/>
            </a:r>
            <a:endParaRPr sz="2800">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1"/>
          <p:cNvSpPr txBox="1"/>
          <p:nvPr>
            <p:ph type="title"/>
          </p:nvPr>
        </p:nvSpPr>
        <p:spPr>
          <a:xfrm>
            <a:off x="2177369" y="1465859"/>
            <a:ext cx="14404913" cy="15738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DEFINING AND CALLING A METHOD</a:t>
            </a:r>
            <a:endParaRPr/>
          </a:p>
        </p:txBody>
      </p:sp>
      <p:pic>
        <p:nvPicPr>
          <p:cNvPr id="628" name="Google Shape;628;p61"/>
          <p:cNvPicPr preferRelativeResize="0"/>
          <p:nvPr/>
        </p:nvPicPr>
        <p:blipFill rotWithShape="1">
          <a:blip r:embed="rId3">
            <a:alphaModFix/>
          </a:blip>
          <a:srcRect b="14837" l="4725" r="50000" t="53209"/>
          <a:stretch/>
        </p:blipFill>
        <p:spPr>
          <a:xfrm>
            <a:off x="2177415" y="3039428"/>
            <a:ext cx="13155930" cy="531876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62"/>
          <p:cNvSpPr txBox="1"/>
          <p:nvPr>
            <p:ph type="title"/>
          </p:nvPr>
        </p:nvSpPr>
        <p:spPr>
          <a:xfrm>
            <a:off x="2177369" y="1583016"/>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THE CLASS CONSTRUCTOR</a:t>
            </a:r>
            <a:endParaRPr/>
          </a:p>
        </p:txBody>
      </p:sp>
      <p:sp>
        <p:nvSpPr>
          <p:cNvPr id="634" name="Google Shape;634;p62"/>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fontScale="77500" lnSpcReduction="10000"/>
          </a:bodyPr>
          <a:lstStyle/>
          <a:p>
            <a:pPr indent="-228600" lvl="0" marL="228600" rtl="0" algn="just">
              <a:lnSpc>
                <a:spcPct val="120000"/>
              </a:lnSpc>
              <a:spcBef>
                <a:spcPts val="0"/>
              </a:spcBef>
              <a:spcAft>
                <a:spcPts val="0"/>
              </a:spcAft>
              <a:buSzPct val="64516"/>
              <a:buChar char="•"/>
            </a:pPr>
            <a:r>
              <a:rPr lang="en-US" sz="4000">
                <a:latin typeface="Times New Roman"/>
                <a:ea typeface="Times New Roman"/>
                <a:cs typeface="Times New Roman"/>
                <a:sym typeface="Times New Roman"/>
              </a:rPr>
              <a:t>A </a:t>
            </a:r>
            <a:r>
              <a:rPr b="1" lang="en-US" sz="4000">
                <a:latin typeface="Times New Roman"/>
                <a:ea typeface="Times New Roman"/>
                <a:cs typeface="Times New Roman"/>
                <a:sym typeface="Times New Roman"/>
              </a:rPr>
              <a:t>constructor </a:t>
            </a:r>
            <a:r>
              <a:rPr lang="en-US" sz="4000">
                <a:latin typeface="Times New Roman"/>
                <a:ea typeface="Times New Roman"/>
                <a:cs typeface="Times New Roman"/>
                <a:sym typeface="Times New Roman"/>
              </a:rPr>
              <a:t>is a special method that is used to </a:t>
            </a:r>
            <a:r>
              <a:rPr b="1" lang="en-US" sz="4000">
                <a:latin typeface="Times New Roman"/>
                <a:ea typeface="Times New Roman"/>
                <a:cs typeface="Times New Roman"/>
                <a:sym typeface="Times New Roman"/>
              </a:rPr>
              <a:t>initialize </a:t>
            </a:r>
            <a:r>
              <a:rPr lang="en-US" sz="4000">
                <a:latin typeface="Times New Roman"/>
                <a:ea typeface="Times New Roman"/>
                <a:cs typeface="Times New Roman"/>
                <a:sym typeface="Times New Roman"/>
              </a:rPr>
              <a:t>the instance variables of a class.</a:t>
            </a:r>
            <a:endParaRPr/>
          </a:p>
          <a:p>
            <a:pPr indent="-228600" lvl="0" marL="228600" rtl="0" algn="just">
              <a:lnSpc>
                <a:spcPct val="120000"/>
              </a:lnSpc>
              <a:spcBef>
                <a:spcPts val="1000"/>
              </a:spcBef>
              <a:spcAft>
                <a:spcPts val="0"/>
              </a:spcAft>
              <a:buSzPct val="64516"/>
              <a:buChar char="•"/>
            </a:pPr>
            <a:r>
              <a:rPr lang="en-US" sz="4000">
                <a:latin typeface="Times New Roman"/>
                <a:ea typeface="Times New Roman"/>
                <a:cs typeface="Times New Roman"/>
                <a:sym typeface="Times New Roman"/>
              </a:rPr>
              <a:t>A constructor is a method that has 2 underscores before and after the word </a:t>
            </a:r>
            <a:r>
              <a:rPr b="1" i="1" lang="en-US" sz="4000">
                <a:latin typeface="Times New Roman"/>
                <a:ea typeface="Times New Roman"/>
                <a:cs typeface="Times New Roman"/>
                <a:sym typeface="Times New Roman"/>
              </a:rPr>
              <a:t>init</a:t>
            </a:r>
            <a:r>
              <a:rPr lang="en-US" sz="4000">
                <a:latin typeface="Times New Roman"/>
                <a:ea typeface="Times New Roman"/>
                <a:cs typeface="Times New Roman"/>
                <a:sym typeface="Times New Roman"/>
              </a:rPr>
              <a:t>:  </a:t>
            </a:r>
            <a:endParaRPr/>
          </a:p>
          <a:p>
            <a:pPr indent="-228600" lvl="1" marL="685800" rtl="0" algn="just">
              <a:lnSpc>
                <a:spcPct val="120000"/>
              </a:lnSpc>
              <a:spcBef>
                <a:spcPts val="500"/>
              </a:spcBef>
              <a:spcAft>
                <a:spcPts val="0"/>
              </a:spcAft>
              <a:buSzPct val="58064"/>
              <a:buChar char="•"/>
            </a:pPr>
            <a:r>
              <a:rPr b="1" lang="en-US" sz="4000">
                <a:latin typeface="Times New Roman"/>
                <a:ea typeface="Times New Roman"/>
                <a:cs typeface="Times New Roman"/>
                <a:sym typeface="Times New Roman"/>
              </a:rPr>
              <a:t>__init__()</a:t>
            </a:r>
            <a:endParaRPr sz="4000">
              <a:latin typeface="Times New Roman"/>
              <a:ea typeface="Times New Roman"/>
              <a:cs typeface="Times New Roman"/>
              <a:sym typeface="Times New Roman"/>
            </a:endParaRPr>
          </a:p>
          <a:p>
            <a:pPr indent="-228600" lvl="0" marL="228600" rtl="0" algn="just">
              <a:lnSpc>
                <a:spcPct val="120000"/>
              </a:lnSpc>
              <a:spcBef>
                <a:spcPts val="1000"/>
              </a:spcBef>
              <a:spcAft>
                <a:spcPts val="0"/>
              </a:spcAft>
              <a:buSzPct val="64516"/>
              <a:buChar char="•"/>
            </a:pPr>
            <a:r>
              <a:rPr lang="en-US" sz="4000">
                <a:latin typeface="Times New Roman"/>
                <a:ea typeface="Times New Roman"/>
                <a:cs typeface="Times New Roman"/>
                <a:sym typeface="Times New Roman"/>
              </a:rPr>
              <a:t>A constructor includes the “</a:t>
            </a:r>
            <a:r>
              <a:rPr b="1" lang="en-US" sz="4000">
                <a:latin typeface="Times New Roman"/>
                <a:ea typeface="Times New Roman"/>
                <a:cs typeface="Times New Roman"/>
                <a:sym typeface="Times New Roman"/>
              </a:rPr>
              <a:t>self</a:t>
            </a:r>
            <a:r>
              <a:rPr lang="en-US" sz="4000">
                <a:latin typeface="Times New Roman"/>
                <a:ea typeface="Times New Roman"/>
                <a:cs typeface="Times New Roman"/>
                <a:sym typeface="Times New Roman"/>
              </a:rPr>
              <a:t>” variable as a </a:t>
            </a:r>
            <a:r>
              <a:rPr b="1" lang="en-US" sz="4000">
                <a:latin typeface="Times New Roman"/>
                <a:ea typeface="Times New Roman"/>
                <a:cs typeface="Times New Roman"/>
                <a:sym typeface="Times New Roman"/>
              </a:rPr>
              <a:t>first mandatory parameter</a:t>
            </a:r>
            <a:r>
              <a:rPr lang="en-US" sz="4000">
                <a:latin typeface="Times New Roman"/>
                <a:ea typeface="Times New Roman"/>
                <a:cs typeface="Times New Roman"/>
                <a:sym typeface="Times New Roman"/>
              </a:rPr>
              <a:t>.</a:t>
            </a:r>
            <a:endParaRPr/>
          </a:p>
          <a:p>
            <a:pPr indent="-228600" lvl="0" marL="228600" rtl="0" algn="just">
              <a:lnSpc>
                <a:spcPct val="120000"/>
              </a:lnSpc>
              <a:spcBef>
                <a:spcPts val="1000"/>
              </a:spcBef>
              <a:spcAft>
                <a:spcPts val="0"/>
              </a:spcAft>
              <a:buSzPct val="64516"/>
              <a:buChar char="•"/>
            </a:pPr>
            <a:r>
              <a:rPr lang="en-US" sz="4000">
                <a:latin typeface="Times New Roman"/>
                <a:ea typeface="Times New Roman"/>
                <a:cs typeface="Times New Roman"/>
                <a:sym typeface="Times New Roman"/>
              </a:rPr>
              <a:t>A constructor facilitates to instantiate objects with different attribute values upon creation.</a:t>
            </a:r>
            <a:endParaRPr/>
          </a:p>
          <a:p>
            <a:pPr indent="-228600" lvl="0" marL="228600" rtl="0" algn="just">
              <a:lnSpc>
                <a:spcPct val="120000"/>
              </a:lnSpc>
              <a:spcBef>
                <a:spcPts val="1000"/>
              </a:spcBef>
              <a:spcAft>
                <a:spcPts val="0"/>
              </a:spcAft>
              <a:buSzPct val="64516"/>
              <a:buChar char="•"/>
            </a:pPr>
            <a:r>
              <a:rPr lang="en-US" sz="4000">
                <a:latin typeface="Times New Roman"/>
                <a:ea typeface="Times New Roman"/>
                <a:cs typeface="Times New Roman"/>
                <a:sym typeface="Times New Roman"/>
              </a:rPr>
              <a:t>The </a:t>
            </a:r>
            <a:r>
              <a:rPr b="1" lang="en-US" sz="4000">
                <a:latin typeface="Times New Roman"/>
                <a:ea typeface="Times New Roman"/>
                <a:cs typeface="Times New Roman"/>
                <a:sym typeface="Times New Roman"/>
              </a:rPr>
              <a:t>__init__() </a:t>
            </a:r>
            <a:r>
              <a:rPr lang="en-US" sz="4000">
                <a:latin typeface="Times New Roman"/>
                <a:ea typeface="Times New Roman"/>
                <a:cs typeface="Times New Roman"/>
                <a:sym typeface="Times New Roman"/>
              </a:rPr>
              <a:t>method is executed automatically when an object of a class is created</a:t>
            </a:r>
            <a:r>
              <a:rPr lang="en-US" sz="4000">
                <a:latin typeface="Gill Sans"/>
                <a:ea typeface="Gill Sans"/>
                <a:cs typeface="Gill Sans"/>
                <a:sym typeface="Gill Sans"/>
              </a:rPr>
              <a:t>.</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63"/>
          <p:cNvSpPr txBox="1"/>
          <p:nvPr>
            <p:ph type="title"/>
          </p:nvPr>
        </p:nvSpPr>
        <p:spPr>
          <a:xfrm>
            <a:off x="2177369" y="1461414"/>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THE CLASS CONSTRUCTOR</a:t>
            </a:r>
            <a:endParaRPr/>
          </a:p>
        </p:txBody>
      </p:sp>
      <p:pic>
        <p:nvPicPr>
          <p:cNvPr id="640" name="Google Shape;640;p63"/>
          <p:cNvPicPr preferRelativeResize="0"/>
          <p:nvPr>
            <p:ph idx="1" type="body"/>
          </p:nvPr>
        </p:nvPicPr>
        <p:blipFill rotWithShape="1">
          <a:blip r:embed="rId3">
            <a:alphaModFix/>
          </a:blip>
          <a:srcRect b="34126" l="4571" r="42532" t="43608"/>
          <a:stretch/>
        </p:blipFill>
        <p:spPr>
          <a:xfrm>
            <a:off x="2177415" y="3185160"/>
            <a:ext cx="13509308" cy="4896803"/>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4"/>
          <p:cNvSpPr txBox="1"/>
          <p:nvPr>
            <p:ph type="title"/>
          </p:nvPr>
        </p:nvSpPr>
        <p:spPr>
          <a:xfrm>
            <a:off x="2177369" y="1608734"/>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i="1" lang="en-US" sz="4800">
                <a:solidFill>
                  <a:schemeClr val="accent1"/>
                </a:solidFill>
              </a:rPr>
              <a:t>SELF</a:t>
            </a:r>
            <a:r>
              <a:rPr lang="en-US" sz="4800">
                <a:solidFill>
                  <a:schemeClr val="accent1"/>
                </a:solidFill>
              </a:rPr>
              <a:t> PARAMETER</a:t>
            </a:r>
            <a:endParaRPr/>
          </a:p>
        </p:txBody>
      </p:sp>
      <p:sp>
        <p:nvSpPr>
          <p:cNvPr id="646" name="Google Shape;646;p64"/>
          <p:cNvSpPr txBox="1"/>
          <p:nvPr>
            <p:ph idx="1" type="body"/>
          </p:nvPr>
        </p:nvSpPr>
        <p:spPr>
          <a:xfrm>
            <a:off x="2177369" y="3182666"/>
            <a:ext cx="14404913" cy="5175920"/>
          </a:xfrm>
          <a:prstGeom prst="rect">
            <a:avLst/>
          </a:prstGeom>
          <a:noFill/>
          <a:ln>
            <a:noFill/>
          </a:ln>
        </p:spPr>
        <p:txBody>
          <a:bodyPr anchorCtr="0" anchor="t" bIns="68550" lIns="137125" spcFirstLastPara="1" rIns="137125" wrap="square" tIns="68550">
            <a:normAutofit/>
          </a:bodyPr>
          <a:lstStyle/>
          <a:p>
            <a:pPr indent="-130175" lvl="0" marL="228600" rtl="0" algn="just">
              <a:lnSpc>
                <a:spcPct val="120000"/>
              </a:lnSpc>
              <a:spcBef>
                <a:spcPts val="0"/>
              </a:spcBef>
              <a:spcAft>
                <a:spcPts val="0"/>
              </a:spcAft>
              <a:buSzPts val="2800"/>
              <a:buNone/>
            </a:pPr>
            <a:r>
              <a:rPr b="1" lang="en-US" sz="2800">
                <a:latin typeface="Times New Roman"/>
                <a:ea typeface="Times New Roman"/>
                <a:cs typeface="Times New Roman"/>
                <a:sym typeface="Times New Roman"/>
              </a:rPr>
              <a:t>Note: </a:t>
            </a:r>
            <a:endParaRPr/>
          </a:p>
          <a:p>
            <a:pPr indent="-228600" lvl="1" marL="685800" rtl="0" algn="just">
              <a:lnSpc>
                <a:spcPct val="120000"/>
              </a:lnSpc>
              <a:spcBef>
                <a:spcPts val="500"/>
              </a:spcBef>
              <a:spcAft>
                <a:spcPts val="0"/>
              </a:spcAft>
              <a:buSzPts val="2800"/>
              <a:buChar char="•"/>
            </a:pPr>
            <a:r>
              <a:rPr lang="en-US" sz="2800">
                <a:latin typeface="Times New Roman"/>
                <a:ea typeface="Times New Roman"/>
                <a:cs typeface="Times New Roman"/>
                <a:sym typeface="Times New Roman"/>
              </a:rPr>
              <a:t>The </a:t>
            </a:r>
            <a:r>
              <a:rPr b="1" i="1" lang="en-US" sz="2800">
                <a:latin typeface="Times New Roman"/>
                <a:ea typeface="Times New Roman"/>
                <a:cs typeface="Times New Roman"/>
                <a:sym typeface="Times New Roman"/>
              </a:rPr>
              <a:t>self</a:t>
            </a:r>
            <a:r>
              <a:rPr lang="en-US" sz="2800">
                <a:latin typeface="Times New Roman"/>
                <a:ea typeface="Times New Roman"/>
                <a:cs typeface="Times New Roman"/>
                <a:sym typeface="Times New Roman"/>
              </a:rPr>
              <a:t> argument is ignored while the </a:t>
            </a:r>
            <a:r>
              <a:rPr b="1" i="1" lang="en-US" sz="2800">
                <a:latin typeface="Times New Roman"/>
                <a:ea typeface="Times New Roman"/>
                <a:cs typeface="Times New Roman"/>
                <a:sym typeface="Times New Roman"/>
              </a:rPr>
              <a:t>init</a:t>
            </a:r>
            <a:r>
              <a:rPr lang="en-US" sz="2800">
                <a:latin typeface="Times New Roman"/>
                <a:ea typeface="Times New Roman"/>
                <a:cs typeface="Times New Roman"/>
                <a:sym typeface="Times New Roman"/>
              </a:rPr>
              <a:t> method is called. The </a:t>
            </a:r>
            <a:r>
              <a:rPr b="1" i="1" lang="en-US" sz="2800">
                <a:latin typeface="Times New Roman"/>
                <a:ea typeface="Times New Roman"/>
                <a:cs typeface="Times New Roman"/>
                <a:sym typeface="Times New Roman"/>
              </a:rPr>
              <a:t>init</a:t>
            </a:r>
            <a:r>
              <a:rPr lang="en-US" sz="2800">
                <a:latin typeface="Times New Roman"/>
                <a:ea typeface="Times New Roman"/>
                <a:cs typeface="Times New Roman"/>
                <a:sym typeface="Times New Roman"/>
              </a:rPr>
              <a:t> method is called immediately when an object is created.</a:t>
            </a:r>
            <a:endParaRPr/>
          </a:p>
          <a:p>
            <a:pPr indent="-228600" lvl="1" marL="685800" rtl="0" algn="just">
              <a:lnSpc>
                <a:spcPct val="120000"/>
              </a:lnSpc>
              <a:spcBef>
                <a:spcPts val="500"/>
              </a:spcBef>
              <a:spcAft>
                <a:spcPts val="0"/>
              </a:spcAft>
              <a:buSzPts val="2800"/>
              <a:buChar char="•"/>
            </a:pPr>
            <a:r>
              <a:rPr lang="en-US" sz="2800">
                <a:latin typeface="Times New Roman"/>
                <a:ea typeface="Times New Roman"/>
                <a:cs typeface="Times New Roman"/>
                <a:sym typeface="Times New Roman"/>
              </a:rPr>
              <a:t>It is recommended to initialize all the attributes of a class in the </a:t>
            </a:r>
            <a:r>
              <a:rPr b="1" lang="en-US" sz="2800">
                <a:latin typeface="Times New Roman"/>
                <a:ea typeface="Times New Roman"/>
                <a:cs typeface="Times New Roman"/>
                <a:sym typeface="Times New Roman"/>
              </a:rPr>
              <a:t>__init__() </a:t>
            </a:r>
            <a:r>
              <a:rPr lang="en-US" sz="2800">
                <a:latin typeface="Times New Roman"/>
                <a:ea typeface="Times New Roman"/>
                <a:cs typeface="Times New Roman"/>
                <a:sym typeface="Times New Roman"/>
              </a:rPr>
              <a:t>method.</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65"/>
          <p:cNvSpPr txBox="1"/>
          <p:nvPr>
            <p:ph type="title"/>
          </p:nvPr>
        </p:nvSpPr>
        <p:spPr>
          <a:xfrm>
            <a:off x="2030049" y="1176299"/>
            <a:ext cx="14404913" cy="15738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i="1" lang="en-US" sz="4800">
                <a:solidFill>
                  <a:schemeClr val="accent1"/>
                </a:solidFill>
                <a:latin typeface="Times New Roman"/>
                <a:ea typeface="Times New Roman"/>
                <a:cs typeface="Times New Roman"/>
                <a:sym typeface="Times New Roman"/>
              </a:rPr>
              <a:t>SELF</a:t>
            </a:r>
            <a:r>
              <a:rPr lang="en-US" sz="4800">
                <a:solidFill>
                  <a:schemeClr val="accent1"/>
                </a:solidFill>
                <a:latin typeface="Times New Roman"/>
                <a:ea typeface="Times New Roman"/>
                <a:cs typeface="Times New Roman"/>
                <a:sym typeface="Times New Roman"/>
              </a:rPr>
              <a:t> </a:t>
            </a:r>
            <a:r>
              <a:rPr b="1" lang="en-US" sz="4800">
                <a:solidFill>
                  <a:schemeClr val="accent1"/>
                </a:solidFill>
                <a:latin typeface="Times New Roman"/>
                <a:ea typeface="Times New Roman"/>
                <a:cs typeface="Times New Roman"/>
                <a:sym typeface="Times New Roman"/>
              </a:rPr>
              <a:t>PARAMETER</a:t>
            </a:r>
            <a:endParaRPr/>
          </a:p>
        </p:txBody>
      </p:sp>
      <p:pic>
        <p:nvPicPr>
          <p:cNvPr id="652" name="Google Shape;652;p65"/>
          <p:cNvPicPr preferRelativeResize="0"/>
          <p:nvPr/>
        </p:nvPicPr>
        <p:blipFill rotWithShape="1">
          <a:blip r:embed="rId3">
            <a:alphaModFix/>
          </a:blip>
          <a:srcRect b="18908" l="4575" r="53349" t="36744"/>
          <a:stretch/>
        </p:blipFill>
        <p:spPr>
          <a:xfrm>
            <a:off x="2177415" y="2913698"/>
            <a:ext cx="14109383" cy="569404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6"/>
          <p:cNvSpPr txBox="1"/>
          <p:nvPr>
            <p:ph type="title"/>
          </p:nvPr>
        </p:nvSpPr>
        <p:spPr>
          <a:xfrm>
            <a:off x="2177369" y="1449666"/>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DESTRUCTOR</a:t>
            </a:r>
            <a:endParaRPr/>
          </a:p>
        </p:txBody>
      </p:sp>
      <p:sp>
        <p:nvSpPr>
          <p:cNvPr id="658" name="Google Shape;658;p66"/>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b="1" lang="en-US" sz="2800">
                <a:latin typeface="Times New Roman"/>
                <a:ea typeface="Times New Roman"/>
                <a:cs typeface="Times New Roman"/>
                <a:sym typeface="Times New Roman"/>
              </a:rPr>
              <a:t>Destructor </a:t>
            </a:r>
            <a:r>
              <a:rPr lang="en-US" sz="2800">
                <a:latin typeface="Times New Roman"/>
                <a:ea typeface="Times New Roman"/>
                <a:cs typeface="Times New Roman"/>
                <a:sym typeface="Times New Roman"/>
              </a:rPr>
              <a:t>is automatically called when an object is going </a:t>
            </a:r>
            <a:r>
              <a:rPr b="1" lang="en-US" sz="2800">
                <a:latin typeface="Times New Roman"/>
                <a:ea typeface="Times New Roman"/>
                <a:cs typeface="Times New Roman"/>
                <a:sym typeface="Times New Roman"/>
              </a:rPr>
              <a:t>out of scope.</a:t>
            </a:r>
            <a:endParaRPr sz="2800">
              <a:latin typeface="Times New Roman"/>
              <a:ea typeface="Times New Roman"/>
              <a:cs typeface="Times New Roman"/>
              <a:sym typeface="Times New Roman"/>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Destructor is used to return the resources occupied by the object, back to the system so that they can be reused.</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In Python</a:t>
            </a:r>
            <a:r>
              <a:rPr b="1" lang="en-US" sz="2800">
                <a:latin typeface="Times New Roman"/>
                <a:ea typeface="Times New Roman"/>
                <a:cs typeface="Times New Roman"/>
                <a:sym typeface="Times New Roman"/>
              </a:rPr>
              <a:t>, __del__() </a:t>
            </a:r>
            <a:r>
              <a:rPr lang="en-US" sz="2800">
                <a:latin typeface="Times New Roman"/>
                <a:ea typeface="Times New Roman"/>
                <a:cs typeface="Times New Roman"/>
                <a:sym typeface="Times New Roman"/>
              </a:rPr>
              <a:t>method does the job of the destructor.</a:t>
            </a:r>
            <a:endParaRPr/>
          </a:p>
          <a:p>
            <a:pPr indent="-228600" lvl="0" marL="228600" rtl="0" algn="just">
              <a:lnSpc>
                <a:spcPct val="120000"/>
              </a:lnSpc>
              <a:spcBef>
                <a:spcPts val="1000"/>
              </a:spcBef>
              <a:spcAft>
                <a:spcPts val="0"/>
              </a:spcAft>
              <a:buSzPts val="2800"/>
              <a:buChar char="•"/>
            </a:pPr>
            <a:r>
              <a:rPr b="1" lang="en-US" sz="2800">
                <a:latin typeface="Times New Roman"/>
                <a:ea typeface="Times New Roman"/>
                <a:cs typeface="Times New Roman"/>
                <a:sym typeface="Times New Roman"/>
              </a:rPr>
              <a:t>Note:</a:t>
            </a:r>
            <a:endParaRPr b="1" sz="2800">
              <a:latin typeface="Times New Roman"/>
              <a:ea typeface="Times New Roman"/>
              <a:cs typeface="Times New Roman"/>
              <a:sym typeface="Times New Roman"/>
            </a:endParaRPr>
          </a:p>
          <a:p>
            <a:pPr indent="-228600" lvl="1" marL="685800" rtl="0" algn="just">
              <a:lnSpc>
                <a:spcPct val="120000"/>
              </a:lnSpc>
              <a:spcBef>
                <a:spcPts val="500"/>
              </a:spcBef>
              <a:spcAft>
                <a:spcPts val="0"/>
              </a:spcAft>
              <a:buSzPts val="2800"/>
              <a:buChar char="•"/>
            </a:pPr>
            <a:r>
              <a:rPr lang="en-US" sz="2800">
                <a:latin typeface="Times New Roman"/>
                <a:ea typeface="Times New Roman"/>
                <a:cs typeface="Times New Roman"/>
                <a:sym typeface="Times New Roman"/>
              </a:rPr>
              <a:t>If the method is intended to be accessed through instance, use </a:t>
            </a:r>
            <a:r>
              <a:rPr b="1" i="1" lang="en-US" sz="2800">
                <a:latin typeface="Times New Roman"/>
                <a:ea typeface="Times New Roman"/>
                <a:cs typeface="Times New Roman"/>
                <a:sym typeface="Times New Roman"/>
              </a:rPr>
              <a:t>self</a:t>
            </a:r>
            <a:r>
              <a:rPr lang="en-US" sz="2800">
                <a:latin typeface="Times New Roman"/>
                <a:ea typeface="Times New Roman"/>
                <a:cs typeface="Times New Roman"/>
                <a:sym typeface="Times New Roman"/>
              </a:rPr>
              <a:t> as the first parameter in the definition. Without the </a:t>
            </a:r>
            <a:r>
              <a:rPr b="1" i="1" lang="en-US" sz="2800">
                <a:latin typeface="Times New Roman"/>
                <a:ea typeface="Times New Roman"/>
                <a:cs typeface="Times New Roman"/>
                <a:sym typeface="Times New Roman"/>
              </a:rPr>
              <a:t>self</a:t>
            </a:r>
            <a:r>
              <a:rPr lang="en-US" sz="2800">
                <a:latin typeface="Times New Roman"/>
                <a:ea typeface="Times New Roman"/>
                <a:cs typeface="Times New Roman"/>
                <a:sym typeface="Times New Roman"/>
              </a:rPr>
              <a:t> parameter, the method can only be accessed by the class itself.</a:t>
            </a:r>
            <a:endParaRPr sz="2800">
              <a:latin typeface="Times New Roman"/>
              <a:ea typeface="Times New Roman"/>
              <a:cs typeface="Times New Roman"/>
              <a:sym typeface="Times New Roman"/>
            </a:endParaRPr>
          </a:p>
          <a:p>
            <a:pPr indent="-228600" lvl="1" marL="685800" rtl="0" algn="just">
              <a:lnSpc>
                <a:spcPct val="120000"/>
              </a:lnSpc>
              <a:spcBef>
                <a:spcPts val="500"/>
              </a:spcBef>
              <a:spcAft>
                <a:spcPts val="0"/>
              </a:spcAft>
              <a:buSzPts val="2800"/>
              <a:buChar char="•"/>
            </a:pPr>
            <a:r>
              <a:rPr lang="en-US" sz="2800">
                <a:latin typeface="Times New Roman"/>
                <a:ea typeface="Times New Roman"/>
                <a:cs typeface="Times New Roman"/>
                <a:sym typeface="Times New Roman"/>
              </a:rPr>
              <a:t>A class can have as many methods as required.</a:t>
            </a:r>
            <a:endParaRPr sz="2800">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7"/>
          <p:cNvSpPr txBox="1"/>
          <p:nvPr>
            <p:ph type="title"/>
          </p:nvPr>
        </p:nvSpPr>
        <p:spPr>
          <a:xfrm>
            <a:off x="2177369" y="1449666"/>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DESTRUCTOR</a:t>
            </a:r>
            <a:endParaRPr/>
          </a:p>
        </p:txBody>
      </p:sp>
      <p:pic>
        <p:nvPicPr>
          <p:cNvPr id="664" name="Google Shape;664;p67"/>
          <p:cNvPicPr preferRelativeResize="0"/>
          <p:nvPr/>
        </p:nvPicPr>
        <p:blipFill rotWithShape="1">
          <a:blip r:embed="rId3">
            <a:alphaModFix/>
          </a:blip>
          <a:srcRect b="33396" l="4800" r="59575" t="25962"/>
          <a:stretch/>
        </p:blipFill>
        <p:spPr>
          <a:xfrm>
            <a:off x="2177415" y="3023235"/>
            <a:ext cx="13651230" cy="5519738"/>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68"/>
          <p:cNvSpPr txBox="1"/>
          <p:nvPr>
            <p:ph type="title"/>
          </p:nvPr>
        </p:nvSpPr>
        <p:spPr>
          <a:xfrm>
            <a:off x="2177369" y="1449666"/>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VARIABLES</a:t>
            </a:r>
            <a:endParaRPr/>
          </a:p>
        </p:txBody>
      </p:sp>
      <p:sp>
        <p:nvSpPr>
          <p:cNvPr id="670" name="Google Shape;670;p68"/>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lang="en-US" sz="2800">
                <a:latin typeface="Times New Roman"/>
                <a:ea typeface="Times New Roman"/>
                <a:cs typeface="Times New Roman"/>
                <a:sym typeface="Times New Roman"/>
              </a:rPr>
              <a:t>The </a:t>
            </a:r>
            <a:r>
              <a:rPr b="1" lang="en-US" sz="2800">
                <a:latin typeface="Times New Roman"/>
                <a:ea typeface="Times New Roman"/>
                <a:cs typeface="Times New Roman"/>
                <a:sym typeface="Times New Roman"/>
              </a:rPr>
              <a:t>attributes </a:t>
            </a:r>
            <a:r>
              <a:rPr lang="en-US" sz="2800">
                <a:latin typeface="Times New Roman"/>
                <a:ea typeface="Times New Roman"/>
                <a:cs typeface="Times New Roman"/>
                <a:sym typeface="Times New Roman"/>
              </a:rPr>
              <a:t>of an object are represented through </a:t>
            </a:r>
            <a:r>
              <a:rPr b="1" lang="en-US" sz="2800">
                <a:latin typeface="Times New Roman"/>
                <a:ea typeface="Times New Roman"/>
                <a:cs typeface="Times New Roman"/>
                <a:sym typeface="Times New Roman"/>
              </a:rPr>
              <a:t>variables </a:t>
            </a:r>
            <a:r>
              <a:rPr lang="en-US" sz="2800">
                <a:latin typeface="Times New Roman"/>
                <a:ea typeface="Times New Roman"/>
                <a:cs typeface="Times New Roman"/>
                <a:sym typeface="Times New Roman"/>
              </a:rPr>
              <a:t>in a class.</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The variables written inside a class are of 2 types:</a:t>
            </a:r>
            <a:endParaRPr/>
          </a:p>
          <a:p>
            <a:pPr indent="-228600" lvl="1" marL="685800" rtl="0" algn="just">
              <a:lnSpc>
                <a:spcPct val="120000"/>
              </a:lnSpc>
              <a:spcBef>
                <a:spcPts val="500"/>
              </a:spcBef>
              <a:spcAft>
                <a:spcPts val="0"/>
              </a:spcAft>
              <a:buSzPts val="1800"/>
              <a:buChar char="•"/>
            </a:pPr>
            <a:r>
              <a:rPr b="1" lang="en-US" sz="2800">
                <a:latin typeface="Times New Roman"/>
                <a:ea typeface="Times New Roman"/>
                <a:cs typeface="Times New Roman"/>
                <a:sym typeface="Times New Roman"/>
              </a:rPr>
              <a:t>Class </a:t>
            </a:r>
            <a:r>
              <a:rPr lang="en-US" sz="2800">
                <a:latin typeface="Times New Roman"/>
                <a:ea typeface="Times New Roman"/>
                <a:cs typeface="Times New Roman"/>
                <a:sym typeface="Times New Roman"/>
              </a:rPr>
              <a:t>Variables or </a:t>
            </a:r>
            <a:r>
              <a:rPr b="1" lang="en-US" sz="2800">
                <a:latin typeface="Times New Roman"/>
                <a:ea typeface="Times New Roman"/>
                <a:cs typeface="Times New Roman"/>
                <a:sym typeface="Times New Roman"/>
              </a:rPr>
              <a:t>Static </a:t>
            </a:r>
            <a:r>
              <a:rPr lang="en-US" sz="2800">
                <a:latin typeface="Times New Roman"/>
                <a:ea typeface="Times New Roman"/>
                <a:cs typeface="Times New Roman"/>
                <a:sym typeface="Times New Roman"/>
              </a:rPr>
              <a:t>variables</a:t>
            </a:r>
            <a:endParaRPr/>
          </a:p>
          <a:p>
            <a:pPr indent="-228600" lvl="1" marL="685800" rtl="0" algn="just">
              <a:lnSpc>
                <a:spcPct val="120000"/>
              </a:lnSpc>
              <a:spcBef>
                <a:spcPts val="500"/>
              </a:spcBef>
              <a:spcAft>
                <a:spcPts val="0"/>
              </a:spcAft>
              <a:buSzPts val="1800"/>
              <a:buChar char="•"/>
            </a:pPr>
            <a:r>
              <a:rPr b="1" lang="en-US" sz="2800">
                <a:latin typeface="Times New Roman"/>
                <a:ea typeface="Times New Roman"/>
                <a:cs typeface="Times New Roman"/>
                <a:sym typeface="Times New Roman"/>
              </a:rPr>
              <a:t>Instance </a:t>
            </a:r>
            <a:r>
              <a:rPr lang="en-US" sz="2800">
                <a:latin typeface="Times New Roman"/>
                <a:ea typeface="Times New Roman"/>
                <a:cs typeface="Times New Roman"/>
                <a:sym typeface="Times New Roman"/>
              </a:rPr>
              <a:t>Variables</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Naming Convention:</a:t>
            </a:r>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Variable names should be all </a:t>
            </a:r>
            <a:r>
              <a:rPr b="1" lang="en-US" sz="2800">
                <a:latin typeface="Times New Roman"/>
                <a:ea typeface="Times New Roman"/>
                <a:cs typeface="Times New Roman"/>
                <a:sym typeface="Times New Roman"/>
              </a:rPr>
              <a:t>lower case letters</a:t>
            </a:r>
            <a:r>
              <a:rPr lang="en-US" sz="2800">
                <a:latin typeface="Times New Roman"/>
                <a:ea typeface="Times New Roman"/>
                <a:cs typeface="Times New Roman"/>
                <a:sym typeface="Times New Roman"/>
              </a:rPr>
              <a:t>.</a:t>
            </a:r>
            <a:endParaRPr/>
          </a:p>
          <a:p>
            <a:pPr indent="-228600" lvl="1" marL="685800" rtl="0" algn="just">
              <a:lnSpc>
                <a:spcPct val="120000"/>
              </a:lnSpc>
              <a:spcBef>
                <a:spcPts val="500"/>
              </a:spcBef>
              <a:spcAft>
                <a:spcPts val="0"/>
              </a:spcAft>
              <a:buSzPts val="1800"/>
              <a:buChar char="•"/>
            </a:pPr>
            <a:r>
              <a:rPr lang="en-US" sz="2800">
                <a:latin typeface="Times New Roman"/>
                <a:ea typeface="Times New Roman"/>
                <a:cs typeface="Times New Roman"/>
                <a:sym typeface="Times New Roman"/>
              </a:rPr>
              <a:t>When multiple words are used, separate them using an </a:t>
            </a:r>
            <a:r>
              <a:rPr b="1" lang="en-US" sz="2800">
                <a:latin typeface="Times New Roman"/>
                <a:ea typeface="Times New Roman"/>
                <a:cs typeface="Times New Roman"/>
                <a:sym typeface="Times New Roman"/>
              </a:rPr>
              <a:t>underscore</a:t>
            </a:r>
            <a:r>
              <a:rPr lang="en-US" sz="2800">
                <a:latin typeface="Gill Sans"/>
                <a:ea typeface="Gill Sans"/>
                <a:cs typeface="Gill Sans"/>
                <a:sym typeface="Gill Sans"/>
              </a:rPr>
              <a:t>.</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69"/>
          <p:cNvSpPr txBox="1"/>
          <p:nvPr>
            <p:ph type="title"/>
          </p:nvPr>
        </p:nvSpPr>
        <p:spPr>
          <a:xfrm>
            <a:off x="2177369" y="1337271"/>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CLASS OR STATIC VARIABLES</a:t>
            </a:r>
            <a:endParaRPr/>
          </a:p>
        </p:txBody>
      </p:sp>
      <p:sp>
        <p:nvSpPr>
          <p:cNvPr id="676" name="Google Shape;676;p69"/>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b="1" lang="en-US" sz="2800">
                <a:latin typeface="Times New Roman"/>
                <a:ea typeface="Times New Roman"/>
                <a:cs typeface="Times New Roman"/>
                <a:sym typeface="Times New Roman"/>
              </a:rPr>
              <a:t>Class variables </a:t>
            </a:r>
            <a:r>
              <a:rPr lang="en-US" sz="2800">
                <a:latin typeface="Times New Roman"/>
                <a:ea typeface="Times New Roman"/>
                <a:cs typeface="Times New Roman"/>
                <a:sym typeface="Times New Roman"/>
              </a:rPr>
              <a:t>are the variables whose </a:t>
            </a:r>
            <a:r>
              <a:rPr b="1" lang="en-US" sz="2800">
                <a:latin typeface="Times New Roman"/>
                <a:ea typeface="Times New Roman"/>
                <a:cs typeface="Times New Roman"/>
                <a:sym typeface="Times New Roman"/>
              </a:rPr>
              <a:t>single copy </a:t>
            </a:r>
            <a:r>
              <a:rPr lang="en-US" sz="2800">
                <a:latin typeface="Times New Roman"/>
                <a:ea typeface="Times New Roman"/>
                <a:cs typeface="Times New Roman"/>
                <a:sym typeface="Times New Roman"/>
              </a:rPr>
              <a:t>is available to all the instances of the class.</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Class variables are also called </a:t>
            </a:r>
            <a:r>
              <a:rPr b="1" lang="en-US" sz="2800">
                <a:latin typeface="Times New Roman"/>
                <a:ea typeface="Times New Roman"/>
                <a:cs typeface="Times New Roman"/>
                <a:sym typeface="Times New Roman"/>
              </a:rPr>
              <a:t>static variables</a:t>
            </a:r>
            <a:r>
              <a:rPr lang="en-US" sz="2800">
                <a:latin typeface="Times New Roman"/>
                <a:ea typeface="Times New Roman"/>
                <a:cs typeface="Times New Roman"/>
                <a:sym typeface="Times New Roman"/>
              </a:rPr>
              <a:t>.</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Class variables are accessed outside the class using the class name followed by the d</a:t>
            </a:r>
            <a:r>
              <a:rPr lang="en-US" sz="2800">
                <a:latin typeface="Gill Sans"/>
                <a:ea typeface="Gill Sans"/>
                <a:cs typeface="Gill Sans"/>
                <a:sym typeface="Gill Sans"/>
              </a:rPr>
              <a:t>ot operator.</a:t>
            </a:r>
            <a:endParaRPr/>
          </a:p>
          <a:p>
            <a:pPr indent="-101600" lvl="0" marL="228600" rtl="0" algn="l">
              <a:lnSpc>
                <a:spcPct val="120000"/>
              </a:lnSpc>
              <a:spcBef>
                <a:spcPts val="1000"/>
              </a:spcBef>
              <a:spcAft>
                <a:spcPts val="0"/>
              </a:spcAft>
              <a:buSzPts val="2000"/>
              <a:buNone/>
            </a:pPr>
            <a:r>
              <a:t/>
            </a:r>
            <a:endParaRPr sz="2800">
              <a:latin typeface="Gill Sans"/>
              <a:ea typeface="Gill Sans"/>
              <a:cs typeface="Gill Sans"/>
              <a:sym typeface="Gill Sans"/>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70"/>
          <p:cNvSpPr txBox="1"/>
          <p:nvPr>
            <p:ph type="title"/>
          </p:nvPr>
        </p:nvSpPr>
        <p:spPr>
          <a:xfrm>
            <a:off x="2177415" y="754698"/>
            <a:ext cx="15773400" cy="198834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CLASS OR STATIC VARIABLES</a:t>
            </a:r>
            <a:endParaRPr/>
          </a:p>
        </p:txBody>
      </p:sp>
      <p:pic>
        <p:nvPicPr>
          <p:cNvPr id="682" name="Google Shape;682;p70"/>
          <p:cNvPicPr preferRelativeResize="0"/>
          <p:nvPr/>
        </p:nvPicPr>
        <p:blipFill rotWithShape="1">
          <a:blip r:embed="rId3">
            <a:alphaModFix/>
          </a:blip>
          <a:srcRect b="27953" l="4650" r="57624" t="44558"/>
          <a:stretch/>
        </p:blipFill>
        <p:spPr>
          <a:xfrm>
            <a:off x="2177415" y="3256598"/>
            <a:ext cx="14113193" cy="50577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71"/>
          <p:cNvSpPr txBox="1"/>
          <p:nvPr>
            <p:ph type="title"/>
          </p:nvPr>
        </p:nvSpPr>
        <p:spPr>
          <a:xfrm>
            <a:off x="2177369" y="1449666"/>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CLASS OR STATIC VARIABLES</a:t>
            </a:r>
            <a:endParaRPr/>
          </a:p>
        </p:txBody>
      </p:sp>
      <p:sp>
        <p:nvSpPr>
          <p:cNvPr id="688" name="Google Shape;688;p71"/>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lang="en-US" sz="2800">
                <a:latin typeface="Times New Roman"/>
                <a:ea typeface="Times New Roman"/>
                <a:cs typeface="Times New Roman"/>
                <a:sym typeface="Times New Roman"/>
              </a:rPr>
              <a:t>To access the class variables, use class methods.</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If we modify the class variable in an instance, it will be modified</a:t>
            </a:r>
            <a:r>
              <a:rPr lang="en-US">
                <a:latin typeface="Times New Roman"/>
                <a:ea typeface="Times New Roman"/>
                <a:cs typeface="Times New Roman"/>
                <a:sym typeface="Times New Roman"/>
              </a:rPr>
              <a:t> </a:t>
            </a:r>
            <a:r>
              <a:rPr lang="en-US" sz="2800">
                <a:latin typeface="Times New Roman"/>
                <a:ea typeface="Times New Roman"/>
                <a:cs typeface="Times New Roman"/>
                <a:sym typeface="Times New Roman"/>
              </a:rPr>
              <a:t>in all the other instances.</a:t>
            </a:r>
            <a:endParaRPr/>
          </a:p>
          <a:p>
            <a:pPr indent="-101600" lvl="0" marL="228600" rtl="0" algn="l">
              <a:lnSpc>
                <a:spcPct val="120000"/>
              </a:lnSpc>
              <a:spcBef>
                <a:spcPts val="1000"/>
              </a:spcBef>
              <a:spcAft>
                <a:spcPts val="0"/>
              </a:spcAft>
              <a:buSzPts val="2000"/>
              <a:buNone/>
            </a:pPr>
            <a:r>
              <a:t/>
            </a:r>
            <a:endParaRPr sz="2800">
              <a:latin typeface="Times New Roman"/>
              <a:ea typeface="Times New Roman"/>
              <a:cs typeface="Times New Roman"/>
              <a:sym typeface="Times New Roman"/>
            </a:endParaRPr>
          </a:p>
        </p:txBody>
      </p:sp>
      <p:pic>
        <p:nvPicPr>
          <p:cNvPr id="689" name="Google Shape;689;p71"/>
          <p:cNvPicPr preferRelativeResize="0"/>
          <p:nvPr/>
        </p:nvPicPr>
        <p:blipFill rotWithShape="1">
          <a:blip r:embed="rId3">
            <a:alphaModFix/>
          </a:blip>
          <a:srcRect b="60465" l="4649" r="60457" t="14280"/>
          <a:stretch/>
        </p:blipFill>
        <p:spPr>
          <a:xfrm>
            <a:off x="2178050" y="5182235"/>
            <a:ext cx="6381750" cy="3397568"/>
          </a:xfrm>
          <a:prstGeom prst="rect">
            <a:avLst/>
          </a:prstGeom>
          <a:noFill/>
          <a:ln>
            <a:noFill/>
          </a:ln>
        </p:spPr>
      </p:pic>
      <p:pic>
        <p:nvPicPr>
          <p:cNvPr id="690" name="Google Shape;690;p71"/>
          <p:cNvPicPr preferRelativeResize="0"/>
          <p:nvPr/>
        </p:nvPicPr>
        <p:blipFill rotWithShape="1">
          <a:blip r:embed="rId3">
            <a:alphaModFix/>
          </a:blip>
          <a:srcRect b="28232" l="4650" r="72173" t="41070"/>
          <a:stretch/>
        </p:blipFill>
        <p:spPr>
          <a:xfrm>
            <a:off x="8761413" y="5143500"/>
            <a:ext cx="4238625" cy="3397568"/>
          </a:xfrm>
          <a:prstGeom prst="rect">
            <a:avLst/>
          </a:prstGeom>
          <a:noFill/>
          <a:ln>
            <a:noFill/>
          </a:ln>
        </p:spPr>
      </p:pic>
      <p:pic>
        <p:nvPicPr>
          <p:cNvPr id="691" name="Google Shape;691;p71"/>
          <p:cNvPicPr preferRelativeResize="0"/>
          <p:nvPr/>
        </p:nvPicPr>
        <p:blipFill rotWithShape="1">
          <a:blip r:embed="rId3">
            <a:alphaModFix/>
          </a:blip>
          <a:srcRect b="2139" l="4725" r="75925" t="70651"/>
          <a:stretch/>
        </p:blipFill>
        <p:spPr>
          <a:xfrm>
            <a:off x="13345795" y="5181600"/>
            <a:ext cx="3710940" cy="339852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72"/>
          <p:cNvSpPr txBox="1"/>
          <p:nvPr>
            <p:ph type="title"/>
          </p:nvPr>
        </p:nvSpPr>
        <p:spPr>
          <a:xfrm>
            <a:off x="2273254" y="1445539"/>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CLASS OR STATIC VARIABLES</a:t>
            </a:r>
            <a:endParaRPr/>
          </a:p>
        </p:txBody>
      </p:sp>
      <p:sp>
        <p:nvSpPr>
          <p:cNvPr id="697" name="Google Shape;697;p72"/>
          <p:cNvSpPr txBox="1"/>
          <p:nvPr>
            <p:ph idx="1" type="body"/>
          </p:nvPr>
        </p:nvSpPr>
        <p:spPr>
          <a:xfrm>
            <a:off x="2177369" y="3485243"/>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b="1" lang="en-US" sz="2800">
                <a:latin typeface="Times New Roman"/>
                <a:ea typeface="Times New Roman"/>
                <a:cs typeface="Times New Roman"/>
                <a:sym typeface="Times New Roman"/>
              </a:rPr>
              <a:t>Class variables</a:t>
            </a:r>
            <a:r>
              <a:rPr lang="en-US" sz="2800">
                <a:latin typeface="Times New Roman"/>
                <a:ea typeface="Times New Roman"/>
                <a:cs typeface="Times New Roman"/>
                <a:sym typeface="Times New Roman"/>
              </a:rPr>
              <a:t> are usually used to keep a </a:t>
            </a:r>
            <a:r>
              <a:rPr b="1" lang="en-US" sz="2800">
                <a:latin typeface="Times New Roman"/>
                <a:ea typeface="Times New Roman"/>
                <a:cs typeface="Times New Roman"/>
                <a:sym typeface="Times New Roman"/>
              </a:rPr>
              <a:t>count </a:t>
            </a:r>
            <a:r>
              <a:rPr lang="en-US" sz="2800">
                <a:latin typeface="Times New Roman"/>
                <a:ea typeface="Times New Roman"/>
                <a:cs typeface="Times New Roman"/>
                <a:sym typeface="Times New Roman"/>
              </a:rPr>
              <a:t>of number of objects created from a class.</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Class variables are used to define constants associated with a particular class or provide default attribute values.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73"/>
          <p:cNvSpPr txBox="1"/>
          <p:nvPr>
            <p:ph type="title"/>
          </p:nvPr>
        </p:nvSpPr>
        <p:spPr>
          <a:xfrm>
            <a:off x="2177369" y="1554441"/>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INSTANCE VARIABLES</a:t>
            </a:r>
            <a:endParaRPr/>
          </a:p>
        </p:txBody>
      </p:sp>
      <p:sp>
        <p:nvSpPr>
          <p:cNvPr id="703" name="Google Shape;703;p73"/>
          <p:cNvSpPr txBox="1"/>
          <p:nvPr>
            <p:ph idx="1" type="body"/>
          </p:nvPr>
        </p:nvSpPr>
        <p:spPr>
          <a:xfrm>
            <a:off x="2177369" y="332585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b="1" lang="en-US" sz="2800">
                <a:latin typeface="Times New Roman"/>
                <a:ea typeface="Times New Roman"/>
                <a:cs typeface="Times New Roman"/>
                <a:sym typeface="Times New Roman"/>
              </a:rPr>
              <a:t>Instance variables </a:t>
            </a:r>
            <a:r>
              <a:rPr lang="en-US" sz="2800">
                <a:latin typeface="Times New Roman"/>
                <a:ea typeface="Times New Roman"/>
                <a:cs typeface="Times New Roman"/>
                <a:sym typeface="Times New Roman"/>
              </a:rPr>
              <a:t>are the variables whose </a:t>
            </a:r>
            <a:r>
              <a:rPr b="1" lang="en-US" sz="2800">
                <a:latin typeface="Times New Roman"/>
                <a:ea typeface="Times New Roman"/>
                <a:cs typeface="Times New Roman"/>
                <a:sym typeface="Times New Roman"/>
              </a:rPr>
              <a:t>separate copy </a:t>
            </a:r>
            <a:r>
              <a:rPr lang="en-US" sz="2800">
                <a:latin typeface="Times New Roman"/>
                <a:ea typeface="Times New Roman"/>
                <a:cs typeface="Times New Roman"/>
                <a:sym typeface="Times New Roman"/>
              </a:rPr>
              <a:t>is created in every instance.</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Instance variables are defined and initialized using the </a:t>
            </a:r>
            <a:r>
              <a:rPr b="1" lang="en-US" sz="2800">
                <a:latin typeface="Times New Roman"/>
                <a:ea typeface="Times New Roman"/>
                <a:cs typeface="Times New Roman"/>
                <a:sym typeface="Times New Roman"/>
              </a:rPr>
              <a:t>constructor</a:t>
            </a:r>
            <a:r>
              <a:rPr lang="en-US" sz="2800">
                <a:latin typeface="Times New Roman"/>
                <a:ea typeface="Times New Roman"/>
                <a:cs typeface="Times New Roman"/>
                <a:sym typeface="Times New Roman"/>
              </a:rPr>
              <a:t>.</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Instance variables are accessed using </a:t>
            </a:r>
            <a:r>
              <a:rPr b="1" lang="en-US" sz="2800">
                <a:latin typeface="Times New Roman"/>
                <a:ea typeface="Times New Roman"/>
                <a:cs typeface="Times New Roman"/>
                <a:sym typeface="Times New Roman"/>
              </a:rPr>
              <a:t>instance methods.</a:t>
            </a:r>
            <a:endParaRPr sz="2800">
              <a:latin typeface="Times New Roman"/>
              <a:ea typeface="Times New Roman"/>
              <a:cs typeface="Times New Roman"/>
              <a:sym typeface="Times New Roman"/>
            </a:endParaRPr>
          </a:p>
          <a:p>
            <a:pPr indent="-101600" lvl="0" marL="228600" rtl="0" algn="just">
              <a:lnSpc>
                <a:spcPct val="120000"/>
              </a:lnSpc>
              <a:spcBef>
                <a:spcPts val="1000"/>
              </a:spcBef>
              <a:spcAft>
                <a:spcPts val="0"/>
              </a:spcAft>
              <a:buSzPts val="2000"/>
              <a:buNone/>
            </a:pPr>
            <a:r>
              <a:t/>
            </a:r>
            <a:endParaRPr sz="2800">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74"/>
          <p:cNvSpPr txBox="1"/>
          <p:nvPr>
            <p:ph type="title"/>
          </p:nvPr>
        </p:nvSpPr>
        <p:spPr>
          <a:xfrm>
            <a:off x="2148840" y="776288"/>
            <a:ext cx="15773400" cy="198834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INSTANCE VARIABLES</a:t>
            </a:r>
            <a:endParaRPr/>
          </a:p>
        </p:txBody>
      </p:sp>
      <p:pic>
        <p:nvPicPr>
          <p:cNvPr id="709" name="Google Shape;709;p74"/>
          <p:cNvPicPr preferRelativeResize="0"/>
          <p:nvPr/>
        </p:nvPicPr>
        <p:blipFill rotWithShape="1">
          <a:blip r:embed="rId3">
            <a:alphaModFix/>
          </a:blip>
          <a:srcRect b="28930" l="4650" r="43375" t="29628"/>
          <a:stretch/>
        </p:blipFill>
        <p:spPr>
          <a:xfrm>
            <a:off x="2293620" y="3258503"/>
            <a:ext cx="13301663" cy="5375910"/>
          </a:xfrm>
          <a:prstGeom prst="rect">
            <a:avLst/>
          </a:prstGeom>
          <a:noFill/>
          <a:ln>
            <a:noFill/>
          </a:ln>
        </p:spPr>
      </p:pic>
      <p:sp>
        <p:nvSpPr>
          <p:cNvPr id="710" name="Google Shape;710;p74"/>
          <p:cNvSpPr txBox="1"/>
          <p:nvPr/>
        </p:nvSpPr>
        <p:spPr>
          <a:xfrm>
            <a:off x="9835515" y="1617345"/>
            <a:ext cx="6096000"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75"/>
          <p:cNvSpPr txBox="1"/>
          <p:nvPr>
            <p:ph type="title"/>
          </p:nvPr>
        </p:nvSpPr>
        <p:spPr>
          <a:xfrm>
            <a:off x="2178685" y="913448"/>
            <a:ext cx="15773400" cy="198834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INSTANCE VARIABLES</a:t>
            </a:r>
            <a:endParaRPr/>
          </a:p>
        </p:txBody>
      </p:sp>
      <p:pic>
        <p:nvPicPr>
          <p:cNvPr id="716" name="Google Shape;716;p75"/>
          <p:cNvPicPr preferRelativeResize="0"/>
          <p:nvPr/>
        </p:nvPicPr>
        <p:blipFill rotWithShape="1">
          <a:blip r:embed="rId3">
            <a:alphaModFix/>
          </a:blip>
          <a:srcRect b="1861" l="4425" r="52884" t="72532"/>
          <a:stretch/>
        </p:blipFill>
        <p:spPr>
          <a:xfrm>
            <a:off x="2178368" y="3035618"/>
            <a:ext cx="14403705" cy="499300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76"/>
          <p:cNvSpPr txBox="1"/>
          <p:nvPr>
            <p:ph type="title"/>
          </p:nvPr>
        </p:nvSpPr>
        <p:spPr>
          <a:xfrm>
            <a:off x="2352629" y="1449666"/>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EXERCISES</a:t>
            </a:r>
            <a:endParaRPr/>
          </a:p>
        </p:txBody>
      </p:sp>
      <p:sp>
        <p:nvSpPr>
          <p:cNvPr id="722" name="Google Shape;722;p76"/>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lang="en-US" sz="2800">
                <a:latin typeface="Times New Roman"/>
                <a:ea typeface="Times New Roman"/>
                <a:cs typeface="Times New Roman"/>
                <a:sym typeface="Times New Roman"/>
              </a:rPr>
              <a:t>1. Create a Dog class that has one class attribute and two instance level attributes. The class attribute should be “species” with a value of “Canine.”  The two instance attributes should be “name” and “breed.” Then instantiate two dog objects, a Husky named Sammi and a Chocolate Lab named Casey.</a:t>
            </a:r>
            <a:endParaRPr/>
          </a:p>
          <a:p>
            <a:pPr indent="-228600" lvl="0" marL="228600" rtl="0" algn="just">
              <a:lnSpc>
                <a:spcPct val="120000"/>
              </a:lnSpc>
              <a:spcBef>
                <a:spcPts val="1000"/>
              </a:spcBef>
              <a:spcAft>
                <a:spcPts val="0"/>
              </a:spcAft>
              <a:buSzPts val="2000"/>
              <a:buChar char="•"/>
            </a:pPr>
            <a:r>
              <a:rPr lang="en-US" sz="2800">
                <a:latin typeface="Times New Roman"/>
                <a:ea typeface="Times New Roman"/>
                <a:cs typeface="Times New Roman"/>
                <a:sym typeface="Times New Roman"/>
              </a:rPr>
              <a:t>2.  Create a Person class that has a single instance level attribute of “name.” Ask the user to input their name, and create an instance of the Person class with the name they typed in. Then print out their name.</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77"/>
          <p:cNvSpPr txBox="1"/>
          <p:nvPr>
            <p:ph type="title"/>
          </p:nvPr>
        </p:nvSpPr>
        <p:spPr>
          <a:xfrm>
            <a:off x="2336754" y="1449984"/>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PUBLIC AND PRIVATE DATA MEMBERS</a:t>
            </a:r>
            <a:endParaRPr/>
          </a:p>
        </p:txBody>
      </p:sp>
      <p:sp>
        <p:nvSpPr>
          <p:cNvPr id="728" name="Google Shape;728;p77"/>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l">
              <a:lnSpc>
                <a:spcPct val="120000"/>
              </a:lnSpc>
              <a:spcBef>
                <a:spcPts val="0"/>
              </a:spcBef>
              <a:spcAft>
                <a:spcPts val="0"/>
              </a:spcAft>
              <a:buSzPts val="2000"/>
              <a:buChar char="•"/>
            </a:pPr>
            <a:r>
              <a:rPr lang="en-US" sz="2800">
                <a:latin typeface="Times New Roman"/>
                <a:ea typeface="Times New Roman"/>
                <a:cs typeface="Times New Roman"/>
                <a:sym typeface="Times New Roman"/>
              </a:rPr>
              <a:t>Public members can be accessed from anywhere in the program i.e., they can be accessed within the class as well as from outside the class in which they are defined.</a:t>
            </a:r>
            <a:endParaRPr/>
          </a:p>
          <a:p>
            <a:pPr indent="-228600" lvl="0" marL="228600" rtl="0" algn="l">
              <a:lnSpc>
                <a:spcPct val="120000"/>
              </a:lnSpc>
              <a:spcBef>
                <a:spcPts val="1000"/>
              </a:spcBef>
              <a:spcAft>
                <a:spcPts val="0"/>
              </a:spcAft>
              <a:buSzPts val="2000"/>
              <a:buChar char="•"/>
            </a:pPr>
            <a:r>
              <a:rPr lang="en-US" sz="2800">
                <a:latin typeface="Times New Roman"/>
                <a:ea typeface="Times New Roman"/>
                <a:cs typeface="Times New Roman"/>
                <a:sym typeface="Times New Roman"/>
              </a:rPr>
              <a:t>Private members can only be accessed within the class.</a:t>
            </a:r>
            <a:endParaRPr/>
          </a:p>
          <a:p>
            <a:pPr indent="-228600" lvl="0" marL="228600" rtl="0" algn="l">
              <a:lnSpc>
                <a:spcPct val="120000"/>
              </a:lnSpc>
              <a:spcBef>
                <a:spcPts val="1000"/>
              </a:spcBef>
              <a:spcAft>
                <a:spcPts val="0"/>
              </a:spcAft>
              <a:buSzPts val="2000"/>
              <a:buChar char="•"/>
            </a:pPr>
            <a:r>
              <a:rPr lang="en-US" sz="2800">
                <a:latin typeface="Times New Roman"/>
                <a:ea typeface="Times New Roman"/>
                <a:cs typeface="Times New Roman"/>
                <a:sym typeface="Times New Roman"/>
              </a:rPr>
              <a:t>Private members are defined in the class with a </a:t>
            </a:r>
            <a:r>
              <a:rPr b="1" lang="en-US" sz="2800">
                <a:latin typeface="Times New Roman"/>
                <a:ea typeface="Times New Roman"/>
                <a:cs typeface="Times New Roman"/>
                <a:sym typeface="Times New Roman"/>
              </a:rPr>
              <a:t>double underscore prefix</a:t>
            </a:r>
            <a:r>
              <a:rPr lang="en-US" sz="2800">
                <a:latin typeface="Times New Roman"/>
                <a:ea typeface="Times New Roman"/>
                <a:cs typeface="Times New Roman"/>
                <a:sym typeface="Times New Roman"/>
              </a:rPr>
              <a: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78"/>
          <p:cNvSpPr txBox="1"/>
          <p:nvPr>
            <p:ph type="title"/>
          </p:nvPr>
        </p:nvSpPr>
        <p:spPr>
          <a:xfrm>
            <a:off x="2177686" y="1351559"/>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PUBLIC AND PRIVATE DATA MEMBERS</a:t>
            </a:r>
            <a:endParaRPr/>
          </a:p>
        </p:txBody>
      </p:sp>
      <p:pic>
        <p:nvPicPr>
          <p:cNvPr id="734" name="Google Shape;734;p78"/>
          <p:cNvPicPr preferRelativeResize="0"/>
          <p:nvPr>
            <p:ph idx="1" type="body"/>
          </p:nvPr>
        </p:nvPicPr>
        <p:blipFill rotWithShape="1">
          <a:blip r:embed="rId3">
            <a:alphaModFix/>
          </a:blip>
          <a:srcRect b="5498" l="4429" r="41146" t="29294"/>
          <a:stretch/>
        </p:blipFill>
        <p:spPr>
          <a:xfrm>
            <a:off x="2177415" y="2696210"/>
            <a:ext cx="13665835" cy="661162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79"/>
          <p:cNvSpPr txBox="1"/>
          <p:nvPr>
            <p:ph type="title"/>
          </p:nvPr>
        </p:nvSpPr>
        <p:spPr>
          <a:xfrm>
            <a:off x="2177369" y="1350289"/>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PUBLIC AND PRIVATE DATA MEMBERS</a:t>
            </a:r>
            <a:endParaRPr/>
          </a:p>
        </p:txBody>
      </p:sp>
      <p:pic>
        <p:nvPicPr>
          <p:cNvPr id="740" name="Google Shape;740;p79"/>
          <p:cNvPicPr preferRelativeResize="0"/>
          <p:nvPr>
            <p:ph idx="1" type="body"/>
          </p:nvPr>
        </p:nvPicPr>
        <p:blipFill rotWithShape="1">
          <a:blip r:embed="rId3">
            <a:alphaModFix/>
          </a:blip>
          <a:srcRect b="0" l="4429" r="11082" t="11269"/>
          <a:stretch/>
        </p:blipFill>
        <p:spPr>
          <a:xfrm>
            <a:off x="2177415" y="3062605"/>
            <a:ext cx="13698220" cy="629158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80"/>
          <p:cNvSpPr txBox="1"/>
          <p:nvPr>
            <p:ph type="title"/>
          </p:nvPr>
        </p:nvSpPr>
        <p:spPr>
          <a:xfrm>
            <a:off x="2416129" y="1449984"/>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PRIVATE METHODS</a:t>
            </a:r>
            <a:endParaRPr/>
          </a:p>
        </p:txBody>
      </p:sp>
      <p:sp>
        <p:nvSpPr>
          <p:cNvPr id="746" name="Google Shape;746;p80"/>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1400"/>
              <a:buChar char="•"/>
            </a:pPr>
            <a:r>
              <a:rPr lang="en-US" sz="2800">
                <a:latin typeface="Gill Sans"/>
                <a:ea typeface="Gill Sans"/>
                <a:cs typeface="Gill Sans"/>
                <a:sym typeface="Gill Sans"/>
              </a:rPr>
              <a:t>Private methods can’t be accessed from anywhere outside the class.</a:t>
            </a:r>
            <a:endParaRPr>
              <a:latin typeface="Gill Sans"/>
              <a:ea typeface="Gill Sans"/>
              <a:cs typeface="Gill Sans"/>
              <a:sym typeface="Gill Sans"/>
            </a:endParaRPr>
          </a:p>
          <a:p>
            <a:pPr indent="-228600" lvl="0" marL="228600" rtl="0" algn="just">
              <a:lnSpc>
                <a:spcPct val="120000"/>
              </a:lnSpc>
              <a:spcBef>
                <a:spcPts val="1000"/>
              </a:spcBef>
              <a:spcAft>
                <a:spcPts val="0"/>
              </a:spcAft>
              <a:buSzPts val="1400"/>
              <a:buChar char="•"/>
            </a:pPr>
            <a:r>
              <a:rPr lang="en-US" sz="2800">
                <a:latin typeface="Gill Sans"/>
                <a:ea typeface="Gill Sans"/>
                <a:cs typeface="Gill Sans"/>
                <a:sym typeface="Gill Sans"/>
              </a:rPr>
              <a:t>Private methods are used to include implementation details of an object.</a:t>
            </a:r>
            <a:endParaRPr/>
          </a:p>
          <a:p>
            <a:pPr indent="-101600" lvl="0" marL="228600" rtl="0" algn="just">
              <a:lnSpc>
                <a:spcPct val="120000"/>
              </a:lnSpc>
              <a:spcBef>
                <a:spcPts val="1000"/>
              </a:spcBef>
              <a:spcAft>
                <a:spcPts val="0"/>
              </a:spcAft>
              <a:buSzPts val="2000"/>
              <a:buNone/>
            </a:pPr>
            <a:r>
              <a:t/>
            </a:r>
            <a:endParaRPr/>
          </a:p>
          <a:p>
            <a:pPr indent="-101600" lvl="0" marL="228600" rtl="0" algn="just">
              <a:lnSpc>
                <a:spcPct val="120000"/>
              </a:lnSpc>
              <a:spcBef>
                <a:spcPts val="1000"/>
              </a:spcBef>
              <a:spcAft>
                <a:spcPts val="0"/>
              </a:spcAft>
              <a:buSzPts val="2000"/>
              <a:buNone/>
            </a:pPr>
            <a:r>
              <a:t/>
            </a:r>
            <a:endParaRPr/>
          </a:p>
        </p:txBody>
      </p:sp>
      <p:pic>
        <p:nvPicPr>
          <p:cNvPr id="747" name="Google Shape;747;p80"/>
          <p:cNvPicPr preferRelativeResize="0"/>
          <p:nvPr/>
        </p:nvPicPr>
        <p:blipFill rotWithShape="1">
          <a:blip r:embed="rId3">
            <a:alphaModFix/>
          </a:blip>
          <a:srcRect b="25962" l="4725" r="55750" t="39953"/>
          <a:stretch/>
        </p:blipFill>
        <p:spPr>
          <a:xfrm>
            <a:off x="2718435" y="4863465"/>
            <a:ext cx="13521690" cy="426402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81"/>
          <p:cNvSpPr txBox="1"/>
          <p:nvPr>
            <p:ph type="title"/>
          </p:nvPr>
        </p:nvSpPr>
        <p:spPr>
          <a:xfrm>
            <a:off x="2416129" y="1695729"/>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CLASS METHODS</a:t>
            </a:r>
            <a:endParaRPr/>
          </a:p>
        </p:txBody>
      </p:sp>
      <p:sp>
        <p:nvSpPr>
          <p:cNvPr id="753" name="Google Shape;753;p81"/>
          <p:cNvSpPr txBox="1"/>
          <p:nvPr>
            <p:ph idx="1" type="body"/>
          </p:nvPr>
        </p:nvSpPr>
        <p:spPr>
          <a:xfrm>
            <a:off x="2177369" y="3269343"/>
            <a:ext cx="14404913" cy="5175920"/>
          </a:xfrm>
          <a:prstGeom prst="rect">
            <a:avLst/>
          </a:prstGeom>
          <a:noFill/>
          <a:ln>
            <a:noFill/>
          </a:ln>
        </p:spPr>
        <p:txBody>
          <a:bodyPr anchorCtr="0" anchor="t" bIns="68550" lIns="137125" spcFirstLastPara="1" rIns="137125" wrap="square" tIns="68550">
            <a:normAutofit/>
          </a:bodyPr>
          <a:lstStyle/>
          <a:p>
            <a:pPr indent="-228600" lvl="0" marL="228600" rtl="0" algn="just">
              <a:lnSpc>
                <a:spcPct val="120000"/>
              </a:lnSpc>
              <a:spcBef>
                <a:spcPts val="0"/>
              </a:spcBef>
              <a:spcAft>
                <a:spcPts val="0"/>
              </a:spcAft>
              <a:buSzPts val="2000"/>
              <a:buChar char="•"/>
            </a:pPr>
            <a:r>
              <a:rPr lang="en-US" sz="2800">
                <a:latin typeface="Gill Sans"/>
                <a:ea typeface="Gill Sans"/>
                <a:cs typeface="Gill Sans"/>
                <a:sym typeface="Gill Sans"/>
              </a:rPr>
              <a:t>Class methods are called by a class and not by instance of the class.</a:t>
            </a:r>
            <a:endParaRPr/>
          </a:p>
          <a:p>
            <a:pPr indent="-228600" lvl="0" marL="228600" rtl="0" algn="just">
              <a:lnSpc>
                <a:spcPct val="120000"/>
              </a:lnSpc>
              <a:spcBef>
                <a:spcPts val="1000"/>
              </a:spcBef>
              <a:spcAft>
                <a:spcPts val="0"/>
              </a:spcAft>
              <a:buSzPts val="2000"/>
              <a:buChar char="•"/>
            </a:pPr>
            <a:r>
              <a:rPr lang="en-US" sz="2800">
                <a:latin typeface="Gill Sans"/>
                <a:ea typeface="Gill Sans"/>
                <a:cs typeface="Gill Sans"/>
                <a:sym typeface="Gill Sans"/>
              </a:rPr>
              <a:t>The first parameter of the class methods is </a:t>
            </a:r>
            <a:r>
              <a:rPr b="1" i="1" lang="en-US" sz="2800">
                <a:latin typeface="Gill Sans"/>
                <a:ea typeface="Gill Sans"/>
                <a:cs typeface="Gill Sans"/>
                <a:sym typeface="Gill Sans"/>
              </a:rPr>
              <a:t>cls</a:t>
            </a:r>
            <a:r>
              <a:rPr lang="en-US" sz="2800">
                <a:latin typeface="Gill Sans"/>
                <a:ea typeface="Gill Sans"/>
                <a:cs typeface="Gill Sans"/>
                <a:sym typeface="Gill Sans"/>
              </a:rPr>
              <a:t> and </a:t>
            </a:r>
            <a:r>
              <a:rPr b="1" lang="en-US" sz="2800">
                <a:latin typeface="Gill Sans"/>
                <a:ea typeface="Gill Sans"/>
                <a:cs typeface="Gill Sans"/>
                <a:sym typeface="Gill Sans"/>
              </a:rPr>
              <a:t>not </a:t>
            </a:r>
            <a:r>
              <a:rPr b="1" i="1" lang="en-US" sz="2800">
                <a:latin typeface="Gill Sans"/>
                <a:ea typeface="Gill Sans"/>
                <a:cs typeface="Gill Sans"/>
                <a:sym typeface="Gill Sans"/>
              </a:rPr>
              <a:t>self</a:t>
            </a:r>
            <a:r>
              <a:rPr lang="en-US" sz="2800">
                <a:latin typeface="Gill Sans"/>
                <a:ea typeface="Gill Sans"/>
                <a:cs typeface="Gill Sans"/>
                <a:sym typeface="Gill Sans"/>
              </a:rPr>
              <a:t>.</a:t>
            </a:r>
            <a:endParaRPr/>
          </a:p>
          <a:p>
            <a:pPr indent="-101600" lvl="0" marL="228600" rtl="0" algn="just">
              <a:lnSpc>
                <a:spcPct val="120000"/>
              </a:lnSpc>
              <a:spcBef>
                <a:spcPts val="1000"/>
              </a:spcBef>
              <a:spcAft>
                <a:spcPts val="0"/>
              </a:spcAft>
              <a:buSzPts val="2000"/>
              <a:buNone/>
            </a:pPr>
            <a:r>
              <a:t/>
            </a:r>
            <a:endParaRPr sz="2800">
              <a:latin typeface="Gill Sans"/>
              <a:ea typeface="Gill Sans"/>
              <a:cs typeface="Gill Sans"/>
              <a:sym typeface="Gill Sans"/>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82"/>
          <p:cNvSpPr txBox="1"/>
          <p:nvPr>
            <p:ph type="title"/>
          </p:nvPr>
        </p:nvSpPr>
        <p:spPr>
          <a:xfrm>
            <a:off x="2177415" y="547688"/>
            <a:ext cx="15773400" cy="198834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CLASS METHODS</a:t>
            </a:r>
            <a:endParaRPr/>
          </a:p>
        </p:txBody>
      </p:sp>
      <p:pic>
        <p:nvPicPr>
          <p:cNvPr id="759" name="Google Shape;759;p82"/>
          <p:cNvPicPr preferRelativeResize="0"/>
          <p:nvPr/>
        </p:nvPicPr>
        <p:blipFill rotWithShape="1">
          <a:blip r:embed="rId3">
            <a:alphaModFix/>
          </a:blip>
          <a:srcRect b="3954" l="4725" r="30322" t="31163"/>
          <a:stretch/>
        </p:blipFill>
        <p:spPr>
          <a:xfrm>
            <a:off x="2177415" y="2536190"/>
            <a:ext cx="13896975" cy="710946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83"/>
          <p:cNvSpPr txBox="1"/>
          <p:nvPr>
            <p:ph type="title"/>
          </p:nvPr>
        </p:nvSpPr>
        <p:spPr>
          <a:xfrm>
            <a:off x="2293574" y="1449666"/>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STATIC METHODS</a:t>
            </a:r>
            <a:endParaRPr/>
          </a:p>
        </p:txBody>
      </p:sp>
      <p:sp>
        <p:nvSpPr>
          <p:cNvPr id="765" name="Google Shape;765;p83"/>
          <p:cNvSpPr txBox="1"/>
          <p:nvPr>
            <p:ph idx="1" type="body"/>
          </p:nvPr>
        </p:nvSpPr>
        <p:spPr>
          <a:xfrm>
            <a:off x="2177415" y="2879408"/>
            <a:ext cx="14404658" cy="6028373"/>
          </a:xfrm>
          <a:prstGeom prst="rect">
            <a:avLst/>
          </a:prstGeom>
          <a:noFill/>
          <a:ln>
            <a:noFill/>
          </a:ln>
        </p:spPr>
        <p:txBody>
          <a:bodyPr anchorCtr="0" anchor="t" bIns="68550" lIns="137125" spcFirstLastPara="1" rIns="137125" wrap="square" tIns="68550">
            <a:noAutofit/>
          </a:bodyPr>
          <a:lstStyle/>
          <a:p>
            <a:pPr indent="-228600" lvl="0" marL="228600" rtl="0" algn="just">
              <a:lnSpc>
                <a:spcPct val="120000"/>
              </a:lnSpc>
              <a:spcBef>
                <a:spcPts val="0"/>
              </a:spcBef>
              <a:spcAft>
                <a:spcPts val="0"/>
              </a:spcAft>
              <a:buSzPts val="2800"/>
              <a:buChar char="•"/>
            </a:pPr>
            <a:r>
              <a:rPr lang="en-US" sz="2800">
                <a:latin typeface="Times New Roman"/>
                <a:ea typeface="Times New Roman"/>
                <a:cs typeface="Times New Roman"/>
                <a:sym typeface="Times New Roman"/>
              </a:rPr>
              <a:t>A functionality that belongs to a class, but does not require the object, is placed in the </a:t>
            </a:r>
            <a:r>
              <a:rPr b="1" lang="en-US" sz="2800">
                <a:latin typeface="Times New Roman"/>
                <a:ea typeface="Times New Roman"/>
                <a:cs typeface="Times New Roman"/>
                <a:sym typeface="Times New Roman"/>
              </a:rPr>
              <a:t>static </a:t>
            </a:r>
            <a:r>
              <a:rPr lang="en-US" sz="2800">
                <a:latin typeface="Times New Roman"/>
                <a:ea typeface="Times New Roman"/>
                <a:cs typeface="Times New Roman"/>
                <a:sym typeface="Times New Roman"/>
              </a:rPr>
              <a:t>method.</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Static methods does not receive any additional arguments like </a:t>
            </a:r>
            <a:r>
              <a:rPr b="1" i="1" lang="en-US" sz="2800">
                <a:latin typeface="Times New Roman"/>
                <a:ea typeface="Times New Roman"/>
                <a:cs typeface="Times New Roman"/>
                <a:sym typeface="Times New Roman"/>
              </a:rPr>
              <a:t>self, cls</a:t>
            </a:r>
            <a:r>
              <a:rPr lang="en-US" sz="2800">
                <a:latin typeface="Times New Roman"/>
                <a:ea typeface="Times New Roman"/>
                <a:cs typeface="Times New Roman"/>
                <a:sym typeface="Times New Roman"/>
              </a:rPr>
              <a:t>.</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A static method is defined using a built-in function </a:t>
            </a:r>
            <a:r>
              <a:rPr b="1" i="1" lang="en-US" sz="2800">
                <a:latin typeface="Times New Roman"/>
                <a:ea typeface="Times New Roman"/>
                <a:cs typeface="Times New Roman"/>
                <a:sym typeface="Times New Roman"/>
              </a:rPr>
              <a:t>staticmethod</a:t>
            </a:r>
            <a:r>
              <a:rPr lang="en-US" sz="2800">
                <a:latin typeface="Times New Roman"/>
                <a:ea typeface="Times New Roman"/>
                <a:cs typeface="Times New Roman"/>
                <a:sym typeface="Times New Roman"/>
              </a:rPr>
              <a:t>.</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Static method knows nothing about the class and just deals with the parameters.</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Static method cannot access the properties of the class itself.</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When we need a utility function that doesn't access any properties of a class but makes sense that it belongs to the class, we use static methods.</a:t>
            </a:r>
            <a:endParaRPr/>
          </a:p>
          <a:p>
            <a:pPr indent="-228600" lvl="0" marL="228600" rtl="0" algn="just">
              <a:lnSpc>
                <a:spcPct val="120000"/>
              </a:lnSpc>
              <a:spcBef>
                <a:spcPts val="1000"/>
              </a:spcBef>
              <a:spcAft>
                <a:spcPts val="0"/>
              </a:spcAft>
              <a:buSzPts val="2800"/>
              <a:buChar char="•"/>
            </a:pPr>
            <a:r>
              <a:rPr lang="en-US" sz="2800">
                <a:latin typeface="Times New Roman"/>
                <a:ea typeface="Times New Roman"/>
                <a:cs typeface="Times New Roman"/>
                <a:sym typeface="Times New Roman"/>
              </a:rPr>
              <a:t>A static method can be called either on the class or on an instance.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84"/>
          <p:cNvSpPr txBox="1"/>
          <p:nvPr>
            <p:ph type="title"/>
          </p:nvPr>
        </p:nvSpPr>
        <p:spPr>
          <a:xfrm>
            <a:off x="2177369" y="1206779"/>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3200"/>
              <a:buFont typeface="Gill Sans"/>
              <a:buNone/>
            </a:pPr>
            <a:r>
              <a:rPr b="1" lang="en-US" sz="4800">
                <a:solidFill>
                  <a:schemeClr val="accent1"/>
                </a:solidFill>
                <a:latin typeface="Times New Roman"/>
                <a:ea typeface="Times New Roman"/>
                <a:cs typeface="Times New Roman"/>
                <a:sym typeface="Times New Roman"/>
              </a:rPr>
              <a:t>STATIC METHODS</a:t>
            </a:r>
            <a:endParaRPr/>
          </a:p>
        </p:txBody>
      </p:sp>
      <p:pic>
        <p:nvPicPr>
          <p:cNvPr id="771" name="Google Shape;771;p84"/>
          <p:cNvPicPr preferRelativeResize="0"/>
          <p:nvPr>
            <p:ph idx="1" type="body"/>
          </p:nvPr>
        </p:nvPicPr>
        <p:blipFill rotWithShape="1">
          <a:blip r:embed="rId3">
            <a:alphaModFix/>
          </a:blip>
          <a:srcRect b="10267" l="22381" r="23194" t="27438"/>
          <a:stretch/>
        </p:blipFill>
        <p:spPr>
          <a:xfrm>
            <a:off x="2177415" y="2631440"/>
            <a:ext cx="14192250" cy="674179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85"/>
          <p:cNvSpPr txBox="1"/>
          <p:nvPr>
            <p:ph type="title"/>
          </p:nvPr>
        </p:nvSpPr>
        <p:spPr>
          <a:xfrm>
            <a:off x="2590754" y="1597621"/>
            <a:ext cx="14404913" cy="1573853"/>
          </a:xfrm>
          <a:prstGeom prst="rect">
            <a:avLst/>
          </a:prstGeom>
          <a:noFill/>
          <a:ln>
            <a:noFill/>
          </a:ln>
        </p:spPr>
        <p:txBody>
          <a:bodyPr anchorCtr="0" anchor="t" bIns="68550" lIns="137125" spcFirstLastPara="1" rIns="137125" wrap="square" tIns="68550">
            <a:normAutofit/>
          </a:bodyPr>
          <a:lstStyle/>
          <a:p>
            <a:pPr indent="0" lvl="0" marL="0" rtl="0" algn="l">
              <a:lnSpc>
                <a:spcPct val="90000"/>
              </a:lnSpc>
              <a:spcBef>
                <a:spcPts val="0"/>
              </a:spcBef>
              <a:spcAft>
                <a:spcPts val="0"/>
              </a:spcAft>
              <a:buClr>
                <a:schemeClr val="dk1"/>
              </a:buClr>
              <a:buSzPts val="1800"/>
              <a:buNone/>
            </a:pPr>
            <a:r>
              <a:rPr b="1" lang="en-US" sz="4800">
                <a:solidFill>
                  <a:schemeClr val="accent1"/>
                </a:solidFill>
                <a:latin typeface="Times New Roman"/>
                <a:ea typeface="Times New Roman"/>
                <a:cs typeface="Times New Roman"/>
                <a:sym typeface="Times New Roman"/>
              </a:rPr>
              <a:t>EXERCISES</a:t>
            </a:r>
            <a:endParaRPr/>
          </a:p>
        </p:txBody>
      </p:sp>
      <p:sp>
        <p:nvSpPr>
          <p:cNvPr id="777" name="Google Shape;777;p85"/>
          <p:cNvSpPr txBox="1"/>
          <p:nvPr>
            <p:ph idx="1" type="body"/>
          </p:nvPr>
        </p:nvSpPr>
        <p:spPr>
          <a:xfrm>
            <a:off x="2177369" y="3023598"/>
            <a:ext cx="14404913" cy="5175920"/>
          </a:xfrm>
          <a:prstGeom prst="rect">
            <a:avLst/>
          </a:prstGeom>
          <a:noFill/>
          <a:ln>
            <a:noFill/>
          </a:ln>
        </p:spPr>
        <p:txBody>
          <a:bodyPr anchorCtr="0" anchor="t" bIns="68550" lIns="137125" spcFirstLastPara="1" rIns="137125" wrap="square" tIns="68550">
            <a:noAutofit/>
          </a:bodyPr>
          <a:lstStyle/>
          <a:p>
            <a:pPr indent="-342900" lvl="0" marL="457200" rtl="0" algn="just">
              <a:lnSpc>
                <a:spcPct val="120000"/>
              </a:lnSpc>
              <a:spcBef>
                <a:spcPts val="1000"/>
              </a:spcBef>
              <a:spcAft>
                <a:spcPts val="0"/>
              </a:spcAft>
              <a:buSzPts val="2968"/>
              <a:buChar char="•"/>
            </a:pPr>
            <a:r>
              <a:rPr lang="en-US" sz="2800">
                <a:latin typeface="Times New Roman"/>
                <a:ea typeface="Times New Roman"/>
                <a:cs typeface="Times New Roman"/>
                <a:sym typeface="Times New Roman"/>
              </a:rPr>
              <a:t>Python program to manage patient records effectively in Hospital Management System using Data Abstraction.</a:t>
            </a:r>
            <a:endParaRPr/>
          </a:p>
          <a:p>
            <a:pPr indent="-342900" lvl="0" marL="457200" rtl="0" algn="just">
              <a:lnSpc>
                <a:spcPct val="120000"/>
              </a:lnSpc>
              <a:spcBef>
                <a:spcPts val="1000"/>
              </a:spcBef>
              <a:spcAft>
                <a:spcPts val="0"/>
              </a:spcAft>
              <a:buSzPts val="2968"/>
              <a:buChar char="•"/>
            </a:pPr>
            <a:r>
              <a:rPr lang="en-US" sz="2800">
                <a:latin typeface="Times New Roman"/>
                <a:ea typeface="Times New Roman"/>
                <a:cs typeface="Times New Roman"/>
                <a:sym typeface="Times New Roman"/>
              </a:rPr>
              <a:t>Python program to develop a University Management System to efficiently manage information related to students and faculty members while maintaining data security and proper encapsulation.</a:t>
            </a:r>
            <a:endParaRPr/>
          </a:p>
          <a:p>
            <a:pPr indent="-342900" lvl="0" marL="457200" rtl="0" algn="just">
              <a:lnSpc>
                <a:spcPct val="120000"/>
              </a:lnSpc>
              <a:spcBef>
                <a:spcPts val="1000"/>
              </a:spcBef>
              <a:spcAft>
                <a:spcPts val="0"/>
              </a:spcAft>
              <a:buSzPts val="2968"/>
              <a:buChar char="•"/>
            </a:pPr>
            <a:r>
              <a:rPr lang="en-US" sz="2800">
                <a:latin typeface="Times New Roman"/>
                <a:ea typeface="Times New Roman"/>
                <a:cs typeface="Times New Roman"/>
                <a:sym typeface="Times New Roman"/>
              </a:rPr>
              <a:t>Python program to develop a program to manage employee information in an organization using a constructor for data initialization.</a:t>
            </a:r>
            <a:endParaRPr/>
          </a:p>
          <a:p>
            <a:pPr indent="-342900" lvl="0" marL="457200" rtl="0" algn="just">
              <a:lnSpc>
                <a:spcPct val="120000"/>
              </a:lnSpc>
              <a:spcBef>
                <a:spcPts val="1000"/>
              </a:spcBef>
              <a:spcAft>
                <a:spcPts val="0"/>
              </a:spcAft>
              <a:buSzPts val="2968"/>
              <a:buChar char="•"/>
            </a:pPr>
            <a:r>
              <a:rPr lang="en-US" sz="2800">
                <a:latin typeface="Times New Roman"/>
                <a:ea typeface="Times New Roman"/>
                <a:cs typeface="Times New Roman"/>
                <a:sym typeface="Times New Roman"/>
              </a:rPr>
              <a:t>Design a Math Operations Utility class to perform basic arithmetic operations using static methods.</a:t>
            </a:r>
            <a:endParaRPr/>
          </a:p>
          <a:p>
            <a:pPr indent="-228600" lvl="0" marL="457200" rtl="0" algn="just">
              <a:lnSpc>
                <a:spcPct val="120000"/>
              </a:lnSpc>
              <a:spcBef>
                <a:spcPts val="1000"/>
              </a:spcBef>
              <a:spcAft>
                <a:spcPts val="0"/>
              </a:spcAft>
              <a:buSzPts val="2968"/>
              <a:buNone/>
            </a:pPr>
            <a:r>
              <a:t/>
            </a:r>
            <a:endParaRPr sz="2800">
              <a:latin typeface="Gill Sans"/>
              <a:ea typeface="Gill Sans"/>
              <a:cs typeface="Gill Sans"/>
              <a:sym typeface="Gill Sans"/>
            </a:endParaRPr>
          </a:p>
          <a:p>
            <a:pPr indent="-228600" lvl="0" marL="457200" rtl="0" algn="just">
              <a:lnSpc>
                <a:spcPct val="120000"/>
              </a:lnSpc>
              <a:spcBef>
                <a:spcPts val="1000"/>
              </a:spcBef>
              <a:spcAft>
                <a:spcPts val="0"/>
              </a:spcAft>
              <a:buSzPts val="2968"/>
              <a:buNone/>
            </a:pPr>
            <a:r>
              <a:t/>
            </a:r>
            <a:endParaRPr sz="2800">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Manojkumar 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8D1815C6E5F64FEB93F36D3FAF69DC15_13</vt:lpwstr>
  </property>
  <property fmtid="{D5CDD505-2E9C-101B-9397-08002B2CF9AE}" pid="3" name="KSOProductBuildVer">
    <vt:lpwstr>1033-12.2.0.21931</vt:lpwstr>
  </property>
</Properties>
</file>