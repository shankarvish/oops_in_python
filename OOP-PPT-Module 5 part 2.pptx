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70" roundtripDataSignature="AMtx7mgzCz4z/wIkeKnAj5W/LACUWrEY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7677EA-63C9-4095-938D-D69284A9CA30}">
  <a:tblStyle styleId="{667677EA-63C9-4095-938D-D69284A9CA3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EF3"/>
          </a:solidFill>
        </a:fill>
      </a:tcStyle>
    </a:wholeTbl>
    <a:band1H>
      <a:tcTxStyle b="off" i="off"/>
      <a:tcStyle>
        <a:fill>
          <a:solidFill>
            <a:srgbClr val="CCDCE6"/>
          </a:solidFill>
        </a:fill>
      </a:tcStyle>
    </a:band1H>
    <a:band2H>
      <a:tcTxStyle b="off" i="off"/>
    </a:band2H>
    <a:band1V>
      <a:tcTxStyle b="off" i="off"/>
      <a:tcStyle>
        <a:fill>
          <a:solidFill>
            <a:srgbClr val="CCDCE6"/>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0" Type="http://customschemas.google.com/relationships/presentationmetadata" Target="meta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21495b50a6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g321495b50a6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21495b50a6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g321495b50a6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21495b50a6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g321495b50a6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5" name="Google Shape;36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8" name="Google Shape;44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 name="Google Shape;48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2" name="Google Shape;52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2" name="Google Shape;55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3" name="Google Shape;563;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2" name="Google Shape;57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0" name="Google Shape;59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9" name="Google Shape;599;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0" name="Google Shape;61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9" name="Google Shape;61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9" name="Google Shape;689;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8" name="Google Shape;698;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7" name="Google Shape;707;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6" name="Google Shape;746;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p63"/>
          <p:cNvSpPr txBox="1"/>
          <p:nvPr>
            <p:ph type="title"/>
          </p:nvPr>
        </p:nvSpPr>
        <p:spPr>
          <a:xfrm>
            <a:off x="1645920" y="429905"/>
            <a:ext cx="15087600" cy="2176136"/>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3"/>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3"/>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3"/>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64"/>
          <p:cNvSpPr txBox="1"/>
          <p:nvPr>
            <p:ph type="title"/>
          </p:nvPr>
        </p:nvSpPr>
        <p:spPr>
          <a:xfrm>
            <a:off x="1645920" y="429905"/>
            <a:ext cx="15087600" cy="2176136"/>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72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64"/>
          <p:cNvSpPr txBox="1"/>
          <p:nvPr>
            <p:ph idx="1" type="body"/>
          </p:nvPr>
        </p:nvSpPr>
        <p:spPr>
          <a:xfrm>
            <a:off x="1645920" y="2768601"/>
            <a:ext cx="15087600" cy="603504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27" name="Google Shape;27;p64"/>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64"/>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4"/>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0" name="Shape 30"/>
        <p:cNvGrpSpPr/>
        <p:nvPr/>
      </p:nvGrpSpPr>
      <p:grpSpPr>
        <a:xfrm>
          <a:off x="0" y="0"/>
          <a:ext cx="0" cy="0"/>
          <a:chOff x="0" y="0"/>
          <a:chExt cx="0" cy="0"/>
        </a:xfrm>
      </p:grpSpPr>
      <p:sp>
        <p:nvSpPr>
          <p:cNvPr id="31" name="Google Shape;31;p65"/>
          <p:cNvSpPr/>
          <p:nvPr/>
        </p:nvSpPr>
        <p:spPr>
          <a:xfrm>
            <a:off x="4763" y="9601200"/>
            <a:ext cx="18283238" cy="6858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65"/>
          <p:cNvSpPr/>
          <p:nvPr/>
        </p:nvSpPr>
        <p:spPr>
          <a:xfrm>
            <a:off x="23" y="9501474"/>
            <a:ext cx="18283238" cy="96012"/>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65"/>
          <p:cNvSpPr txBox="1"/>
          <p:nvPr>
            <p:ph type="ctrTitle"/>
          </p:nvPr>
        </p:nvSpPr>
        <p:spPr>
          <a:xfrm>
            <a:off x="1645920" y="1138428"/>
            <a:ext cx="15087600" cy="534924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12000"/>
              <a:buFont typeface="Calibri"/>
              <a:buNone/>
              <a:defRPr sz="12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5"/>
          <p:cNvSpPr txBox="1"/>
          <p:nvPr>
            <p:ph idx="1" type="subTitle"/>
          </p:nvPr>
        </p:nvSpPr>
        <p:spPr>
          <a:xfrm>
            <a:off x="1650077" y="6683430"/>
            <a:ext cx="15087600" cy="17145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800"/>
              </a:spcBef>
              <a:spcAft>
                <a:spcPts val="0"/>
              </a:spcAft>
              <a:buSzPts val="3600"/>
              <a:buNone/>
              <a:defRPr sz="3600" cap="none">
                <a:solidFill>
                  <a:schemeClr val="dk2"/>
                </a:solidFill>
                <a:latin typeface="Calibri"/>
                <a:ea typeface="Calibri"/>
                <a:cs typeface="Calibri"/>
                <a:sym typeface="Calibri"/>
              </a:defRPr>
            </a:lvl1pPr>
            <a:lvl2pPr lvl="1" algn="ctr">
              <a:lnSpc>
                <a:spcPct val="90000"/>
              </a:lnSpc>
              <a:spcBef>
                <a:spcPts val="300"/>
              </a:spcBef>
              <a:spcAft>
                <a:spcPts val="0"/>
              </a:spcAft>
              <a:buSzPts val="3600"/>
              <a:buNone/>
              <a:defRPr sz="3600"/>
            </a:lvl2pPr>
            <a:lvl3pPr lvl="2" algn="ctr">
              <a:lnSpc>
                <a:spcPct val="90000"/>
              </a:lnSpc>
              <a:spcBef>
                <a:spcPts val="600"/>
              </a:spcBef>
              <a:spcAft>
                <a:spcPts val="0"/>
              </a:spcAft>
              <a:buSzPts val="3600"/>
              <a:buNone/>
              <a:defRPr sz="3600"/>
            </a:lvl3pPr>
            <a:lvl4pPr lvl="3" algn="ctr">
              <a:lnSpc>
                <a:spcPct val="90000"/>
              </a:lnSpc>
              <a:spcBef>
                <a:spcPts val="600"/>
              </a:spcBef>
              <a:spcAft>
                <a:spcPts val="0"/>
              </a:spcAft>
              <a:buSzPts val="3000"/>
              <a:buNone/>
              <a:defRPr sz="3000"/>
            </a:lvl4pPr>
            <a:lvl5pPr lvl="4" algn="ctr">
              <a:lnSpc>
                <a:spcPct val="90000"/>
              </a:lnSpc>
              <a:spcBef>
                <a:spcPts val="600"/>
              </a:spcBef>
              <a:spcAft>
                <a:spcPts val="0"/>
              </a:spcAft>
              <a:buSzPts val="3000"/>
              <a:buNone/>
              <a:defRPr sz="3000"/>
            </a:lvl5pPr>
            <a:lvl6pPr lvl="5" algn="ctr">
              <a:lnSpc>
                <a:spcPct val="90000"/>
              </a:lnSpc>
              <a:spcBef>
                <a:spcPts val="600"/>
              </a:spcBef>
              <a:spcAft>
                <a:spcPts val="0"/>
              </a:spcAft>
              <a:buSzPts val="3000"/>
              <a:buNone/>
              <a:defRPr sz="3000"/>
            </a:lvl6pPr>
            <a:lvl7pPr lvl="6" algn="ctr">
              <a:lnSpc>
                <a:spcPct val="90000"/>
              </a:lnSpc>
              <a:spcBef>
                <a:spcPts val="600"/>
              </a:spcBef>
              <a:spcAft>
                <a:spcPts val="0"/>
              </a:spcAft>
              <a:buSzPts val="3000"/>
              <a:buNone/>
              <a:defRPr sz="3000"/>
            </a:lvl7pPr>
            <a:lvl8pPr lvl="7" algn="ctr">
              <a:lnSpc>
                <a:spcPct val="90000"/>
              </a:lnSpc>
              <a:spcBef>
                <a:spcPts val="600"/>
              </a:spcBef>
              <a:spcAft>
                <a:spcPts val="0"/>
              </a:spcAft>
              <a:buSzPts val="3000"/>
              <a:buNone/>
              <a:defRPr sz="3000"/>
            </a:lvl8pPr>
            <a:lvl9pPr lvl="8" algn="ctr">
              <a:lnSpc>
                <a:spcPct val="90000"/>
              </a:lnSpc>
              <a:spcBef>
                <a:spcPts val="600"/>
              </a:spcBef>
              <a:spcAft>
                <a:spcPts val="600"/>
              </a:spcAft>
              <a:buSzPts val="3000"/>
              <a:buNone/>
              <a:defRPr sz="3000"/>
            </a:lvl9pPr>
          </a:lstStyle>
          <a:p/>
        </p:txBody>
      </p:sp>
      <p:sp>
        <p:nvSpPr>
          <p:cNvPr id="35" name="Google Shape;35;p65"/>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5"/>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5"/>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38" name="Google Shape;38;p65"/>
          <p:cNvCxnSpPr/>
          <p:nvPr/>
        </p:nvCxnSpPr>
        <p:spPr>
          <a:xfrm>
            <a:off x="1811487" y="6515100"/>
            <a:ext cx="1481328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9" name="Shape 39"/>
        <p:cNvGrpSpPr/>
        <p:nvPr/>
      </p:nvGrpSpPr>
      <p:grpSpPr>
        <a:xfrm>
          <a:off x="0" y="0"/>
          <a:ext cx="0" cy="0"/>
          <a:chOff x="0" y="0"/>
          <a:chExt cx="0" cy="0"/>
        </a:xfrm>
      </p:grpSpPr>
      <p:sp>
        <p:nvSpPr>
          <p:cNvPr id="40" name="Google Shape;40;p66"/>
          <p:cNvSpPr/>
          <p:nvPr/>
        </p:nvSpPr>
        <p:spPr>
          <a:xfrm>
            <a:off x="4763" y="9601200"/>
            <a:ext cx="18283238" cy="6858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66"/>
          <p:cNvSpPr/>
          <p:nvPr/>
        </p:nvSpPr>
        <p:spPr>
          <a:xfrm>
            <a:off x="23" y="9501474"/>
            <a:ext cx="18283238" cy="96012"/>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66"/>
          <p:cNvSpPr txBox="1"/>
          <p:nvPr>
            <p:ph type="title"/>
          </p:nvPr>
        </p:nvSpPr>
        <p:spPr>
          <a:xfrm>
            <a:off x="1645920" y="1138428"/>
            <a:ext cx="15087600" cy="534924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12000"/>
              <a:buFont typeface="Calibri"/>
              <a:buNone/>
              <a:defRPr b="0" sz="12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6"/>
          <p:cNvSpPr txBox="1"/>
          <p:nvPr>
            <p:ph idx="1" type="body"/>
          </p:nvPr>
        </p:nvSpPr>
        <p:spPr>
          <a:xfrm>
            <a:off x="1645920" y="6679692"/>
            <a:ext cx="15087600" cy="1714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SzPts val="3600"/>
              <a:buNone/>
              <a:defRPr sz="3600" cap="none">
                <a:solidFill>
                  <a:schemeClr val="dk2"/>
                </a:solidFill>
                <a:latin typeface="Calibri"/>
                <a:ea typeface="Calibri"/>
                <a:cs typeface="Calibri"/>
                <a:sym typeface="Calibri"/>
              </a:defRPr>
            </a:lvl1pPr>
            <a:lvl2pPr indent="-228600" lvl="1" marL="914400" algn="l">
              <a:lnSpc>
                <a:spcPct val="90000"/>
              </a:lnSpc>
              <a:spcBef>
                <a:spcPts val="300"/>
              </a:spcBef>
              <a:spcAft>
                <a:spcPts val="0"/>
              </a:spcAft>
              <a:buSzPts val="2700"/>
              <a:buNone/>
              <a:defRPr sz="2700">
                <a:solidFill>
                  <a:srgbClr val="888888"/>
                </a:solidFill>
              </a:defRPr>
            </a:lvl2pPr>
            <a:lvl3pPr indent="-228600" lvl="2" marL="1371600" algn="l">
              <a:lnSpc>
                <a:spcPct val="90000"/>
              </a:lnSpc>
              <a:spcBef>
                <a:spcPts val="600"/>
              </a:spcBef>
              <a:spcAft>
                <a:spcPts val="0"/>
              </a:spcAft>
              <a:buSzPts val="2400"/>
              <a:buNone/>
              <a:defRPr sz="2400">
                <a:solidFill>
                  <a:srgbClr val="888888"/>
                </a:solidFill>
              </a:defRPr>
            </a:lvl3pPr>
            <a:lvl4pPr indent="-228600" lvl="3" marL="1828800" algn="l">
              <a:lnSpc>
                <a:spcPct val="90000"/>
              </a:lnSpc>
              <a:spcBef>
                <a:spcPts val="600"/>
              </a:spcBef>
              <a:spcAft>
                <a:spcPts val="0"/>
              </a:spcAft>
              <a:buSzPts val="2100"/>
              <a:buNone/>
              <a:defRPr sz="2100">
                <a:solidFill>
                  <a:srgbClr val="888888"/>
                </a:solidFill>
              </a:defRPr>
            </a:lvl4pPr>
            <a:lvl5pPr indent="-228600" lvl="4" marL="2286000" algn="l">
              <a:lnSpc>
                <a:spcPct val="90000"/>
              </a:lnSpc>
              <a:spcBef>
                <a:spcPts val="600"/>
              </a:spcBef>
              <a:spcAft>
                <a:spcPts val="0"/>
              </a:spcAft>
              <a:buSzPts val="2100"/>
              <a:buNone/>
              <a:defRPr sz="2100">
                <a:solidFill>
                  <a:srgbClr val="888888"/>
                </a:solidFill>
              </a:defRPr>
            </a:lvl5pPr>
            <a:lvl6pPr indent="-228600" lvl="5" marL="2743200" algn="l">
              <a:lnSpc>
                <a:spcPct val="90000"/>
              </a:lnSpc>
              <a:spcBef>
                <a:spcPts val="600"/>
              </a:spcBef>
              <a:spcAft>
                <a:spcPts val="0"/>
              </a:spcAft>
              <a:buSzPts val="2100"/>
              <a:buNone/>
              <a:defRPr sz="2100">
                <a:solidFill>
                  <a:srgbClr val="888888"/>
                </a:solidFill>
              </a:defRPr>
            </a:lvl6pPr>
            <a:lvl7pPr indent="-228600" lvl="6" marL="3200400" algn="l">
              <a:lnSpc>
                <a:spcPct val="90000"/>
              </a:lnSpc>
              <a:spcBef>
                <a:spcPts val="600"/>
              </a:spcBef>
              <a:spcAft>
                <a:spcPts val="0"/>
              </a:spcAft>
              <a:buSzPts val="2100"/>
              <a:buNone/>
              <a:defRPr sz="2100">
                <a:solidFill>
                  <a:srgbClr val="888888"/>
                </a:solidFill>
              </a:defRPr>
            </a:lvl7pPr>
            <a:lvl8pPr indent="-228600" lvl="7" marL="3657600" algn="l">
              <a:lnSpc>
                <a:spcPct val="90000"/>
              </a:lnSpc>
              <a:spcBef>
                <a:spcPts val="600"/>
              </a:spcBef>
              <a:spcAft>
                <a:spcPts val="0"/>
              </a:spcAft>
              <a:buSzPts val="2100"/>
              <a:buNone/>
              <a:defRPr sz="2100">
                <a:solidFill>
                  <a:srgbClr val="888888"/>
                </a:solidFill>
              </a:defRPr>
            </a:lvl8pPr>
            <a:lvl9pPr indent="-228600" lvl="8" marL="4114800" algn="l">
              <a:lnSpc>
                <a:spcPct val="90000"/>
              </a:lnSpc>
              <a:spcBef>
                <a:spcPts val="600"/>
              </a:spcBef>
              <a:spcAft>
                <a:spcPts val="600"/>
              </a:spcAft>
              <a:buSzPts val="2100"/>
              <a:buNone/>
              <a:defRPr sz="2100">
                <a:solidFill>
                  <a:srgbClr val="888888"/>
                </a:solidFill>
              </a:defRPr>
            </a:lvl9pPr>
          </a:lstStyle>
          <a:p/>
        </p:txBody>
      </p:sp>
      <p:sp>
        <p:nvSpPr>
          <p:cNvPr id="44" name="Google Shape;44;p66"/>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6"/>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6"/>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47" name="Google Shape;47;p66"/>
          <p:cNvCxnSpPr/>
          <p:nvPr/>
        </p:nvCxnSpPr>
        <p:spPr>
          <a:xfrm>
            <a:off x="1811487" y="6515100"/>
            <a:ext cx="1481328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67"/>
          <p:cNvSpPr txBox="1"/>
          <p:nvPr>
            <p:ph type="title"/>
          </p:nvPr>
        </p:nvSpPr>
        <p:spPr>
          <a:xfrm>
            <a:off x="1645920" y="429905"/>
            <a:ext cx="15087600" cy="2176136"/>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7"/>
          <p:cNvSpPr txBox="1"/>
          <p:nvPr>
            <p:ph idx="1" type="body"/>
          </p:nvPr>
        </p:nvSpPr>
        <p:spPr>
          <a:xfrm>
            <a:off x="1645919" y="2768601"/>
            <a:ext cx="7406640" cy="603504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51" name="Google Shape;51;p67"/>
          <p:cNvSpPr txBox="1"/>
          <p:nvPr>
            <p:ph idx="2" type="body"/>
          </p:nvPr>
        </p:nvSpPr>
        <p:spPr>
          <a:xfrm>
            <a:off x="9326880" y="2768603"/>
            <a:ext cx="7406640" cy="603504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52" name="Google Shape;52;p67"/>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7"/>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67"/>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68"/>
          <p:cNvSpPr txBox="1"/>
          <p:nvPr>
            <p:ph type="title"/>
          </p:nvPr>
        </p:nvSpPr>
        <p:spPr>
          <a:xfrm>
            <a:off x="1645920" y="429905"/>
            <a:ext cx="15087600" cy="2176136"/>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8"/>
          <p:cNvSpPr txBox="1"/>
          <p:nvPr>
            <p:ph idx="1" type="body"/>
          </p:nvPr>
        </p:nvSpPr>
        <p:spPr>
          <a:xfrm>
            <a:off x="1645920" y="2769078"/>
            <a:ext cx="7406640" cy="1104423"/>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800"/>
              </a:spcBef>
              <a:spcAft>
                <a:spcPts val="0"/>
              </a:spcAft>
              <a:buSzPts val="3000"/>
              <a:buNone/>
              <a:defRPr b="0" sz="3000" cap="none">
                <a:solidFill>
                  <a:schemeClr val="dk2"/>
                </a:solidFill>
              </a:defRPr>
            </a:lvl1pPr>
            <a:lvl2pPr indent="-228600" lvl="1" marL="914400" algn="l">
              <a:lnSpc>
                <a:spcPct val="90000"/>
              </a:lnSpc>
              <a:spcBef>
                <a:spcPts val="300"/>
              </a:spcBef>
              <a:spcAft>
                <a:spcPts val="0"/>
              </a:spcAft>
              <a:buSzPts val="3000"/>
              <a:buNone/>
              <a:defRPr b="1" sz="3000"/>
            </a:lvl2pPr>
            <a:lvl3pPr indent="-228600" lvl="2" marL="1371600" algn="l">
              <a:lnSpc>
                <a:spcPct val="90000"/>
              </a:lnSpc>
              <a:spcBef>
                <a:spcPts val="600"/>
              </a:spcBef>
              <a:spcAft>
                <a:spcPts val="0"/>
              </a:spcAft>
              <a:buSzPts val="2700"/>
              <a:buNone/>
              <a:defRPr b="1" sz="2700"/>
            </a:lvl3pPr>
            <a:lvl4pPr indent="-228600" lvl="3" marL="1828800" algn="l">
              <a:lnSpc>
                <a:spcPct val="90000"/>
              </a:lnSpc>
              <a:spcBef>
                <a:spcPts val="600"/>
              </a:spcBef>
              <a:spcAft>
                <a:spcPts val="0"/>
              </a:spcAft>
              <a:buSzPts val="2400"/>
              <a:buNone/>
              <a:defRPr b="1" sz="2400"/>
            </a:lvl4pPr>
            <a:lvl5pPr indent="-228600" lvl="4" marL="2286000" algn="l">
              <a:lnSpc>
                <a:spcPct val="90000"/>
              </a:lnSpc>
              <a:spcBef>
                <a:spcPts val="600"/>
              </a:spcBef>
              <a:spcAft>
                <a:spcPts val="0"/>
              </a:spcAft>
              <a:buSzPts val="2400"/>
              <a:buNone/>
              <a:defRPr b="1" sz="2400"/>
            </a:lvl5pPr>
            <a:lvl6pPr indent="-228600" lvl="5" marL="2743200" algn="l">
              <a:lnSpc>
                <a:spcPct val="90000"/>
              </a:lnSpc>
              <a:spcBef>
                <a:spcPts val="600"/>
              </a:spcBef>
              <a:spcAft>
                <a:spcPts val="0"/>
              </a:spcAft>
              <a:buSzPts val="2400"/>
              <a:buNone/>
              <a:defRPr b="1" sz="2400"/>
            </a:lvl6pPr>
            <a:lvl7pPr indent="-228600" lvl="6" marL="3200400" algn="l">
              <a:lnSpc>
                <a:spcPct val="90000"/>
              </a:lnSpc>
              <a:spcBef>
                <a:spcPts val="600"/>
              </a:spcBef>
              <a:spcAft>
                <a:spcPts val="0"/>
              </a:spcAft>
              <a:buSzPts val="2400"/>
              <a:buNone/>
              <a:defRPr b="1" sz="2400"/>
            </a:lvl7pPr>
            <a:lvl8pPr indent="-228600" lvl="7" marL="3657600" algn="l">
              <a:lnSpc>
                <a:spcPct val="90000"/>
              </a:lnSpc>
              <a:spcBef>
                <a:spcPts val="600"/>
              </a:spcBef>
              <a:spcAft>
                <a:spcPts val="0"/>
              </a:spcAft>
              <a:buSzPts val="2400"/>
              <a:buNone/>
              <a:defRPr b="1" sz="2400"/>
            </a:lvl8pPr>
            <a:lvl9pPr indent="-228600" lvl="8" marL="4114800" algn="l">
              <a:lnSpc>
                <a:spcPct val="90000"/>
              </a:lnSpc>
              <a:spcBef>
                <a:spcPts val="600"/>
              </a:spcBef>
              <a:spcAft>
                <a:spcPts val="600"/>
              </a:spcAft>
              <a:buSzPts val="2400"/>
              <a:buNone/>
              <a:defRPr b="1" sz="2400"/>
            </a:lvl9pPr>
          </a:lstStyle>
          <a:p/>
        </p:txBody>
      </p:sp>
      <p:sp>
        <p:nvSpPr>
          <p:cNvPr id="58" name="Google Shape;58;p68"/>
          <p:cNvSpPr txBox="1"/>
          <p:nvPr>
            <p:ph idx="2" type="body"/>
          </p:nvPr>
        </p:nvSpPr>
        <p:spPr>
          <a:xfrm>
            <a:off x="1645920" y="3873501"/>
            <a:ext cx="7406640" cy="50673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59" name="Google Shape;59;p68"/>
          <p:cNvSpPr txBox="1"/>
          <p:nvPr>
            <p:ph idx="3" type="body"/>
          </p:nvPr>
        </p:nvSpPr>
        <p:spPr>
          <a:xfrm>
            <a:off x="9326880" y="2769078"/>
            <a:ext cx="7406640" cy="1104423"/>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800"/>
              </a:spcBef>
              <a:spcAft>
                <a:spcPts val="0"/>
              </a:spcAft>
              <a:buSzPts val="3000"/>
              <a:buNone/>
              <a:defRPr b="0" sz="3000" cap="none">
                <a:solidFill>
                  <a:schemeClr val="dk2"/>
                </a:solidFill>
              </a:defRPr>
            </a:lvl1pPr>
            <a:lvl2pPr indent="-228600" lvl="1" marL="914400" algn="l">
              <a:lnSpc>
                <a:spcPct val="90000"/>
              </a:lnSpc>
              <a:spcBef>
                <a:spcPts val="300"/>
              </a:spcBef>
              <a:spcAft>
                <a:spcPts val="0"/>
              </a:spcAft>
              <a:buSzPts val="3000"/>
              <a:buNone/>
              <a:defRPr b="1" sz="3000"/>
            </a:lvl2pPr>
            <a:lvl3pPr indent="-228600" lvl="2" marL="1371600" algn="l">
              <a:lnSpc>
                <a:spcPct val="90000"/>
              </a:lnSpc>
              <a:spcBef>
                <a:spcPts val="600"/>
              </a:spcBef>
              <a:spcAft>
                <a:spcPts val="0"/>
              </a:spcAft>
              <a:buSzPts val="2700"/>
              <a:buNone/>
              <a:defRPr b="1" sz="2700"/>
            </a:lvl3pPr>
            <a:lvl4pPr indent="-228600" lvl="3" marL="1828800" algn="l">
              <a:lnSpc>
                <a:spcPct val="90000"/>
              </a:lnSpc>
              <a:spcBef>
                <a:spcPts val="600"/>
              </a:spcBef>
              <a:spcAft>
                <a:spcPts val="0"/>
              </a:spcAft>
              <a:buSzPts val="2400"/>
              <a:buNone/>
              <a:defRPr b="1" sz="2400"/>
            </a:lvl4pPr>
            <a:lvl5pPr indent="-228600" lvl="4" marL="2286000" algn="l">
              <a:lnSpc>
                <a:spcPct val="90000"/>
              </a:lnSpc>
              <a:spcBef>
                <a:spcPts val="600"/>
              </a:spcBef>
              <a:spcAft>
                <a:spcPts val="0"/>
              </a:spcAft>
              <a:buSzPts val="2400"/>
              <a:buNone/>
              <a:defRPr b="1" sz="2400"/>
            </a:lvl5pPr>
            <a:lvl6pPr indent="-228600" lvl="5" marL="2743200" algn="l">
              <a:lnSpc>
                <a:spcPct val="90000"/>
              </a:lnSpc>
              <a:spcBef>
                <a:spcPts val="600"/>
              </a:spcBef>
              <a:spcAft>
                <a:spcPts val="0"/>
              </a:spcAft>
              <a:buSzPts val="2400"/>
              <a:buNone/>
              <a:defRPr b="1" sz="2400"/>
            </a:lvl6pPr>
            <a:lvl7pPr indent="-228600" lvl="6" marL="3200400" algn="l">
              <a:lnSpc>
                <a:spcPct val="90000"/>
              </a:lnSpc>
              <a:spcBef>
                <a:spcPts val="600"/>
              </a:spcBef>
              <a:spcAft>
                <a:spcPts val="0"/>
              </a:spcAft>
              <a:buSzPts val="2400"/>
              <a:buNone/>
              <a:defRPr b="1" sz="2400"/>
            </a:lvl7pPr>
            <a:lvl8pPr indent="-228600" lvl="7" marL="3657600" algn="l">
              <a:lnSpc>
                <a:spcPct val="90000"/>
              </a:lnSpc>
              <a:spcBef>
                <a:spcPts val="600"/>
              </a:spcBef>
              <a:spcAft>
                <a:spcPts val="0"/>
              </a:spcAft>
              <a:buSzPts val="2400"/>
              <a:buNone/>
              <a:defRPr b="1" sz="2400"/>
            </a:lvl8pPr>
            <a:lvl9pPr indent="-228600" lvl="8" marL="4114800" algn="l">
              <a:lnSpc>
                <a:spcPct val="90000"/>
              </a:lnSpc>
              <a:spcBef>
                <a:spcPts val="600"/>
              </a:spcBef>
              <a:spcAft>
                <a:spcPts val="600"/>
              </a:spcAft>
              <a:buSzPts val="2400"/>
              <a:buNone/>
              <a:defRPr b="1" sz="2400"/>
            </a:lvl9pPr>
          </a:lstStyle>
          <a:p/>
        </p:txBody>
      </p:sp>
      <p:sp>
        <p:nvSpPr>
          <p:cNvPr id="60" name="Google Shape;60;p68"/>
          <p:cNvSpPr txBox="1"/>
          <p:nvPr>
            <p:ph idx="4" type="body"/>
          </p:nvPr>
        </p:nvSpPr>
        <p:spPr>
          <a:xfrm>
            <a:off x="9326880" y="3873501"/>
            <a:ext cx="7406640" cy="50673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61" name="Google Shape;61;p68"/>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68"/>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8"/>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4" name="Shape 64"/>
        <p:cNvGrpSpPr/>
        <p:nvPr/>
      </p:nvGrpSpPr>
      <p:grpSpPr>
        <a:xfrm>
          <a:off x="0" y="0"/>
          <a:ext cx="0" cy="0"/>
          <a:chOff x="0" y="0"/>
          <a:chExt cx="0" cy="0"/>
        </a:xfrm>
      </p:grpSpPr>
      <p:sp>
        <p:nvSpPr>
          <p:cNvPr id="65" name="Google Shape;65;p69"/>
          <p:cNvSpPr/>
          <p:nvPr/>
        </p:nvSpPr>
        <p:spPr>
          <a:xfrm>
            <a:off x="4763" y="9601200"/>
            <a:ext cx="18283238" cy="6858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69"/>
          <p:cNvSpPr/>
          <p:nvPr/>
        </p:nvSpPr>
        <p:spPr>
          <a:xfrm>
            <a:off x="23" y="9501474"/>
            <a:ext cx="18283238" cy="96012"/>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9"/>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69"/>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69"/>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0" name="Shape 70"/>
        <p:cNvGrpSpPr/>
        <p:nvPr/>
      </p:nvGrpSpPr>
      <p:grpSpPr>
        <a:xfrm>
          <a:off x="0" y="0"/>
          <a:ext cx="0" cy="0"/>
          <a:chOff x="0" y="0"/>
          <a:chExt cx="0" cy="0"/>
        </a:xfrm>
      </p:grpSpPr>
      <p:sp>
        <p:nvSpPr>
          <p:cNvPr id="71" name="Google Shape;71;p70"/>
          <p:cNvSpPr/>
          <p:nvPr/>
        </p:nvSpPr>
        <p:spPr>
          <a:xfrm>
            <a:off x="25" y="0"/>
            <a:ext cx="6076187" cy="10287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70"/>
          <p:cNvSpPr/>
          <p:nvPr/>
        </p:nvSpPr>
        <p:spPr>
          <a:xfrm>
            <a:off x="6060107" y="0"/>
            <a:ext cx="96012" cy="10287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70"/>
          <p:cNvSpPr txBox="1"/>
          <p:nvPr>
            <p:ph type="title"/>
          </p:nvPr>
        </p:nvSpPr>
        <p:spPr>
          <a:xfrm>
            <a:off x="685800" y="891538"/>
            <a:ext cx="4800600" cy="3429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5400"/>
              <a:buFont typeface="Calibri"/>
              <a:buNone/>
              <a:defRPr b="0" sz="54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70"/>
          <p:cNvSpPr txBox="1"/>
          <p:nvPr>
            <p:ph idx="1" type="body"/>
          </p:nvPr>
        </p:nvSpPr>
        <p:spPr>
          <a:xfrm>
            <a:off x="7200900" y="1097280"/>
            <a:ext cx="9738360" cy="78867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75" name="Google Shape;75;p70"/>
          <p:cNvSpPr txBox="1"/>
          <p:nvPr>
            <p:ph idx="2" type="body"/>
          </p:nvPr>
        </p:nvSpPr>
        <p:spPr>
          <a:xfrm>
            <a:off x="685800" y="4389120"/>
            <a:ext cx="4800600" cy="506868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800"/>
              </a:spcBef>
              <a:spcAft>
                <a:spcPts val="0"/>
              </a:spcAft>
              <a:buSzPts val="2250"/>
              <a:buNone/>
              <a:defRPr sz="2250">
                <a:solidFill>
                  <a:srgbClr val="FFFFFF"/>
                </a:solidFill>
              </a:defRPr>
            </a:lvl1pPr>
            <a:lvl2pPr indent="-228600" lvl="1" marL="914400" algn="l">
              <a:lnSpc>
                <a:spcPct val="90000"/>
              </a:lnSpc>
              <a:spcBef>
                <a:spcPts val="300"/>
              </a:spcBef>
              <a:spcAft>
                <a:spcPts val="0"/>
              </a:spcAft>
              <a:buSzPts val="1800"/>
              <a:buNone/>
              <a:defRPr sz="1800"/>
            </a:lvl2pPr>
            <a:lvl3pPr indent="-228600" lvl="2" marL="1371600" algn="l">
              <a:lnSpc>
                <a:spcPct val="90000"/>
              </a:lnSpc>
              <a:spcBef>
                <a:spcPts val="600"/>
              </a:spcBef>
              <a:spcAft>
                <a:spcPts val="0"/>
              </a:spcAft>
              <a:buSzPts val="1500"/>
              <a:buNone/>
              <a:defRPr sz="1500"/>
            </a:lvl3pPr>
            <a:lvl4pPr indent="-228600" lvl="3" marL="1828800" algn="l">
              <a:lnSpc>
                <a:spcPct val="90000"/>
              </a:lnSpc>
              <a:spcBef>
                <a:spcPts val="600"/>
              </a:spcBef>
              <a:spcAft>
                <a:spcPts val="0"/>
              </a:spcAft>
              <a:buSzPts val="1350"/>
              <a:buNone/>
              <a:defRPr sz="1350"/>
            </a:lvl4pPr>
            <a:lvl5pPr indent="-228600" lvl="4" marL="2286000" algn="l">
              <a:lnSpc>
                <a:spcPct val="90000"/>
              </a:lnSpc>
              <a:spcBef>
                <a:spcPts val="600"/>
              </a:spcBef>
              <a:spcAft>
                <a:spcPts val="0"/>
              </a:spcAft>
              <a:buSzPts val="1350"/>
              <a:buNone/>
              <a:defRPr sz="1350"/>
            </a:lvl5pPr>
            <a:lvl6pPr indent="-228600" lvl="5" marL="2743200" algn="l">
              <a:lnSpc>
                <a:spcPct val="90000"/>
              </a:lnSpc>
              <a:spcBef>
                <a:spcPts val="600"/>
              </a:spcBef>
              <a:spcAft>
                <a:spcPts val="0"/>
              </a:spcAft>
              <a:buSzPts val="1350"/>
              <a:buNone/>
              <a:defRPr sz="1350"/>
            </a:lvl6pPr>
            <a:lvl7pPr indent="-228600" lvl="6" marL="3200400" algn="l">
              <a:lnSpc>
                <a:spcPct val="90000"/>
              </a:lnSpc>
              <a:spcBef>
                <a:spcPts val="600"/>
              </a:spcBef>
              <a:spcAft>
                <a:spcPts val="0"/>
              </a:spcAft>
              <a:buSzPts val="1350"/>
              <a:buNone/>
              <a:defRPr sz="1350"/>
            </a:lvl7pPr>
            <a:lvl8pPr indent="-228600" lvl="7" marL="3657600" algn="l">
              <a:lnSpc>
                <a:spcPct val="90000"/>
              </a:lnSpc>
              <a:spcBef>
                <a:spcPts val="600"/>
              </a:spcBef>
              <a:spcAft>
                <a:spcPts val="0"/>
              </a:spcAft>
              <a:buSzPts val="1350"/>
              <a:buNone/>
              <a:defRPr sz="1350"/>
            </a:lvl8pPr>
            <a:lvl9pPr indent="-228600" lvl="8" marL="4114800" algn="l">
              <a:lnSpc>
                <a:spcPct val="90000"/>
              </a:lnSpc>
              <a:spcBef>
                <a:spcPts val="600"/>
              </a:spcBef>
              <a:spcAft>
                <a:spcPts val="600"/>
              </a:spcAft>
              <a:buSzPts val="1350"/>
              <a:buNone/>
              <a:defRPr sz="1350"/>
            </a:lvl9pPr>
          </a:lstStyle>
          <a:p/>
        </p:txBody>
      </p:sp>
      <p:sp>
        <p:nvSpPr>
          <p:cNvPr id="76" name="Google Shape;76;p70"/>
          <p:cNvSpPr txBox="1"/>
          <p:nvPr>
            <p:ph idx="10" type="dt"/>
          </p:nvPr>
        </p:nvSpPr>
        <p:spPr>
          <a:xfrm>
            <a:off x="698268" y="9689678"/>
            <a:ext cx="3927765"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0"/>
          <p:cNvSpPr txBox="1"/>
          <p:nvPr>
            <p:ph idx="11" type="ftr"/>
          </p:nvPr>
        </p:nvSpPr>
        <p:spPr>
          <a:xfrm>
            <a:off x="7200900" y="9689678"/>
            <a:ext cx="69723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70"/>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9" name="Shape 79"/>
        <p:cNvGrpSpPr/>
        <p:nvPr/>
      </p:nvGrpSpPr>
      <p:grpSpPr>
        <a:xfrm>
          <a:off x="0" y="0"/>
          <a:ext cx="0" cy="0"/>
          <a:chOff x="0" y="0"/>
          <a:chExt cx="0" cy="0"/>
        </a:xfrm>
      </p:grpSpPr>
      <p:sp>
        <p:nvSpPr>
          <p:cNvPr id="80" name="Google Shape;80;p71"/>
          <p:cNvSpPr/>
          <p:nvPr/>
        </p:nvSpPr>
        <p:spPr>
          <a:xfrm>
            <a:off x="1" y="7429500"/>
            <a:ext cx="18283238" cy="2857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71"/>
          <p:cNvSpPr/>
          <p:nvPr/>
        </p:nvSpPr>
        <p:spPr>
          <a:xfrm>
            <a:off x="23" y="7372614"/>
            <a:ext cx="18283238" cy="96012"/>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71"/>
          <p:cNvSpPr txBox="1"/>
          <p:nvPr>
            <p:ph type="title"/>
          </p:nvPr>
        </p:nvSpPr>
        <p:spPr>
          <a:xfrm>
            <a:off x="1645920" y="7612380"/>
            <a:ext cx="15169896" cy="123444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5400"/>
              <a:buFont typeface="Calibri"/>
              <a:buNone/>
              <a:defRPr b="0" sz="54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71"/>
          <p:cNvSpPr/>
          <p:nvPr>
            <p:ph idx="2" type="pic"/>
          </p:nvPr>
        </p:nvSpPr>
        <p:spPr>
          <a:xfrm>
            <a:off x="23" y="0"/>
            <a:ext cx="18287978" cy="7372614"/>
          </a:xfrm>
          <a:prstGeom prst="rect">
            <a:avLst/>
          </a:prstGeom>
          <a:noFill/>
          <a:ln>
            <a:noFill/>
          </a:ln>
        </p:spPr>
      </p:sp>
      <p:sp>
        <p:nvSpPr>
          <p:cNvPr id="84" name="Google Shape;84;p71"/>
          <p:cNvSpPr txBox="1"/>
          <p:nvPr>
            <p:ph idx="1" type="body"/>
          </p:nvPr>
        </p:nvSpPr>
        <p:spPr>
          <a:xfrm>
            <a:off x="1645920" y="8860535"/>
            <a:ext cx="15169896" cy="89154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2250"/>
              <a:buNone/>
              <a:defRPr sz="2250">
                <a:solidFill>
                  <a:srgbClr val="FFFFFF"/>
                </a:solidFill>
              </a:defRPr>
            </a:lvl1pPr>
            <a:lvl2pPr indent="-228600" lvl="1" marL="914400" algn="l">
              <a:lnSpc>
                <a:spcPct val="90000"/>
              </a:lnSpc>
              <a:spcBef>
                <a:spcPts val="900"/>
              </a:spcBef>
              <a:spcAft>
                <a:spcPts val="0"/>
              </a:spcAft>
              <a:buSzPts val="1800"/>
              <a:buNone/>
              <a:defRPr sz="1800"/>
            </a:lvl2pPr>
            <a:lvl3pPr indent="-228600" lvl="2" marL="1371600" algn="l">
              <a:lnSpc>
                <a:spcPct val="90000"/>
              </a:lnSpc>
              <a:spcBef>
                <a:spcPts val="600"/>
              </a:spcBef>
              <a:spcAft>
                <a:spcPts val="0"/>
              </a:spcAft>
              <a:buSzPts val="1500"/>
              <a:buNone/>
              <a:defRPr sz="1500"/>
            </a:lvl3pPr>
            <a:lvl4pPr indent="-228600" lvl="3" marL="1828800" algn="l">
              <a:lnSpc>
                <a:spcPct val="90000"/>
              </a:lnSpc>
              <a:spcBef>
                <a:spcPts val="600"/>
              </a:spcBef>
              <a:spcAft>
                <a:spcPts val="0"/>
              </a:spcAft>
              <a:buSzPts val="1350"/>
              <a:buNone/>
              <a:defRPr sz="1350"/>
            </a:lvl4pPr>
            <a:lvl5pPr indent="-228600" lvl="4" marL="2286000" algn="l">
              <a:lnSpc>
                <a:spcPct val="90000"/>
              </a:lnSpc>
              <a:spcBef>
                <a:spcPts val="600"/>
              </a:spcBef>
              <a:spcAft>
                <a:spcPts val="0"/>
              </a:spcAft>
              <a:buSzPts val="1350"/>
              <a:buNone/>
              <a:defRPr sz="1350"/>
            </a:lvl5pPr>
            <a:lvl6pPr indent="-228600" lvl="5" marL="2743200" algn="l">
              <a:lnSpc>
                <a:spcPct val="90000"/>
              </a:lnSpc>
              <a:spcBef>
                <a:spcPts val="600"/>
              </a:spcBef>
              <a:spcAft>
                <a:spcPts val="0"/>
              </a:spcAft>
              <a:buSzPts val="1350"/>
              <a:buNone/>
              <a:defRPr sz="1350"/>
            </a:lvl6pPr>
            <a:lvl7pPr indent="-228600" lvl="6" marL="3200400" algn="l">
              <a:lnSpc>
                <a:spcPct val="90000"/>
              </a:lnSpc>
              <a:spcBef>
                <a:spcPts val="600"/>
              </a:spcBef>
              <a:spcAft>
                <a:spcPts val="0"/>
              </a:spcAft>
              <a:buSzPts val="1350"/>
              <a:buNone/>
              <a:defRPr sz="1350"/>
            </a:lvl7pPr>
            <a:lvl8pPr indent="-228600" lvl="7" marL="3657600" algn="l">
              <a:lnSpc>
                <a:spcPct val="90000"/>
              </a:lnSpc>
              <a:spcBef>
                <a:spcPts val="600"/>
              </a:spcBef>
              <a:spcAft>
                <a:spcPts val="0"/>
              </a:spcAft>
              <a:buSzPts val="1350"/>
              <a:buNone/>
              <a:defRPr sz="1350"/>
            </a:lvl8pPr>
            <a:lvl9pPr indent="-228600" lvl="8" marL="4114800" algn="l">
              <a:lnSpc>
                <a:spcPct val="90000"/>
              </a:lnSpc>
              <a:spcBef>
                <a:spcPts val="600"/>
              </a:spcBef>
              <a:spcAft>
                <a:spcPts val="600"/>
              </a:spcAft>
              <a:buSzPts val="1350"/>
              <a:buNone/>
              <a:defRPr sz="1350"/>
            </a:lvl9pPr>
          </a:lstStyle>
          <a:p/>
        </p:txBody>
      </p:sp>
      <p:sp>
        <p:nvSpPr>
          <p:cNvPr id="85" name="Google Shape;85;p71"/>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71"/>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71"/>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72"/>
          <p:cNvSpPr txBox="1"/>
          <p:nvPr>
            <p:ph type="title"/>
          </p:nvPr>
        </p:nvSpPr>
        <p:spPr>
          <a:xfrm>
            <a:off x="1645920" y="429905"/>
            <a:ext cx="15087600" cy="2176136"/>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72"/>
          <p:cNvSpPr txBox="1"/>
          <p:nvPr>
            <p:ph idx="1" type="body"/>
          </p:nvPr>
        </p:nvSpPr>
        <p:spPr>
          <a:xfrm rot="5400000">
            <a:off x="6172200" y="-1757679"/>
            <a:ext cx="6035040" cy="150876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91" name="Google Shape;91;p72"/>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72"/>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72"/>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4" name="Shape 94"/>
        <p:cNvGrpSpPr/>
        <p:nvPr/>
      </p:nvGrpSpPr>
      <p:grpSpPr>
        <a:xfrm>
          <a:off x="0" y="0"/>
          <a:ext cx="0" cy="0"/>
          <a:chOff x="0" y="0"/>
          <a:chExt cx="0" cy="0"/>
        </a:xfrm>
      </p:grpSpPr>
      <p:sp>
        <p:nvSpPr>
          <p:cNvPr id="95" name="Google Shape;95;p73"/>
          <p:cNvSpPr/>
          <p:nvPr/>
        </p:nvSpPr>
        <p:spPr>
          <a:xfrm>
            <a:off x="4763" y="9601200"/>
            <a:ext cx="18283238" cy="6858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73"/>
          <p:cNvSpPr/>
          <p:nvPr/>
        </p:nvSpPr>
        <p:spPr>
          <a:xfrm>
            <a:off x="23" y="9501474"/>
            <a:ext cx="18283238" cy="96012"/>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73"/>
          <p:cNvSpPr txBox="1"/>
          <p:nvPr>
            <p:ph type="title"/>
          </p:nvPr>
        </p:nvSpPr>
        <p:spPr>
          <a:xfrm rot="5400000">
            <a:off x="10740959" y="2968559"/>
            <a:ext cx="8636132" cy="394335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73"/>
          <p:cNvSpPr txBox="1"/>
          <p:nvPr>
            <p:ph idx="1" type="body"/>
          </p:nvPr>
        </p:nvSpPr>
        <p:spPr>
          <a:xfrm rot="5400000">
            <a:off x="2739959" y="-860492"/>
            <a:ext cx="8636133" cy="1160145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800"/>
              </a:spcBef>
              <a:spcAft>
                <a:spcPts val="0"/>
              </a:spcAft>
              <a:buSzPts val="1800"/>
              <a:buChar char=" "/>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342900" lvl="8" marL="4114800" algn="l">
              <a:lnSpc>
                <a:spcPct val="90000"/>
              </a:lnSpc>
              <a:spcBef>
                <a:spcPts val="600"/>
              </a:spcBef>
              <a:spcAft>
                <a:spcPts val="600"/>
              </a:spcAft>
              <a:buSzPts val="1800"/>
              <a:buChar char="◦"/>
              <a:defRPr/>
            </a:lvl9pPr>
          </a:lstStyle>
          <a:p/>
        </p:txBody>
      </p:sp>
      <p:sp>
        <p:nvSpPr>
          <p:cNvPr id="99" name="Google Shape;99;p73"/>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73"/>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73"/>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2"/>
          <p:cNvSpPr/>
          <p:nvPr/>
        </p:nvSpPr>
        <p:spPr>
          <a:xfrm>
            <a:off x="2" y="9601200"/>
            <a:ext cx="18288000" cy="6858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62"/>
          <p:cNvSpPr/>
          <p:nvPr/>
        </p:nvSpPr>
        <p:spPr>
          <a:xfrm>
            <a:off x="1" y="9501474"/>
            <a:ext cx="18288002" cy="9899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62"/>
          <p:cNvSpPr txBox="1"/>
          <p:nvPr>
            <p:ph type="title"/>
          </p:nvPr>
        </p:nvSpPr>
        <p:spPr>
          <a:xfrm>
            <a:off x="1645920" y="429905"/>
            <a:ext cx="15087600" cy="2176136"/>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7200"/>
              <a:buFont typeface="Calibri"/>
              <a:buNone/>
              <a:defRPr b="0" i="0" sz="72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62"/>
          <p:cNvSpPr txBox="1"/>
          <p:nvPr>
            <p:ph idx="1" type="body"/>
          </p:nvPr>
        </p:nvSpPr>
        <p:spPr>
          <a:xfrm>
            <a:off x="1645920" y="2768601"/>
            <a:ext cx="15087600" cy="6035040"/>
          </a:xfrm>
          <a:prstGeom prst="rect">
            <a:avLst/>
          </a:prstGeom>
          <a:noFill/>
          <a:ln>
            <a:noFill/>
          </a:ln>
        </p:spPr>
        <p:txBody>
          <a:bodyPr anchorCtr="0" anchor="t" bIns="45700" lIns="0" spcFirstLastPara="1" rIns="0" wrap="square" tIns="45700">
            <a:normAutofit/>
          </a:bodyPr>
          <a:lstStyle>
            <a:lvl1pPr indent="-419100" lvl="0" marL="457200" marR="0" rtl="0" algn="l">
              <a:lnSpc>
                <a:spcPct val="90000"/>
              </a:lnSpc>
              <a:spcBef>
                <a:spcPts val="1800"/>
              </a:spcBef>
              <a:spcAft>
                <a:spcPts val="0"/>
              </a:spcAft>
              <a:buClr>
                <a:schemeClr val="accent1"/>
              </a:buClr>
              <a:buSzPts val="3000"/>
              <a:buFont typeface="Calibri"/>
              <a:buChar char=" "/>
              <a:defRPr b="0" i="0" sz="3000" u="none" cap="none" strike="noStrike">
                <a:solidFill>
                  <a:srgbClr val="3F3F3F"/>
                </a:solidFill>
                <a:latin typeface="Calibri"/>
                <a:ea typeface="Calibri"/>
                <a:cs typeface="Calibri"/>
                <a:sym typeface="Calibri"/>
              </a:defRPr>
            </a:lvl1pPr>
            <a:lvl2pPr indent="-400050" lvl="1" marL="914400" marR="0" rtl="0" algn="l">
              <a:lnSpc>
                <a:spcPct val="90000"/>
              </a:lnSpc>
              <a:spcBef>
                <a:spcPts val="300"/>
              </a:spcBef>
              <a:spcAft>
                <a:spcPts val="0"/>
              </a:spcAft>
              <a:buClr>
                <a:schemeClr val="accent1"/>
              </a:buClr>
              <a:buSzPts val="2700"/>
              <a:buFont typeface="Calibri"/>
              <a:buChar char="◦"/>
              <a:defRPr b="0" i="0" sz="2700" u="none" cap="none" strike="noStrike">
                <a:solidFill>
                  <a:srgbClr val="3F3F3F"/>
                </a:solidFill>
                <a:latin typeface="Calibri"/>
                <a:ea typeface="Calibri"/>
                <a:cs typeface="Calibri"/>
                <a:sym typeface="Calibri"/>
              </a:defRPr>
            </a:lvl2pPr>
            <a:lvl3pPr indent="-361950" lvl="2" marL="1371600" marR="0" rtl="0" algn="l">
              <a:lnSpc>
                <a:spcPct val="90000"/>
              </a:lnSpc>
              <a:spcBef>
                <a:spcPts val="600"/>
              </a:spcBef>
              <a:spcAft>
                <a:spcPts val="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3pPr>
            <a:lvl4pPr indent="-361950" lvl="3" marL="1828800" marR="0" rtl="0" algn="l">
              <a:lnSpc>
                <a:spcPct val="90000"/>
              </a:lnSpc>
              <a:spcBef>
                <a:spcPts val="600"/>
              </a:spcBef>
              <a:spcAft>
                <a:spcPts val="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4pPr>
            <a:lvl5pPr indent="-361950" lvl="4" marL="2286000" marR="0" rtl="0" algn="l">
              <a:lnSpc>
                <a:spcPct val="90000"/>
              </a:lnSpc>
              <a:spcBef>
                <a:spcPts val="600"/>
              </a:spcBef>
              <a:spcAft>
                <a:spcPts val="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5pPr>
            <a:lvl6pPr indent="-361950" lvl="5" marL="2743200" marR="0" rtl="0" algn="l">
              <a:lnSpc>
                <a:spcPct val="90000"/>
              </a:lnSpc>
              <a:spcBef>
                <a:spcPts val="600"/>
              </a:spcBef>
              <a:spcAft>
                <a:spcPts val="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6pPr>
            <a:lvl7pPr indent="-361950" lvl="6" marL="3200400" marR="0" rtl="0" algn="l">
              <a:lnSpc>
                <a:spcPct val="90000"/>
              </a:lnSpc>
              <a:spcBef>
                <a:spcPts val="600"/>
              </a:spcBef>
              <a:spcAft>
                <a:spcPts val="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7pPr>
            <a:lvl8pPr indent="-361950" lvl="7" marL="3657600" marR="0" rtl="0" algn="l">
              <a:lnSpc>
                <a:spcPct val="90000"/>
              </a:lnSpc>
              <a:spcBef>
                <a:spcPts val="600"/>
              </a:spcBef>
              <a:spcAft>
                <a:spcPts val="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8pPr>
            <a:lvl9pPr indent="-361950" lvl="8" marL="4114800" marR="0" rtl="0" algn="l">
              <a:lnSpc>
                <a:spcPct val="90000"/>
              </a:lnSpc>
              <a:spcBef>
                <a:spcPts val="600"/>
              </a:spcBef>
              <a:spcAft>
                <a:spcPts val="600"/>
              </a:spcAft>
              <a:buClr>
                <a:schemeClr val="accent1"/>
              </a:buClr>
              <a:buSzPts val="2100"/>
              <a:buFont typeface="Calibri"/>
              <a:buChar char="◦"/>
              <a:defRPr b="0" i="0" sz="2100" u="none" cap="none" strike="noStrike">
                <a:solidFill>
                  <a:srgbClr val="3F3F3F"/>
                </a:solidFill>
                <a:latin typeface="Calibri"/>
                <a:ea typeface="Calibri"/>
                <a:cs typeface="Calibri"/>
                <a:sym typeface="Calibri"/>
              </a:defRPr>
            </a:lvl9pPr>
          </a:lstStyle>
          <a:p/>
        </p:txBody>
      </p:sp>
      <p:sp>
        <p:nvSpPr>
          <p:cNvPr id="14" name="Google Shape;14;p62"/>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35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 name="Google Shape;15;p62"/>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35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 name="Google Shape;16;p62"/>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575"/>
              <a:buFont typeface="Arial"/>
              <a:buNone/>
              <a:defRPr b="0" i="0" sz="1575"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62"/>
          <p:cNvCxnSpPr/>
          <p:nvPr/>
        </p:nvCxnSpPr>
        <p:spPr>
          <a:xfrm>
            <a:off x="1790298" y="2606768"/>
            <a:ext cx="14950440" cy="0"/>
          </a:xfrm>
          <a:prstGeom prst="straightConnector1">
            <a:avLst/>
          </a:prstGeom>
          <a:noFill/>
          <a:ln cap="flat" cmpd="sng" w="9525">
            <a:solidFill>
              <a:srgbClr val="7F7F7F"/>
            </a:solidFill>
            <a:prstDash val="solid"/>
            <a:round/>
            <a:headEnd len="sm" w="sm" type="none"/>
            <a:tailEnd len="sm" w="sm" type="none"/>
          </a:ln>
        </p:spPr>
      </p:cxnSp>
      <p:pic>
        <p:nvPicPr>
          <p:cNvPr id="18" name="Google Shape;18;p62"/>
          <p:cNvPicPr preferRelativeResize="0"/>
          <p:nvPr/>
        </p:nvPicPr>
        <p:blipFill rotWithShape="1">
          <a:blip r:embed="rId1">
            <a:alphaModFix/>
          </a:blip>
          <a:srcRect b="0" l="0" r="0" t="0"/>
          <a:stretch/>
        </p:blipFill>
        <p:spPr>
          <a:xfrm>
            <a:off x="15517929" y="229056"/>
            <a:ext cx="2438400" cy="1171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05" name="Shape 105"/>
        <p:cNvGrpSpPr/>
        <p:nvPr/>
      </p:nvGrpSpPr>
      <p:grpSpPr>
        <a:xfrm>
          <a:off x="0" y="0"/>
          <a:ext cx="0" cy="0"/>
          <a:chOff x="0" y="0"/>
          <a:chExt cx="0" cy="0"/>
        </a:xfrm>
      </p:grpSpPr>
      <p:sp>
        <p:nvSpPr>
          <p:cNvPr id="106" name="Google Shape;106;p1"/>
          <p:cNvSpPr/>
          <p:nvPr/>
        </p:nvSpPr>
        <p:spPr>
          <a:xfrm>
            <a:off x="316662" y="585302"/>
            <a:ext cx="3136227" cy="886795"/>
          </a:xfrm>
          <a:custGeom>
            <a:rect b="b" l="l" r="r" t="t"/>
            <a:pathLst>
              <a:path extrusionOk="0" h="886795" w="3136227">
                <a:moveTo>
                  <a:pt x="0" y="0"/>
                </a:moveTo>
                <a:lnTo>
                  <a:pt x="3136228" y="0"/>
                </a:lnTo>
                <a:lnTo>
                  <a:pt x="3136228" y="886796"/>
                </a:lnTo>
                <a:lnTo>
                  <a:pt x="0" y="886796"/>
                </a:lnTo>
                <a:lnTo>
                  <a:pt x="0" y="0"/>
                </a:lnTo>
                <a:close/>
              </a:path>
            </a:pathLst>
          </a:custGeom>
          <a:blipFill rotWithShape="1">
            <a:blip r:embed="rId3">
              <a:alphaModFix/>
            </a:blip>
            <a:stretch>
              <a:fillRect b="0" l="0" r="0" t="0"/>
            </a:stretch>
          </a:blipFill>
          <a:ln>
            <a:noFill/>
          </a:ln>
          <a:effectLst>
            <a:outerShdw blurRad="50800" sx="99000" rotWithShape="0" algn="ctr" dir="4800000" dist="50800" sy="99000">
              <a:srgbClr val="000000"/>
            </a:outerShdw>
          </a:effectLst>
        </p:spPr>
      </p:sp>
      <p:pic>
        <p:nvPicPr>
          <p:cNvPr id="107" name="Google Shape;107;p1"/>
          <p:cNvPicPr preferRelativeResize="0"/>
          <p:nvPr/>
        </p:nvPicPr>
        <p:blipFill rotWithShape="1">
          <a:blip r:embed="rId4">
            <a:alphaModFix/>
          </a:blip>
          <a:srcRect b="0" l="0" r="0" t="0"/>
          <a:stretch/>
        </p:blipFill>
        <p:spPr>
          <a:xfrm>
            <a:off x="14479880" y="190501"/>
            <a:ext cx="3491457" cy="1676400"/>
          </a:xfrm>
          <a:prstGeom prst="rect">
            <a:avLst/>
          </a:prstGeom>
          <a:noFill/>
          <a:ln>
            <a:noFill/>
          </a:ln>
        </p:spPr>
      </p:pic>
      <p:sp>
        <p:nvSpPr>
          <p:cNvPr id="108" name="Google Shape;108;p1"/>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109" name="Google Shape;109;p1"/>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500"/>
              <a:buNone/>
            </a:pPr>
            <a:fld id="{00000000-1234-1234-1234-123412341234}" type="slidenum">
              <a:rPr lang="en-US"/>
              <a:t>‹#›</a:t>
            </a:fld>
            <a:endParaRPr/>
          </a:p>
        </p:txBody>
      </p:sp>
      <p:sp>
        <p:nvSpPr>
          <p:cNvPr id="110" name="Google Shape;110;p1"/>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p:txBody>
      </p:sp>
      <p:sp>
        <p:nvSpPr>
          <p:cNvPr id="111" name="Google Shape;111;p1"/>
          <p:cNvSpPr txBox="1"/>
          <p:nvPr/>
        </p:nvSpPr>
        <p:spPr>
          <a:xfrm>
            <a:off x="2362200" y="1472096"/>
            <a:ext cx="12581729" cy="1408665"/>
          </a:xfrm>
          <a:prstGeom prst="rect">
            <a:avLst/>
          </a:prstGeom>
          <a:noFill/>
          <a:ln>
            <a:noFill/>
          </a:ln>
        </p:spPr>
        <p:txBody>
          <a:bodyPr anchorCtr="0" anchor="b" bIns="45700" lIns="91425" spcFirstLastPara="1" rIns="91425" wrap="square" tIns="45700">
            <a:normAutofit/>
          </a:bodyPr>
          <a:lstStyle/>
          <a:p>
            <a:pPr indent="0" lvl="0" marL="0" marR="0" rtl="0" algn="ctr">
              <a:lnSpc>
                <a:spcPct val="120000"/>
              </a:lnSpc>
              <a:spcBef>
                <a:spcPts val="0"/>
              </a:spcBef>
              <a:spcAft>
                <a:spcPts val="0"/>
              </a:spcAft>
              <a:buClr>
                <a:srgbClr val="002060"/>
              </a:buClr>
              <a:buSzPts val="5400"/>
              <a:buFont typeface="Cambria"/>
              <a:buNone/>
            </a:pPr>
            <a:r>
              <a:rPr b="1" i="0" lang="en-US" sz="5400" u="none" cap="none" strike="noStrike">
                <a:solidFill>
                  <a:srgbClr val="002060"/>
                </a:solidFill>
                <a:latin typeface="Cambria"/>
                <a:ea typeface="Cambria"/>
                <a:cs typeface="Cambria"/>
                <a:sym typeface="Cambria"/>
              </a:rPr>
              <a:t>OBJECT ORIENTED PROGRAMMING</a:t>
            </a:r>
            <a:endParaRPr b="0" i="0" sz="1400" u="none" cap="none" strike="noStrike">
              <a:solidFill>
                <a:srgbClr val="000000"/>
              </a:solidFill>
              <a:latin typeface="Arial"/>
              <a:ea typeface="Arial"/>
              <a:cs typeface="Arial"/>
              <a:sym typeface="Arial"/>
            </a:endParaRPr>
          </a:p>
        </p:txBody>
      </p:sp>
      <p:sp>
        <p:nvSpPr>
          <p:cNvPr id="112" name="Google Shape;112;p1"/>
          <p:cNvSpPr txBox="1"/>
          <p:nvPr/>
        </p:nvSpPr>
        <p:spPr>
          <a:xfrm>
            <a:off x="1645921" y="3238500"/>
            <a:ext cx="14889479" cy="1845438"/>
          </a:xfrm>
          <a:prstGeom prst="rect">
            <a:avLst/>
          </a:prstGeom>
          <a:noFill/>
          <a:ln>
            <a:noFill/>
          </a:ln>
        </p:spPr>
        <p:txBody>
          <a:bodyPr anchorCtr="0" anchor="b" bIns="45700" lIns="91425" spcFirstLastPara="1" rIns="91425" wrap="square" tIns="45700">
            <a:normAutofit/>
          </a:bodyPr>
          <a:lstStyle/>
          <a:p>
            <a:pPr indent="0" lvl="0" marL="0" marR="0" rtl="0" algn="ctr">
              <a:lnSpc>
                <a:spcPct val="85000"/>
              </a:lnSpc>
              <a:spcBef>
                <a:spcPts val="0"/>
              </a:spcBef>
              <a:spcAft>
                <a:spcPts val="0"/>
              </a:spcAft>
              <a:buClr>
                <a:schemeClr val="dk1"/>
              </a:buClr>
              <a:buSzPts val="5400"/>
              <a:buFont typeface="Cambria"/>
              <a:buNone/>
            </a:pPr>
            <a:r>
              <a:rPr b="1" i="0" lang="en-US" sz="5400" u="none" cap="none" strike="noStrike">
                <a:solidFill>
                  <a:schemeClr val="dk1"/>
                </a:solidFill>
                <a:latin typeface="Cambria"/>
                <a:ea typeface="Cambria"/>
                <a:cs typeface="Cambria"/>
                <a:sym typeface="Cambria"/>
              </a:rPr>
              <a:t>UNIT-5 : </a:t>
            </a:r>
            <a:r>
              <a:rPr b="1" i="0" lang="en-US" sz="5400" u="none" cap="none" strike="noStrike">
                <a:solidFill>
                  <a:srgbClr val="3F3F3F"/>
                </a:solidFill>
                <a:latin typeface="Cambria"/>
                <a:ea typeface="Cambria"/>
                <a:cs typeface="Cambria"/>
                <a:sym typeface="Cambria"/>
              </a:rPr>
              <a:t>ERROR AND EXCEPTION HANDLING </a:t>
            </a:r>
            <a:r>
              <a:rPr b="1" i="0" lang="en-US" sz="5400" u="none" cap="none" strike="noStrike">
                <a:solidFill>
                  <a:srgbClr val="3F3F3F"/>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ctr">
              <a:lnSpc>
                <a:spcPct val="85000"/>
              </a:lnSpc>
              <a:spcBef>
                <a:spcPts val="0"/>
              </a:spcBef>
              <a:spcAft>
                <a:spcPts val="0"/>
              </a:spcAft>
              <a:buClr>
                <a:srgbClr val="3F3F3F"/>
              </a:buClr>
              <a:buSzPts val="5400"/>
              <a:buFont typeface="Calibri"/>
              <a:buNone/>
            </a:pPr>
            <a:r>
              <a:t/>
            </a:r>
            <a:endParaRPr b="1" i="0" sz="5400" u="none" cap="none" strike="noStrike">
              <a:solidFill>
                <a:srgbClr val="C00000"/>
              </a:solidFill>
              <a:latin typeface="Cambria"/>
              <a:ea typeface="Cambria"/>
              <a:cs typeface="Cambria"/>
              <a:sym typeface="Cambria"/>
            </a:endParaRPr>
          </a:p>
        </p:txBody>
      </p:sp>
    </p:spTree>
  </p:cSld>
  <p:clrMapOvr>
    <a:masterClrMapping/>
  </p:clrMapOvr>
  <mc:AlternateContent>
    <mc:Choice Requires="p14">
      <p:transition spd="slow" p14:dur="4000">
        <p14:vortex dir="r"/>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1822"/>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 name="Shape 116"/>
        <p:cNvGrpSpPr/>
        <p:nvPr/>
      </p:nvGrpSpPr>
      <p:grpSpPr>
        <a:xfrm>
          <a:off x="0" y="0"/>
          <a:ext cx="0" cy="0"/>
          <a:chOff x="0" y="0"/>
          <a:chExt cx="0" cy="0"/>
        </a:xfrm>
      </p:grpSpPr>
      <p:sp>
        <p:nvSpPr>
          <p:cNvPr id="117" name="Google Shape;117;p2"/>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118" name="Google Shape;118;p2"/>
          <p:cNvSpPr txBox="1"/>
          <p:nvPr>
            <p:ph idx="1" type="body"/>
          </p:nvPr>
        </p:nvSpPr>
        <p:spPr>
          <a:xfrm>
            <a:off x="228600" y="1714500"/>
            <a:ext cx="17907000" cy="7467600"/>
          </a:xfrm>
          <a:prstGeom prst="rect">
            <a:avLst/>
          </a:prstGeom>
          <a:noFill/>
          <a:ln>
            <a:noFill/>
          </a:ln>
        </p:spPr>
        <p:txBody>
          <a:bodyPr anchorCtr="0" anchor="t" bIns="45700" lIns="0" spcFirstLastPara="1" rIns="0" wrap="square" tIns="45700">
            <a:noAutofit/>
          </a:bodyPr>
          <a:lstStyle/>
          <a:p>
            <a:pPr indent="-514350" lvl="1" marL="816102" rtl="0" algn="l">
              <a:lnSpc>
                <a:spcPct val="150000"/>
              </a:lnSpc>
              <a:spcBef>
                <a:spcPts val="0"/>
              </a:spcBef>
              <a:spcAft>
                <a:spcPts val="0"/>
              </a:spcAft>
              <a:buSzPts val="4800"/>
              <a:buAutoNum type="arabicPeriod"/>
            </a:pPr>
            <a:r>
              <a:rPr b="1" lang="en-US" sz="4800">
                <a:latin typeface="Cambria"/>
                <a:ea typeface="Cambria"/>
                <a:cs typeface="Cambria"/>
                <a:sym typeface="Cambria"/>
              </a:rPr>
              <a:t>Introduction to Errors and Exceptions  </a:t>
            </a:r>
            <a:endParaRPr/>
          </a:p>
          <a:p>
            <a:pPr indent="0" lvl="1" marL="301752" rtl="0" algn="l">
              <a:lnSpc>
                <a:spcPct val="150000"/>
              </a:lnSpc>
              <a:spcBef>
                <a:spcPts val="900"/>
              </a:spcBef>
              <a:spcAft>
                <a:spcPts val="0"/>
              </a:spcAft>
              <a:buSzPts val="3300"/>
              <a:buNone/>
            </a:pPr>
            <a:r>
              <a:rPr b="1" lang="en-US" sz="3300">
                <a:latin typeface="Cambria"/>
                <a:ea typeface="Cambria"/>
                <a:cs typeface="Cambria"/>
                <a:sym typeface="Cambria"/>
              </a:rPr>
              <a:t>Definition: </a:t>
            </a:r>
            <a:endParaRPr/>
          </a:p>
          <a:p>
            <a:pPr indent="0" lvl="1" marL="301752" rtl="0" algn="l">
              <a:lnSpc>
                <a:spcPct val="150000"/>
              </a:lnSpc>
              <a:spcBef>
                <a:spcPts val="900"/>
              </a:spcBef>
              <a:spcAft>
                <a:spcPts val="0"/>
              </a:spcAft>
              <a:buSzPts val="3600"/>
              <a:buNone/>
            </a:pPr>
            <a:r>
              <a:rPr b="1" lang="en-US" sz="3600"/>
              <a:t>Error</a:t>
            </a:r>
            <a:r>
              <a:rPr lang="en-US" sz="3600"/>
              <a:t> :</a:t>
            </a:r>
            <a:r>
              <a:rPr lang="en-US" sz="3200"/>
              <a:t>Typically refers to a mistake or issue in the code that prevents it from running as intended.</a:t>
            </a:r>
            <a:endParaRPr/>
          </a:p>
          <a:p>
            <a:pPr indent="0" lvl="1" marL="301752" rtl="0" algn="l">
              <a:lnSpc>
                <a:spcPct val="150000"/>
              </a:lnSpc>
              <a:spcBef>
                <a:spcPts val="900"/>
              </a:spcBef>
              <a:spcAft>
                <a:spcPts val="0"/>
              </a:spcAft>
              <a:buSzPts val="3200"/>
              <a:buNone/>
            </a:pPr>
            <a:r>
              <a:rPr b="1" lang="en-US" sz="3200"/>
              <a:t>Exception</a:t>
            </a:r>
            <a:r>
              <a:rPr lang="en-US" sz="3200"/>
              <a:t> :  It is an event that occurs during the execution of a program that disrupts the normal flow of instructions</a:t>
            </a:r>
            <a:endParaRPr b="1" sz="3200">
              <a:latin typeface="Cambria"/>
              <a:ea typeface="Cambria"/>
              <a:cs typeface="Cambria"/>
              <a:sym typeface="Cambria"/>
            </a:endParaRPr>
          </a:p>
          <a:p>
            <a:pPr indent="0" lvl="1" marL="301752" rtl="0" algn="l">
              <a:lnSpc>
                <a:spcPct val="150000"/>
              </a:lnSpc>
              <a:spcBef>
                <a:spcPts val="900"/>
              </a:spcBef>
              <a:spcAft>
                <a:spcPts val="0"/>
              </a:spcAft>
              <a:buSzPts val="3300"/>
              <a:buNone/>
            </a:pPr>
            <a:r>
              <a:rPr lang="en-US" sz="3300">
                <a:latin typeface="Cambria"/>
                <a:ea typeface="Cambria"/>
                <a:cs typeface="Cambria"/>
                <a:sym typeface="Cambria"/>
              </a:rPr>
              <a:t>Basically ,there are (at least) two kinds of errors  and exception</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 Syntax Error</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 Exceptions </a:t>
            </a:r>
            <a:endParaRPr sz="3300">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119" name="Google Shape;119;p2"/>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120" name="Google Shape;120;p2"/>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21" name="Google Shape;121;p2"/>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Effect filter="fade" transition="in">
                                      <p:cBhvr>
                                        <p:cTn dur="500"/>
                                        <p:tgtEl>
                                          <p:spTgt spid="1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animEffect filter="fade" transition="in">
                                      <p:cBhvr>
                                        <p:cTn dur="500"/>
                                        <p:tgtEl>
                                          <p:spTgt spid="1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animEffect filter="fade" transition="in">
                                      <p:cBhvr>
                                        <p:cTn dur="500"/>
                                        <p:tgtEl>
                                          <p:spTgt spid="1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animEffect filter="fade" transition="in">
                                      <p:cBhvr>
                                        <p:cTn dur="500"/>
                                        <p:tgtEl>
                                          <p:spTgt spid="1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animEffect filter="fade" transition="in">
                                      <p:cBhvr>
                                        <p:cTn dur="500"/>
                                        <p:tgtEl>
                                          <p:spTgt spid="1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5" st="5"/>
                                            </p:txEl>
                                          </p:spTgt>
                                        </p:tgtEl>
                                        <p:attrNameLst>
                                          <p:attrName>style.visibility</p:attrName>
                                        </p:attrNameLst>
                                      </p:cBhvr>
                                      <p:to>
                                        <p:strVal val="visible"/>
                                      </p:to>
                                    </p:set>
                                    <p:animEffect filter="fade" transition="in">
                                      <p:cBhvr>
                                        <p:cTn dur="500"/>
                                        <p:tgtEl>
                                          <p:spTgt spid="11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6" st="6"/>
                                            </p:txEl>
                                          </p:spTgt>
                                        </p:tgtEl>
                                        <p:attrNameLst>
                                          <p:attrName>style.visibility</p:attrName>
                                        </p:attrNameLst>
                                      </p:cBhvr>
                                      <p:to>
                                        <p:strVal val="visible"/>
                                      </p:to>
                                    </p:set>
                                    <p:animEffect filter="fade" transition="in">
                                      <p:cBhvr>
                                        <p:cTn dur="500"/>
                                        <p:tgtEl>
                                          <p:spTgt spid="11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7" st="7"/>
                                            </p:txEl>
                                          </p:spTgt>
                                        </p:tgtEl>
                                        <p:attrNameLst>
                                          <p:attrName>style.visibility</p:attrName>
                                        </p:attrNameLst>
                                      </p:cBhvr>
                                      <p:to>
                                        <p:strVal val="visible"/>
                                      </p:to>
                                    </p:set>
                                    <p:animEffect filter="fade" transition="in">
                                      <p:cBhvr>
                                        <p:cTn dur="500"/>
                                        <p:tgtEl>
                                          <p:spTgt spid="11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8" st="8"/>
                                            </p:txEl>
                                          </p:spTgt>
                                        </p:tgtEl>
                                        <p:attrNameLst>
                                          <p:attrName>style.visibility</p:attrName>
                                        </p:attrNameLst>
                                      </p:cBhvr>
                                      <p:to>
                                        <p:strVal val="visible"/>
                                      </p:to>
                                    </p:set>
                                    <p:animEffect filter="fade" transition="in">
                                      <p:cBhvr>
                                        <p:cTn dur="500"/>
                                        <p:tgtEl>
                                          <p:spTgt spid="118">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3"/>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127" name="Google Shape;127;p3"/>
          <p:cNvSpPr txBox="1"/>
          <p:nvPr>
            <p:ph idx="1" type="body"/>
          </p:nvPr>
        </p:nvSpPr>
        <p:spPr>
          <a:xfrm>
            <a:off x="457200" y="2705100"/>
            <a:ext cx="17068800" cy="61722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300"/>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0" lvl="1" marL="301752" rtl="0" algn="l">
              <a:lnSpc>
                <a:spcPct val="90000"/>
              </a:lnSpc>
              <a:spcBef>
                <a:spcPts val="900"/>
              </a:spcBef>
              <a:spcAft>
                <a:spcPts val="0"/>
              </a:spcAft>
              <a:buSzPts val="2700"/>
              <a:buNone/>
            </a:pPr>
            <a:r>
              <a:rPr lang="en-US">
                <a:latin typeface="Cambria"/>
                <a:ea typeface="Cambria"/>
                <a:cs typeface="Cambria"/>
                <a:sym typeface="Cambria"/>
              </a:rPr>
              <a:t>			</a:t>
            </a:r>
            <a:endParaRPr/>
          </a:p>
          <a:p>
            <a:pPr indent="0" lvl="1" marL="301752" rtl="0" algn="l">
              <a:lnSpc>
                <a:spcPct val="90000"/>
              </a:lnSpc>
              <a:spcBef>
                <a:spcPts val="900"/>
              </a:spcBef>
              <a:spcAft>
                <a:spcPts val="0"/>
              </a:spcAft>
              <a:buSzPts val="3300"/>
              <a:buNone/>
            </a:pPr>
            <a:r>
              <a:rPr lang="en-US" sz="3300">
                <a:latin typeface="Cambria"/>
                <a:ea typeface="Cambria"/>
                <a:cs typeface="Cambria"/>
                <a:sym typeface="Cambria"/>
              </a:rPr>
              <a:t>			</a:t>
            </a:r>
            <a:r>
              <a:rPr b="1" lang="en-US" sz="3300">
                <a:latin typeface="Cambria"/>
                <a:ea typeface="Cambria"/>
                <a:cs typeface="Cambria"/>
                <a:sym typeface="Cambria"/>
              </a:rPr>
              <a:t>         </a:t>
            </a:r>
            <a:r>
              <a:rPr b="1" lang="en-US" sz="2800">
                <a:latin typeface="Cambria"/>
                <a:ea typeface="Cambria"/>
                <a:cs typeface="Cambria"/>
                <a:sym typeface="Cambria"/>
              </a:rPr>
              <a:t>Figure: Errors  and Exceptions</a:t>
            </a:r>
            <a:endParaRPr/>
          </a:p>
        </p:txBody>
      </p:sp>
      <p:sp>
        <p:nvSpPr>
          <p:cNvPr id="128" name="Google Shape;128;p3"/>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129" name="Google Shape;129;p3"/>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30" name="Google Shape;130;p3"/>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131" name="Google Shape;131;p3"/>
          <p:cNvSpPr/>
          <p:nvPr/>
        </p:nvSpPr>
        <p:spPr>
          <a:xfrm>
            <a:off x="2057400" y="3229946"/>
            <a:ext cx="2895600" cy="3429000"/>
          </a:xfrm>
          <a:prstGeom prst="rect">
            <a:avLst/>
          </a:prstGeom>
          <a:gradFill>
            <a:gsLst>
              <a:gs pos="0">
                <a:srgbClr val="A7D4C4"/>
              </a:gs>
              <a:gs pos="45000">
                <a:srgbClr val="B6DCD0"/>
              </a:gs>
              <a:gs pos="100000">
                <a:srgbClr val="BCE3D5"/>
              </a:gs>
            </a:gsLst>
            <a:path path="circle">
              <a:fillToRect b="50%" l="50%" r="50%" t="50%"/>
            </a:path>
            <a:tileRect/>
          </a:gradFill>
          <a:ln cap="flat" cmpd="sng" w="127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Abnormal or Unexpected  behavior of program </a:t>
            </a:r>
            <a:endParaRPr b="0" i="0" sz="3200" u="none" cap="none" strike="noStrike">
              <a:solidFill>
                <a:schemeClr val="dk1"/>
              </a:solidFill>
              <a:latin typeface="Calibri"/>
              <a:ea typeface="Calibri"/>
              <a:cs typeface="Calibri"/>
              <a:sym typeface="Calibri"/>
            </a:endParaRPr>
          </a:p>
        </p:txBody>
      </p:sp>
      <p:sp>
        <p:nvSpPr>
          <p:cNvPr id="132" name="Google Shape;132;p3"/>
          <p:cNvSpPr/>
          <p:nvPr/>
        </p:nvSpPr>
        <p:spPr>
          <a:xfrm>
            <a:off x="7274767" y="3132753"/>
            <a:ext cx="2667000" cy="914400"/>
          </a:xfrm>
          <a:prstGeom prst="rect">
            <a:avLst/>
          </a:prstGeom>
          <a:gradFill>
            <a:gsLst>
              <a:gs pos="0">
                <a:srgbClr val="91B1DB"/>
              </a:gs>
              <a:gs pos="45000">
                <a:srgbClr val="A3BEE2"/>
              </a:gs>
              <a:gs pos="100000">
                <a:srgbClr val="A9C5EB"/>
              </a:gs>
            </a:gsLst>
            <a:path path="circle">
              <a:fillToRect b="50%" l="50%" r="50%" t="50%"/>
            </a:path>
            <a:tileRect/>
          </a:gradFill>
          <a:ln cap="flat" cmpd="sng" w="127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Errors</a:t>
            </a:r>
            <a:endParaRPr b="0" i="0" sz="3200" u="none" cap="none" strike="noStrike">
              <a:solidFill>
                <a:schemeClr val="dk1"/>
              </a:solidFill>
              <a:latin typeface="Calibri"/>
              <a:ea typeface="Calibri"/>
              <a:cs typeface="Calibri"/>
              <a:sym typeface="Calibri"/>
            </a:endParaRPr>
          </a:p>
        </p:txBody>
      </p:sp>
      <p:sp>
        <p:nvSpPr>
          <p:cNvPr id="133" name="Google Shape;133;p3"/>
          <p:cNvSpPr/>
          <p:nvPr/>
        </p:nvSpPr>
        <p:spPr>
          <a:xfrm>
            <a:off x="7301204" y="5753100"/>
            <a:ext cx="2667000" cy="914400"/>
          </a:xfrm>
          <a:prstGeom prst="rect">
            <a:avLst/>
          </a:prstGeom>
          <a:gradFill>
            <a:gsLst>
              <a:gs pos="0">
                <a:srgbClr val="91B1DB"/>
              </a:gs>
              <a:gs pos="45000">
                <a:srgbClr val="A3BEE2"/>
              </a:gs>
              <a:gs pos="100000">
                <a:srgbClr val="A9C5EB"/>
              </a:gs>
            </a:gsLst>
            <a:path path="circle">
              <a:fillToRect b="50%" l="50%" r="50%" t="50%"/>
            </a:path>
            <a:tileRect/>
          </a:gradFill>
          <a:ln cap="flat" cmpd="sng" w="127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Exceptions</a:t>
            </a:r>
            <a:endParaRPr b="0" i="0" sz="3200" u="none" cap="none" strike="noStrike">
              <a:solidFill>
                <a:schemeClr val="dk1"/>
              </a:solidFill>
              <a:latin typeface="Calibri"/>
              <a:ea typeface="Calibri"/>
              <a:cs typeface="Calibri"/>
              <a:sym typeface="Calibri"/>
            </a:endParaRPr>
          </a:p>
        </p:txBody>
      </p:sp>
      <p:sp>
        <p:nvSpPr>
          <p:cNvPr id="134" name="Google Shape;134;p3"/>
          <p:cNvSpPr/>
          <p:nvPr/>
        </p:nvSpPr>
        <p:spPr>
          <a:xfrm>
            <a:off x="11690480" y="4107024"/>
            <a:ext cx="2667000" cy="609600"/>
          </a:xfrm>
          <a:prstGeom prst="rect">
            <a:avLst/>
          </a:prstGeom>
          <a:solidFill>
            <a:schemeClr val="accent3"/>
          </a:solidFill>
          <a:ln cap="flat" cmpd="sng" w="15875">
            <a:solidFill>
              <a:srgbClr val="558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Syntactic Error</a:t>
            </a:r>
            <a:endParaRPr b="0" i="0" sz="2800" u="none" cap="none" strike="noStrike">
              <a:solidFill>
                <a:schemeClr val="dk1"/>
              </a:solidFill>
              <a:latin typeface="Calibri"/>
              <a:ea typeface="Calibri"/>
              <a:cs typeface="Calibri"/>
              <a:sym typeface="Calibri"/>
            </a:endParaRPr>
          </a:p>
        </p:txBody>
      </p:sp>
      <p:sp>
        <p:nvSpPr>
          <p:cNvPr id="135" name="Google Shape;135;p3"/>
          <p:cNvSpPr/>
          <p:nvPr/>
        </p:nvSpPr>
        <p:spPr>
          <a:xfrm>
            <a:off x="11658600" y="3027006"/>
            <a:ext cx="2667000" cy="562947"/>
          </a:xfrm>
          <a:prstGeom prst="rect">
            <a:avLst/>
          </a:prstGeom>
          <a:solidFill>
            <a:schemeClr val="accent3"/>
          </a:solidFill>
          <a:ln cap="flat" cmpd="sng" w="15875">
            <a:solidFill>
              <a:srgbClr val="558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Logical Error</a:t>
            </a:r>
            <a:endParaRPr b="0" i="0" sz="2800" u="none" cap="none" strike="noStrike">
              <a:solidFill>
                <a:schemeClr val="dk1"/>
              </a:solidFill>
              <a:latin typeface="Calibri"/>
              <a:ea typeface="Calibri"/>
              <a:cs typeface="Calibri"/>
              <a:sym typeface="Calibri"/>
            </a:endParaRPr>
          </a:p>
        </p:txBody>
      </p:sp>
      <p:sp>
        <p:nvSpPr>
          <p:cNvPr id="136" name="Google Shape;136;p3"/>
          <p:cNvSpPr/>
          <p:nvPr/>
        </p:nvSpPr>
        <p:spPr>
          <a:xfrm>
            <a:off x="11676484" y="5444412"/>
            <a:ext cx="2667000" cy="609600"/>
          </a:xfrm>
          <a:prstGeom prst="rect">
            <a:avLst/>
          </a:prstGeom>
          <a:solidFill>
            <a:schemeClr val="accent3"/>
          </a:solidFill>
          <a:ln cap="flat" cmpd="sng" w="15875">
            <a:solidFill>
              <a:srgbClr val="558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Synchronous </a:t>
            </a:r>
            <a:endParaRPr b="0" i="0" sz="2800" u="none" cap="none" strike="noStrike">
              <a:solidFill>
                <a:schemeClr val="dk1"/>
              </a:solidFill>
              <a:latin typeface="Calibri"/>
              <a:ea typeface="Calibri"/>
              <a:cs typeface="Calibri"/>
              <a:sym typeface="Calibri"/>
            </a:endParaRPr>
          </a:p>
        </p:txBody>
      </p:sp>
      <p:sp>
        <p:nvSpPr>
          <p:cNvPr id="137" name="Google Shape;137;p3"/>
          <p:cNvSpPr/>
          <p:nvPr/>
        </p:nvSpPr>
        <p:spPr>
          <a:xfrm>
            <a:off x="11638384" y="6585078"/>
            <a:ext cx="2667000" cy="626707"/>
          </a:xfrm>
          <a:prstGeom prst="rect">
            <a:avLst/>
          </a:prstGeom>
          <a:solidFill>
            <a:schemeClr val="accent3"/>
          </a:solidFill>
          <a:ln cap="flat" cmpd="sng" w="15875">
            <a:solidFill>
              <a:srgbClr val="55897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Asynchronous</a:t>
            </a:r>
            <a:r>
              <a:rPr b="0" i="0" lang="en-US" sz="1800" u="none" cap="none" strike="noStrike">
                <a:solidFill>
                  <a:schemeClr val="lt1"/>
                </a:solidFill>
                <a:latin typeface="Calibri"/>
                <a:ea typeface="Calibri"/>
                <a:cs typeface="Calibri"/>
                <a:sym typeface="Calibri"/>
              </a:rPr>
              <a:t> </a:t>
            </a:r>
            <a:endParaRPr b="0" i="0" sz="1800" u="none" cap="none" strike="noStrike">
              <a:solidFill>
                <a:schemeClr val="lt1"/>
              </a:solidFill>
              <a:latin typeface="Calibri"/>
              <a:ea typeface="Calibri"/>
              <a:cs typeface="Calibri"/>
              <a:sym typeface="Calibri"/>
            </a:endParaRPr>
          </a:p>
        </p:txBody>
      </p:sp>
      <p:cxnSp>
        <p:nvCxnSpPr>
          <p:cNvPr id="138" name="Google Shape;138;p3"/>
          <p:cNvCxnSpPr/>
          <p:nvPr/>
        </p:nvCxnSpPr>
        <p:spPr>
          <a:xfrm>
            <a:off x="4953000" y="3695700"/>
            <a:ext cx="2321767" cy="0"/>
          </a:xfrm>
          <a:prstGeom prst="straightConnector1">
            <a:avLst/>
          </a:prstGeom>
          <a:noFill/>
          <a:ln cap="flat" cmpd="sng" w="12700">
            <a:solidFill>
              <a:schemeClr val="dk1"/>
            </a:solidFill>
            <a:prstDash val="solid"/>
            <a:round/>
            <a:headEnd len="sm" w="sm" type="none"/>
            <a:tailEnd len="med" w="med" type="stealth"/>
          </a:ln>
        </p:spPr>
      </p:cxnSp>
      <p:cxnSp>
        <p:nvCxnSpPr>
          <p:cNvPr id="139" name="Google Shape;139;p3"/>
          <p:cNvCxnSpPr/>
          <p:nvPr/>
        </p:nvCxnSpPr>
        <p:spPr>
          <a:xfrm>
            <a:off x="4953000" y="6290386"/>
            <a:ext cx="2321767" cy="0"/>
          </a:xfrm>
          <a:prstGeom prst="straightConnector1">
            <a:avLst/>
          </a:prstGeom>
          <a:noFill/>
          <a:ln cap="flat" cmpd="sng" w="12700">
            <a:solidFill>
              <a:schemeClr val="dk1"/>
            </a:solidFill>
            <a:prstDash val="solid"/>
            <a:round/>
            <a:headEnd len="sm" w="sm" type="none"/>
            <a:tailEnd len="med" w="med" type="stealth"/>
          </a:ln>
        </p:spPr>
      </p:cxnSp>
      <p:cxnSp>
        <p:nvCxnSpPr>
          <p:cNvPr id="140" name="Google Shape;140;p3"/>
          <p:cNvCxnSpPr>
            <a:endCxn id="135" idx="1"/>
          </p:cNvCxnSpPr>
          <p:nvPr/>
        </p:nvCxnSpPr>
        <p:spPr>
          <a:xfrm flipH="1" rot="10800000">
            <a:off x="9941700" y="3308480"/>
            <a:ext cx="1716900" cy="281400"/>
          </a:xfrm>
          <a:prstGeom prst="straightConnector1">
            <a:avLst/>
          </a:prstGeom>
          <a:noFill/>
          <a:ln cap="flat" cmpd="sng" w="12700">
            <a:solidFill>
              <a:schemeClr val="dk1"/>
            </a:solidFill>
            <a:prstDash val="solid"/>
            <a:round/>
            <a:headEnd len="sm" w="sm" type="none"/>
            <a:tailEnd len="med" w="med" type="stealth"/>
          </a:ln>
        </p:spPr>
      </p:cxnSp>
      <p:cxnSp>
        <p:nvCxnSpPr>
          <p:cNvPr id="141" name="Google Shape;141;p3"/>
          <p:cNvCxnSpPr>
            <a:endCxn id="134" idx="1"/>
          </p:cNvCxnSpPr>
          <p:nvPr/>
        </p:nvCxnSpPr>
        <p:spPr>
          <a:xfrm>
            <a:off x="9984680" y="3681024"/>
            <a:ext cx="1705800" cy="730800"/>
          </a:xfrm>
          <a:prstGeom prst="straightConnector1">
            <a:avLst/>
          </a:prstGeom>
          <a:noFill/>
          <a:ln cap="flat" cmpd="sng" w="12700">
            <a:solidFill>
              <a:schemeClr val="dk1"/>
            </a:solidFill>
            <a:prstDash val="solid"/>
            <a:round/>
            <a:headEnd len="sm" w="sm" type="none"/>
            <a:tailEnd len="med" w="med" type="stealth"/>
          </a:ln>
        </p:spPr>
      </p:cxnSp>
      <p:cxnSp>
        <p:nvCxnSpPr>
          <p:cNvPr id="142" name="Google Shape;142;p3"/>
          <p:cNvCxnSpPr/>
          <p:nvPr/>
        </p:nvCxnSpPr>
        <p:spPr>
          <a:xfrm flipH="1" rot="10800000">
            <a:off x="9941767" y="5753100"/>
            <a:ext cx="1696617" cy="300912"/>
          </a:xfrm>
          <a:prstGeom prst="straightConnector1">
            <a:avLst/>
          </a:prstGeom>
          <a:noFill/>
          <a:ln cap="flat" cmpd="sng" w="12700">
            <a:solidFill>
              <a:schemeClr val="dk1"/>
            </a:solidFill>
            <a:prstDash val="solid"/>
            <a:round/>
            <a:headEnd len="sm" w="sm" type="none"/>
            <a:tailEnd len="med" w="med" type="stealth"/>
          </a:ln>
        </p:spPr>
      </p:cxnSp>
      <p:cxnSp>
        <p:nvCxnSpPr>
          <p:cNvPr id="143" name="Google Shape;143;p3"/>
          <p:cNvCxnSpPr>
            <a:endCxn id="137" idx="1"/>
          </p:cNvCxnSpPr>
          <p:nvPr/>
        </p:nvCxnSpPr>
        <p:spPr>
          <a:xfrm>
            <a:off x="9984484" y="6053932"/>
            <a:ext cx="1653900" cy="844500"/>
          </a:xfrm>
          <a:prstGeom prst="straightConnector1">
            <a:avLst/>
          </a:prstGeom>
          <a:noFill/>
          <a:ln cap="flat" cmpd="sng" w="12700">
            <a:solidFill>
              <a:schemeClr val="dk1"/>
            </a:solidFill>
            <a:prstDash val="solid"/>
            <a:round/>
            <a:headEnd len="sm" w="sm"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4"/>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150" name="Google Shape;150;p4"/>
          <p:cNvSpPr txBox="1"/>
          <p:nvPr>
            <p:ph idx="1" type="body"/>
          </p:nvPr>
        </p:nvSpPr>
        <p:spPr>
          <a:xfrm>
            <a:off x="228599" y="2400300"/>
            <a:ext cx="17882419" cy="71628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2800"/>
              <a:buNone/>
            </a:pPr>
            <a:r>
              <a:rPr lang="en-US" sz="2800">
                <a:latin typeface="Cambria"/>
                <a:ea typeface="Cambria"/>
                <a:cs typeface="Cambria"/>
                <a:sym typeface="Cambria"/>
              </a:rPr>
              <a:t>The two common types of errors that we very often encounter are</a:t>
            </a:r>
            <a:endParaRPr/>
          </a:p>
          <a:p>
            <a:pPr indent="-274319" lvl="1" marL="576072" rtl="0" algn="l">
              <a:lnSpc>
                <a:spcPct val="150000"/>
              </a:lnSpc>
              <a:spcBef>
                <a:spcPts val="900"/>
              </a:spcBef>
              <a:spcAft>
                <a:spcPts val="0"/>
              </a:spcAft>
              <a:buSzPts val="2800"/>
              <a:buFont typeface="Noto Sans Symbols"/>
              <a:buChar char="⮚"/>
            </a:pPr>
            <a:r>
              <a:rPr lang="en-US" sz="2800">
                <a:latin typeface="Cambria"/>
                <a:ea typeface="Cambria"/>
                <a:cs typeface="Cambria"/>
                <a:sym typeface="Cambria"/>
              </a:rPr>
              <a:t>  Syntax Errors</a:t>
            </a:r>
            <a:endParaRPr/>
          </a:p>
          <a:p>
            <a:pPr indent="-274319" lvl="1" marL="576072" rtl="0" algn="l">
              <a:lnSpc>
                <a:spcPct val="150000"/>
              </a:lnSpc>
              <a:spcBef>
                <a:spcPts val="900"/>
              </a:spcBef>
              <a:spcAft>
                <a:spcPts val="0"/>
              </a:spcAft>
              <a:buSzPts val="2800"/>
              <a:buFont typeface="Noto Sans Symbols"/>
              <a:buChar char="⮚"/>
            </a:pPr>
            <a:r>
              <a:rPr lang="en-US" sz="2800">
                <a:latin typeface="Cambria"/>
                <a:ea typeface="Cambria"/>
                <a:cs typeface="Cambria"/>
                <a:sym typeface="Cambria"/>
              </a:rPr>
              <a:t> Logical Errors</a:t>
            </a:r>
            <a:endParaRPr/>
          </a:p>
          <a:p>
            <a:pPr indent="0" lvl="1" marL="301752" rtl="0" algn="l">
              <a:lnSpc>
                <a:spcPct val="150000"/>
              </a:lnSpc>
              <a:spcBef>
                <a:spcPts val="900"/>
              </a:spcBef>
              <a:spcAft>
                <a:spcPts val="0"/>
              </a:spcAft>
              <a:buSzPts val="2800"/>
              <a:buNone/>
            </a:pPr>
            <a:r>
              <a:rPr b="1" lang="en-US" sz="2800">
                <a:latin typeface="Cambria"/>
                <a:ea typeface="Cambria"/>
                <a:cs typeface="Cambria"/>
                <a:sym typeface="Cambria"/>
              </a:rPr>
              <a:t>Syntax Error  :</a:t>
            </a:r>
            <a:r>
              <a:rPr lang="en-US" sz="2800">
                <a:latin typeface="Cambria"/>
                <a:ea typeface="Cambria"/>
                <a:cs typeface="Cambria"/>
                <a:sym typeface="Cambria"/>
              </a:rPr>
              <a:t>arises due to the poor understanding of the language.</a:t>
            </a:r>
            <a:endParaRPr/>
          </a:p>
          <a:p>
            <a:pPr indent="0" lvl="1" marL="301752" rtl="0" algn="l">
              <a:lnSpc>
                <a:spcPct val="150000"/>
              </a:lnSpc>
              <a:spcBef>
                <a:spcPts val="900"/>
              </a:spcBef>
              <a:spcAft>
                <a:spcPts val="0"/>
              </a:spcAft>
              <a:buSzPts val="2800"/>
              <a:buNone/>
            </a:pPr>
            <a:r>
              <a:rPr b="1" lang="en-US" sz="2800">
                <a:latin typeface="Cambria"/>
                <a:ea typeface="Cambria"/>
                <a:cs typeface="Cambria"/>
                <a:sym typeface="Cambria"/>
              </a:rPr>
              <a:t>Logical Error : </a:t>
            </a:r>
            <a:r>
              <a:rPr lang="en-US" sz="2800">
                <a:latin typeface="Cambria"/>
                <a:ea typeface="Cambria"/>
                <a:cs typeface="Cambria"/>
                <a:sym typeface="Cambria"/>
              </a:rPr>
              <a:t>occur due to poor understanding of problem and solution</a:t>
            </a:r>
            <a:r>
              <a:rPr lang="en-US" sz="2800" u="sng">
                <a:latin typeface="Cambria"/>
                <a:ea typeface="Cambria"/>
                <a:cs typeface="Cambria"/>
                <a:sym typeface="Cambria"/>
              </a:rPr>
              <a:t>.</a:t>
            </a:r>
            <a:endParaRPr/>
          </a:p>
          <a:p>
            <a:pPr indent="0" lvl="1" marL="301752" rtl="0" algn="l">
              <a:lnSpc>
                <a:spcPct val="150000"/>
              </a:lnSpc>
              <a:spcBef>
                <a:spcPts val="900"/>
              </a:spcBef>
              <a:spcAft>
                <a:spcPts val="0"/>
              </a:spcAft>
              <a:buSzPts val="2800"/>
              <a:buNone/>
            </a:pPr>
            <a:r>
              <a:rPr b="1" lang="en-US" sz="2800">
                <a:latin typeface="Cambria"/>
                <a:ea typeface="Cambria"/>
                <a:cs typeface="Cambria"/>
                <a:sym typeface="Cambria"/>
              </a:rPr>
              <a:t>Synchronous Exception </a:t>
            </a:r>
            <a:r>
              <a:rPr lang="en-US" sz="2800">
                <a:latin typeface="Cambria"/>
                <a:ea typeface="Cambria"/>
                <a:cs typeface="Cambria"/>
                <a:sym typeface="Cambria"/>
              </a:rPr>
              <a:t>: While synchronous exception(like divide by zero ,array index out of bound  can be controlled by the program   </a:t>
            </a:r>
            <a:endParaRPr/>
          </a:p>
          <a:p>
            <a:pPr indent="0" lvl="1" marL="301752" rtl="0" algn="l">
              <a:lnSpc>
                <a:spcPct val="150000"/>
              </a:lnSpc>
              <a:spcBef>
                <a:spcPts val="900"/>
              </a:spcBef>
              <a:spcAft>
                <a:spcPts val="0"/>
              </a:spcAft>
              <a:buSzPts val="2800"/>
              <a:buNone/>
            </a:pPr>
            <a:r>
              <a:rPr b="1" lang="en-US" sz="2800">
                <a:latin typeface="Cambria"/>
                <a:ea typeface="Cambria"/>
                <a:cs typeface="Cambria"/>
                <a:sym typeface="Cambria"/>
              </a:rPr>
              <a:t>Asynchronous Exception : </a:t>
            </a:r>
            <a:r>
              <a:rPr lang="en-US" sz="2800">
                <a:latin typeface="Cambria"/>
                <a:ea typeface="Cambria"/>
                <a:cs typeface="Cambria"/>
                <a:sym typeface="Cambria"/>
              </a:rPr>
              <a:t>Asynchronous Exceptions (like an interrupt from keyboard, hardware malfunction or disk failure) are caused by events that are beyond the control of the program</a:t>
            </a:r>
            <a:endParaRPr sz="2800">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151" name="Google Shape;151;p4"/>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152" name="Google Shape;152;p4"/>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53" name="Google Shape;153;p4"/>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sp>
        <p:nvSpPr>
          <p:cNvPr id="158" name="Google Shape;158;p5"/>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159" name="Google Shape;159;p5"/>
          <p:cNvSpPr txBox="1"/>
          <p:nvPr>
            <p:ph idx="1" type="body"/>
          </p:nvPr>
        </p:nvSpPr>
        <p:spPr>
          <a:xfrm>
            <a:off x="1415844" y="1828800"/>
            <a:ext cx="16110155" cy="75819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latin typeface="Cambria"/>
                <a:ea typeface="Cambria"/>
                <a:cs typeface="Cambria"/>
                <a:sym typeface="Cambria"/>
              </a:rPr>
              <a:t>Syntax Error  </a:t>
            </a:r>
            <a:r>
              <a:rPr lang="en-US" sz="3200">
                <a:latin typeface="Cambria"/>
                <a:ea typeface="Cambria"/>
                <a:cs typeface="Cambria"/>
                <a:sym typeface="Cambria"/>
              </a:rPr>
              <a:t>arises due to the poor understanding of the language.</a:t>
            </a:r>
            <a:endParaRPr/>
          </a:p>
          <a:p>
            <a:pPr indent="0" lvl="1" marL="301752" rtl="0" algn="l">
              <a:lnSpc>
                <a:spcPct val="150000"/>
              </a:lnSpc>
              <a:spcBef>
                <a:spcPts val="900"/>
              </a:spcBef>
              <a:spcAft>
                <a:spcPts val="0"/>
              </a:spcAft>
              <a:buSzPts val="3200"/>
              <a:buNone/>
            </a:pPr>
            <a:r>
              <a:rPr b="1" lang="en-US" sz="3200">
                <a:latin typeface="Cambria"/>
                <a:ea typeface="Cambria"/>
                <a:cs typeface="Cambria"/>
                <a:sym typeface="Cambria"/>
              </a:rPr>
              <a:t>Example: </a:t>
            </a:r>
            <a:r>
              <a:rPr lang="en-US" sz="3200">
                <a:latin typeface="Cambria"/>
                <a:ea typeface="Cambria"/>
                <a:cs typeface="Cambria"/>
                <a:sym typeface="Cambria"/>
              </a:rPr>
              <a:t>syntax errors</a:t>
            </a:r>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b="1" lang="en-US" sz="3200">
                <a:latin typeface="Cambria"/>
                <a:ea typeface="Cambria"/>
                <a:cs typeface="Cambria"/>
                <a:sym typeface="Cambria"/>
              </a:rPr>
              <a:t>Logical Error  </a:t>
            </a:r>
            <a:r>
              <a:rPr lang="en-US" sz="3200">
                <a:latin typeface="Cambria"/>
                <a:ea typeface="Cambria"/>
                <a:cs typeface="Cambria"/>
                <a:sym typeface="Cambria"/>
              </a:rPr>
              <a:t>occur due to poor understanding of problem and solution</a:t>
            </a:r>
            <a:r>
              <a:rPr lang="en-US" sz="3200" u="sng">
                <a:latin typeface="Cambria"/>
                <a:ea typeface="Cambria"/>
                <a:cs typeface="Cambria"/>
                <a:sym typeface="Cambria"/>
              </a:rPr>
              <a:t>.</a:t>
            </a:r>
            <a:endParaRPr/>
          </a:p>
          <a:p>
            <a:pPr indent="0" lvl="1" marL="301752" rtl="0" algn="l">
              <a:lnSpc>
                <a:spcPct val="150000"/>
              </a:lnSpc>
              <a:spcBef>
                <a:spcPts val="900"/>
              </a:spcBef>
              <a:spcAft>
                <a:spcPts val="0"/>
              </a:spcAft>
              <a:buSzPts val="3200"/>
              <a:buNone/>
            </a:pPr>
            <a:r>
              <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160" name="Google Shape;160;p5"/>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161" name="Google Shape;161;p5"/>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62" name="Google Shape;162;p5"/>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163" name="Google Shape;163;p5"/>
          <p:cNvSpPr/>
          <p:nvPr/>
        </p:nvSpPr>
        <p:spPr>
          <a:xfrm>
            <a:off x="1769241" y="3430229"/>
            <a:ext cx="6934200" cy="2778842"/>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dk1"/>
              </a:buClr>
              <a:buSzPts val="3200"/>
              <a:buFont typeface="Cambria"/>
              <a:buNone/>
            </a:pPr>
            <a:r>
              <a:rPr b="0" i="0" lang="en-US" sz="3200" u="none" cap="none" strike="noStrike">
                <a:solidFill>
                  <a:schemeClr val="dk1"/>
                </a:solidFill>
                <a:latin typeface="Cambria"/>
                <a:ea typeface="Cambria"/>
                <a:cs typeface="Cambria"/>
                <a:sym typeface="Cambria"/>
              </a:rPr>
              <a:t>i=0</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3200"/>
              <a:buFont typeface="Cambria"/>
              <a:buNone/>
            </a:pPr>
            <a:r>
              <a:rPr b="0" i="0" lang="en-US" sz="3200" u="none" cap="none" strike="noStrike">
                <a:solidFill>
                  <a:schemeClr val="dk1"/>
                </a:solidFill>
                <a:latin typeface="Cambria"/>
                <a:ea typeface="Cambria"/>
                <a:cs typeface="Cambria"/>
                <a:sym typeface="Cambria"/>
              </a:rPr>
              <a:t>if i== 0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3200"/>
              <a:buFont typeface="Cambria"/>
              <a:buNone/>
            </a:pPr>
            <a:r>
              <a:rPr b="0" i="0" lang="en-US" sz="3200" u="none" cap="none" strike="noStrike">
                <a:solidFill>
                  <a:schemeClr val="dk1"/>
                </a:solidFill>
                <a:latin typeface="Cambria"/>
                <a:ea typeface="Cambria"/>
                <a:cs typeface="Cambria"/>
                <a:sym typeface="Cambria"/>
              </a:rPr>
              <a:t>    print(i)</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3200"/>
              <a:buFont typeface="Cambria"/>
              <a:buNone/>
            </a:pPr>
            <a:r>
              <a:rPr b="0" i="0" lang="en-US" sz="3200" u="none" cap="none" strike="noStrike">
                <a:solidFill>
                  <a:schemeClr val="dk1"/>
                </a:solidFill>
                <a:latin typeface="Cambria"/>
                <a:ea typeface="Cambria"/>
                <a:cs typeface="Cambria"/>
                <a:sym typeface="Cambria"/>
              </a:rPr>
              <a:t>Syntax  Error: Invalid Syntax</a:t>
            </a:r>
            <a:endParaRPr b="0" i="0" sz="3200" u="none" cap="none" strike="noStrike">
              <a:solidFill>
                <a:schemeClr val="dk1"/>
              </a:solidFill>
              <a:latin typeface="Cambria"/>
              <a:ea typeface="Cambria"/>
              <a:cs typeface="Cambria"/>
              <a:sym typeface="Cambria"/>
            </a:endParaRPr>
          </a:p>
        </p:txBody>
      </p:sp>
      <p:sp>
        <p:nvSpPr>
          <p:cNvPr id="164" name="Google Shape;164;p5"/>
          <p:cNvSpPr/>
          <p:nvPr/>
        </p:nvSpPr>
        <p:spPr>
          <a:xfrm>
            <a:off x="1769241" y="6867820"/>
            <a:ext cx="6934200" cy="236467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dk1"/>
              </a:buClr>
              <a:buSzPts val="3200"/>
              <a:buFont typeface="Cambria"/>
              <a:buNone/>
            </a:pPr>
            <a:r>
              <a:rPr b="0" i="0" lang="en-US" sz="3200" u="none" cap="none" strike="noStrike">
                <a:solidFill>
                  <a:schemeClr val="dk1"/>
                </a:solidFill>
                <a:latin typeface="Cambria"/>
                <a:ea typeface="Cambria"/>
                <a:cs typeface="Cambria"/>
                <a:sym typeface="Cambria"/>
              </a:rPr>
              <a:t>if a&lt; b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3200"/>
              <a:buFont typeface="Cambria"/>
              <a:buNone/>
            </a:pPr>
            <a:r>
              <a:rPr b="0" i="0" lang="en-US" sz="3200" u="none" cap="none" strike="noStrike">
                <a:solidFill>
                  <a:schemeClr val="dk1"/>
                </a:solidFill>
                <a:latin typeface="Cambria"/>
                <a:ea typeface="Cambria"/>
                <a:cs typeface="Cambria"/>
                <a:sym typeface="Cambria"/>
              </a:rPr>
              <a:t>    print(“a is bigger than b”)</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6"/>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170" name="Google Shape;170;p6"/>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latin typeface="Cambria"/>
                <a:ea typeface="Cambria"/>
                <a:cs typeface="Cambria"/>
                <a:sym typeface="Cambria"/>
              </a:rPr>
              <a:t>Comparison of Syntax Error and Logical Error</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171" name="Google Shape;171;p6"/>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172" name="Google Shape;172;p6"/>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73" name="Google Shape;173;p6"/>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graphicFrame>
        <p:nvGraphicFramePr>
          <p:cNvPr id="174" name="Google Shape;174;p6"/>
          <p:cNvGraphicFramePr/>
          <p:nvPr/>
        </p:nvGraphicFramePr>
        <p:xfrm>
          <a:off x="914400" y="3619500"/>
          <a:ext cx="3000000" cy="3000000"/>
        </p:xfrm>
        <a:graphic>
          <a:graphicData uri="http://schemas.openxmlformats.org/drawingml/2006/table">
            <a:tbl>
              <a:tblPr bandRow="1" firstRow="1">
                <a:noFill/>
                <a:tableStyleId>{667677EA-63C9-4095-938D-D69284A9CA30}</a:tableStyleId>
              </a:tblPr>
              <a:tblGrid>
                <a:gridCol w="7661775"/>
                <a:gridCol w="7661775"/>
              </a:tblGrid>
              <a:tr h="685800">
                <a:tc>
                  <a:txBody>
                    <a:bodyPr/>
                    <a:lstStyle/>
                    <a:p>
                      <a:pPr indent="0" lvl="0" marL="0" marR="0" rtl="0" algn="l">
                        <a:lnSpc>
                          <a:spcPct val="100000"/>
                        </a:lnSpc>
                        <a:spcBef>
                          <a:spcPts val="0"/>
                        </a:spcBef>
                        <a:spcAft>
                          <a:spcPts val="0"/>
                        </a:spcAft>
                        <a:buClr>
                          <a:srgbClr val="000000"/>
                        </a:buClr>
                        <a:buSzPts val="2700"/>
                        <a:buFont typeface="Arial"/>
                        <a:buNone/>
                      </a:pPr>
                      <a:r>
                        <a:rPr lang="en-US" sz="2700" u="none" cap="none" strike="noStrike"/>
                        <a:t>Syntax Error </a:t>
                      </a:r>
                      <a:endParaRPr sz="27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700"/>
                        <a:buFont typeface="Arial"/>
                        <a:buNone/>
                      </a:pPr>
                      <a:r>
                        <a:rPr lang="en-US" sz="2700" u="none" cap="none" strike="noStrike"/>
                        <a:t>Logical Error</a:t>
                      </a:r>
                      <a:endParaRPr sz="2700" u="none" cap="none" strike="noStrike"/>
                    </a:p>
                  </a:txBody>
                  <a:tcPr marT="45725" marB="45725" marR="91450" marL="91450"/>
                </a:tc>
              </a:tr>
              <a:tr h="559375">
                <a:tc gridSpan="2">
                  <a:txBody>
                    <a:bodyPr/>
                    <a:lstStyle/>
                    <a:p>
                      <a:pPr indent="0" lvl="0" marL="0" marR="0" rtl="0" algn="ctr">
                        <a:lnSpc>
                          <a:spcPct val="100000"/>
                        </a:lnSpc>
                        <a:spcBef>
                          <a:spcPts val="0"/>
                        </a:spcBef>
                        <a:spcAft>
                          <a:spcPts val="0"/>
                        </a:spcAft>
                        <a:buClr>
                          <a:srgbClr val="000000"/>
                        </a:buClr>
                        <a:buSzPts val="2700"/>
                        <a:buFont typeface="Arial"/>
                        <a:buNone/>
                      </a:pPr>
                      <a:r>
                        <a:rPr b="1" lang="en-US" sz="2700" u="none" cap="none" strike="noStrike"/>
                        <a:t>Occurrence</a:t>
                      </a:r>
                      <a:endParaRPr b="1" sz="2700" u="none" cap="none" strike="noStrike"/>
                    </a:p>
                  </a:txBody>
                  <a:tcPr marT="45725" marB="45725" marR="91450" marL="91450"/>
                </a:tc>
                <a:tc hMerge="1"/>
              </a:tr>
              <a:tr h="11568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Cambria"/>
                          <a:ea typeface="Cambria"/>
                          <a:cs typeface="Cambria"/>
                          <a:sym typeface="Cambria"/>
                        </a:rPr>
                        <a:t>Occur due to the poor understanding of the language</a:t>
                      </a:r>
                      <a:endParaRPr sz="2400" u="none" cap="none" strike="noStrike"/>
                    </a:p>
                  </a:txBody>
                  <a:tcPr marT="45725" marB="45725" marR="91450" marL="91450"/>
                </a:tc>
                <a:tc>
                  <a:txBody>
                    <a:bodyPr/>
                    <a:lstStyle/>
                    <a:p>
                      <a:pPr indent="0" lvl="1" marL="0" marR="0" rtl="0" algn="l">
                        <a:lnSpc>
                          <a:spcPct val="100000"/>
                        </a:lnSpc>
                        <a:spcBef>
                          <a:spcPts val="0"/>
                        </a:spcBef>
                        <a:spcAft>
                          <a:spcPts val="0"/>
                        </a:spcAft>
                        <a:buClr>
                          <a:schemeClr val="dk1"/>
                        </a:buClr>
                        <a:buSzPts val="2400"/>
                        <a:buFont typeface="Cambria"/>
                        <a:buNone/>
                      </a:pPr>
                      <a:r>
                        <a:rPr lang="en-US" sz="2400" u="none" cap="none" strike="noStrike">
                          <a:latin typeface="Cambria"/>
                          <a:ea typeface="Cambria"/>
                          <a:cs typeface="Cambria"/>
                          <a:sym typeface="Cambria"/>
                        </a:rPr>
                        <a:t>Occur due to poor understanding of problem and solution</a:t>
                      </a:r>
                      <a:r>
                        <a:rPr lang="en-US" sz="2400" u="sng" cap="none" strike="noStrike">
                          <a:latin typeface="Cambria"/>
                          <a:ea typeface="Cambria"/>
                          <a:cs typeface="Cambria"/>
                          <a:sym typeface="Cambria"/>
                        </a:rPr>
                        <a:t>.</a:t>
                      </a:r>
                      <a:endParaRPr sz="1400" u="none" cap="none" strike="noStrike"/>
                    </a:p>
                    <a:p>
                      <a:pPr indent="0" lvl="0" marL="0" marR="0" rtl="0" algn="l">
                        <a:lnSpc>
                          <a:spcPct val="100000"/>
                        </a:lnSpc>
                        <a:spcBef>
                          <a:spcPts val="0"/>
                        </a:spcBef>
                        <a:spcAft>
                          <a:spcPts val="0"/>
                        </a:spcAft>
                        <a:buClr>
                          <a:srgbClr val="000000"/>
                        </a:buClr>
                        <a:buSzPts val="2400"/>
                        <a:buFont typeface="Arial"/>
                        <a:buNone/>
                      </a:pPr>
                      <a:r>
                        <a:t/>
                      </a:r>
                      <a:endParaRPr sz="2400" u="none" cap="none" strike="noStrike"/>
                    </a:p>
                  </a:txBody>
                  <a:tcPr marT="45725" marB="45725" marR="91450" marL="91450"/>
                </a:tc>
              </a:tr>
              <a:tr h="485600">
                <a:tc gridSpan="2">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t>  </a:t>
                      </a:r>
                      <a:r>
                        <a:rPr b="1" lang="en-US" sz="2400" u="none" cap="none" strike="noStrike"/>
                        <a:t>Detection</a:t>
                      </a:r>
                      <a:endParaRPr b="1" sz="2400" u="none" cap="none" strike="noStrike"/>
                    </a:p>
                  </a:txBody>
                  <a:tcPr marT="45725" marB="45725" marR="91450" marL="91450"/>
                </a:tc>
                <a:tc hMerge="1"/>
              </a:tr>
              <a:tr h="797425">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In compiled languages, the compiler indicates the syntax error with the location and what the error is</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The programmers have to detect the error by themself</a:t>
                      </a:r>
                      <a:endParaRPr sz="2400" u="none" cap="none" strike="noStrike"/>
                    </a:p>
                  </a:txBody>
                  <a:tcPr marT="45725" marB="45725" marR="91450" marL="91450"/>
                </a:tc>
              </a:tr>
              <a:tr h="540000">
                <a:tc gridSpan="2">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t>Simplicity</a:t>
                      </a:r>
                      <a:endParaRPr b="1" sz="2400" u="none" cap="none" strike="noStrike"/>
                    </a:p>
                  </a:txBody>
                  <a:tcPr marT="45725" marB="45725" marR="91450" marL="91450"/>
                </a:tc>
                <a:tc hMerge="1"/>
              </a:tr>
              <a:tr h="809375">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It is easier to identify a syntax error.</a:t>
                      </a:r>
                      <a:endParaRPr sz="2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It is comparatively difficult to identify a logical error.</a:t>
                      </a:r>
                      <a:endParaRPr sz="2400" u="none" cap="none" strike="noStrike"/>
                    </a:p>
                  </a:txBody>
                  <a:tcPr marT="45725" marB="45725" marR="91450" marL="9145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sp>
        <p:nvSpPr>
          <p:cNvPr id="179" name="Google Shape;179;p7"/>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180" name="Google Shape;180;p7"/>
          <p:cNvSpPr txBox="1"/>
          <p:nvPr>
            <p:ph idx="1" type="body"/>
          </p:nvPr>
        </p:nvSpPr>
        <p:spPr>
          <a:xfrm>
            <a:off x="1066800" y="2705100"/>
            <a:ext cx="164592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latin typeface="Cambria"/>
                <a:ea typeface="Cambria"/>
                <a:cs typeface="Cambria"/>
                <a:sym typeface="Cambria"/>
              </a:rPr>
              <a:t>Exceptions  : </a:t>
            </a:r>
            <a:r>
              <a:rPr lang="en-US" sz="3200">
                <a:latin typeface="Cambria"/>
                <a:ea typeface="Cambria"/>
                <a:cs typeface="Cambria"/>
                <a:sym typeface="Cambria"/>
              </a:rPr>
              <a:t>even if a statement is syntactically correct ,it may still cause an error when executed such errors that occur at run time(or during execution) are known as exceptions. </a:t>
            </a:r>
            <a:r>
              <a:rPr b="1" lang="en-US" sz="3200">
                <a:latin typeface="Cambria"/>
                <a:ea typeface="Cambria"/>
                <a:cs typeface="Cambria"/>
                <a:sym typeface="Cambria"/>
              </a:rPr>
              <a:t>Example: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lang="en-US" sz="3200" u="sng">
                <a:latin typeface="Cambria"/>
                <a:ea typeface="Cambria"/>
                <a:cs typeface="Cambria"/>
                <a:sym typeface="Cambria"/>
              </a:rPr>
              <a:t>.</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181" name="Google Shape;181;p7"/>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182" name="Google Shape;182;p7"/>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83" name="Google Shape;183;p7"/>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184" name="Google Shape;184;p7"/>
          <p:cNvSpPr/>
          <p:nvPr/>
        </p:nvSpPr>
        <p:spPr>
          <a:xfrm>
            <a:off x="1447800" y="5143500"/>
            <a:ext cx="6934200" cy="28956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dk1"/>
              </a:buClr>
              <a:buSzPts val="3200"/>
              <a:buFont typeface="Cambria"/>
              <a:buNone/>
            </a:pPr>
            <a:r>
              <a:rPr b="0" i="0" lang="en-US" sz="3200" u="none" cap="none" strike="noStrike">
                <a:solidFill>
                  <a:schemeClr val="dk1"/>
                </a:solidFill>
                <a:latin typeface="Cambria"/>
                <a:ea typeface="Cambria"/>
                <a:cs typeface="Cambria"/>
                <a:sym typeface="Cambria"/>
              </a:rPr>
              <a:t>&gt;&gt; 5/0</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3200"/>
              <a:buFont typeface="Calibri"/>
              <a:buNone/>
            </a:pPr>
            <a:r>
              <a:rPr b="1" i="0" lang="en-US" sz="3200" u="none" cap="none" strike="noStrike">
                <a:solidFill>
                  <a:schemeClr val="dk1"/>
                </a:solidFill>
                <a:latin typeface="Calibri"/>
                <a:ea typeface="Calibri"/>
                <a:cs typeface="Calibri"/>
                <a:sym typeface="Calibri"/>
              </a:rPr>
              <a:t>  ZeroDivisionError</a:t>
            </a:r>
            <a:r>
              <a:rPr b="0" i="0" lang="en-US" sz="3200" u="none" cap="none" strike="noStrike">
                <a:solidFill>
                  <a:schemeClr val="dk1"/>
                </a:solidFill>
                <a:latin typeface="Calibri"/>
                <a:ea typeface="Calibri"/>
                <a:cs typeface="Calibri"/>
                <a:sym typeface="Calibri"/>
              </a:rPr>
              <a:t>: division by zero</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3200"/>
              <a:buFont typeface="Cambria"/>
              <a:buNone/>
            </a:pPr>
            <a:r>
              <a:rPr b="0" i="0" lang="en-US" sz="3200" u="none" cap="none" strike="noStrike">
                <a:solidFill>
                  <a:schemeClr val="dk1"/>
                </a:solidFill>
                <a:latin typeface="Cambria"/>
                <a:ea typeface="Cambria"/>
                <a:cs typeface="Cambria"/>
                <a:sym typeface="Cambria"/>
              </a:rPr>
              <a:t>&gt;&gt; var + 10</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3200"/>
              <a:buFont typeface="Calibri"/>
              <a:buNone/>
            </a:pPr>
            <a:r>
              <a:rPr b="1" i="0" lang="en-US" sz="3200" u="none" cap="none" strike="noStrike">
                <a:solidFill>
                  <a:schemeClr val="dk1"/>
                </a:solidFill>
                <a:latin typeface="Calibri"/>
                <a:ea typeface="Calibri"/>
                <a:cs typeface="Calibri"/>
                <a:sym typeface="Calibri"/>
              </a:rPr>
              <a:t>NameError</a:t>
            </a:r>
            <a:r>
              <a:rPr b="0" i="0" lang="en-US" sz="3200" u="none" cap="none" strike="noStrike">
                <a:solidFill>
                  <a:schemeClr val="dk1"/>
                </a:solidFill>
                <a:latin typeface="Calibri"/>
                <a:ea typeface="Calibri"/>
                <a:cs typeface="Calibri"/>
                <a:sym typeface="Calibri"/>
              </a:rPr>
              <a:t>: name 'var' is not defined</a:t>
            </a:r>
            <a:endParaRPr b="0" i="0" sz="3200" u="none" cap="none" strike="noStrike">
              <a:solidFill>
                <a:schemeClr val="dk1"/>
              </a:solidFill>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8" name="Shape 188"/>
        <p:cNvGrpSpPr/>
        <p:nvPr/>
      </p:nvGrpSpPr>
      <p:grpSpPr>
        <a:xfrm>
          <a:off x="0" y="0"/>
          <a:ext cx="0" cy="0"/>
          <a:chOff x="0" y="0"/>
          <a:chExt cx="0" cy="0"/>
        </a:xfrm>
      </p:grpSpPr>
      <p:sp>
        <p:nvSpPr>
          <p:cNvPr id="189" name="Google Shape;189;p8"/>
          <p:cNvSpPr txBox="1"/>
          <p:nvPr>
            <p:ph type="title"/>
          </p:nvPr>
        </p:nvSpPr>
        <p:spPr>
          <a:xfrm>
            <a:off x="990600" y="876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6600"/>
              <a:buFont typeface="Times New Roman"/>
              <a:buNone/>
            </a:pPr>
            <a:r>
              <a:rPr b="1" lang="en-US" sz="6600">
                <a:latin typeface="Times New Roman"/>
                <a:ea typeface="Times New Roman"/>
                <a:cs typeface="Times New Roman"/>
                <a:sym typeface="Times New Roman"/>
              </a:rPr>
              <a:t> EXCERCISE</a:t>
            </a:r>
            <a:endParaRPr b="1" sz="6600">
              <a:latin typeface="Times New Roman"/>
              <a:ea typeface="Times New Roman"/>
              <a:cs typeface="Times New Roman"/>
              <a:sym typeface="Times New Roman"/>
            </a:endParaRPr>
          </a:p>
        </p:txBody>
      </p:sp>
      <p:sp>
        <p:nvSpPr>
          <p:cNvPr id="190" name="Google Shape;190;p8"/>
          <p:cNvSpPr txBox="1"/>
          <p:nvPr>
            <p:ph idx="1" type="body"/>
          </p:nvPr>
        </p:nvSpPr>
        <p:spPr>
          <a:xfrm>
            <a:off x="1066800" y="2705100"/>
            <a:ext cx="164592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Unsolved Programming Question to be solved by students: Handle the following situations</a:t>
            </a:r>
            <a:endParaRPr/>
          </a:p>
          <a:p>
            <a:pPr indent="0" lvl="1" marL="301752" rtl="0" algn="l">
              <a:lnSpc>
                <a:spcPct val="150000"/>
              </a:lnSpc>
              <a:spcBef>
                <a:spcPts val="900"/>
              </a:spcBef>
              <a:spcAft>
                <a:spcPts val="0"/>
              </a:spcAft>
              <a:buSzPts val="3200"/>
              <a:buNone/>
            </a:pPr>
            <a:r>
              <a:rPr lang="en-US" sz="3200"/>
              <a:t>1. You are developing a program that simulates a simple game where players can roll a six-sided die. However, the player accidentally enters a value that is not an integer when trying to roll the die.</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lang="en-US" sz="3200">
                <a:latin typeface="Cambria"/>
                <a:ea typeface="Cambria"/>
                <a:cs typeface="Cambria"/>
                <a:sym typeface="Cambria"/>
              </a:rPr>
              <a:t>2. </a:t>
            </a:r>
            <a:r>
              <a:rPr lang="en-US" sz="3200"/>
              <a:t>You are developing a Python program that processes a list of student grades. However, there is a typo in one of the variable names used to store the grade value, leading to a NameError.</a:t>
            </a:r>
            <a:endParaRPr/>
          </a:p>
          <a:p>
            <a:pPr indent="0" lvl="1" marL="301752" rtl="0" algn="l">
              <a:lnSpc>
                <a:spcPct val="150000"/>
              </a:lnSpc>
              <a:spcBef>
                <a:spcPts val="900"/>
              </a:spcBef>
              <a:spcAft>
                <a:spcPts val="0"/>
              </a:spcAft>
              <a:buSzPts val="3200"/>
              <a:buNone/>
            </a:pPr>
            <a:r>
              <a:rPr lang="en-US" sz="3200">
                <a:latin typeface="Cambria"/>
                <a:ea typeface="Cambria"/>
                <a:cs typeface="Cambria"/>
                <a:sym typeface="Cambria"/>
              </a:rPr>
              <a:t>3. </a:t>
            </a:r>
            <a:r>
              <a:rPr lang="en-US" sz="3200"/>
              <a:t>You are developing a Python program that calculates the average of a list of numbers. However, there is a scenario where the list is empty, leading to a ZeroDivisionError.</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lang="en-US" sz="3200" u="sng">
                <a:latin typeface="Cambria"/>
                <a:ea typeface="Cambria"/>
                <a:cs typeface="Cambria"/>
                <a:sym typeface="Cambria"/>
              </a:rPr>
              <a:t>.</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191" name="Google Shape;191;p8"/>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192" name="Google Shape;192;p8"/>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193" name="Google Shape;193;p8"/>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7" name="Shape 197"/>
        <p:cNvGrpSpPr/>
        <p:nvPr/>
      </p:nvGrpSpPr>
      <p:grpSpPr>
        <a:xfrm>
          <a:off x="0" y="0"/>
          <a:ext cx="0" cy="0"/>
          <a:chOff x="0" y="0"/>
          <a:chExt cx="0" cy="0"/>
        </a:xfrm>
      </p:grpSpPr>
      <p:sp>
        <p:nvSpPr>
          <p:cNvPr id="198" name="Google Shape;198;p9"/>
          <p:cNvSpPr txBox="1"/>
          <p:nvPr>
            <p:ph type="title"/>
          </p:nvPr>
        </p:nvSpPr>
        <p:spPr>
          <a:xfrm>
            <a:off x="838200" y="7239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199" name="Google Shape;199;p9"/>
          <p:cNvSpPr txBox="1"/>
          <p:nvPr>
            <p:ph idx="1" type="body"/>
          </p:nvPr>
        </p:nvSpPr>
        <p:spPr>
          <a:xfrm>
            <a:off x="1356852" y="2476500"/>
            <a:ext cx="16169148" cy="69342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Quiz</a:t>
            </a:r>
            <a:endParaRPr/>
          </a:p>
          <a:p>
            <a:pPr indent="0" lvl="1" marL="301752" rtl="0" algn="l">
              <a:lnSpc>
                <a:spcPct val="150000"/>
              </a:lnSpc>
              <a:spcBef>
                <a:spcPts val="900"/>
              </a:spcBef>
              <a:spcAft>
                <a:spcPts val="0"/>
              </a:spcAft>
              <a:buSzPts val="3200"/>
              <a:buNone/>
            </a:pPr>
            <a:r>
              <a:rPr lang="en-US" sz="3200"/>
              <a:t>1. </a:t>
            </a:r>
            <a:r>
              <a:rPr lang="en-US" sz="3000"/>
              <a:t>What type of error is raised when attempting to access a variable that has not been defined?</a:t>
            </a:r>
            <a:endParaRPr sz="3000">
              <a:latin typeface="Cambria"/>
              <a:ea typeface="Cambria"/>
              <a:cs typeface="Cambria"/>
              <a:sym typeface="Cambria"/>
            </a:endParaRPr>
          </a:p>
          <a:p>
            <a:pPr indent="0" lvl="0" marL="0" rtl="0" algn="l">
              <a:lnSpc>
                <a:spcPct val="90000"/>
              </a:lnSpc>
              <a:spcBef>
                <a:spcPts val="2400"/>
              </a:spcBef>
              <a:spcAft>
                <a:spcPts val="0"/>
              </a:spcAft>
              <a:buSzPts val="3000"/>
              <a:buNone/>
            </a:pPr>
            <a:r>
              <a:rPr lang="en-US"/>
              <a:t>        a) SyntaxError  b) ValueError  c) NameError d) TypeError </a:t>
            </a:r>
            <a:endParaRPr/>
          </a:p>
          <a:p>
            <a:pPr indent="0" lvl="0" marL="0" rtl="0" algn="l">
              <a:lnSpc>
                <a:spcPct val="90000"/>
              </a:lnSpc>
              <a:spcBef>
                <a:spcPts val="2100"/>
              </a:spcBef>
              <a:spcAft>
                <a:spcPts val="0"/>
              </a:spcAft>
              <a:buSzPts val="3000"/>
              <a:buNone/>
            </a:pPr>
            <a:r>
              <a:rPr lang="en-US"/>
              <a:t>   2. Which of the following is an example of a syntax error in Python?</a:t>
            </a:r>
            <a:endParaRPr/>
          </a:p>
          <a:p>
            <a:pPr indent="-190500" lvl="0" marL="137160" rtl="0" algn="l">
              <a:lnSpc>
                <a:spcPct val="90000"/>
              </a:lnSpc>
              <a:spcBef>
                <a:spcPts val="2100"/>
              </a:spcBef>
              <a:spcAft>
                <a:spcPts val="0"/>
              </a:spcAft>
              <a:buSzPts val="3000"/>
              <a:buChar char=" "/>
            </a:pPr>
            <a:r>
              <a:rPr lang="en-US"/>
              <a:t>       a)  Forgetting to import a module needed for the program.  b)Dividing a number by zero.</a:t>
            </a:r>
            <a:endParaRPr/>
          </a:p>
          <a:p>
            <a:pPr indent="-190500" lvl="0" marL="137160" rtl="0" algn="l">
              <a:lnSpc>
                <a:spcPct val="90000"/>
              </a:lnSpc>
              <a:spcBef>
                <a:spcPts val="2100"/>
              </a:spcBef>
              <a:spcAft>
                <a:spcPts val="0"/>
              </a:spcAft>
              <a:buSzPts val="3000"/>
              <a:buChar char=" "/>
            </a:pPr>
            <a:r>
              <a:rPr lang="en-US"/>
              <a:t>       c) Misspelling a variable name in the code.       d)Using an incorrect conditional statement.</a:t>
            </a:r>
            <a:endParaRPr/>
          </a:p>
          <a:p>
            <a:pPr indent="0" lvl="0" marL="0" rtl="0" algn="l">
              <a:lnSpc>
                <a:spcPct val="90000"/>
              </a:lnSpc>
              <a:spcBef>
                <a:spcPts val="2100"/>
              </a:spcBef>
              <a:spcAft>
                <a:spcPts val="0"/>
              </a:spcAft>
              <a:buSzPts val="3000"/>
              <a:buNone/>
            </a:pPr>
            <a:r>
              <a:rPr lang="en-US"/>
              <a:t>   3. Which of the following is an example of a logical error?</a:t>
            </a:r>
            <a:endParaRPr/>
          </a:p>
          <a:p>
            <a:pPr indent="0" lvl="0" marL="0" rtl="0" algn="l">
              <a:lnSpc>
                <a:spcPct val="150000"/>
              </a:lnSpc>
              <a:spcBef>
                <a:spcPts val="2100"/>
              </a:spcBef>
              <a:spcAft>
                <a:spcPts val="0"/>
              </a:spcAft>
              <a:buSzPts val="3000"/>
              <a:buNone/>
            </a:pPr>
            <a:r>
              <a:rPr lang="en-US"/>
              <a:t>       a) Using a reserved keyword as a variable name b) Trying to access a file that does not exist</a:t>
            </a:r>
            <a:br>
              <a:rPr lang="en-US"/>
            </a:br>
            <a:r>
              <a:rPr lang="en-US"/>
              <a:t>        c) A program that calculates the average of a list of numbers but gives the sum of all numbers</a:t>
            </a:r>
            <a:endParaRPr/>
          </a:p>
          <a:p>
            <a:pPr indent="0" lvl="1" marL="301752" rtl="0" algn="l">
              <a:lnSpc>
                <a:spcPct val="150000"/>
              </a:lnSpc>
              <a:spcBef>
                <a:spcPts val="600"/>
              </a:spcBef>
              <a:spcAft>
                <a:spcPts val="0"/>
              </a:spcAft>
              <a:buSzPts val="3200"/>
              <a:buNone/>
            </a:pPr>
            <a:r>
              <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200" name="Google Shape;200;p9"/>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201" name="Google Shape;201;p9"/>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02" name="Google Shape;202;p9"/>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6" name="Shape 206"/>
        <p:cNvGrpSpPr/>
        <p:nvPr/>
      </p:nvGrpSpPr>
      <p:grpSpPr>
        <a:xfrm>
          <a:off x="0" y="0"/>
          <a:ext cx="0" cy="0"/>
          <a:chOff x="0" y="0"/>
          <a:chExt cx="0" cy="0"/>
        </a:xfrm>
      </p:grpSpPr>
      <p:sp>
        <p:nvSpPr>
          <p:cNvPr id="207" name="Google Shape;207;g321495b50a6_0_9"/>
          <p:cNvSpPr txBox="1"/>
          <p:nvPr>
            <p:ph type="title"/>
          </p:nvPr>
        </p:nvSpPr>
        <p:spPr>
          <a:xfrm>
            <a:off x="838200" y="7239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208" name="Google Shape;208;g321495b50a6_0_9"/>
          <p:cNvSpPr txBox="1"/>
          <p:nvPr>
            <p:ph idx="1" type="body"/>
          </p:nvPr>
        </p:nvSpPr>
        <p:spPr>
          <a:xfrm>
            <a:off x="1356852" y="2476500"/>
            <a:ext cx="16169100" cy="69342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Quiz</a:t>
            </a:r>
            <a:endParaRPr/>
          </a:p>
          <a:p>
            <a:pPr indent="0" lvl="1" marL="301752" rtl="0" algn="l">
              <a:lnSpc>
                <a:spcPct val="150000"/>
              </a:lnSpc>
              <a:spcBef>
                <a:spcPts val="900"/>
              </a:spcBef>
              <a:spcAft>
                <a:spcPts val="0"/>
              </a:spcAft>
              <a:buSzPts val="3200"/>
              <a:buNone/>
            </a:pPr>
            <a:r>
              <a:rPr lang="en-US" sz="3200"/>
              <a:t>1. </a:t>
            </a:r>
            <a:r>
              <a:rPr lang="en-US" sz="3000"/>
              <a:t>What type of error is raised when attempting to access a variable that has not been defined?</a:t>
            </a:r>
            <a:endParaRPr sz="3000">
              <a:latin typeface="Cambria"/>
              <a:ea typeface="Cambria"/>
              <a:cs typeface="Cambria"/>
              <a:sym typeface="Cambria"/>
            </a:endParaRPr>
          </a:p>
          <a:p>
            <a:pPr indent="0" lvl="0" marL="0" rtl="0" algn="l">
              <a:lnSpc>
                <a:spcPct val="90000"/>
              </a:lnSpc>
              <a:spcBef>
                <a:spcPts val="2400"/>
              </a:spcBef>
              <a:spcAft>
                <a:spcPts val="0"/>
              </a:spcAft>
              <a:buSzPts val="3000"/>
              <a:buNone/>
            </a:pPr>
            <a:r>
              <a:rPr lang="en-US"/>
              <a:t>        a) SyntaxError  b) ValueError        c) NameError d) TypeError </a:t>
            </a:r>
            <a:endParaRPr/>
          </a:p>
          <a:p>
            <a:pPr indent="0" lvl="0" marL="0" rtl="0" algn="l">
              <a:lnSpc>
                <a:spcPct val="90000"/>
              </a:lnSpc>
              <a:spcBef>
                <a:spcPts val="2100"/>
              </a:spcBef>
              <a:spcAft>
                <a:spcPts val="0"/>
              </a:spcAft>
              <a:buSzPts val="3000"/>
              <a:buNone/>
            </a:pPr>
            <a:r>
              <a:rPr lang="en-US"/>
              <a:t>   2. Which of the following is an example of a syntax error in Python?</a:t>
            </a:r>
            <a:endParaRPr/>
          </a:p>
          <a:p>
            <a:pPr indent="-190500" lvl="0" marL="137160" rtl="0" algn="l">
              <a:lnSpc>
                <a:spcPct val="90000"/>
              </a:lnSpc>
              <a:spcBef>
                <a:spcPts val="2100"/>
              </a:spcBef>
              <a:spcAft>
                <a:spcPts val="0"/>
              </a:spcAft>
              <a:buSzPts val="3000"/>
              <a:buChar char=" "/>
            </a:pPr>
            <a:r>
              <a:rPr lang="en-US"/>
              <a:t>       a)  Forgetting to import a module needed for the program.  b)Dividing a number by zero.</a:t>
            </a:r>
            <a:endParaRPr/>
          </a:p>
          <a:p>
            <a:pPr indent="-190500" lvl="0" marL="137160" rtl="0" algn="l">
              <a:lnSpc>
                <a:spcPct val="90000"/>
              </a:lnSpc>
              <a:spcBef>
                <a:spcPts val="2100"/>
              </a:spcBef>
              <a:spcAft>
                <a:spcPts val="0"/>
              </a:spcAft>
              <a:buSzPts val="3000"/>
              <a:buChar char=" "/>
            </a:pPr>
            <a:r>
              <a:rPr lang="en-US"/>
              <a:t>       c) Misspelling a variable name in the code.       d)Using an incorrect conditional statement.</a:t>
            </a:r>
            <a:endParaRPr/>
          </a:p>
          <a:p>
            <a:pPr indent="0" lvl="0" marL="0" rtl="0" algn="l">
              <a:lnSpc>
                <a:spcPct val="90000"/>
              </a:lnSpc>
              <a:spcBef>
                <a:spcPts val="2100"/>
              </a:spcBef>
              <a:spcAft>
                <a:spcPts val="0"/>
              </a:spcAft>
              <a:buSzPts val="3000"/>
              <a:buNone/>
            </a:pPr>
            <a:r>
              <a:rPr lang="en-US"/>
              <a:t>   3. Which of the following is an example of a logical error?</a:t>
            </a:r>
            <a:endParaRPr/>
          </a:p>
          <a:p>
            <a:pPr indent="0" lvl="0" marL="0" rtl="0" algn="l">
              <a:lnSpc>
                <a:spcPct val="150000"/>
              </a:lnSpc>
              <a:spcBef>
                <a:spcPts val="2100"/>
              </a:spcBef>
              <a:spcAft>
                <a:spcPts val="0"/>
              </a:spcAft>
              <a:buSzPts val="3000"/>
              <a:buNone/>
            </a:pPr>
            <a:r>
              <a:rPr lang="en-US"/>
              <a:t>       a) Using a reserved keyword as a variable name b) Trying to access a file that does not exist</a:t>
            </a:r>
            <a:br>
              <a:rPr lang="en-US"/>
            </a:br>
            <a:r>
              <a:rPr lang="en-US"/>
              <a:t>        c) A program that calculates the average of a list of numbers but gives the sum of all numbers</a:t>
            </a:r>
            <a:endParaRPr/>
          </a:p>
          <a:p>
            <a:pPr indent="0" lvl="1" marL="301752" rtl="0" algn="l">
              <a:lnSpc>
                <a:spcPct val="150000"/>
              </a:lnSpc>
              <a:spcBef>
                <a:spcPts val="600"/>
              </a:spcBef>
              <a:spcAft>
                <a:spcPts val="0"/>
              </a:spcAft>
              <a:buSzPts val="3200"/>
              <a:buNone/>
            </a:pPr>
            <a:r>
              <a:t/>
            </a:r>
            <a:endParaRPr sz="3200" u="sng">
              <a:latin typeface="Cambria"/>
              <a:ea typeface="Cambria"/>
              <a:cs typeface="Cambria"/>
              <a:sym typeface="Cambria"/>
            </a:endParaRPr>
          </a:p>
          <a:p>
            <a:pPr indent="-71117"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209" name="Google Shape;209;g321495b50a6_0_9"/>
          <p:cNvSpPr txBox="1"/>
          <p:nvPr>
            <p:ph idx="10" type="dt"/>
          </p:nvPr>
        </p:nvSpPr>
        <p:spPr>
          <a:xfrm>
            <a:off x="1645921" y="9689678"/>
            <a:ext cx="3708300" cy="547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210" name="Google Shape;210;g321495b50a6_0_9"/>
          <p:cNvSpPr txBox="1"/>
          <p:nvPr>
            <p:ph idx="12" type="sldNum"/>
          </p:nvPr>
        </p:nvSpPr>
        <p:spPr>
          <a:xfrm>
            <a:off x="14850688" y="9689678"/>
            <a:ext cx="1968000" cy="547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11" name="Google Shape;211;g321495b50a6_0_9"/>
          <p:cNvSpPr txBox="1"/>
          <p:nvPr>
            <p:ph idx="11" type="ftr"/>
          </p:nvPr>
        </p:nvSpPr>
        <p:spPr>
          <a:xfrm>
            <a:off x="5529278" y="9689678"/>
            <a:ext cx="7234200" cy="547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pic>
        <p:nvPicPr>
          <p:cNvPr descr="Checkmark with solid fill" id="212" name="Google Shape;212;g321495b50a6_0_9"/>
          <p:cNvPicPr preferRelativeResize="0"/>
          <p:nvPr/>
        </p:nvPicPr>
        <p:blipFill rotWithShape="1">
          <a:blip r:embed="rId3">
            <a:alphaModFix/>
          </a:blip>
          <a:srcRect b="0" l="0" r="0" t="0"/>
          <a:stretch/>
        </p:blipFill>
        <p:spPr>
          <a:xfrm>
            <a:off x="1634160" y="6147166"/>
            <a:ext cx="637092" cy="637092"/>
          </a:xfrm>
          <a:prstGeom prst="rect">
            <a:avLst/>
          </a:prstGeom>
          <a:noFill/>
          <a:ln>
            <a:noFill/>
          </a:ln>
        </p:spPr>
      </p:pic>
      <p:pic>
        <p:nvPicPr>
          <p:cNvPr descr="Checkmark with solid fill" id="213" name="Google Shape;213;g321495b50a6_0_9"/>
          <p:cNvPicPr preferRelativeResize="0"/>
          <p:nvPr/>
        </p:nvPicPr>
        <p:blipFill rotWithShape="1">
          <a:blip r:embed="rId3">
            <a:alphaModFix/>
          </a:blip>
          <a:srcRect b="0" l="0" r="0" t="0"/>
          <a:stretch/>
        </p:blipFill>
        <p:spPr>
          <a:xfrm>
            <a:off x="1466027" y="8496300"/>
            <a:ext cx="637093" cy="637093"/>
          </a:xfrm>
          <a:prstGeom prst="rect">
            <a:avLst/>
          </a:prstGeom>
          <a:noFill/>
          <a:ln>
            <a:noFill/>
          </a:ln>
        </p:spPr>
      </p:pic>
      <p:pic>
        <p:nvPicPr>
          <p:cNvPr descr="Checkmark with solid fill" id="214" name="Google Shape;214;g321495b50a6_0_9"/>
          <p:cNvPicPr preferRelativeResize="0"/>
          <p:nvPr/>
        </p:nvPicPr>
        <p:blipFill rotWithShape="1">
          <a:blip r:embed="rId3">
            <a:alphaModFix/>
          </a:blip>
          <a:srcRect b="0" l="0" r="0" t="0"/>
          <a:stretch/>
        </p:blipFill>
        <p:spPr>
          <a:xfrm>
            <a:off x="6877360" y="3921541"/>
            <a:ext cx="637092" cy="6370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 name="Shape 218"/>
        <p:cNvGrpSpPr/>
        <p:nvPr/>
      </p:nvGrpSpPr>
      <p:grpSpPr>
        <a:xfrm>
          <a:off x="0" y="0"/>
          <a:ext cx="0" cy="0"/>
          <a:chOff x="0" y="0"/>
          <a:chExt cx="0" cy="0"/>
        </a:xfrm>
      </p:grpSpPr>
      <p:sp>
        <p:nvSpPr>
          <p:cNvPr id="219" name="Google Shape;219;p10"/>
          <p:cNvSpPr txBox="1"/>
          <p:nvPr>
            <p:ph type="title"/>
          </p:nvPr>
        </p:nvSpPr>
        <p:spPr>
          <a:xfrm>
            <a:off x="838200" y="876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220" name="Google Shape;220;p10"/>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Code snippet –Predict Output</a:t>
            </a:r>
            <a:endParaRPr/>
          </a:p>
          <a:p>
            <a:pPr indent="-514350" lvl="1" marL="816102" rtl="0" algn="l">
              <a:lnSpc>
                <a:spcPct val="150000"/>
              </a:lnSpc>
              <a:spcBef>
                <a:spcPts val="900"/>
              </a:spcBef>
              <a:spcAft>
                <a:spcPts val="0"/>
              </a:spcAft>
              <a:buSzPts val="3200"/>
              <a:buAutoNum type="arabicPeriod"/>
            </a:pPr>
            <a:r>
              <a:rPr lang="en-US" sz="3200"/>
              <a:t>What will be the output of the code snippet?</a:t>
            </a:r>
            <a:endParaRPr/>
          </a:p>
          <a:p>
            <a:pPr indent="0" lvl="1" marL="301752" rtl="0" algn="l">
              <a:lnSpc>
                <a:spcPct val="150000"/>
              </a:lnSpc>
              <a:spcBef>
                <a:spcPts val="900"/>
              </a:spcBef>
              <a:spcAft>
                <a:spcPts val="0"/>
              </a:spcAft>
              <a:buSzPts val="3200"/>
              <a:buNone/>
            </a:pPr>
            <a:r>
              <a:rPr lang="en-US" sz="3200">
                <a:latin typeface="Cambria"/>
                <a:ea typeface="Cambria"/>
                <a:cs typeface="Cambria"/>
                <a:sym typeface="Cambria"/>
              </a:rPr>
              <a:t>       </a:t>
            </a:r>
            <a:r>
              <a:rPr lang="en-US"/>
              <a:t>        </a:t>
            </a:r>
            <a:endParaRPr/>
          </a:p>
          <a:p>
            <a:pPr indent="-190500" lvl="0" marL="137160" rtl="0" algn="l">
              <a:lnSpc>
                <a:spcPct val="90000"/>
              </a:lnSpc>
              <a:spcBef>
                <a:spcPts val="2400"/>
              </a:spcBef>
              <a:spcAft>
                <a:spcPts val="0"/>
              </a:spcAft>
              <a:buSzPts val="3000"/>
              <a:buChar char=" "/>
            </a:pPr>
            <a:r>
              <a:rPr lang="en-US"/>
              <a:t>       a)Hello, world!  b)SyntaxError: EOL while scanning string literal    c) SyntaxError: invalid syntax    d) None</a:t>
            </a:r>
            <a:endParaRPr/>
          </a:p>
          <a:p>
            <a:pPr indent="0" lvl="0" marL="0" rtl="0" algn="l">
              <a:lnSpc>
                <a:spcPct val="90000"/>
              </a:lnSpc>
              <a:spcBef>
                <a:spcPts val="2100"/>
              </a:spcBef>
              <a:spcAft>
                <a:spcPts val="0"/>
              </a:spcAft>
              <a:buSzPts val="3000"/>
              <a:buNone/>
            </a:pPr>
            <a:r>
              <a:rPr lang="en-US"/>
              <a:t>    2 . What will be the output of the code snippet?    3. Identify the type of error in the following code?</a:t>
            </a:r>
            <a:endParaRPr/>
          </a:p>
          <a:p>
            <a:pPr indent="0" lvl="0" marL="0" rtl="0" algn="l">
              <a:lnSpc>
                <a:spcPct val="90000"/>
              </a:lnSpc>
              <a:spcBef>
                <a:spcPts val="2100"/>
              </a:spcBef>
              <a:spcAft>
                <a:spcPts val="0"/>
              </a:spcAft>
              <a:buSzPts val="3000"/>
              <a:buNone/>
            </a:pPr>
            <a:r>
              <a:t/>
            </a:r>
            <a:endParaRPr/>
          </a:p>
          <a:p>
            <a:pPr indent="0" lvl="0" marL="0" rtl="0" algn="l">
              <a:lnSpc>
                <a:spcPct val="90000"/>
              </a:lnSpc>
              <a:spcBef>
                <a:spcPts val="2100"/>
              </a:spcBef>
              <a:spcAft>
                <a:spcPts val="0"/>
              </a:spcAft>
              <a:buSzPts val="3000"/>
              <a:buNone/>
            </a:pPr>
            <a:r>
              <a:t/>
            </a:r>
            <a:endParaRPr/>
          </a:p>
          <a:p>
            <a:pPr indent="0" lvl="0" marL="0" rtl="0" algn="l">
              <a:lnSpc>
                <a:spcPct val="90000"/>
              </a:lnSpc>
              <a:spcBef>
                <a:spcPts val="2100"/>
              </a:spcBef>
              <a:spcAft>
                <a:spcPts val="0"/>
              </a:spcAft>
              <a:buSzPts val="3000"/>
              <a:buNone/>
            </a:pPr>
            <a:r>
              <a:rPr lang="en-US"/>
              <a:t>            a)7.0    b) 5.0     c) 8.0 					 a) Name error, Syntax Error        b) Semantic, Syntax</a:t>
            </a:r>
            <a:br>
              <a:rPr lang="en-US"/>
            </a:br>
            <a:r>
              <a:rPr lang="en-US"/>
              <a:t>	 d) Indentation error: unexpected indent             c) Semantic, Semantic                  d) Syntax, Semantic</a:t>
            </a:r>
            <a:endParaRPr/>
          </a:p>
          <a:p>
            <a:pPr indent="0" lvl="0" marL="137160" rtl="0" algn="l">
              <a:lnSpc>
                <a:spcPct val="90000"/>
              </a:lnSpc>
              <a:spcBef>
                <a:spcPts val="2100"/>
              </a:spcBef>
              <a:spcAft>
                <a:spcPts val="0"/>
              </a:spcAft>
              <a:buSzPts val="3000"/>
              <a:buNone/>
            </a:pPr>
            <a:r>
              <a:t/>
            </a:r>
            <a:endParaRPr/>
          </a:p>
          <a:p>
            <a:pPr indent="0" lvl="1" marL="301752" rtl="0" algn="l">
              <a:lnSpc>
                <a:spcPct val="150000"/>
              </a:lnSpc>
              <a:spcBef>
                <a:spcPts val="600"/>
              </a:spcBef>
              <a:spcAft>
                <a:spcPts val="0"/>
              </a:spcAft>
              <a:buSzPts val="3200"/>
              <a:buNone/>
            </a:pPr>
            <a:r>
              <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221" name="Google Shape;221;p10"/>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222" name="Google Shape;222;p10"/>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23" name="Google Shape;223;p10"/>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224" name="Google Shape;224;p10"/>
          <p:cNvSpPr/>
          <p:nvPr/>
        </p:nvSpPr>
        <p:spPr>
          <a:xfrm>
            <a:off x="1663959" y="4305300"/>
            <a:ext cx="4343400" cy="762000"/>
          </a:xfrm>
          <a:prstGeom prst="rect">
            <a:avLst/>
          </a:prstGeom>
          <a:solidFill>
            <a:schemeClr val="accent1"/>
          </a:solidFill>
          <a:ln cap="flat" cmpd="sng" w="15875">
            <a:solidFill>
              <a:srgbClr val="256C87"/>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lt1"/>
              </a:buClr>
              <a:buSzPts val="3200"/>
              <a:buFont typeface="Cambria"/>
              <a:buNone/>
            </a:pPr>
            <a:r>
              <a:rPr b="0" i="0" lang="en-US" sz="3200" u="none" cap="none" strike="noStrike">
                <a:solidFill>
                  <a:schemeClr val="lt1"/>
                </a:solidFill>
                <a:latin typeface="Cambria"/>
                <a:ea typeface="Cambria"/>
                <a:cs typeface="Cambria"/>
                <a:sym typeface="Cambria"/>
              </a:rPr>
              <a:t>print("Hello, world!)</a:t>
            </a:r>
            <a:endParaRPr b="0" i="0" sz="1400" u="none" cap="none" strike="noStrike">
              <a:solidFill>
                <a:srgbClr val="000000"/>
              </a:solidFill>
              <a:latin typeface="Arial"/>
              <a:ea typeface="Arial"/>
              <a:cs typeface="Arial"/>
              <a:sym typeface="Arial"/>
            </a:endParaRPr>
          </a:p>
        </p:txBody>
      </p:sp>
      <p:sp>
        <p:nvSpPr>
          <p:cNvPr id="225" name="Google Shape;225;p10"/>
          <p:cNvSpPr/>
          <p:nvPr/>
        </p:nvSpPr>
        <p:spPr>
          <a:xfrm>
            <a:off x="1524000" y="6743700"/>
            <a:ext cx="5486400" cy="1143000"/>
          </a:xfrm>
          <a:prstGeom prst="rect">
            <a:avLst/>
          </a:prstGeom>
          <a:solidFill>
            <a:schemeClr val="accent1"/>
          </a:solidFill>
          <a:ln cap="flat" cmpd="sng" w="15875">
            <a:solidFill>
              <a:srgbClr val="256C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            print(result)</a:t>
            </a:r>
            <a:r>
              <a:rPr lang="en-US" sz="3200">
                <a:solidFill>
                  <a:schemeClr val="lt1"/>
                </a:solidFill>
                <a:latin typeface="Calibri"/>
                <a:ea typeface="Calibri"/>
                <a:cs typeface="Calibri"/>
                <a:sym typeface="Calibri"/>
              </a:rPr>
              <a:t>result = 10 * 2 / 5 + </a:t>
            </a:r>
            <a:endParaRPr b="0" i="0" sz="1400" u="none" cap="none" strike="noStrike">
              <a:solidFill>
                <a:srgbClr val="000000"/>
              </a:solidFill>
              <a:latin typeface="Arial"/>
              <a:ea typeface="Arial"/>
              <a:cs typeface="Arial"/>
              <a:sym typeface="Arial"/>
            </a:endParaRPr>
          </a:p>
        </p:txBody>
      </p:sp>
      <p:sp>
        <p:nvSpPr>
          <p:cNvPr id="226" name="Google Shape;226;p10"/>
          <p:cNvSpPr/>
          <p:nvPr/>
        </p:nvSpPr>
        <p:spPr>
          <a:xfrm>
            <a:off x="9067800" y="6743700"/>
            <a:ext cx="5486400" cy="1143000"/>
          </a:xfrm>
          <a:prstGeom prst="rect">
            <a:avLst/>
          </a:prstGeom>
          <a:solidFill>
            <a:schemeClr val="accent1"/>
          </a:solidFill>
          <a:ln cap="flat" cmpd="sng" w="15875">
            <a:solidFill>
              <a:srgbClr val="256C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Print(“Good Morning”) </a:t>
            </a:r>
            <a:r>
              <a:rPr b="1" i="0" lang="en-US" sz="3200" u="none" cap="none" strike="noStrike">
                <a:solidFill>
                  <a:schemeClr val="lt1"/>
                </a:solidFill>
                <a:latin typeface="Calibri"/>
                <a:ea typeface="Calibri"/>
                <a:cs typeface="Calibri"/>
                <a:sym typeface="Calibri"/>
              </a:rPr>
              <a:t>print</a:t>
            </a:r>
            <a:r>
              <a:rPr b="0" i="0" lang="en-US" sz="3200" u="none" cap="none" strike="noStrike">
                <a:solidFill>
                  <a:schemeClr val="lt1"/>
                </a:solidFill>
                <a:latin typeface="Calibri"/>
                <a:ea typeface="Calibri"/>
                <a:cs typeface="Calibri"/>
                <a:sym typeface="Calibri"/>
              </a:rPr>
              <a:t>(“Good night)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0" name="Shape 230"/>
        <p:cNvGrpSpPr/>
        <p:nvPr/>
      </p:nvGrpSpPr>
      <p:grpSpPr>
        <a:xfrm>
          <a:off x="0" y="0"/>
          <a:ext cx="0" cy="0"/>
          <a:chOff x="0" y="0"/>
          <a:chExt cx="0" cy="0"/>
        </a:xfrm>
      </p:grpSpPr>
      <p:sp>
        <p:nvSpPr>
          <p:cNvPr id="231" name="Google Shape;231;g321495b50a6_0_20"/>
          <p:cNvSpPr txBox="1"/>
          <p:nvPr>
            <p:ph type="title"/>
          </p:nvPr>
        </p:nvSpPr>
        <p:spPr>
          <a:xfrm>
            <a:off x="838200" y="876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232" name="Google Shape;232;g321495b50a6_0_20"/>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Code snippet –Predict Output</a:t>
            </a:r>
            <a:endParaRPr/>
          </a:p>
          <a:p>
            <a:pPr indent="-514350" lvl="1" marL="816102" rtl="0" algn="l">
              <a:lnSpc>
                <a:spcPct val="150000"/>
              </a:lnSpc>
              <a:spcBef>
                <a:spcPts val="900"/>
              </a:spcBef>
              <a:spcAft>
                <a:spcPts val="0"/>
              </a:spcAft>
              <a:buSzPts val="3200"/>
              <a:buAutoNum type="arabicPeriod"/>
            </a:pPr>
            <a:r>
              <a:rPr lang="en-US" sz="3200"/>
              <a:t>What will be the output of the code snippet?</a:t>
            </a:r>
            <a:endParaRPr/>
          </a:p>
          <a:p>
            <a:pPr indent="0" lvl="1" marL="301752" rtl="0" algn="l">
              <a:lnSpc>
                <a:spcPct val="150000"/>
              </a:lnSpc>
              <a:spcBef>
                <a:spcPts val="900"/>
              </a:spcBef>
              <a:spcAft>
                <a:spcPts val="0"/>
              </a:spcAft>
              <a:buSzPts val="3200"/>
              <a:buNone/>
            </a:pPr>
            <a:r>
              <a:rPr lang="en-US" sz="3200">
                <a:latin typeface="Cambria"/>
                <a:ea typeface="Cambria"/>
                <a:cs typeface="Cambria"/>
                <a:sym typeface="Cambria"/>
              </a:rPr>
              <a:t>       </a:t>
            </a:r>
            <a:r>
              <a:rPr lang="en-US"/>
              <a:t>        </a:t>
            </a:r>
            <a:endParaRPr/>
          </a:p>
          <a:p>
            <a:pPr indent="-190500" lvl="0" marL="137160" rtl="0" algn="l">
              <a:lnSpc>
                <a:spcPct val="90000"/>
              </a:lnSpc>
              <a:spcBef>
                <a:spcPts val="2400"/>
              </a:spcBef>
              <a:spcAft>
                <a:spcPts val="0"/>
              </a:spcAft>
              <a:buSzPts val="3000"/>
              <a:buChar char=" "/>
            </a:pPr>
            <a:r>
              <a:rPr lang="en-US"/>
              <a:t>       a)Hello, world!  b)SyntaxError: EOL while scanning string literal c) SyntaxError: invalid syntax  d) None</a:t>
            </a:r>
            <a:endParaRPr/>
          </a:p>
          <a:p>
            <a:pPr indent="0" lvl="0" marL="0" rtl="0" algn="l">
              <a:lnSpc>
                <a:spcPct val="90000"/>
              </a:lnSpc>
              <a:spcBef>
                <a:spcPts val="2100"/>
              </a:spcBef>
              <a:spcAft>
                <a:spcPts val="0"/>
              </a:spcAft>
              <a:buSzPts val="3000"/>
              <a:buNone/>
            </a:pPr>
            <a:r>
              <a:rPr lang="en-US"/>
              <a:t>    2 . What will be the output of the code snippet?    3. Identify the type of error in the following code?</a:t>
            </a:r>
            <a:endParaRPr/>
          </a:p>
          <a:p>
            <a:pPr indent="0" lvl="0" marL="0" rtl="0" algn="l">
              <a:lnSpc>
                <a:spcPct val="90000"/>
              </a:lnSpc>
              <a:spcBef>
                <a:spcPts val="2100"/>
              </a:spcBef>
              <a:spcAft>
                <a:spcPts val="0"/>
              </a:spcAft>
              <a:buSzPts val="3000"/>
              <a:buNone/>
            </a:pPr>
            <a:r>
              <a:t/>
            </a:r>
            <a:endParaRPr/>
          </a:p>
          <a:p>
            <a:pPr indent="0" lvl="0" marL="0" rtl="0" algn="l">
              <a:lnSpc>
                <a:spcPct val="90000"/>
              </a:lnSpc>
              <a:spcBef>
                <a:spcPts val="2100"/>
              </a:spcBef>
              <a:spcAft>
                <a:spcPts val="0"/>
              </a:spcAft>
              <a:buSzPts val="3000"/>
              <a:buNone/>
            </a:pPr>
            <a:r>
              <a:t/>
            </a:r>
            <a:endParaRPr/>
          </a:p>
          <a:p>
            <a:pPr indent="0" lvl="0" marL="0" rtl="0" algn="l">
              <a:lnSpc>
                <a:spcPct val="90000"/>
              </a:lnSpc>
              <a:spcBef>
                <a:spcPts val="2100"/>
              </a:spcBef>
              <a:spcAft>
                <a:spcPts val="0"/>
              </a:spcAft>
              <a:buSzPts val="3000"/>
              <a:buNone/>
            </a:pPr>
            <a:r>
              <a:rPr lang="en-US"/>
              <a:t>            a)7.0    b) 5.0     c) 8.0 								 a) Name error, Syntax Error        b) Semantic, Syntax</a:t>
            </a:r>
            <a:br>
              <a:rPr lang="en-US"/>
            </a:br>
            <a:r>
              <a:rPr lang="en-US"/>
              <a:t>	 d) Indentation error: unexpected indent             c) Semantic, Semantic                  d) Syntax, Semantic</a:t>
            </a:r>
            <a:endParaRPr/>
          </a:p>
          <a:p>
            <a:pPr indent="0" lvl="0" marL="137160" rtl="0" algn="l">
              <a:lnSpc>
                <a:spcPct val="90000"/>
              </a:lnSpc>
              <a:spcBef>
                <a:spcPts val="2100"/>
              </a:spcBef>
              <a:spcAft>
                <a:spcPts val="0"/>
              </a:spcAft>
              <a:buSzPts val="3000"/>
              <a:buNone/>
            </a:pPr>
            <a:r>
              <a:t/>
            </a:r>
            <a:endParaRPr/>
          </a:p>
          <a:p>
            <a:pPr indent="0" lvl="1" marL="301752" rtl="0" algn="l">
              <a:lnSpc>
                <a:spcPct val="150000"/>
              </a:lnSpc>
              <a:spcBef>
                <a:spcPts val="600"/>
              </a:spcBef>
              <a:spcAft>
                <a:spcPts val="0"/>
              </a:spcAft>
              <a:buSzPts val="3200"/>
              <a:buNone/>
            </a:pPr>
            <a:r>
              <a:t/>
            </a:r>
            <a:endParaRPr sz="3200" u="sng">
              <a:latin typeface="Cambria"/>
              <a:ea typeface="Cambria"/>
              <a:cs typeface="Cambria"/>
              <a:sym typeface="Cambria"/>
            </a:endParaRPr>
          </a:p>
          <a:p>
            <a:pPr indent="-71117"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233" name="Google Shape;233;g321495b50a6_0_20"/>
          <p:cNvSpPr txBox="1"/>
          <p:nvPr>
            <p:ph idx="10" type="dt"/>
          </p:nvPr>
        </p:nvSpPr>
        <p:spPr>
          <a:xfrm>
            <a:off x="1645921" y="9689678"/>
            <a:ext cx="3708300" cy="547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234" name="Google Shape;234;g321495b50a6_0_20"/>
          <p:cNvSpPr txBox="1"/>
          <p:nvPr>
            <p:ph idx="12" type="sldNum"/>
          </p:nvPr>
        </p:nvSpPr>
        <p:spPr>
          <a:xfrm>
            <a:off x="14850688" y="9689678"/>
            <a:ext cx="1968000" cy="547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35" name="Google Shape;235;g321495b50a6_0_20"/>
          <p:cNvSpPr txBox="1"/>
          <p:nvPr>
            <p:ph idx="11" type="ftr"/>
          </p:nvPr>
        </p:nvSpPr>
        <p:spPr>
          <a:xfrm>
            <a:off x="5529278" y="9689678"/>
            <a:ext cx="7234200" cy="547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236" name="Google Shape;236;g321495b50a6_0_20"/>
          <p:cNvSpPr/>
          <p:nvPr/>
        </p:nvSpPr>
        <p:spPr>
          <a:xfrm>
            <a:off x="1663959" y="4305300"/>
            <a:ext cx="4343400" cy="762000"/>
          </a:xfrm>
          <a:prstGeom prst="rect">
            <a:avLst/>
          </a:prstGeom>
          <a:solidFill>
            <a:schemeClr val="accent1"/>
          </a:solidFill>
          <a:ln cap="flat" cmpd="sng" w="15875">
            <a:solidFill>
              <a:srgbClr val="256C87"/>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lt1"/>
              </a:buClr>
              <a:buSzPts val="3200"/>
              <a:buFont typeface="Cambria"/>
              <a:buNone/>
            </a:pPr>
            <a:r>
              <a:rPr b="0" i="0" lang="en-US" sz="3200" u="none" cap="none" strike="noStrike">
                <a:solidFill>
                  <a:schemeClr val="lt1"/>
                </a:solidFill>
                <a:latin typeface="Cambria"/>
                <a:ea typeface="Cambria"/>
                <a:cs typeface="Cambria"/>
                <a:sym typeface="Cambria"/>
              </a:rPr>
              <a:t>print("Hello, world!)</a:t>
            </a:r>
            <a:endParaRPr b="0" i="0" sz="1400" u="none" cap="none" strike="noStrike">
              <a:solidFill>
                <a:srgbClr val="000000"/>
              </a:solidFill>
              <a:latin typeface="Arial"/>
              <a:ea typeface="Arial"/>
              <a:cs typeface="Arial"/>
              <a:sym typeface="Arial"/>
            </a:endParaRPr>
          </a:p>
        </p:txBody>
      </p:sp>
      <p:sp>
        <p:nvSpPr>
          <p:cNvPr id="237" name="Google Shape;237;g321495b50a6_0_20"/>
          <p:cNvSpPr/>
          <p:nvPr/>
        </p:nvSpPr>
        <p:spPr>
          <a:xfrm>
            <a:off x="1524000" y="6743700"/>
            <a:ext cx="5486400" cy="1143000"/>
          </a:xfrm>
          <a:prstGeom prst="rect">
            <a:avLst/>
          </a:prstGeom>
          <a:solidFill>
            <a:schemeClr val="accent1"/>
          </a:solidFill>
          <a:ln cap="flat" cmpd="sng" w="15875">
            <a:solidFill>
              <a:srgbClr val="256C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result = 10 * 2 / 5 + 3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            print(result)</a:t>
            </a:r>
            <a:endParaRPr b="0" i="0" sz="1400" u="none" cap="none" strike="noStrike">
              <a:solidFill>
                <a:srgbClr val="000000"/>
              </a:solidFill>
              <a:latin typeface="Arial"/>
              <a:ea typeface="Arial"/>
              <a:cs typeface="Arial"/>
              <a:sym typeface="Arial"/>
            </a:endParaRPr>
          </a:p>
        </p:txBody>
      </p:sp>
      <p:sp>
        <p:nvSpPr>
          <p:cNvPr id="238" name="Google Shape;238;g321495b50a6_0_20"/>
          <p:cNvSpPr/>
          <p:nvPr/>
        </p:nvSpPr>
        <p:spPr>
          <a:xfrm>
            <a:off x="9067800" y="6743700"/>
            <a:ext cx="5486400" cy="1143000"/>
          </a:xfrm>
          <a:prstGeom prst="rect">
            <a:avLst/>
          </a:prstGeom>
          <a:solidFill>
            <a:schemeClr val="accent1"/>
          </a:solidFill>
          <a:ln cap="flat" cmpd="sng" w="15875">
            <a:solidFill>
              <a:srgbClr val="256C8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Print(“Good Morning”) </a:t>
            </a:r>
            <a:r>
              <a:rPr b="1" i="0" lang="en-US" sz="3200" u="none" cap="none" strike="noStrike">
                <a:solidFill>
                  <a:schemeClr val="lt1"/>
                </a:solidFill>
                <a:latin typeface="Calibri"/>
                <a:ea typeface="Calibri"/>
                <a:cs typeface="Calibri"/>
                <a:sym typeface="Calibri"/>
              </a:rPr>
              <a:t>print</a:t>
            </a:r>
            <a:r>
              <a:rPr b="0" i="0" lang="en-US" sz="3200" u="none" cap="none" strike="noStrike">
                <a:solidFill>
                  <a:schemeClr val="lt1"/>
                </a:solidFill>
                <a:latin typeface="Calibri"/>
                <a:ea typeface="Calibri"/>
                <a:cs typeface="Calibri"/>
                <a:sym typeface="Calibri"/>
              </a:rPr>
              <a:t>(“Good night)</a:t>
            </a:r>
            <a:endParaRPr b="0" i="0" sz="1400" u="none" cap="none" strike="noStrike">
              <a:solidFill>
                <a:srgbClr val="000000"/>
              </a:solidFill>
              <a:latin typeface="Arial"/>
              <a:ea typeface="Arial"/>
              <a:cs typeface="Arial"/>
              <a:sym typeface="Arial"/>
            </a:endParaRPr>
          </a:p>
        </p:txBody>
      </p:sp>
      <p:pic>
        <p:nvPicPr>
          <p:cNvPr descr="Checkmark with solid fill" id="239" name="Google Shape;239;g321495b50a6_0_20"/>
          <p:cNvPicPr preferRelativeResize="0"/>
          <p:nvPr/>
        </p:nvPicPr>
        <p:blipFill rotWithShape="1">
          <a:blip r:embed="rId3">
            <a:alphaModFix/>
          </a:blip>
          <a:srcRect b="0" l="0" r="0" t="0"/>
          <a:stretch/>
        </p:blipFill>
        <p:spPr>
          <a:xfrm>
            <a:off x="7443278" y="4734232"/>
            <a:ext cx="914400" cy="914400"/>
          </a:xfrm>
          <a:prstGeom prst="rect">
            <a:avLst/>
          </a:prstGeom>
          <a:noFill/>
          <a:ln>
            <a:noFill/>
          </a:ln>
        </p:spPr>
      </p:pic>
      <p:pic>
        <p:nvPicPr>
          <p:cNvPr descr="Checkmark with solid fill" id="240" name="Google Shape;240;g321495b50a6_0_20"/>
          <p:cNvPicPr preferRelativeResize="0"/>
          <p:nvPr/>
        </p:nvPicPr>
        <p:blipFill rotWithShape="1">
          <a:blip r:embed="rId3">
            <a:alphaModFix/>
          </a:blip>
          <a:srcRect b="0" l="0" r="0" t="0"/>
          <a:stretch/>
        </p:blipFill>
        <p:spPr>
          <a:xfrm>
            <a:off x="450304" y="8565605"/>
            <a:ext cx="845095" cy="845095"/>
          </a:xfrm>
          <a:prstGeom prst="rect">
            <a:avLst/>
          </a:prstGeom>
          <a:noFill/>
          <a:ln>
            <a:noFill/>
          </a:ln>
        </p:spPr>
      </p:pic>
      <p:pic>
        <p:nvPicPr>
          <p:cNvPr descr="Checkmark with solid fill" id="241" name="Google Shape;241;g321495b50a6_0_20"/>
          <p:cNvPicPr preferRelativeResize="0"/>
          <p:nvPr/>
        </p:nvPicPr>
        <p:blipFill rotWithShape="1">
          <a:blip r:embed="rId3">
            <a:alphaModFix/>
          </a:blip>
          <a:srcRect b="0" l="0" r="0" t="0"/>
          <a:stretch/>
        </p:blipFill>
        <p:spPr>
          <a:xfrm>
            <a:off x="7900478" y="7677764"/>
            <a:ext cx="914400"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5" name="Shape 245"/>
        <p:cNvGrpSpPr/>
        <p:nvPr/>
      </p:nvGrpSpPr>
      <p:grpSpPr>
        <a:xfrm>
          <a:off x="0" y="0"/>
          <a:ext cx="0" cy="0"/>
          <a:chOff x="0" y="0"/>
          <a:chExt cx="0" cy="0"/>
        </a:xfrm>
      </p:grpSpPr>
      <p:sp>
        <p:nvSpPr>
          <p:cNvPr id="246" name="Google Shape;246;p11"/>
          <p:cNvSpPr txBox="1"/>
          <p:nvPr>
            <p:ph type="title"/>
          </p:nvPr>
        </p:nvSpPr>
        <p:spPr>
          <a:xfrm>
            <a:off x="838200" y="6477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247" name="Google Shape;247;p11"/>
          <p:cNvSpPr txBox="1"/>
          <p:nvPr>
            <p:ph idx="1" type="body"/>
          </p:nvPr>
        </p:nvSpPr>
        <p:spPr>
          <a:xfrm>
            <a:off x="228600" y="2705100"/>
            <a:ext cx="176784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4400"/>
              <a:buNone/>
            </a:pPr>
            <a:r>
              <a:rPr b="1" lang="en-US" sz="4400">
                <a:latin typeface="Cambria"/>
                <a:ea typeface="Cambria"/>
                <a:cs typeface="Cambria"/>
                <a:sym typeface="Cambria"/>
              </a:rPr>
              <a:t>2. Handling Exceptions:  </a:t>
            </a:r>
            <a:r>
              <a:rPr lang="en-US" sz="3200">
                <a:latin typeface="Cambria"/>
                <a:ea typeface="Cambria"/>
                <a:cs typeface="Cambria"/>
                <a:sym typeface="Cambria"/>
              </a:rPr>
              <a:t>We can handle exceptions in our program  by using try block and except block . </a:t>
            </a:r>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lang="en-US" sz="3200" u="sng">
                <a:latin typeface="Cambria"/>
                <a:ea typeface="Cambria"/>
                <a:cs typeface="Cambria"/>
                <a:sym typeface="Cambria"/>
              </a:rPr>
              <a:t>.</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248" name="Google Shape;248;p11"/>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249" name="Google Shape;249;p11"/>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50" name="Google Shape;250;p11"/>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251" name="Google Shape;251;p11"/>
          <p:cNvSpPr/>
          <p:nvPr/>
        </p:nvSpPr>
        <p:spPr>
          <a:xfrm>
            <a:off x="838200" y="4838700"/>
            <a:ext cx="7924800" cy="42672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rgbClr val="000000"/>
              </a:buClr>
              <a:buSzPts val="3200"/>
              <a:buFont typeface="Arial"/>
              <a:buNone/>
            </a:pPr>
            <a:r>
              <a:rPr b="1" i="0" lang="en-US" sz="3200" u="none" cap="none" strike="noStrike">
                <a:solidFill>
                  <a:schemeClr val="dk1"/>
                </a:solidFill>
                <a:latin typeface="Cambria"/>
                <a:ea typeface="Cambria"/>
                <a:cs typeface="Cambria"/>
                <a:sym typeface="Cambria"/>
              </a:rPr>
              <a:t>Syntax:</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3200"/>
              <a:buFont typeface="Cambria"/>
              <a:buNone/>
            </a:pPr>
            <a:r>
              <a:rPr b="0" i="0" lang="en-US" sz="3200" u="none" cap="none" strike="noStrike">
                <a:solidFill>
                  <a:schemeClr val="dk1"/>
                </a:solidFill>
                <a:latin typeface="Cambria"/>
                <a:ea typeface="Cambria"/>
                <a:cs typeface="Cambria"/>
                <a:sym typeface="Cambria"/>
              </a:rPr>
              <a:t>try:</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3200"/>
              <a:buFont typeface="Cambria"/>
              <a:buNone/>
            </a:pPr>
            <a:r>
              <a:rPr b="0" i="0" lang="en-US" sz="3200" u="none" cap="none" strike="noStrike">
                <a:solidFill>
                  <a:schemeClr val="dk1"/>
                </a:solidFill>
                <a:latin typeface="Cambria"/>
                <a:ea typeface="Cambria"/>
                <a:cs typeface="Cambria"/>
                <a:sym typeface="Cambria"/>
              </a:rPr>
              <a:t>    statements</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3200"/>
              <a:buFont typeface="Cambria"/>
              <a:buNone/>
            </a:pPr>
            <a:r>
              <a:rPr b="0" i="0" lang="en-US" sz="3200" u="none" cap="none" strike="noStrike">
                <a:solidFill>
                  <a:schemeClr val="dk1"/>
                </a:solidFill>
                <a:latin typeface="Cambria"/>
                <a:ea typeface="Cambria"/>
                <a:cs typeface="Cambria"/>
                <a:sym typeface="Cambria"/>
              </a:rPr>
              <a:t>except ExceptionName:</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3200"/>
              <a:buFont typeface="Cambria"/>
              <a:buNone/>
            </a:pPr>
            <a:r>
              <a:rPr b="0" i="0" lang="en-US" sz="3200" u="none" cap="none" strike="noStrike">
                <a:solidFill>
                  <a:schemeClr val="dk1"/>
                </a:solidFill>
                <a:latin typeface="Cambria"/>
                <a:ea typeface="Cambria"/>
                <a:cs typeface="Cambria"/>
                <a:sym typeface="Cambria"/>
              </a:rPr>
              <a:t>    statements</a:t>
            </a:r>
            <a:endParaRPr b="0" i="0" sz="3200" u="none" cap="none" strike="noStrike">
              <a:solidFill>
                <a:schemeClr val="dk1"/>
              </a:solidFill>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5" name="Shape 255"/>
        <p:cNvGrpSpPr/>
        <p:nvPr/>
      </p:nvGrpSpPr>
      <p:grpSpPr>
        <a:xfrm>
          <a:off x="0" y="0"/>
          <a:ext cx="0" cy="0"/>
          <a:chOff x="0" y="0"/>
          <a:chExt cx="0" cy="0"/>
        </a:xfrm>
      </p:grpSpPr>
      <p:sp>
        <p:nvSpPr>
          <p:cNvPr id="256" name="Google Shape;256;p12"/>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257" name="Google Shape;257;p12"/>
          <p:cNvSpPr txBox="1"/>
          <p:nvPr>
            <p:ph idx="1" type="body"/>
          </p:nvPr>
        </p:nvSpPr>
        <p:spPr>
          <a:xfrm>
            <a:off x="1600200" y="1943100"/>
            <a:ext cx="16459200" cy="76200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lang="en-US" sz="3200">
                <a:latin typeface="Cambria"/>
                <a:ea typeface="Cambria"/>
                <a:cs typeface="Cambria"/>
                <a:sym typeface="Cambria"/>
              </a:rPr>
              <a:t>             </a:t>
            </a:r>
            <a:r>
              <a:rPr b="1" lang="en-US" sz="3200">
                <a:latin typeface="Cambria"/>
                <a:ea typeface="Cambria"/>
                <a:cs typeface="Cambria"/>
                <a:sym typeface="Cambria"/>
              </a:rPr>
              <a:t>The try statement works as follows</a:t>
            </a:r>
            <a:endParaRPr/>
          </a:p>
          <a:p>
            <a:pPr indent="0" lvl="1" marL="301752" rtl="0" algn="l">
              <a:lnSpc>
                <a:spcPct val="150000"/>
              </a:lnSpc>
              <a:spcBef>
                <a:spcPts val="900"/>
              </a:spcBef>
              <a:spcAft>
                <a:spcPts val="0"/>
              </a:spcAft>
              <a:buSzPts val="2800"/>
              <a:buNone/>
            </a:pPr>
            <a:r>
              <a:rPr b="1" lang="en-US" sz="2800">
                <a:latin typeface="Cambria"/>
                <a:ea typeface="Cambria"/>
                <a:cs typeface="Cambria"/>
                <a:sym typeface="Cambria"/>
              </a:rPr>
              <a:t>Step 1: </a:t>
            </a:r>
            <a:r>
              <a:rPr lang="en-US" sz="2800">
                <a:latin typeface="Cambria"/>
                <a:ea typeface="Cambria"/>
                <a:cs typeface="Cambria"/>
                <a:sym typeface="Cambria"/>
              </a:rPr>
              <a:t>First ,the try block (statement(s) between the try and except keywords is executed</a:t>
            </a:r>
            <a:endParaRPr/>
          </a:p>
          <a:p>
            <a:pPr indent="0" lvl="1" marL="301752" rtl="0" algn="l">
              <a:lnSpc>
                <a:spcPct val="150000"/>
              </a:lnSpc>
              <a:spcBef>
                <a:spcPts val="900"/>
              </a:spcBef>
              <a:spcAft>
                <a:spcPts val="0"/>
              </a:spcAft>
              <a:buSzPts val="2800"/>
              <a:buNone/>
            </a:pPr>
            <a:r>
              <a:rPr b="1" lang="en-US" sz="2800">
                <a:latin typeface="Cambria"/>
                <a:ea typeface="Cambria"/>
                <a:cs typeface="Cambria"/>
                <a:sym typeface="Cambria"/>
              </a:rPr>
              <a:t>Step 2a: </a:t>
            </a:r>
            <a:r>
              <a:rPr lang="en-US" sz="2800">
                <a:latin typeface="Cambria"/>
                <a:ea typeface="Cambria"/>
                <a:cs typeface="Cambria"/>
                <a:sym typeface="Cambria"/>
              </a:rPr>
              <a:t>If  no exception occurs ,the except block is skipped.</a:t>
            </a:r>
            <a:endParaRPr/>
          </a:p>
          <a:p>
            <a:pPr indent="0" lvl="1" marL="301752" rtl="0" algn="l">
              <a:lnSpc>
                <a:spcPct val="150000"/>
              </a:lnSpc>
              <a:spcBef>
                <a:spcPts val="900"/>
              </a:spcBef>
              <a:spcAft>
                <a:spcPts val="0"/>
              </a:spcAft>
              <a:buSzPts val="2800"/>
              <a:buNone/>
            </a:pPr>
            <a:r>
              <a:rPr b="1" lang="en-US" sz="2800">
                <a:latin typeface="Cambria"/>
                <a:ea typeface="Cambria"/>
                <a:cs typeface="Cambria"/>
                <a:sym typeface="Cambria"/>
              </a:rPr>
              <a:t>Step 2b: </a:t>
            </a:r>
            <a:r>
              <a:rPr lang="en-US" sz="2800">
                <a:latin typeface="Cambria"/>
                <a:ea typeface="Cambria"/>
                <a:cs typeface="Cambria"/>
                <a:sym typeface="Cambria"/>
              </a:rPr>
              <a:t>If an exception occurs ,during execution of any statement in the try block ,then</a:t>
            </a:r>
            <a:endParaRPr/>
          </a:p>
          <a:p>
            <a:pPr indent="-571500" lvl="1" marL="873252" rtl="0" algn="l">
              <a:lnSpc>
                <a:spcPct val="150000"/>
              </a:lnSpc>
              <a:spcBef>
                <a:spcPts val="900"/>
              </a:spcBef>
              <a:spcAft>
                <a:spcPts val="0"/>
              </a:spcAft>
              <a:buSzPts val="2800"/>
              <a:buAutoNum type="romanLcParenBoth"/>
            </a:pPr>
            <a:r>
              <a:rPr lang="en-US" sz="2800">
                <a:latin typeface="Cambria"/>
                <a:ea typeface="Cambria"/>
                <a:cs typeface="Cambria"/>
                <a:sym typeface="Cambria"/>
              </a:rPr>
              <a:t>Rest of the try statements in the try block is skipped</a:t>
            </a:r>
            <a:endParaRPr/>
          </a:p>
          <a:p>
            <a:pPr indent="-571500" lvl="1" marL="873252" rtl="0" algn="l">
              <a:lnSpc>
                <a:spcPct val="150000"/>
              </a:lnSpc>
              <a:spcBef>
                <a:spcPts val="900"/>
              </a:spcBef>
              <a:spcAft>
                <a:spcPts val="0"/>
              </a:spcAft>
              <a:buSzPts val="2800"/>
              <a:buAutoNum type="romanLcParenBoth"/>
            </a:pPr>
            <a:r>
              <a:rPr lang="en-US" sz="2800">
                <a:latin typeface="Cambria"/>
                <a:ea typeface="Cambria"/>
                <a:cs typeface="Cambria"/>
                <a:sym typeface="Cambria"/>
              </a:rPr>
              <a:t> If the exception type matches the exception named after the except keyword ,the except block is executed and then execution continues after the try statement.</a:t>
            </a:r>
            <a:endParaRPr/>
          </a:p>
          <a:p>
            <a:pPr indent="-571500" lvl="1" marL="873252" rtl="0" algn="l">
              <a:lnSpc>
                <a:spcPct val="150000"/>
              </a:lnSpc>
              <a:spcBef>
                <a:spcPts val="900"/>
              </a:spcBef>
              <a:spcAft>
                <a:spcPts val="0"/>
              </a:spcAft>
              <a:buSzPts val="2800"/>
              <a:buAutoNum type="romanLcParenBoth"/>
            </a:pPr>
            <a:r>
              <a:rPr lang="en-US" sz="2800">
                <a:latin typeface="Cambria"/>
                <a:ea typeface="Cambria"/>
                <a:cs typeface="Cambria"/>
                <a:sym typeface="Cambria"/>
              </a:rPr>
              <a:t> If the exception occurs which does not match the exception named in the except block ,then it is passed on to outer try block. If no exception handler is found in the program then it is an unhandled exception and the program is terminated with an error message. </a:t>
            </a:r>
            <a:endParaRPr sz="3200">
              <a:latin typeface="Cambria"/>
              <a:ea typeface="Cambria"/>
              <a:cs typeface="Cambria"/>
              <a:sym typeface="Cambria"/>
            </a:endParaRPr>
          </a:p>
          <a:p>
            <a:pPr indent="-368300" lvl="1" marL="8732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lang="en-US" sz="3200" u="sng">
                <a:latin typeface="Cambria"/>
                <a:ea typeface="Cambria"/>
                <a:cs typeface="Cambria"/>
                <a:sym typeface="Cambria"/>
              </a:rPr>
              <a:t>.</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258" name="Google Shape;258;p12"/>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259" name="Google Shape;259;p12"/>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60" name="Google Shape;260;p12"/>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4" name="Shape 264"/>
        <p:cNvGrpSpPr/>
        <p:nvPr/>
      </p:nvGrpSpPr>
      <p:grpSpPr>
        <a:xfrm>
          <a:off x="0" y="0"/>
          <a:ext cx="0" cy="0"/>
          <a:chOff x="0" y="0"/>
          <a:chExt cx="0" cy="0"/>
        </a:xfrm>
      </p:grpSpPr>
      <p:sp>
        <p:nvSpPr>
          <p:cNvPr id="265" name="Google Shape;265;p13"/>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266" name="Google Shape;266;p13"/>
          <p:cNvSpPr txBox="1"/>
          <p:nvPr>
            <p:ph idx="1" type="body"/>
          </p:nvPr>
        </p:nvSpPr>
        <p:spPr>
          <a:xfrm>
            <a:off x="228600" y="2705100"/>
            <a:ext cx="176784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latin typeface="Cambria"/>
                <a:ea typeface="Cambria"/>
                <a:cs typeface="Cambria"/>
                <a:sym typeface="Cambria"/>
              </a:rPr>
              <a:t>Example : </a:t>
            </a:r>
            <a:r>
              <a:rPr lang="en-US" sz="3200">
                <a:latin typeface="Cambria"/>
                <a:ea typeface="Cambria"/>
                <a:cs typeface="Cambria"/>
                <a:sym typeface="Cambria"/>
              </a:rPr>
              <a:t>Program to handle the divide by zero exception</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lang="en-US" sz="3200" u="sng">
                <a:latin typeface="Cambria"/>
                <a:ea typeface="Cambria"/>
                <a:cs typeface="Cambria"/>
                <a:sym typeface="Cambria"/>
              </a:rPr>
              <a:t>.</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267" name="Google Shape;267;p13"/>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268" name="Google Shape;268;p13"/>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69" name="Google Shape;269;p13"/>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270" name="Google Shape;270;p13"/>
          <p:cNvSpPr/>
          <p:nvPr/>
        </p:nvSpPr>
        <p:spPr>
          <a:xfrm>
            <a:off x="533400" y="3619500"/>
            <a:ext cx="10134600" cy="57150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rgbClr val="000000"/>
              </a:buClr>
              <a:buSzPts val="3200"/>
              <a:buFont typeface="Arial"/>
              <a:buNone/>
            </a:pPr>
            <a:r>
              <a:rPr b="0" i="0" lang="en-US" sz="3200" u="none" cap="none" strike="noStrike">
                <a:solidFill>
                  <a:schemeClr val="dk1"/>
                </a:solidFill>
                <a:latin typeface="Cambria"/>
                <a:ea typeface="Cambria"/>
                <a:cs typeface="Cambria"/>
                <a:sym typeface="Cambria"/>
              </a:rPr>
              <a:t>num=int(input(“Enter the numerator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3200"/>
              <a:buFont typeface="Arial"/>
              <a:buNone/>
            </a:pPr>
            <a:r>
              <a:rPr b="0" i="0" lang="en-US" sz="3200" u="none" cap="none" strike="noStrike">
                <a:solidFill>
                  <a:schemeClr val="dk1"/>
                </a:solidFill>
                <a:latin typeface="Cambria"/>
                <a:ea typeface="Cambria"/>
                <a:cs typeface="Cambria"/>
                <a:sym typeface="Cambria"/>
              </a:rPr>
              <a:t>deno =int(input(“Enter the denominator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3200"/>
              <a:buFont typeface="Arial"/>
              <a:buNone/>
            </a:pPr>
            <a:r>
              <a:rPr b="0" i="0" lang="en-US" sz="3200" u="none" cap="none" strike="noStrike">
                <a:solidFill>
                  <a:schemeClr val="dk1"/>
                </a:solidFill>
                <a:latin typeface="Cambria"/>
                <a:ea typeface="Cambria"/>
                <a:cs typeface="Cambria"/>
                <a:sym typeface="Cambria"/>
              </a:rPr>
              <a:t>try:</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3200"/>
              <a:buFont typeface="Arial"/>
              <a:buNone/>
            </a:pPr>
            <a:r>
              <a:rPr b="0" i="0" lang="en-US" sz="3200" u="none" cap="none" strike="noStrike">
                <a:solidFill>
                  <a:schemeClr val="dk1"/>
                </a:solidFill>
                <a:latin typeface="Cambria"/>
                <a:ea typeface="Cambria"/>
                <a:cs typeface="Cambria"/>
                <a:sym typeface="Cambria"/>
              </a:rPr>
              <a:t>    quo=num/deno</a:t>
            </a:r>
            <a:endParaRPr b="0" i="0" sz="3200" u="none" cap="none" strike="noStrike">
              <a:solidFill>
                <a:schemeClr val="dk1"/>
              </a:solidFill>
              <a:latin typeface="Cambria"/>
              <a:ea typeface="Cambria"/>
              <a:cs typeface="Cambria"/>
              <a:sym typeface="Cambria"/>
            </a:endParaRPr>
          </a:p>
          <a:p>
            <a:pPr indent="0" lvl="1" marL="301752" marR="0" rtl="0" algn="l">
              <a:lnSpc>
                <a:spcPct val="150000"/>
              </a:lnSpc>
              <a:spcBef>
                <a:spcPts val="0"/>
              </a:spcBef>
              <a:spcAft>
                <a:spcPts val="0"/>
              </a:spcAft>
              <a:buClr>
                <a:srgbClr val="000000"/>
              </a:buClr>
              <a:buSzPts val="3200"/>
              <a:buFont typeface="Arial"/>
              <a:buNone/>
            </a:pPr>
            <a:r>
              <a:rPr b="0" i="0" lang="en-US" sz="3200" u="none" cap="none" strike="noStrike">
                <a:solidFill>
                  <a:schemeClr val="dk1"/>
                </a:solidFill>
                <a:latin typeface="Cambria"/>
                <a:ea typeface="Cambria"/>
                <a:cs typeface="Cambria"/>
                <a:sym typeface="Cambria"/>
              </a:rPr>
              <a:t>    print("QUOTIENT:",quo)</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3200"/>
              <a:buFont typeface="Arial"/>
              <a:buNone/>
            </a:pPr>
            <a:r>
              <a:rPr b="0" i="0" lang="en-US" sz="3200" u="none" cap="none" strike="noStrike">
                <a:solidFill>
                  <a:schemeClr val="dk1"/>
                </a:solidFill>
                <a:latin typeface="Cambria"/>
                <a:ea typeface="Cambria"/>
                <a:cs typeface="Cambria"/>
                <a:sym typeface="Cambria"/>
              </a:rPr>
              <a:t>except ZeroDivisionError:</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3200"/>
              <a:buFont typeface="Arial"/>
              <a:buNone/>
            </a:pPr>
            <a:r>
              <a:rPr b="0" i="0" lang="en-US" sz="3200" u="none" cap="none" strike="noStrike">
                <a:solidFill>
                  <a:schemeClr val="dk1"/>
                </a:solidFill>
                <a:latin typeface="Cambria"/>
                <a:ea typeface="Cambria"/>
                <a:cs typeface="Cambria"/>
                <a:sym typeface="Cambria"/>
              </a:rPr>
              <a:t>    print("Denominator cannot be zero")</a:t>
            </a:r>
            <a:endParaRPr b="0" i="0" sz="3200" u="none" cap="none" strike="noStrike">
              <a:solidFill>
                <a:schemeClr val="dk1"/>
              </a:solidFill>
              <a:latin typeface="Cambria"/>
              <a:ea typeface="Cambria"/>
              <a:cs typeface="Cambria"/>
              <a:sym typeface="Cambria"/>
            </a:endParaRPr>
          </a:p>
        </p:txBody>
      </p:sp>
      <p:sp>
        <p:nvSpPr>
          <p:cNvPr id="271" name="Google Shape;271;p13"/>
          <p:cNvSpPr/>
          <p:nvPr/>
        </p:nvSpPr>
        <p:spPr>
          <a:xfrm>
            <a:off x="11887201" y="4229100"/>
            <a:ext cx="5562600" cy="32766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dk1"/>
              </a:buClr>
              <a:buSzPts val="3200"/>
              <a:buFont typeface="Calibri"/>
              <a:buNone/>
            </a:pPr>
            <a:r>
              <a:rPr b="1" i="0" lang="en-US" sz="3200" u="none" cap="none" strike="noStrike">
                <a:solidFill>
                  <a:schemeClr val="dk1"/>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Enter the numerator :    10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enter the Denominator : 0 Denominator cannot be zero</a:t>
            </a:r>
            <a:endParaRPr b="0" i="0" sz="3200" u="none" cap="none" strike="noStrike">
              <a:solidFill>
                <a:schemeClr val="dk1"/>
              </a:solidFill>
              <a:latin typeface="Cambria"/>
              <a:ea typeface="Cambria"/>
              <a:cs typeface="Cambria"/>
              <a:sym typeface="Cambr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5" name="Shape 275"/>
        <p:cNvGrpSpPr/>
        <p:nvPr/>
      </p:nvGrpSpPr>
      <p:grpSpPr>
        <a:xfrm>
          <a:off x="0" y="0"/>
          <a:ext cx="0" cy="0"/>
          <a:chOff x="0" y="0"/>
          <a:chExt cx="0" cy="0"/>
        </a:xfrm>
      </p:grpSpPr>
      <p:sp>
        <p:nvSpPr>
          <p:cNvPr id="276" name="Google Shape;276;p14"/>
          <p:cNvSpPr txBox="1"/>
          <p:nvPr>
            <p:ph type="title"/>
          </p:nvPr>
        </p:nvSpPr>
        <p:spPr>
          <a:xfrm>
            <a:off x="914400" y="8001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277" name="Google Shape;277;p14"/>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Unsolved Programming Questions to be handled by the students</a:t>
            </a:r>
            <a:endParaRPr/>
          </a:p>
          <a:p>
            <a:pPr indent="0" lvl="1" marL="301752" rtl="0" algn="l">
              <a:lnSpc>
                <a:spcPct val="150000"/>
              </a:lnSpc>
              <a:spcBef>
                <a:spcPts val="900"/>
              </a:spcBef>
              <a:spcAft>
                <a:spcPts val="0"/>
              </a:spcAft>
              <a:buSzPts val="3200"/>
              <a:buNone/>
            </a:pPr>
            <a:r>
              <a:rPr lang="en-US" sz="3200"/>
              <a:t>1. You are developing a Python program that reads an integer from the user and calculates the square root of that number. However, the user might enter a negative number, which would result in a ValueError.</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lang="en-US" sz="3200">
                <a:latin typeface="Cambria"/>
                <a:ea typeface="Cambria"/>
                <a:cs typeface="Cambria"/>
                <a:sym typeface="Cambria"/>
              </a:rPr>
              <a:t>2. </a:t>
            </a:r>
            <a:r>
              <a:rPr lang="en-US" sz="3200"/>
              <a:t>You are developing a Python program that calculates the area of a rectangle. However, there is a typo in one of the variable names used to store the width of the rectangle, leading to a NameError.</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lang="en-US" sz="3200" u="sng">
                <a:latin typeface="Cambria"/>
                <a:ea typeface="Cambria"/>
                <a:cs typeface="Cambria"/>
                <a:sym typeface="Cambria"/>
              </a:rPr>
              <a:t>.</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278" name="Google Shape;278;p14"/>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279" name="Google Shape;279;p14"/>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80" name="Google Shape;280;p14"/>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4" name="Shape 284"/>
        <p:cNvGrpSpPr/>
        <p:nvPr/>
      </p:nvGrpSpPr>
      <p:grpSpPr>
        <a:xfrm>
          <a:off x="0" y="0"/>
          <a:ext cx="0" cy="0"/>
          <a:chOff x="0" y="0"/>
          <a:chExt cx="0" cy="0"/>
        </a:xfrm>
      </p:grpSpPr>
      <p:sp>
        <p:nvSpPr>
          <p:cNvPr id="285" name="Google Shape;285;p15"/>
          <p:cNvSpPr txBox="1"/>
          <p:nvPr>
            <p:ph type="title"/>
          </p:nvPr>
        </p:nvSpPr>
        <p:spPr>
          <a:xfrm>
            <a:off x="609600" y="2667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286" name="Google Shape;286;p15"/>
          <p:cNvSpPr txBox="1"/>
          <p:nvPr>
            <p:ph idx="1" type="body"/>
          </p:nvPr>
        </p:nvSpPr>
        <p:spPr>
          <a:xfrm>
            <a:off x="597159" y="1866900"/>
            <a:ext cx="17297400" cy="73914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Quiz</a:t>
            </a:r>
            <a:endParaRPr/>
          </a:p>
          <a:p>
            <a:pPr indent="-184150" lvl="0" marL="137160" rtl="0" algn="l">
              <a:lnSpc>
                <a:spcPct val="90000"/>
              </a:lnSpc>
              <a:spcBef>
                <a:spcPts val="2400"/>
              </a:spcBef>
              <a:spcAft>
                <a:spcPts val="0"/>
              </a:spcAft>
              <a:buSzPts val="2900"/>
              <a:buChar char=" "/>
            </a:pPr>
            <a:r>
              <a:rPr lang="en-US" sz="2900"/>
              <a:t>1. Which keyword is used in Python to handle exceptions?</a:t>
            </a:r>
            <a:endParaRPr/>
          </a:p>
          <a:p>
            <a:pPr indent="-184150" lvl="0" marL="137160" rtl="0" algn="l">
              <a:lnSpc>
                <a:spcPct val="90000"/>
              </a:lnSpc>
              <a:spcBef>
                <a:spcPts val="2100"/>
              </a:spcBef>
              <a:spcAft>
                <a:spcPts val="0"/>
              </a:spcAft>
              <a:buSzPts val="2900"/>
              <a:buChar char=" "/>
            </a:pPr>
            <a:r>
              <a:rPr lang="en-US" sz="2900"/>
              <a:t>    a) try     b)catch    c) finally   d) throw</a:t>
            </a:r>
            <a:endParaRPr/>
          </a:p>
          <a:p>
            <a:pPr indent="-184150" lvl="0" marL="137160" rtl="0" algn="l">
              <a:lnSpc>
                <a:spcPct val="150000"/>
              </a:lnSpc>
              <a:spcBef>
                <a:spcPts val="2100"/>
              </a:spcBef>
              <a:spcAft>
                <a:spcPts val="0"/>
              </a:spcAft>
              <a:buSzPts val="2900"/>
              <a:buChar char=" "/>
            </a:pPr>
            <a:r>
              <a:rPr lang="en-US" sz="2900"/>
              <a:t>2. What type of error is raised when a function receives an argument of the correct type but an inappropriate value?</a:t>
            </a:r>
            <a:endParaRPr/>
          </a:p>
          <a:p>
            <a:pPr indent="-184150" lvl="0" marL="137160" rtl="0" algn="l">
              <a:lnSpc>
                <a:spcPct val="90000"/>
              </a:lnSpc>
              <a:spcBef>
                <a:spcPts val="2100"/>
              </a:spcBef>
              <a:spcAft>
                <a:spcPts val="0"/>
              </a:spcAft>
              <a:buSzPts val="2900"/>
              <a:buChar char=" "/>
            </a:pPr>
            <a:r>
              <a:rPr lang="en-US" sz="2900"/>
              <a:t>a) SyntaxError  b) ValueError  c)NameError  d) TypeError</a:t>
            </a:r>
            <a:endParaRPr sz="2900"/>
          </a:p>
          <a:p>
            <a:pPr indent="-184150" lvl="0" marL="137160" rtl="0" algn="l">
              <a:lnSpc>
                <a:spcPct val="90000"/>
              </a:lnSpc>
              <a:spcBef>
                <a:spcPts val="2100"/>
              </a:spcBef>
              <a:spcAft>
                <a:spcPts val="0"/>
              </a:spcAft>
              <a:buSzPts val="2900"/>
              <a:buChar char=" "/>
            </a:pPr>
            <a:r>
              <a:rPr lang="en-US" sz="2900"/>
              <a:t>3. What is the purpose of using a try-except block in Python?</a:t>
            </a:r>
            <a:endParaRPr/>
          </a:p>
          <a:p>
            <a:pPr indent="-184150" lvl="0" marL="137160" rtl="0" algn="l">
              <a:lnSpc>
                <a:spcPct val="100000"/>
              </a:lnSpc>
              <a:spcBef>
                <a:spcPts val="2100"/>
              </a:spcBef>
              <a:spcAft>
                <a:spcPts val="0"/>
              </a:spcAft>
              <a:buSzPts val="2900"/>
              <a:buChar char=" "/>
            </a:pPr>
            <a:r>
              <a:rPr lang="en-US" sz="2900"/>
              <a:t>a) To ignore any exceptions that occur during program execution. b) To catch and handle exceptions that occur during program execution.</a:t>
            </a:r>
            <a:br>
              <a:rPr lang="en-US" sz="2900"/>
            </a:br>
            <a:r>
              <a:rPr lang="en-US" sz="2900"/>
              <a:t>c) To terminate the program if an exception occurs. d) To raise a specific exception at a particular point in the program</a:t>
            </a:r>
            <a:r>
              <a:rPr lang="en-US"/>
              <a:t>.</a:t>
            </a:r>
            <a:endParaRPr/>
          </a:p>
          <a:p>
            <a:pPr indent="0" lvl="0" marL="137160" rtl="0" algn="l">
              <a:lnSpc>
                <a:spcPct val="90000"/>
              </a:lnSpc>
              <a:spcBef>
                <a:spcPts val="2100"/>
              </a:spcBef>
              <a:spcAft>
                <a:spcPts val="0"/>
              </a:spcAft>
              <a:buSzPts val="3000"/>
              <a:buNone/>
            </a:pPr>
            <a:r>
              <a:t/>
            </a:r>
            <a:endParaRPr/>
          </a:p>
          <a:p>
            <a:pPr indent="0" lvl="1" marL="301752" rtl="0" algn="l">
              <a:lnSpc>
                <a:spcPct val="150000"/>
              </a:lnSpc>
              <a:spcBef>
                <a:spcPts val="6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lang="en-US" sz="3200" u="sng">
                <a:latin typeface="Cambria"/>
                <a:ea typeface="Cambria"/>
                <a:cs typeface="Cambria"/>
                <a:sym typeface="Cambria"/>
              </a:rPr>
              <a:t>.</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287" name="Google Shape;287;p15"/>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288" name="Google Shape;288;p15"/>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89" name="Google Shape;289;p15"/>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3" name="Shape 293"/>
        <p:cNvGrpSpPr/>
        <p:nvPr/>
      </p:nvGrpSpPr>
      <p:grpSpPr>
        <a:xfrm>
          <a:off x="0" y="0"/>
          <a:ext cx="0" cy="0"/>
          <a:chOff x="0" y="0"/>
          <a:chExt cx="0" cy="0"/>
        </a:xfrm>
      </p:grpSpPr>
      <p:sp>
        <p:nvSpPr>
          <p:cNvPr id="294" name="Google Shape;294;g321495b50a6_0_34"/>
          <p:cNvSpPr txBox="1"/>
          <p:nvPr>
            <p:ph type="title"/>
          </p:nvPr>
        </p:nvSpPr>
        <p:spPr>
          <a:xfrm>
            <a:off x="609600" y="2667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295" name="Google Shape;295;g321495b50a6_0_34"/>
          <p:cNvSpPr txBox="1"/>
          <p:nvPr>
            <p:ph idx="1" type="body"/>
          </p:nvPr>
        </p:nvSpPr>
        <p:spPr>
          <a:xfrm>
            <a:off x="597159" y="1866900"/>
            <a:ext cx="17297400" cy="73914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Quiz</a:t>
            </a:r>
            <a:endParaRPr/>
          </a:p>
          <a:p>
            <a:pPr indent="-184150" lvl="0" marL="137160" rtl="0" algn="l">
              <a:lnSpc>
                <a:spcPct val="90000"/>
              </a:lnSpc>
              <a:spcBef>
                <a:spcPts val="2400"/>
              </a:spcBef>
              <a:spcAft>
                <a:spcPts val="0"/>
              </a:spcAft>
              <a:buSzPts val="2900"/>
              <a:buChar char=" "/>
            </a:pPr>
            <a:r>
              <a:rPr lang="en-US" sz="2900"/>
              <a:t>1. Which keyword is used in Python to handle exceptions?</a:t>
            </a:r>
            <a:endParaRPr/>
          </a:p>
          <a:p>
            <a:pPr indent="-184150" lvl="0" marL="137160" rtl="0" algn="l">
              <a:lnSpc>
                <a:spcPct val="90000"/>
              </a:lnSpc>
              <a:spcBef>
                <a:spcPts val="2100"/>
              </a:spcBef>
              <a:spcAft>
                <a:spcPts val="0"/>
              </a:spcAft>
              <a:buSzPts val="2900"/>
              <a:buChar char=" "/>
            </a:pPr>
            <a:r>
              <a:rPr lang="en-US" sz="2900"/>
              <a:t>    a) try     b)catch    c) finally   d) throw</a:t>
            </a:r>
            <a:endParaRPr/>
          </a:p>
          <a:p>
            <a:pPr indent="-184150" lvl="0" marL="137160" rtl="0" algn="l">
              <a:lnSpc>
                <a:spcPct val="150000"/>
              </a:lnSpc>
              <a:spcBef>
                <a:spcPts val="2100"/>
              </a:spcBef>
              <a:spcAft>
                <a:spcPts val="0"/>
              </a:spcAft>
              <a:buSzPts val="2900"/>
              <a:buChar char=" "/>
            </a:pPr>
            <a:r>
              <a:rPr lang="en-US" sz="2900"/>
              <a:t>2. What type of error is raised when a function receives an argument of the correct type but an inappropriate value?</a:t>
            </a:r>
            <a:endParaRPr/>
          </a:p>
          <a:p>
            <a:pPr indent="-184150" lvl="0" marL="137160" rtl="0" algn="l">
              <a:lnSpc>
                <a:spcPct val="90000"/>
              </a:lnSpc>
              <a:spcBef>
                <a:spcPts val="2100"/>
              </a:spcBef>
              <a:spcAft>
                <a:spcPts val="0"/>
              </a:spcAft>
              <a:buSzPts val="2900"/>
              <a:buChar char=" "/>
            </a:pPr>
            <a:r>
              <a:rPr lang="en-US" sz="2900"/>
              <a:t>a) SyntaxError  b) ValueError  c)NameError  d) TypeError</a:t>
            </a:r>
            <a:endParaRPr sz="2900"/>
          </a:p>
          <a:p>
            <a:pPr indent="-184150" lvl="0" marL="137160" rtl="0" algn="l">
              <a:lnSpc>
                <a:spcPct val="90000"/>
              </a:lnSpc>
              <a:spcBef>
                <a:spcPts val="2100"/>
              </a:spcBef>
              <a:spcAft>
                <a:spcPts val="0"/>
              </a:spcAft>
              <a:buSzPts val="2900"/>
              <a:buChar char=" "/>
            </a:pPr>
            <a:r>
              <a:rPr lang="en-US" sz="2900"/>
              <a:t>3. What is the purpose of using a try-except block in Python?</a:t>
            </a:r>
            <a:endParaRPr/>
          </a:p>
          <a:p>
            <a:pPr indent="-184150" lvl="0" marL="137160" rtl="0" algn="l">
              <a:lnSpc>
                <a:spcPct val="100000"/>
              </a:lnSpc>
              <a:spcBef>
                <a:spcPts val="2100"/>
              </a:spcBef>
              <a:spcAft>
                <a:spcPts val="0"/>
              </a:spcAft>
              <a:buSzPts val="2900"/>
              <a:buChar char=" "/>
            </a:pPr>
            <a:r>
              <a:rPr lang="en-US" sz="2900"/>
              <a:t>a) To ignore any exceptions that occur during program execution. b) To catch and handle exceptions that occur during program execution.</a:t>
            </a:r>
            <a:br>
              <a:rPr lang="en-US" sz="2900"/>
            </a:br>
            <a:r>
              <a:rPr lang="en-US" sz="2900"/>
              <a:t>c) To terminate the program if an exception occurs. d) To raise a specific exception at a particular point in the program</a:t>
            </a:r>
            <a:r>
              <a:rPr lang="en-US"/>
              <a:t>.</a:t>
            </a:r>
            <a:endParaRPr/>
          </a:p>
          <a:p>
            <a:pPr indent="0" lvl="0" marL="137160" rtl="0" algn="l">
              <a:lnSpc>
                <a:spcPct val="90000"/>
              </a:lnSpc>
              <a:spcBef>
                <a:spcPts val="2100"/>
              </a:spcBef>
              <a:spcAft>
                <a:spcPts val="0"/>
              </a:spcAft>
              <a:buSzPts val="3000"/>
              <a:buNone/>
            </a:pPr>
            <a:r>
              <a:t/>
            </a:r>
            <a:endParaRPr/>
          </a:p>
          <a:p>
            <a:pPr indent="0" lvl="1" marL="301752" rtl="0" algn="l">
              <a:lnSpc>
                <a:spcPct val="150000"/>
              </a:lnSpc>
              <a:spcBef>
                <a:spcPts val="6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lang="en-US" sz="3200" u="sng">
                <a:latin typeface="Cambria"/>
                <a:ea typeface="Cambria"/>
                <a:cs typeface="Cambria"/>
                <a:sym typeface="Cambria"/>
              </a:rPr>
              <a:t>.</a:t>
            </a:r>
            <a:endParaRPr sz="3200" u="sng">
              <a:latin typeface="Cambria"/>
              <a:ea typeface="Cambria"/>
              <a:cs typeface="Cambria"/>
              <a:sym typeface="Cambria"/>
            </a:endParaRPr>
          </a:p>
          <a:p>
            <a:pPr indent="-71117"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296" name="Google Shape;296;g321495b50a6_0_34"/>
          <p:cNvSpPr txBox="1"/>
          <p:nvPr>
            <p:ph idx="10" type="dt"/>
          </p:nvPr>
        </p:nvSpPr>
        <p:spPr>
          <a:xfrm>
            <a:off x="1645921" y="9689678"/>
            <a:ext cx="3708300" cy="547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297" name="Google Shape;297;g321495b50a6_0_34"/>
          <p:cNvSpPr txBox="1"/>
          <p:nvPr>
            <p:ph idx="12" type="sldNum"/>
          </p:nvPr>
        </p:nvSpPr>
        <p:spPr>
          <a:xfrm>
            <a:off x="14850688" y="9689678"/>
            <a:ext cx="1968000" cy="547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98" name="Google Shape;298;g321495b50a6_0_34"/>
          <p:cNvSpPr txBox="1"/>
          <p:nvPr>
            <p:ph idx="11" type="ftr"/>
          </p:nvPr>
        </p:nvSpPr>
        <p:spPr>
          <a:xfrm>
            <a:off x="5529278" y="9689678"/>
            <a:ext cx="7234200" cy="547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pic>
        <p:nvPicPr>
          <p:cNvPr descr="Checkmark with solid fill" id="299" name="Google Shape;299;g321495b50a6_0_34"/>
          <p:cNvPicPr preferRelativeResize="0"/>
          <p:nvPr/>
        </p:nvPicPr>
        <p:blipFill rotWithShape="1">
          <a:blip r:embed="rId3">
            <a:alphaModFix/>
          </a:blip>
          <a:srcRect b="0" l="0" r="0" t="0"/>
          <a:stretch/>
        </p:blipFill>
        <p:spPr>
          <a:xfrm>
            <a:off x="152400" y="3314700"/>
            <a:ext cx="914400" cy="914400"/>
          </a:xfrm>
          <a:prstGeom prst="rect">
            <a:avLst/>
          </a:prstGeom>
          <a:noFill/>
          <a:ln>
            <a:noFill/>
          </a:ln>
        </p:spPr>
      </p:pic>
      <p:pic>
        <p:nvPicPr>
          <p:cNvPr descr="Checkmark with solid fill" id="300" name="Google Shape;300;g321495b50a6_0_34"/>
          <p:cNvPicPr preferRelativeResize="0"/>
          <p:nvPr/>
        </p:nvPicPr>
        <p:blipFill rotWithShape="1">
          <a:blip r:embed="rId3">
            <a:alphaModFix/>
          </a:blip>
          <a:srcRect b="0" l="0" r="0" t="0"/>
          <a:stretch/>
        </p:blipFill>
        <p:spPr>
          <a:xfrm>
            <a:off x="3689425" y="5105400"/>
            <a:ext cx="914400" cy="914400"/>
          </a:xfrm>
          <a:prstGeom prst="rect">
            <a:avLst/>
          </a:prstGeom>
          <a:noFill/>
          <a:ln>
            <a:noFill/>
          </a:ln>
        </p:spPr>
      </p:pic>
      <p:pic>
        <p:nvPicPr>
          <p:cNvPr descr="Checkmark with solid fill" id="301" name="Google Shape;301;g321495b50a6_0_34"/>
          <p:cNvPicPr preferRelativeResize="0"/>
          <p:nvPr/>
        </p:nvPicPr>
        <p:blipFill rotWithShape="1">
          <a:blip r:embed="rId3">
            <a:alphaModFix/>
          </a:blip>
          <a:srcRect b="0" l="0" r="0" t="0"/>
          <a:stretch/>
        </p:blipFill>
        <p:spPr>
          <a:xfrm>
            <a:off x="10186478" y="6587095"/>
            <a:ext cx="914400"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5" name="Shape 305"/>
        <p:cNvGrpSpPr/>
        <p:nvPr/>
      </p:nvGrpSpPr>
      <p:grpSpPr>
        <a:xfrm>
          <a:off x="0" y="0"/>
          <a:ext cx="0" cy="0"/>
          <a:chOff x="0" y="0"/>
          <a:chExt cx="0" cy="0"/>
        </a:xfrm>
      </p:grpSpPr>
      <p:sp>
        <p:nvSpPr>
          <p:cNvPr id="306" name="Google Shape;306;p16"/>
          <p:cNvSpPr txBox="1"/>
          <p:nvPr>
            <p:ph type="title"/>
          </p:nvPr>
        </p:nvSpPr>
        <p:spPr>
          <a:xfrm>
            <a:off x="685800" y="8001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307" name="Google Shape;307;p16"/>
          <p:cNvSpPr txBox="1"/>
          <p:nvPr>
            <p:ph idx="1" type="body"/>
          </p:nvPr>
        </p:nvSpPr>
        <p:spPr>
          <a:xfrm>
            <a:off x="304800" y="2552700"/>
            <a:ext cx="17297400" cy="70104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Code snippet –Predict Output</a:t>
            </a:r>
            <a:endParaRPr/>
          </a:p>
          <a:p>
            <a:pPr indent="-190500" lvl="0" marL="137160" rtl="0" algn="l">
              <a:lnSpc>
                <a:spcPct val="90000"/>
              </a:lnSpc>
              <a:spcBef>
                <a:spcPts val="2400"/>
              </a:spcBef>
              <a:spcAft>
                <a:spcPts val="0"/>
              </a:spcAft>
              <a:buSzPts val="3000"/>
              <a:buChar char=" "/>
            </a:pPr>
            <a:r>
              <a:rPr lang="en-US"/>
              <a:t>1.</a:t>
            </a:r>
            <a:r>
              <a:rPr lang="en-US" sz="3200"/>
              <a:t>What will be the output of the code snippet?</a:t>
            </a:r>
            <a:endParaRPr/>
          </a:p>
          <a:p>
            <a:pPr indent="-203200" lvl="0" marL="137160" rtl="0" algn="l">
              <a:lnSpc>
                <a:spcPct val="90000"/>
              </a:lnSpc>
              <a:spcBef>
                <a:spcPts val="2100"/>
              </a:spcBef>
              <a:spcAft>
                <a:spcPts val="0"/>
              </a:spcAft>
              <a:buSzPts val="3200"/>
              <a:buChar char=" "/>
            </a:pPr>
            <a:r>
              <a:rPr lang="en-US" sz="3200"/>
              <a:t>   a) Division successful.</a:t>
            </a:r>
            <a:endParaRPr/>
          </a:p>
          <a:p>
            <a:pPr indent="-203200" lvl="0" marL="137160" rtl="0" algn="l">
              <a:lnSpc>
                <a:spcPct val="90000"/>
              </a:lnSpc>
              <a:spcBef>
                <a:spcPts val="2100"/>
              </a:spcBef>
              <a:spcAft>
                <a:spcPts val="0"/>
              </a:spcAft>
              <a:buSzPts val="3200"/>
              <a:buChar char=" "/>
            </a:pPr>
            <a:r>
              <a:rPr lang="en-US" sz="3200"/>
              <a:t>   b ) Division by zero!</a:t>
            </a:r>
            <a:endParaRPr/>
          </a:p>
          <a:p>
            <a:pPr indent="-203200" lvl="0" marL="137160" rtl="0" algn="l">
              <a:lnSpc>
                <a:spcPct val="90000"/>
              </a:lnSpc>
              <a:spcBef>
                <a:spcPts val="2100"/>
              </a:spcBef>
              <a:spcAft>
                <a:spcPts val="0"/>
              </a:spcAft>
              <a:buSzPts val="3200"/>
              <a:buChar char=" "/>
            </a:pPr>
            <a:r>
              <a:rPr lang="en-US" sz="3200"/>
              <a:t>   c) The program will raise a ZeroDivisionError </a:t>
            </a:r>
            <a:endParaRPr sz="3200"/>
          </a:p>
          <a:p>
            <a:pPr indent="0" lvl="0" marL="0" rtl="0" algn="l">
              <a:lnSpc>
                <a:spcPct val="90000"/>
              </a:lnSpc>
              <a:spcBef>
                <a:spcPts val="2100"/>
              </a:spcBef>
              <a:spcAft>
                <a:spcPts val="0"/>
              </a:spcAft>
              <a:buSzPts val="3200"/>
              <a:buNone/>
            </a:pPr>
            <a:r>
              <a:rPr lang="en-US" sz="3200"/>
              <a:t>      but will not print anything.</a:t>
            </a:r>
            <a:endParaRPr/>
          </a:p>
          <a:p>
            <a:pPr indent="-203200" lvl="0" marL="137160" rtl="0" algn="l">
              <a:lnSpc>
                <a:spcPct val="90000"/>
              </a:lnSpc>
              <a:spcBef>
                <a:spcPts val="2100"/>
              </a:spcBef>
              <a:spcAft>
                <a:spcPts val="0"/>
              </a:spcAft>
              <a:buSzPts val="3200"/>
              <a:buChar char=" "/>
            </a:pPr>
            <a:r>
              <a:rPr lang="en-US" sz="3200"/>
              <a:t>  d) The program will raise a ZeroDivisionError and terminate without printing anything.</a:t>
            </a:r>
            <a:endParaRPr/>
          </a:p>
          <a:p>
            <a:pPr indent="0" lvl="1" marL="301752" rtl="0" algn="l">
              <a:lnSpc>
                <a:spcPct val="150000"/>
              </a:lnSpc>
              <a:spcBef>
                <a:spcPts val="600"/>
              </a:spcBef>
              <a:spcAft>
                <a:spcPts val="0"/>
              </a:spcAft>
              <a:buSzPts val="3200"/>
              <a:buNone/>
            </a:pPr>
            <a:r>
              <a:t/>
            </a:r>
            <a:endParaRPr sz="3200">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308" name="Google Shape;308;p16"/>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309" name="Google Shape;309;p16"/>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10" name="Google Shape;310;p16"/>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311" name="Google Shape;311;p16"/>
          <p:cNvSpPr/>
          <p:nvPr/>
        </p:nvSpPr>
        <p:spPr>
          <a:xfrm>
            <a:off x="9372600" y="2940698"/>
            <a:ext cx="7315200" cy="4031602"/>
          </a:xfrm>
          <a:prstGeom prst="rect">
            <a:avLst/>
          </a:prstGeom>
          <a:solidFill>
            <a:schemeClr val="accent1"/>
          </a:solidFill>
          <a:ln cap="flat" cmpd="sng" w="15875">
            <a:solidFill>
              <a:srgbClr val="256C87"/>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lt1"/>
              </a:buClr>
              <a:buSzPts val="3200"/>
              <a:buFont typeface="Cambria"/>
              <a:buNone/>
            </a:pPr>
            <a:r>
              <a:rPr b="0" i="0" lang="en-US" sz="3200" u="none" cap="none" strike="noStrike">
                <a:solidFill>
                  <a:schemeClr val="lt1"/>
                </a:solidFill>
                <a:latin typeface="Cambria"/>
                <a:ea typeface="Cambria"/>
                <a:cs typeface="Cambria"/>
                <a:sym typeface="Cambria"/>
              </a:rPr>
              <a:t>try:</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lt1"/>
              </a:buClr>
              <a:buSzPts val="3200"/>
              <a:buFont typeface="Cambria"/>
              <a:buNone/>
            </a:pPr>
            <a:r>
              <a:rPr b="0" i="0" lang="en-US" sz="3200" u="none" cap="none" strike="noStrike">
                <a:solidFill>
                  <a:schemeClr val="lt1"/>
                </a:solidFill>
                <a:latin typeface="Cambria"/>
                <a:ea typeface="Cambria"/>
                <a:cs typeface="Cambria"/>
                <a:sym typeface="Cambria"/>
              </a:rPr>
              <a:t>    x = 10 / 0</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lt1"/>
              </a:buClr>
              <a:buSzPts val="3200"/>
              <a:buFont typeface="Cambria"/>
              <a:buNone/>
            </a:pPr>
            <a:r>
              <a:rPr b="0" i="0" lang="en-US" sz="3200" u="none" cap="none" strike="noStrike">
                <a:solidFill>
                  <a:schemeClr val="lt1"/>
                </a:solidFill>
                <a:latin typeface="Cambria"/>
                <a:ea typeface="Cambria"/>
                <a:cs typeface="Cambria"/>
                <a:sym typeface="Cambria"/>
              </a:rPr>
              <a:t>    print("Division successful.")</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lt1"/>
              </a:buClr>
              <a:buSzPts val="3200"/>
              <a:buFont typeface="Cambria"/>
              <a:buNone/>
            </a:pPr>
            <a:r>
              <a:rPr b="0" i="0" lang="en-US" sz="3200" u="none" cap="none" strike="noStrike">
                <a:solidFill>
                  <a:schemeClr val="lt1"/>
                </a:solidFill>
                <a:latin typeface="Cambria"/>
                <a:ea typeface="Cambria"/>
                <a:cs typeface="Cambria"/>
                <a:sym typeface="Cambria"/>
              </a:rPr>
              <a:t>except ZeroDivisionError:</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lt1"/>
              </a:buClr>
              <a:buSzPts val="3200"/>
              <a:buFont typeface="Cambria"/>
              <a:buNone/>
            </a:pPr>
            <a:r>
              <a:rPr b="0" i="0" lang="en-US" sz="3200" u="none" cap="none" strike="noStrike">
                <a:solidFill>
                  <a:schemeClr val="lt1"/>
                </a:solidFill>
                <a:latin typeface="Cambria"/>
                <a:ea typeface="Cambria"/>
                <a:cs typeface="Cambria"/>
                <a:sym typeface="Cambria"/>
              </a:rPr>
              <a:t>    print("Division by zero!")</a:t>
            </a:r>
            <a:endParaRPr b="0" i="0" sz="1400" u="none" cap="none" strike="noStrike">
              <a:solidFill>
                <a:srgbClr val="000000"/>
              </a:solidFill>
              <a:latin typeface="Arial"/>
              <a:ea typeface="Arial"/>
              <a:cs typeface="Arial"/>
              <a:sym typeface="Arial"/>
            </a:endParaRPr>
          </a:p>
        </p:txBody>
      </p:sp>
      <p:pic>
        <p:nvPicPr>
          <p:cNvPr descr="Checkmark with solid fill" id="312" name="Google Shape;312;p16"/>
          <p:cNvPicPr preferRelativeResize="0"/>
          <p:nvPr/>
        </p:nvPicPr>
        <p:blipFill rotWithShape="1">
          <a:blip r:embed="rId3">
            <a:alphaModFix/>
          </a:blip>
          <a:srcRect b="0" l="0" r="0" t="0"/>
          <a:stretch/>
        </p:blipFill>
        <p:spPr>
          <a:xfrm>
            <a:off x="4146625" y="4686300"/>
            <a:ext cx="914400"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6" name="Shape 316"/>
        <p:cNvGrpSpPr/>
        <p:nvPr/>
      </p:nvGrpSpPr>
      <p:grpSpPr>
        <a:xfrm>
          <a:off x="0" y="0"/>
          <a:ext cx="0" cy="0"/>
          <a:chOff x="0" y="0"/>
          <a:chExt cx="0" cy="0"/>
        </a:xfrm>
      </p:grpSpPr>
      <p:sp>
        <p:nvSpPr>
          <p:cNvPr id="317" name="Google Shape;317;p17"/>
          <p:cNvSpPr txBox="1"/>
          <p:nvPr>
            <p:ph type="title"/>
          </p:nvPr>
        </p:nvSpPr>
        <p:spPr>
          <a:xfrm>
            <a:off x="838200" y="647700"/>
            <a:ext cx="15392400" cy="1371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318" name="Google Shape;318;p17"/>
          <p:cNvSpPr txBox="1"/>
          <p:nvPr>
            <p:ph idx="1" type="body"/>
          </p:nvPr>
        </p:nvSpPr>
        <p:spPr>
          <a:xfrm>
            <a:off x="228600" y="2705100"/>
            <a:ext cx="176784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4400"/>
              <a:buNone/>
            </a:pPr>
            <a:r>
              <a:rPr b="1" lang="en-US" sz="4400">
                <a:latin typeface="Cambria"/>
                <a:ea typeface="Cambria"/>
                <a:cs typeface="Cambria"/>
                <a:sym typeface="Cambria"/>
              </a:rPr>
              <a:t>3. Multiple Expect  Blocks: </a:t>
            </a:r>
            <a:r>
              <a:rPr lang="en-US" sz="3200">
                <a:latin typeface="Cambria"/>
                <a:ea typeface="Cambria"/>
                <a:cs typeface="Cambria"/>
                <a:sym typeface="Cambria"/>
              </a:rPr>
              <a:t>Python allows  to have multiple except block for a single try block. The block which matches with the exception generated will get executed .</a:t>
            </a:r>
            <a:endParaRPr/>
          </a:p>
          <a:p>
            <a:pPr indent="0" lvl="1" marL="301752" rtl="0" algn="l">
              <a:lnSpc>
                <a:spcPct val="150000"/>
              </a:lnSpc>
              <a:spcBef>
                <a:spcPts val="900"/>
              </a:spcBef>
              <a:spcAft>
                <a:spcPts val="0"/>
              </a:spcAft>
              <a:buSzPts val="3200"/>
              <a:buNone/>
            </a:pPr>
            <a:r>
              <a:t/>
            </a:r>
            <a:endParaRPr sz="3200" u="sng">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319" name="Google Shape;319;p17"/>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320" name="Google Shape;320;p17"/>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21" name="Google Shape;321;p17"/>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5" name="Shape 325"/>
        <p:cNvGrpSpPr/>
        <p:nvPr/>
      </p:nvGrpSpPr>
      <p:grpSpPr>
        <a:xfrm>
          <a:off x="0" y="0"/>
          <a:ext cx="0" cy="0"/>
          <a:chOff x="0" y="0"/>
          <a:chExt cx="0" cy="0"/>
        </a:xfrm>
      </p:grpSpPr>
      <p:sp>
        <p:nvSpPr>
          <p:cNvPr id="326" name="Google Shape;326;p18"/>
          <p:cNvSpPr txBox="1"/>
          <p:nvPr>
            <p:ph type="title"/>
          </p:nvPr>
        </p:nvSpPr>
        <p:spPr>
          <a:xfrm>
            <a:off x="914400" y="723900"/>
            <a:ext cx="15392400" cy="1371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a:t>
            </a:r>
            <a:endParaRPr b="1" sz="8000">
              <a:latin typeface="Times New Roman"/>
              <a:ea typeface="Times New Roman"/>
              <a:cs typeface="Times New Roman"/>
              <a:sym typeface="Times New Roman"/>
            </a:endParaRPr>
          </a:p>
        </p:txBody>
      </p:sp>
      <p:sp>
        <p:nvSpPr>
          <p:cNvPr id="327" name="Google Shape;327;p18"/>
          <p:cNvSpPr txBox="1"/>
          <p:nvPr>
            <p:ph idx="1" type="body"/>
          </p:nvPr>
        </p:nvSpPr>
        <p:spPr>
          <a:xfrm>
            <a:off x="304800" y="1943100"/>
            <a:ext cx="17983200" cy="73914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328" name="Google Shape;328;p18"/>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329" name="Google Shape;329;p18"/>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30" name="Google Shape;330;p18"/>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331" name="Google Shape;331;p18"/>
          <p:cNvSpPr/>
          <p:nvPr/>
        </p:nvSpPr>
        <p:spPr>
          <a:xfrm>
            <a:off x="3886200" y="2705100"/>
            <a:ext cx="8610600" cy="67818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rgbClr val="000000"/>
              </a:buClr>
              <a:buSzPts val="2400"/>
              <a:buFont typeface="Arial"/>
              <a:buNone/>
            </a:pPr>
            <a:r>
              <a:rPr b="1" i="0" lang="en-US" sz="2400" u="none" cap="none" strike="noStrike">
                <a:solidFill>
                  <a:schemeClr val="dk1"/>
                </a:solidFill>
                <a:latin typeface="Cambria"/>
                <a:ea typeface="Cambria"/>
                <a:cs typeface="Cambria"/>
                <a:sym typeface="Cambria"/>
              </a:rPr>
              <a:t>Syntax:</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mbria"/>
              <a:buNone/>
            </a:pPr>
            <a:r>
              <a:rPr b="0" i="0" lang="en-US" sz="2400" u="none" cap="none" strike="noStrike">
                <a:solidFill>
                  <a:schemeClr val="dk1"/>
                </a:solidFill>
                <a:latin typeface="Cambria"/>
                <a:ea typeface="Cambria"/>
                <a:cs typeface="Cambria"/>
                <a:sym typeface="Cambria"/>
              </a:rPr>
              <a:t>try:</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mbria"/>
              <a:buNone/>
            </a:pPr>
            <a:r>
              <a:rPr b="0" i="0" lang="en-US" sz="2400" u="none" cap="none" strike="noStrike">
                <a:solidFill>
                  <a:schemeClr val="dk1"/>
                </a:solidFill>
                <a:latin typeface="Cambria"/>
                <a:ea typeface="Cambria"/>
                <a:cs typeface="Cambria"/>
                <a:sym typeface="Cambria"/>
              </a:rPr>
              <a:t>    operations are done in this block</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mbria"/>
              <a:buNone/>
            </a:pPr>
            <a:r>
              <a:rPr b="0" i="0" lang="en-US" sz="2400" u="none" cap="none" strike="noStrike">
                <a:solidFill>
                  <a:schemeClr val="dk1"/>
                </a:solidFill>
                <a:latin typeface="Cambria"/>
                <a:ea typeface="Cambria"/>
                <a:cs typeface="Cambria"/>
                <a:sym typeface="Cambria"/>
              </a:rPr>
              <a:t>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mbria"/>
              <a:buNone/>
            </a:pPr>
            <a:r>
              <a:rPr b="0" i="0" lang="en-US" sz="2400" u="none" cap="none" strike="noStrike">
                <a:solidFill>
                  <a:schemeClr val="dk1"/>
                </a:solidFill>
                <a:latin typeface="Cambria"/>
                <a:ea typeface="Cambria"/>
                <a:cs typeface="Cambria"/>
                <a:sym typeface="Cambria"/>
              </a:rPr>
              <a:t>except Exception1:</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mbria"/>
              <a:buNone/>
            </a:pPr>
            <a:r>
              <a:rPr b="0" i="0" lang="en-US" sz="2400" u="none" cap="none" strike="noStrike">
                <a:solidFill>
                  <a:schemeClr val="dk1"/>
                </a:solidFill>
                <a:latin typeface="Cambria"/>
                <a:ea typeface="Cambria"/>
                <a:cs typeface="Cambria"/>
                <a:sym typeface="Cambria"/>
              </a:rPr>
              <a:t>    if there is Exception 1, then execute this block:</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mbria"/>
              <a:buNone/>
            </a:pPr>
            <a:r>
              <a:rPr b="0" i="0" lang="en-US" sz="2400" u="none" cap="none" strike="noStrike">
                <a:solidFill>
                  <a:schemeClr val="dk1"/>
                </a:solidFill>
                <a:latin typeface="Cambria"/>
                <a:ea typeface="Cambria"/>
                <a:cs typeface="Cambria"/>
                <a:sym typeface="Cambria"/>
              </a:rPr>
              <a:t>    </a:t>
            </a:r>
            <a:endParaRPr b="0" i="0" sz="2400" u="none" cap="none" strike="noStrike">
              <a:solidFill>
                <a:schemeClr val="dk1"/>
              </a:solidFill>
              <a:latin typeface="Cambria"/>
              <a:ea typeface="Cambria"/>
              <a:cs typeface="Cambria"/>
              <a:sym typeface="Cambria"/>
            </a:endParaRPr>
          </a:p>
          <a:p>
            <a:pPr indent="0" lvl="1" marL="301752" marR="0" rtl="0" algn="l">
              <a:lnSpc>
                <a:spcPct val="150000"/>
              </a:lnSpc>
              <a:spcBef>
                <a:spcPts val="0"/>
              </a:spcBef>
              <a:spcAft>
                <a:spcPts val="0"/>
              </a:spcAft>
              <a:buClr>
                <a:schemeClr val="dk1"/>
              </a:buClr>
              <a:buSzPts val="2400"/>
              <a:buFont typeface="Cambria"/>
              <a:buNone/>
            </a:pPr>
            <a:r>
              <a:rPr b="0" i="0" lang="en-US" sz="2400" u="none" cap="none" strike="noStrike">
                <a:solidFill>
                  <a:schemeClr val="dk1"/>
                </a:solidFill>
                <a:latin typeface="Cambria"/>
                <a:ea typeface="Cambria"/>
                <a:cs typeface="Cambria"/>
                <a:sym typeface="Cambria"/>
              </a:rPr>
              <a:t>except Exception2: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mbria"/>
              <a:buNone/>
            </a:pPr>
            <a:r>
              <a:rPr b="0" i="0" lang="en-US" sz="2400" u="none" cap="none" strike="noStrike">
                <a:solidFill>
                  <a:schemeClr val="dk1"/>
                </a:solidFill>
                <a:latin typeface="Cambria"/>
                <a:ea typeface="Cambria"/>
                <a:cs typeface="Cambria"/>
                <a:sym typeface="Cambria"/>
              </a:rPr>
              <a:t>    if there is Exception 2, then execute this block:</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mbria"/>
              <a:buNone/>
            </a:pPr>
            <a:r>
              <a:rPr b="0" i="0" lang="en-US" sz="2400" u="none" cap="none" strike="noStrike">
                <a:solidFill>
                  <a:schemeClr val="dk1"/>
                </a:solidFill>
                <a:latin typeface="Cambria"/>
                <a:ea typeface="Cambria"/>
                <a:cs typeface="Cambria"/>
                <a:sym typeface="Cambria"/>
              </a:rPr>
              <a:t>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mbria"/>
              <a:buNone/>
            </a:pPr>
            <a:r>
              <a:rPr b="0" i="0" lang="en-US" sz="2400" u="none" cap="none" strike="noStrike">
                <a:solidFill>
                  <a:schemeClr val="dk1"/>
                </a:solidFill>
                <a:latin typeface="Cambria"/>
                <a:ea typeface="Cambria"/>
                <a:cs typeface="Cambria"/>
                <a:sym typeface="Cambria"/>
              </a:rPr>
              <a:t>else:</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mbria"/>
              <a:buNone/>
            </a:pPr>
            <a:r>
              <a:rPr b="0" i="0" lang="en-US" sz="2400" u="none" cap="none" strike="noStrike">
                <a:solidFill>
                  <a:schemeClr val="dk1"/>
                </a:solidFill>
                <a:latin typeface="Cambria"/>
                <a:ea typeface="Cambria"/>
                <a:cs typeface="Cambria"/>
                <a:sym typeface="Cambria"/>
              </a:rPr>
              <a:t>    if there is no exception then execute this block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19"/>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337" name="Google Shape;337;p19"/>
          <p:cNvSpPr txBox="1"/>
          <p:nvPr>
            <p:ph idx="1" type="body"/>
          </p:nvPr>
        </p:nvSpPr>
        <p:spPr>
          <a:xfrm>
            <a:off x="228600" y="2705100"/>
            <a:ext cx="176784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latin typeface="Cambria"/>
                <a:ea typeface="Cambria"/>
                <a:cs typeface="Cambria"/>
                <a:sym typeface="Cambria"/>
              </a:rPr>
              <a:t>Example : </a:t>
            </a:r>
            <a:r>
              <a:rPr lang="en-US" sz="3200">
                <a:latin typeface="Cambria"/>
                <a:ea typeface="Cambria"/>
                <a:cs typeface="Cambria"/>
                <a:sym typeface="Cambria"/>
              </a:rPr>
              <a:t>Program with  multiple except  blocks</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lang="en-US" sz="3200" u="sng">
                <a:latin typeface="Cambria"/>
                <a:ea typeface="Cambria"/>
                <a:cs typeface="Cambria"/>
                <a:sym typeface="Cambria"/>
              </a:rPr>
              <a:t>.</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338" name="Google Shape;338;p19"/>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339" name="Google Shape;339;p19"/>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40" name="Google Shape;340;p19"/>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341" name="Google Shape;341;p19"/>
          <p:cNvSpPr/>
          <p:nvPr/>
        </p:nvSpPr>
        <p:spPr>
          <a:xfrm>
            <a:off x="381000" y="3467100"/>
            <a:ext cx="10439400" cy="60198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try:</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num=int(input("Enter the number:"))</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print(num**2)</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except(KeyboardInterrupt):</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print("you should have entered a number.....Program Terminating...")</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except(ValueError):</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print("Please check before you enter......Program Terminating....")</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print("Bye")</a:t>
            </a:r>
            <a:endParaRPr b="0" i="0" sz="2700" u="none" cap="none" strike="noStrike">
              <a:solidFill>
                <a:schemeClr val="dk1"/>
              </a:solidFill>
              <a:latin typeface="Cambria"/>
              <a:ea typeface="Cambria"/>
              <a:cs typeface="Cambria"/>
              <a:sym typeface="Cambria"/>
            </a:endParaRPr>
          </a:p>
        </p:txBody>
      </p:sp>
      <p:sp>
        <p:nvSpPr>
          <p:cNvPr id="342" name="Google Shape;342;p19"/>
          <p:cNvSpPr/>
          <p:nvPr/>
        </p:nvSpPr>
        <p:spPr>
          <a:xfrm>
            <a:off x="11430001" y="4229100"/>
            <a:ext cx="5715000" cy="38100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dk1"/>
              </a:buClr>
              <a:buSzPts val="3200"/>
              <a:buFont typeface="Calibri"/>
              <a:buNone/>
            </a:pPr>
            <a:r>
              <a:rPr b="1" i="0" lang="en-US" sz="3200" u="none" cap="none" strike="noStrike">
                <a:solidFill>
                  <a:schemeClr val="dk1"/>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700"/>
              <a:buFont typeface="Calibri"/>
              <a:buNone/>
            </a:pPr>
            <a:r>
              <a:rPr b="0" i="0" lang="en-US" sz="2700" u="none" cap="none" strike="noStrike">
                <a:solidFill>
                  <a:schemeClr val="dk1"/>
                </a:solidFill>
                <a:latin typeface="Calibri"/>
                <a:ea typeface="Calibri"/>
                <a:cs typeface="Calibri"/>
                <a:sym typeface="Calibri"/>
              </a:rPr>
              <a:t>Enter the number : abc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700"/>
              <a:buFont typeface="Calibri"/>
              <a:buNone/>
            </a:pPr>
            <a:r>
              <a:rPr b="0" i="0" lang="en-US" sz="2700" u="none" cap="none" strike="noStrike">
                <a:solidFill>
                  <a:schemeClr val="dk1"/>
                </a:solidFill>
                <a:latin typeface="Calibri"/>
                <a:ea typeface="Calibri"/>
                <a:cs typeface="Calibri"/>
                <a:sym typeface="Calibri"/>
              </a:rPr>
              <a:t>Please check before you enter......Program Terminating....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700"/>
              <a:buFont typeface="Calibri"/>
              <a:buNone/>
            </a:pPr>
            <a:r>
              <a:rPr b="0" i="0" lang="en-US" sz="2700" u="none" cap="none" strike="noStrike">
                <a:solidFill>
                  <a:schemeClr val="dk1"/>
                </a:solidFill>
                <a:latin typeface="Calibri"/>
                <a:ea typeface="Calibri"/>
                <a:cs typeface="Calibri"/>
                <a:sym typeface="Calibri"/>
              </a:rPr>
              <a:t>Bye</a:t>
            </a:r>
            <a:endParaRPr b="0" i="0" sz="2700" u="none" cap="none" strike="noStrike">
              <a:solidFill>
                <a:schemeClr val="dk1"/>
              </a:solidFill>
              <a:latin typeface="Cambria"/>
              <a:ea typeface="Cambria"/>
              <a:cs typeface="Cambria"/>
              <a:sym typeface="Cambr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6" name="Shape 346"/>
        <p:cNvGrpSpPr/>
        <p:nvPr/>
      </p:nvGrpSpPr>
      <p:grpSpPr>
        <a:xfrm>
          <a:off x="0" y="0"/>
          <a:ext cx="0" cy="0"/>
          <a:chOff x="0" y="0"/>
          <a:chExt cx="0" cy="0"/>
        </a:xfrm>
      </p:grpSpPr>
      <p:sp>
        <p:nvSpPr>
          <p:cNvPr id="347" name="Google Shape;347;p20"/>
          <p:cNvSpPr txBox="1"/>
          <p:nvPr>
            <p:ph type="title"/>
          </p:nvPr>
        </p:nvSpPr>
        <p:spPr>
          <a:xfrm>
            <a:off x="914400" y="7239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348" name="Google Shape;348;p20"/>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Unsolved Programming Question to be handled by students</a:t>
            </a:r>
            <a:endParaRPr/>
          </a:p>
          <a:p>
            <a:pPr indent="-514350" lvl="1" marL="816102" rtl="0" algn="l">
              <a:lnSpc>
                <a:spcPct val="150000"/>
              </a:lnSpc>
              <a:spcBef>
                <a:spcPts val="900"/>
              </a:spcBef>
              <a:spcAft>
                <a:spcPts val="0"/>
              </a:spcAft>
              <a:buSzPts val="3200"/>
              <a:buAutoNum type="arabicPeriod"/>
            </a:pPr>
            <a:r>
              <a:rPr lang="en-US" sz="3200"/>
              <a:t>You are developing a Python program that reads a list of integers from a file and calculates the average. However, the file might not exist, or it might contain non-integer values.</a:t>
            </a:r>
            <a:endParaRPr/>
          </a:p>
          <a:p>
            <a:pPr indent="-514350" lvl="1" marL="816102" rtl="0" algn="l">
              <a:lnSpc>
                <a:spcPct val="150000"/>
              </a:lnSpc>
              <a:spcBef>
                <a:spcPts val="900"/>
              </a:spcBef>
              <a:spcAft>
                <a:spcPts val="0"/>
              </a:spcAft>
              <a:buSzPts val="3200"/>
              <a:buAutoNum type="arabicPeriod"/>
            </a:pPr>
            <a:r>
              <a:rPr lang="en-US" sz="3200">
                <a:latin typeface="Cambria"/>
                <a:ea typeface="Cambria"/>
                <a:cs typeface="Cambria"/>
                <a:sym typeface="Cambria"/>
              </a:rPr>
              <a:t> </a:t>
            </a:r>
            <a:r>
              <a:rPr lang="en-US" sz="3200"/>
              <a:t>You are developing a Python program that calculates the average of a list of numbers. However, the list might be empty or contain non-numeric values.</a:t>
            </a:r>
            <a:endParaRPr/>
          </a:p>
          <a:p>
            <a:pPr indent="-514350" lvl="1" marL="816102" rtl="0" algn="l">
              <a:lnSpc>
                <a:spcPct val="150000"/>
              </a:lnSpc>
              <a:spcBef>
                <a:spcPts val="900"/>
              </a:spcBef>
              <a:spcAft>
                <a:spcPts val="0"/>
              </a:spcAft>
              <a:buSzPts val="3200"/>
              <a:buAutoNum type="arabicPeriod"/>
            </a:pPr>
            <a:r>
              <a:rPr lang="en-US" sz="3200">
                <a:latin typeface="Cambria"/>
                <a:ea typeface="Cambria"/>
                <a:cs typeface="Cambria"/>
                <a:sym typeface="Cambria"/>
              </a:rPr>
              <a:t> </a:t>
            </a:r>
            <a:r>
              <a:rPr lang="en-US" sz="3200"/>
              <a:t>You are developing a Python program that divides two numbers provided by the user. However, the user might enter invalid inputs, such as non-numeric values or zero as the divisor</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349" name="Google Shape;349;p20"/>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350" name="Google Shape;350;p20"/>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51" name="Google Shape;351;p20"/>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5" name="Shape 355"/>
        <p:cNvGrpSpPr/>
        <p:nvPr/>
      </p:nvGrpSpPr>
      <p:grpSpPr>
        <a:xfrm>
          <a:off x="0" y="0"/>
          <a:ext cx="0" cy="0"/>
          <a:chOff x="0" y="0"/>
          <a:chExt cx="0" cy="0"/>
        </a:xfrm>
      </p:grpSpPr>
      <p:sp>
        <p:nvSpPr>
          <p:cNvPr id="356" name="Google Shape;356;p21"/>
          <p:cNvSpPr txBox="1"/>
          <p:nvPr>
            <p:ph type="title"/>
          </p:nvPr>
        </p:nvSpPr>
        <p:spPr>
          <a:xfrm>
            <a:off x="914400" y="7239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7200"/>
              <a:buFont typeface="Times New Roman"/>
              <a:buNone/>
            </a:pPr>
            <a:r>
              <a:rPr b="1" lang="en-US">
                <a:latin typeface="Times New Roman"/>
                <a:ea typeface="Times New Roman"/>
                <a:cs typeface="Times New Roman"/>
                <a:sym typeface="Times New Roman"/>
              </a:rPr>
              <a:t>  EXCERCISE</a:t>
            </a:r>
            <a:endParaRPr b="1">
              <a:latin typeface="Times New Roman"/>
              <a:ea typeface="Times New Roman"/>
              <a:cs typeface="Times New Roman"/>
              <a:sym typeface="Times New Roman"/>
            </a:endParaRPr>
          </a:p>
        </p:txBody>
      </p:sp>
      <p:sp>
        <p:nvSpPr>
          <p:cNvPr id="357" name="Google Shape;357;p21"/>
          <p:cNvSpPr txBox="1"/>
          <p:nvPr>
            <p:ph idx="1" type="body"/>
          </p:nvPr>
        </p:nvSpPr>
        <p:spPr>
          <a:xfrm>
            <a:off x="228600" y="2324100"/>
            <a:ext cx="17297400" cy="70104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Quiz</a:t>
            </a:r>
            <a:endParaRPr/>
          </a:p>
          <a:p>
            <a:pPr indent="-190500" lvl="0" marL="137160" rtl="0" algn="l">
              <a:lnSpc>
                <a:spcPct val="100000"/>
              </a:lnSpc>
              <a:spcBef>
                <a:spcPts val="2400"/>
              </a:spcBef>
              <a:spcAft>
                <a:spcPts val="0"/>
              </a:spcAft>
              <a:buSzPts val="3000"/>
              <a:buChar char=" "/>
            </a:pPr>
            <a:r>
              <a:rPr lang="en-US"/>
              <a:t>1. Which of the following is true about using multiple except blocks in Python?</a:t>
            </a:r>
            <a:endParaRPr/>
          </a:p>
          <a:p>
            <a:pPr indent="-190500" lvl="0" marL="137160" rtl="0" algn="l">
              <a:lnSpc>
                <a:spcPct val="100000"/>
              </a:lnSpc>
              <a:spcBef>
                <a:spcPts val="2100"/>
              </a:spcBef>
              <a:spcAft>
                <a:spcPts val="0"/>
              </a:spcAft>
              <a:buSzPts val="3000"/>
              <a:buChar char=" "/>
            </a:pPr>
            <a:r>
              <a:rPr lang="en-US"/>
              <a:t>a) Each except block can handle multiple types of exceptions.</a:t>
            </a:r>
            <a:br>
              <a:rPr lang="en-US"/>
            </a:br>
            <a:r>
              <a:rPr lang="en-US"/>
              <a:t>b) The order of except blocks is important, with more specific exceptions coming before more general ones.</a:t>
            </a:r>
            <a:br>
              <a:rPr lang="en-US"/>
            </a:br>
            <a:r>
              <a:rPr lang="en-US"/>
              <a:t>c) except blocks cannot be used together with a finally block.</a:t>
            </a:r>
            <a:br>
              <a:rPr lang="en-US"/>
            </a:br>
            <a:r>
              <a:rPr lang="en-US"/>
              <a:t>d) A try block can have only one corresponding except block.</a:t>
            </a:r>
            <a:endParaRPr/>
          </a:p>
          <a:p>
            <a:pPr indent="-203200" lvl="0" marL="137160" rtl="0" algn="l">
              <a:lnSpc>
                <a:spcPct val="100000"/>
              </a:lnSpc>
              <a:spcBef>
                <a:spcPts val="2100"/>
              </a:spcBef>
              <a:spcAft>
                <a:spcPts val="0"/>
              </a:spcAft>
              <a:buSzPts val="3200"/>
              <a:buChar char=" "/>
            </a:pPr>
            <a:r>
              <a:rPr lang="en-US" sz="3200">
                <a:latin typeface="Cambria"/>
                <a:ea typeface="Cambria"/>
                <a:cs typeface="Cambria"/>
                <a:sym typeface="Cambria"/>
              </a:rPr>
              <a:t>2. </a:t>
            </a:r>
            <a:r>
              <a:rPr lang="en-US"/>
              <a:t>What happens if an exception occurs that is not handled by any of the except blocks in a try-except statement with multiple except blocks?</a:t>
            </a:r>
            <a:endParaRPr/>
          </a:p>
          <a:p>
            <a:pPr indent="-190500" lvl="0" marL="137160" rtl="0" algn="l">
              <a:lnSpc>
                <a:spcPct val="100000"/>
              </a:lnSpc>
              <a:spcBef>
                <a:spcPts val="2100"/>
              </a:spcBef>
              <a:spcAft>
                <a:spcPts val="0"/>
              </a:spcAft>
              <a:buSzPts val="3000"/>
              <a:buChar char=" "/>
            </a:pPr>
            <a:r>
              <a:rPr lang="en-US"/>
              <a:t>a) The program continues executing normally.</a:t>
            </a:r>
            <a:br>
              <a:rPr lang="en-US"/>
            </a:br>
            <a:r>
              <a:rPr lang="en-US"/>
              <a:t>b) The program terminates with an unhandled exception error.</a:t>
            </a:r>
            <a:br>
              <a:rPr lang="en-US"/>
            </a:br>
            <a:r>
              <a:rPr lang="en-US"/>
              <a:t>c) The program skips the try block and executes the finally block.</a:t>
            </a:r>
            <a:br>
              <a:rPr lang="en-US"/>
            </a:br>
            <a:r>
              <a:rPr lang="en-US"/>
              <a:t>d) The program raises a syntax error</a:t>
            </a:r>
            <a:endParaRPr/>
          </a:p>
          <a:p>
            <a:pPr indent="0" lvl="0" marL="137160" rtl="0" algn="l">
              <a:lnSpc>
                <a:spcPct val="100000"/>
              </a:lnSpc>
              <a:spcBef>
                <a:spcPts val="2100"/>
              </a:spcBef>
              <a:spcAft>
                <a:spcPts val="0"/>
              </a:spcAft>
              <a:buSzPts val="3000"/>
              <a:buNone/>
            </a:pPr>
            <a:r>
              <a:t/>
            </a:r>
            <a:endParaRPr/>
          </a:p>
        </p:txBody>
      </p:sp>
      <p:sp>
        <p:nvSpPr>
          <p:cNvPr id="358" name="Google Shape;358;p21"/>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359" name="Google Shape;359;p21"/>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60" name="Google Shape;360;p21"/>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pic>
        <p:nvPicPr>
          <p:cNvPr descr="Checkmark with solid fill" id="361" name="Google Shape;361;p21"/>
          <p:cNvPicPr preferRelativeResize="0"/>
          <p:nvPr/>
        </p:nvPicPr>
        <p:blipFill rotWithShape="1">
          <a:blip r:embed="rId3">
            <a:alphaModFix/>
          </a:blip>
          <a:srcRect b="0" l="0" r="0" t="0"/>
          <a:stretch/>
        </p:blipFill>
        <p:spPr>
          <a:xfrm>
            <a:off x="16979147" y="4547936"/>
            <a:ext cx="595563" cy="595563"/>
          </a:xfrm>
          <a:prstGeom prst="rect">
            <a:avLst/>
          </a:prstGeom>
          <a:noFill/>
          <a:ln>
            <a:noFill/>
          </a:ln>
        </p:spPr>
      </p:pic>
      <p:pic>
        <p:nvPicPr>
          <p:cNvPr descr="Checkmark with solid fill" id="362" name="Google Shape;362;p21"/>
          <p:cNvPicPr preferRelativeResize="0"/>
          <p:nvPr/>
        </p:nvPicPr>
        <p:blipFill rotWithShape="1">
          <a:blip r:embed="rId3">
            <a:alphaModFix/>
          </a:blip>
          <a:srcRect b="0" l="0" r="0" t="0"/>
          <a:stretch/>
        </p:blipFill>
        <p:spPr>
          <a:xfrm>
            <a:off x="10114548" y="7834810"/>
            <a:ext cx="659485" cy="65948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6" name="Shape 366"/>
        <p:cNvGrpSpPr/>
        <p:nvPr/>
      </p:nvGrpSpPr>
      <p:grpSpPr>
        <a:xfrm>
          <a:off x="0" y="0"/>
          <a:ext cx="0" cy="0"/>
          <a:chOff x="0" y="0"/>
          <a:chExt cx="0" cy="0"/>
        </a:xfrm>
      </p:grpSpPr>
      <p:sp>
        <p:nvSpPr>
          <p:cNvPr id="367" name="Google Shape;367;p22"/>
          <p:cNvSpPr txBox="1"/>
          <p:nvPr>
            <p:ph type="title"/>
          </p:nvPr>
        </p:nvSpPr>
        <p:spPr>
          <a:xfrm>
            <a:off x="609600" y="876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368" name="Google Shape;368;p22"/>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Code snippet –Predict Output</a:t>
            </a:r>
            <a:endParaRPr/>
          </a:p>
          <a:p>
            <a:pPr indent="-190500" lvl="0" marL="137160" rtl="0" algn="l">
              <a:lnSpc>
                <a:spcPct val="90000"/>
              </a:lnSpc>
              <a:spcBef>
                <a:spcPts val="2400"/>
              </a:spcBef>
              <a:spcAft>
                <a:spcPts val="0"/>
              </a:spcAft>
              <a:buSzPts val="3000"/>
              <a:buChar char=" "/>
            </a:pPr>
            <a:r>
              <a:rPr lang="en-US"/>
              <a:t>1. What will be the output of the code snippet?</a:t>
            </a:r>
            <a:endParaRPr/>
          </a:p>
          <a:p>
            <a:pPr indent="-190500" lvl="0" marL="137160" rtl="0" algn="l">
              <a:lnSpc>
                <a:spcPct val="90000"/>
              </a:lnSpc>
              <a:spcBef>
                <a:spcPts val="2100"/>
              </a:spcBef>
              <a:spcAft>
                <a:spcPts val="0"/>
              </a:spcAft>
              <a:buSzPts val="3000"/>
              <a:buChar char=" "/>
            </a:pPr>
            <a:r>
              <a:rPr lang="en-US"/>
              <a:t>a) ZeroDivisionError occurred!</a:t>
            </a:r>
            <a:endParaRPr/>
          </a:p>
          <a:p>
            <a:pPr indent="-190500" lvl="0" marL="137160" rtl="0" algn="l">
              <a:lnSpc>
                <a:spcPct val="90000"/>
              </a:lnSpc>
              <a:spcBef>
                <a:spcPts val="2100"/>
              </a:spcBef>
              <a:spcAft>
                <a:spcPts val="0"/>
              </a:spcAft>
              <a:buSzPts val="3000"/>
              <a:buChar char=" "/>
            </a:pPr>
            <a:r>
              <a:rPr lang="en-US"/>
              <a:t>b) TypeError occurred!</a:t>
            </a:r>
            <a:endParaRPr/>
          </a:p>
          <a:p>
            <a:pPr indent="-190500" lvl="0" marL="137160" rtl="0" algn="l">
              <a:lnSpc>
                <a:spcPct val="90000"/>
              </a:lnSpc>
              <a:spcBef>
                <a:spcPts val="2100"/>
              </a:spcBef>
              <a:spcAft>
                <a:spcPts val="0"/>
              </a:spcAft>
              <a:buSzPts val="3000"/>
              <a:buChar char=" "/>
            </a:pPr>
            <a:r>
              <a:rPr lang="en-US"/>
              <a:t>c )Exception occurred!</a:t>
            </a:r>
            <a:endParaRPr/>
          </a:p>
          <a:p>
            <a:pPr indent="-190500" lvl="0" marL="137160" rtl="0" algn="l">
              <a:lnSpc>
                <a:spcPct val="90000"/>
              </a:lnSpc>
              <a:spcBef>
                <a:spcPts val="2100"/>
              </a:spcBef>
              <a:spcAft>
                <a:spcPts val="0"/>
              </a:spcAft>
              <a:buSzPts val="3000"/>
              <a:buChar char=" "/>
            </a:pPr>
            <a:r>
              <a:rPr lang="en-US"/>
              <a:t>d )The program will raise a TypeError and terminate.</a:t>
            </a:r>
            <a:endParaRPr/>
          </a:p>
          <a:p>
            <a:pPr indent="0" lvl="1" marL="301752" rtl="0" algn="l">
              <a:lnSpc>
                <a:spcPct val="150000"/>
              </a:lnSpc>
              <a:spcBef>
                <a:spcPts val="600"/>
              </a:spcBef>
              <a:spcAft>
                <a:spcPts val="0"/>
              </a:spcAft>
              <a:buSzPts val="3200"/>
              <a:buNone/>
            </a:pPr>
            <a:r>
              <a:t/>
            </a:r>
            <a:endParaRPr b="1" sz="3200"/>
          </a:p>
        </p:txBody>
      </p:sp>
      <p:sp>
        <p:nvSpPr>
          <p:cNvPr id="369" name="Google Shape;369;p22"/>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370" name="Google Shape;370;p22"/>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71" name="Google Shape;371;p22"/>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372" name="Google Shape;372;p22"/>
          <p:cNvSpPr/>
          <p:nvPr/>
        </p:nvSpPr>
        <p:spPr>
          <a:xfrm>
            <a:off x="8839200" y="3086100"/>
            <a:ext cx="8001000" cy="54864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dk1"/>
              </a:buClr>
              <a:buSzPts val="2800"/>
              <a:buFont typeface="Cambria"/>
              <a:buNone/>
            </a:pPr>
            <a:r>
              <a:rPr b="0" i="0" lang="en-US" sz="2800" u="none" cap="none" strike="noStrike">
                <a:solidFill>
                  <a:schemeClr val="dk1"/>
                </a:solidFill>
                <a:latin typeface="Cambria"/>
                <a:ea typeface="Cambria"/>
                <a:cs typeface="Cambria"/>
                <a:sym typeface="Cambria"/>
              </a:rPr>
              <a:t>try:</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mbria"/>
              <a:buNone/>
            </a:pPr>
            <a:r>
              <a:rPr b="0" i="0" lang="en-US" sz="2800" u="none" cap="none" strike="noStrike">
                <a:solidFill>
                  <a:schemeClr val="dk1"/>
                </a:solidFill>
                <a:latin typeface="Cambria"/>
                <a:ea typeface="Cambria"/>
                <a:cs typeface="Cambria"/>
                <a:sym typeface="Cambria"/>
              </a:rPr>
              <a:t>    x = 10 / 'a'</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mbria"/>
              <a:buNone/>
            </a:pPr>
            <a:r>
              <a:rPr b="0" i="0" lang="en-US" sz="2800" u="none" cap="none" strike="noStrike">
                <a:solidFill>
                  <a:schemeClr val="dk1"/>
                </a:solidFill>
                <a:latin typeface="Cambria"/>
                <a:ea typeface="Cambria"/>
                <a:cs typeface="Cambria"/>
                <a:sym typeface="Cambria"/>
              </a:rPr>
              <a:t>except ZeroDivisionError:</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mbria"/>
              <a:buNone/>
            </a:pPr>
            <a:r>
              <a:rPr b="0" i="0" lang="en-US" sz="2800" u="none" cap="none" strike="noStrike">
                <a:solidFill>
                  <a:schemeClr val="dk1"/>
                </a:solidFill>
                <a:latin typeface="Cambria"/>
                <a:ea typeface="Cambria"/>
                <a:cs typeface="Cambria"/>
                <a:sym typeface="Cambria"/>
              </a:rPr>
              <a:t>    print("ZeroDivisionError occurred!")</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mbria"/>
              <a:buNone/>
            </a:pPr>
            <a:r>
              <a:rPr b="0" i="0" lang="en-US" sz="2800" u="none" cap="none" strike="noStrike">
                <a:solidFill>
                  <a:schemeClr val="dk1"/>
                </a:solidFill>
                <a:latin typeface="Cambria"/>
                <a:ea typeface="Cambria"/>
                <a:cs typeface="Cambria"/>
                <a:sym typeface="Cambria"/>
              </a:rPr>
              <a:t>except TypeError:</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mbria"/>
              <a:buNone/>
            </a:pPr>
            <a:r>
              <a:rPr b="0" i="0" lang="en-US" sz="2800" u="none" cap="none" strike="noStrike">
                <a:solidFill>
                  <a:schemeClr val="dk1"/>
                </a:solidFill>
                <a:latin typeface="Cambria"/>
                <a:ea typeface="Cambria"/>
                <a:cs typeface="Cambria"/>
                <a:sym typeface="Cambria"/>
              </a:rPr>
              <a:t>    print("TypeError occurred!")</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mbria"/>
              <a:buNone/>
            </a:pPr>
            <a:r>
              <a:rPr b="0" i="0" lang="en-US" sz="2800" u="none" cap="none" strike="noStrike">
                <a:solidFill>
                  <a:schemeClr val="dk1"/>
                </a:solidFill>
                <a:latin typeface="Cambria"/>
                <a:ea typeface="Cambria"/>
                <a:cs typeface="Cambria"/>
                <a:sym typeface="Cambria"/>
              </a:rPr>
              <a:t>except Exception:</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mbria"/>
              <a:buNone/>
            </a:pPr>
            <a:r>
              <a:rPr b="0" i="0" lang="en-US" sz="2800" u="none" cap="none" strike="noStrike">
                <a:solidFill>
                  <a:schemeClr val="dk1"/>
                </a:solidFill>
                <a:latin typeface="Cambria"/>
                <a:ea typeface="Cambria"/>
                <a:cs typeface="Cambria"/>
                <a:sym typeface="Cambria"/>
              </a:rPr>
              <a:t>    print("Exception occurred!")</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libri"/>
              <a:buNone/>
            </a:pPr>
            <a:r>
              <a:t/>
            </a:r>
            <a:endParaRPr b="0" i="0" sz="2800" u="none" cap="none" strike="noStrike">
              <a:solidFill>
                <a:schemeClr val="dk1"/>
              </a:solidFill>
              <a:latin typeface="Cambria"/>
              <a:ea typeface="Cambria"/>
              <a:cs typeface="Cambria"/>
              <a:sym typeface="Cambria"/>
            </a:endParaRPr>
          </a:p>
        </p:txBody>
      </p:sp>
      <p:pic>
        <p:nvPicPr>
          <p:cNvPr descr="Checkmark with solid fill" id="373" name="Google Shape;373;p22"/>
          <p:cNvPicPr preferRelativeResize="0"/>
          <p:nvPr/>
        </p:nvPicPr>
        <p:blipFill rotWithShape="1">
          <a:blip r:embed="rId3">
            <a:alphaModFix/>
          </a:blip>
          <a:srcRect b="0" l="0" r="0" t="0"/>
          <a:stretch/>
        </p:blipFill>
        <p:spPr>
          <a:xfrm>
            <a:off x="4312319" y="5143500"/>
            <a:ext cx="595563" cy="5955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7" name="Shape 377"/>
        <p:cNvGrpSpPr/>
        <p:nvPr/>
      </p:nvGrpSpPr>
      <p:grpSpPr>
        <a:xfrm>
          <a:off x="0" y="0"/>
          <a:ext cx="0" cy="0"/>
          <a:chOff x="0" y="0"/>
          <a:chExt cx="0" cy="0"/>
        </a:xfrm>
      </p:grpSpPr>
      <p:sp>
        <p:nvSpPr>
          <p:cNvPr id="378" name="Google Shape;378;p23"/>
          <p:cNvSpPr txBox="1"/>
          <p:nvPr>
            <p:ph type="title"/>
          </p:nvPr>
        </p:nvSpPr>
        <p:spPr>
          <a:xfrm>
            <a:off x="838200" y="647700"/>
            <a:ext cx="15392400" cy="1371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379" name="Google Shape;379;p23"/>
          <p:cNvSpPr txBox="1"/>
          <p:nvPr>
            <p:ph idx="1" type="body"/>
          </p:nvPr>
        </p:nvSpPr>
        <p:spPr>
          <a:xfrm>
            <a:off x="228600" y="2705100"/>
            <a:ext cx="176784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latin typeface="Cambria"/>
                <a:ea typeface="Cambria"/>
                <a:cs typeface="Cambria"/>
                <a:sym typeface="Cambria"/>
              </a:rPr>
              <a:t>4. Multiple Exception in single  Block:  </a:t>
            </a:r>
            <a:r>
              <a:rPr lang="en-US" sz="3200">
                <a:latin typeface="Cambria"/>
                <a:ea typeface="Cambria"/>
                <a:cs typeface="Cambria"/>
                <a:sym typeface="Cambria"/>
              </a:rPr>
              <a:t>An except clause may name multiple exceptions as a parenthesized  tuple.</a:t>
            </a:r>
            <a:endParaRPr sz="3200" u="sng">
              <a:latin typeface="Cambria"/>
              <a:ea typeface="Cambria"/>
              <a:cs typeface="Cambria"/>
              <a:sym typeface="Cambria"/>
            </a:endParaRPr>
          </a:p>
          <a:p>
            <a:pPr indent="0" lvl="1" marL="301752" rtl="0" algn="l">
              <a:lnSpc>
                <a:spcPct val="150000"/>
              </a:lnSpc>
              <a:spcBef>
                <a:spcPts val="900"/>
              </a:spcBef>
              <a:spcAft>
                <a:spcPts val="0"/>
              </a:spcAft>
              <a:buSzPts val="3200"/>
              <a:buNone/>
            </a:pPr>
            <a:r>
              <a:rPr b="1" lang="en-US" sz="3200">
                <a:latin typeface="Cambria"/>
                <a:ea typeface="Cambria"/>
                <a:cs typeface="Cambria"/>
                <a:sym typeface="Cambria"/>
              </a:rPr>
              <a:t>Example : </a:t>
            </a:r>
            <a:r>
              <a:rPr lang="en-US" sz="3200">
                <a:latin typeface="Cambria"/>
                <a:ea typeface="Cambria"/>
                <a:cs typeface="Cambria"/>
                <a:sym typeface="Cambria"/>
              </a:rPr>
              <a:t>Program having an except clause handling multiple exception simultaneously</a:t>
            </a:r>
            <a:endParaRPr sz="3200">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380" name="Google Shape;380;p23"/>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381" name="Google Shape;381;p23"/>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82" name="Google Shape;382;p23"/>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383" name="Google Shape;383;p23"/>
          <p:cNvSpPr/>
          <p:nvPr/>
        </p:nvSpPr>
        <p:spPr>
          <a:xfrm>
            <a:off x="534955" y="5067300"/>
            <a:ext cx="8304245" cy="43434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try:</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num=int(input("Enter the number:"))</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print(num**2)</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except(KeyboardInterrupt, ValueError, TypeError):</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print("Please check before you enter......Program Terminating....")</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print("Bye")</a:t>
            </a:r>
            <a:endParaRPr b="0" i="0" sz="2700" u="none" cap="none" strike="noStrike">
              <a:solidFill>
                <a:schemeClr val="dk1"/>
              </a:solidFill>
              <a:latin typeface="Cambria"/>
              <a:ea typeface="Cambria"/>
              <a:cs typeface="Cambria"/>
              <a:sym typeface="Cambria"/>
            </a:endParaRPr>
          </a:p>
        </p:txBody>
      </p:sp>
      <p:sp>
        <p:nvSpPr>
          <p:cNvPr id="384" name="Google Shape;384;p23"/>
          <p:cNvSpPr/>
          <p:nvPr/>
        </p:nvSpPr>
        <p:spPr>
          <a:xfrm>
            <a:off x="10363200" y="5334000"/>
            <a:ext cx="5715000" cy="38100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dk1"/>
              </a:buClr>
              <a:buSzPts val="3200"/>
              <a:buFont typeface="Calibri"/>
              <a:buNone/>
            </a:pPr>
            <a:r>
              <a:rPr b="1" i="0" lang="en-US" sz="3200" u="none" cap="none" strike="noStrike">
                <a:solidFill>
                  <a:schemeClr val="dk1"/>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Enter the number : abc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Please check before you enter......Program Terminating.... Bye</a:t>
            </a:r>
            <a:endParaRPr b="0" i="0" sz="2800" u="none" cap="none" strike="noStrike">
              <a:solidFill>
                <a:schemeClr val="dk1"/>
              </a:solidFill>
              <a:latin typeface="Cambria"/>
              <a:ea typeface="Cambria"/>
              <a:cs typeface="Cambria"/>
              <a:sym typeface="Cambri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8" name="Shape 388"/>
        <p:cNvGrpSpPr/>
        <p:nvPr/>
      </p:nvGrpSpPr>
      <p:grpSpPr>
        <a:xfrm>
          <a:off x="0" y="0"/>
          <a:ext cx="0" cy="0"/>
          <a:chOff x="0" y="0"/>
          <a:chExt cx="0" cy="0"/>
        </a:xfrm>
      </p:grpSpPr>
      <p:sp>
        <p:nvSpPr>
          <p:cNvPr id="389" name="Google Shape;389;p24"/>
          <p:cNvSpPr txBox="1"/>
          <p:nvPr>
            <p:ph type="title"/>
          </p:nvPr>
        </p:nvSpPr>
        <p:spPr>
          <a:xfrm>
            <a:off x="762000" y="876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390" name="Google Shape;390;p24"/>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Unsolved Programming Question for students</a:t>
            </a:r>
            <a:endParaRPr/>
          </a:p>
          <a:p>
            <a:pPr indent="-514350" lvl="1" marL="816102" rtl="0" algn="l">
              <a:lnSpc>
                <a:spcPct val="150000"/>
              </a:lnSpc>
              <a:spcBef>
                <a:spcPts val="900"/>
              </a:spcBef>
              <a:spcAft>
                <a:spcPts val="0"/>
              </a:spcAft>
              <a:buSzPts val="3200"/>
              <a:buAutoNum type="arabicPeriod"/>
            </a:pPr>
            <a:r>
              <a:rPr lang="en-US" sz="3200"/>
              <a:t>You are developing a Python program that takes user input for two numbers and performs a mathematical operation. However, the user might enter non-numeric values</a:t>
            </a:r>
            <a:endParaRPr/>
          </a:p>
          <a:p>
            <a:pPr indent="-514350" lvl="1" marL="816102" rtl="0" algn="l">
              <a:lnSpc>
                <a:spcPct val="150000"/>
              </a:lnSpc>
              <a:spcBef>
                <a:spcPts val="900"/>
              </a:spcBef>
              <a:spcAft>
                <a:spcPts val="0"/>
              </a:spcAft>
              <a:buSzPts val="3200"/>
              <a:buAutoNum type="arabicPeriod"/>
            </a:pPr>
            <a:r>
              <a:rPr b="1" lang="en-US" sz="3200"/>
              <a:t> </a:t>
            </a:r>
            <a:r>
              <a:rPr lang="en-US" sz="3200"/>
              <a:t>You are developing a Python program that calculates the area of a rectangle based on user input for length and width. However, the user might enter non-numeric values for length or width.</a:t>
            </a:r>
            <a:endParaRPr b="1" sz="3200"/>
          </a:p>
          <a:p>
            <a:pPr indent="0" lvl="1" marL="301752" rtl="0" algn="l">
              <a:lnSpc>
                <a:spcPct val="150000"/>
              </a:lnSpc>
              <a:spcBef>
                <a:spcPts val="900"/>
              </a:spcBef>
              <a:spcAft>
                <a:spcPts val="0"/>
              </a:spcAft>
              <a:buSzPts val="3200"/>
              <a:buNone/>
            </a:pPr>
            <a:r>
              <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391" name="Google Shape;391;p24"/>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392" name="Google Shape;392;p24"/>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93" name="Google Shape;393;p24"/>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7" name="Shape 397"/>
        <p:cNvGrpSpPr/>
        <p:nvPr/>
      </p:nvGrpSpPr>
      <p:grpSpPr>
        <a:xfrm>
          <a:off x="0" y="0"/>
          <a:ext cx="0" cy="0"/>
          <a:chOff x="0" y="0"/>
          <a:chExt cx="0" cy="0"/>
        </a:xfrm>
      </p:grpSpPr>
      <p:sp>
        <p:nvSpPr>
          <p:cNvPr id="398" name="Google Shape;398;p25"/>
          <p:cNvSpPr txBox="1"/>
          <p:nvPr>
            <p:ph type="title"/>
          </p:nvPr>
        </p:nvSpPr>
        <p:spPr>
          <a:xfrm>
            <a:off x="827314" y="7239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399" name="Google Shape;399;p25"/>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Quiz</a:t>
            </a:r>
            <a:endParaRPr/>
          </a:p>
          <a:p>
            <a:pPr indent="-190500" lvl="0" marL="137160" rtl="0" algn="l">
              <a:lnSpc>
                <a:spcPct val="100000"/>
              </a:lnSpc>
              <a:spcBef>
                <a:spcPts val="2400"/>
              </a:spcBef>
              <a:spcAft>
                <a:spcPts val="0"/>
              </a:spcAft>
              <a:buSzPts val="3000"/>
              <a:buChar char=" "/>
            </a:pPr>
            <a:r>
              <a:rPr lang="en-US"/>
              <a:t>1. How can you handle multiple exceptions in a single except block in Python?</a:t>
            </a:r>
            <a:endParaRPr/>
          </a:p>
          <a:p>
            <a:pPr indent="-190500" lvl="0" marL="137160" rtl="0" algn="l">
              <a:lnSpc>
                <a:spcPct val="100000"/>
              </a:lnSpc>
              <a:spcBef>
                <a:spcPts val="2100"/>
              </a:spcBef>
              <a:spcAft>
                <a:spcPts val="0"/>
              </a:spcAft>
              <a:buSzPts val="3000"/>
              <a:buChar char=" "/>
            </a:pPr>
            <a:r>
              <a:rPr lang="en-US"/>
              <a:t>a) By using a comma-separated list of exception types</a:t>
            </a:r>
            <a:br>
              <a:rPr lang="en-US"/>
            </a:br>
            <a:r>
              <a:rPr lang="en-US"/>
              <a:t>b) By using separate except blocks for each exception type</a:t>
            </a:r>
            <a:br>
              <a:rPr lang="en-US"/>
            </a:br>
            <a:r>
              <a:rPr lang="en-US"/>
              <a:t>c) By using a finally block</a:t>
            </a:r>
            <a:br>
              <a:rPr lang="en-US"/>
            </a:br>
            <a:r>
              <a:rPr lang="en-US"/>
              <a:t>d) By using a try block</a:t>
            </a:r>
            <a:endParaRPr/>
          </a:p>
          <a:p>
            <a:pPr indent="0" lvl="0" marL="0" rtl="0" algn="l">
              <a:lnSpc>
                <a:spcPct val="100000"/>
              </a:lnSpc>
              <a:spcBef>
                <a:spcPts val="2100"/>
              </a:spcBef>
              <a:spcAft>
                <a:spcPts val="0"/>
              </a:spcAft>
              <a:buSzPts val="3200"/>
              <a:buNone/>
            </a:pPr>
            <a:r>
              <a:rPr lang="en-US" sz="3200" u="sng">
                <a:latin typeface="Cambria"/>
                <a:ea typeface="Cambria"/>
                <a:cs typeface="Cambria"/>
                <a:sym typeface="Cambria"/>
              </a:rPr>
              <a:t>2. </a:t>
            </a:r>
            <a:r>
              <a:rPr lang="en-US"/>
              <a:t>Which keyword is used in Python to specify multiple exceptions in a single except block?</a:t>
            </a:r>
            <a:endParaRPr/>
          </a:p>
          <a:p>
            <a:pPr indent="-190500" lvl="0" marL="137160" rtl="0" algn="l">
              <a:lnSpc>
                <a:spcPct val="100000"/>
              </a:lnSpc>
              <a:spcBef>
                <a:spcPts val="2100"/>
              </a:spcBef>
              <a:spcAft>
                <a:spcPts val="0"/>
              </a:spcAft>
              <a:buSzPts val="3000"/>
              <a:buChar char=" "/>
            </a:pPr>
            <a:r>
              <a:rPr lang="en-US"/>
              <a:t>a) and</a:t>
            </a:r>
            <a:br>
              <a:rPr lang="en-US"/>
            </a:br>
            <a:r>
              <a:rPr lang="en-US"/>
              <a:t>b) or</a:t>
            </a:r>
            <a:br>
              <a:rPr lang="en-US"/>
            </a:br>
            <a:r>
              <a:rPr lang="en-US"/>
              <a:t>c) except</a:t>
            </a:r>
            <a:br>
              <a:rPr lang="en-US"/>
            </a:br>
            <a:r>
              <a:rPr lang="en-US"/>
              <a:t>d) as</a:t>
            </a:r>
            <a:endParaRPr sz="3200" u="sng">
              <a:latin typeface="Cambria"/>
              <a:ea typeface="Cambria"/>
              <a:cs typeface="Cambria"/>
              <a:sym typeface="Cambria"/>
            </a:endParaRPr>
          </a:p>
        </p:txBody>
      </p:sp>
      <p:sp>
        <p:nvSpPr>
          <p:cNvPr id="400" name="Google Shape;400;p25"/>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401" name="Google Shape;401;p25"/>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02" name="Google Shape;402;p25"/>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pic>
        <p:nvPicPr>
          <p:cNvPr descr="Checkmark with solid fill" id="403" name="Google Shape;403;p25"/>
          <p:cNvPicPr preferRelativeResize="0"/>
          <p:nvPr/>
        </p:nvPicPr>
        <p:blipFill rotWithShape="1">
          <a:blip r:embed="rId3">
            <a:alphaModFix/>
          </a:blip>
          <a:srcRect b="0" l="0" r="0" t="0"/>
          <a:stretch/>
        </p:blipFill>
        <p:spPr>
          <a:xfrm>
            <a:off x="8846218" y="4301289"/>
            <a:ext cx="595563" cy="595563"/>
          </a:xfrm>
          <a:prstGeom prst="rect">
            <a:avLst/>
          </a:prstGeom>
          <a:noFill/>
          <a:ln>
            <a:noFill/>
          </a:ln>
        </p:spPr>
      </p:pic>
      <p:pic>
        <p:nvPicPr>
          <p:cNvPr descr="Checkmark with solid fill" id="404" name="Google Shape;404;p25"/>
          <p:cNvPicPr preferRelativeResize="0"/>
          <p:nvPr/>
        </p:nvPicPr>
        <p:blipFill rotWithShape="1">
          <a:blip r:embed="rId3">
            <a:alphaModFix/>
          </a:blip>
          <a:srcRect b="0" l="0" r="0" t="0"/>
          <a:stretch/>
        </p:blipFill>
        <p:spPr>
          <a:xfrm>
            <a:off x="1930066" y="8151395"/>
            <a:ext cx="595563" cy="5955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8" name="Shape 408"/>
        <p:cNvGrpSpPr/>
        <p:nvPr/>
      </p:nvGrpSpPr>
      <p:grpSpPr>
        <a:xfrm>
          <a:off x="0" y="0"/>
          <a:ext cx="0" cy="0"/>
          <a:chOff x="0" y="0"/>
          <a:chExt cx="0" cy="0"/>
        </a:xfrm>
      </p:grpSpPr>
      <p:sp>
        <p:nvSpPr>
          <p:cNvPr id="409" name="Google Shape;409;p26"/>
          <p:cNvSpPr txBox="1"/>
          <p:nvPr>
            <p:ph type="title"/>
          </p:nvPr>
        </p:nvSpPr>
        <p:spPr>
          <a:xfrm>
            <a:off x="762000" y="6477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410" name="Google Shape;410;p26"/>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203200" lvl="1" marL="137160" rtl="0" algn="l">
              <a:lnSpc>
                <a:spcPct val="90000"/>
              </a:lnSpc>
              <a:spcBef>
                <a:spcPts val="0"/>
              </a:spcBef>
              <a:spcAft>
                <a:spcPts val="0"/>
              </a:spcAft>
              <a:buSzPts val="3200"/>
              <a:buFont typeface="Calibri"/>
              <a:buChar char=" "/>
            </a:pPr>
            <a:r>
              <a:rPr b="1" lang="en-US" sz="3200"/>
              <a:t>Code snippet –Predict Output</a:t>
            </a:r>
            <a:endParaRPr/>
          </a:p>
          <a:p>
            <a:pPr indent="-203200" lvl="1" marL="137160" rtl="0" algn="l">
              <a:lnSpc>
                <a:spcPct val="90000"/>
              </a:lnSpc>
              <a:spcBef>
                <a:spcPts val="2100"/>
              </a:spcBef>
              <a:spcAft>
                <a:spcPts val="0"/>
              </a:spcAft>
              <a:buSzPts val="3200"/>
              <a:buFont typeface="Calibri"/>
              <a:buChar char=" "/>
            </a:pPr>
            <a:r>
              <a:rPr lang="en-US" sz="3200"/>
              <a:t>1. Is the following python code valid?             </a:t>
            </a:r>
            <a:endParaRPr/>
          </a:p>
          <a:p>
            <a:pPr indent="-203200" lvl="1" marL="137160" rtl="0" algn="l">
              <a:lnSpc>
                <a:spcPct val="90000"/>
              </a:lnSpc>
              <a:spcBef>
                <a:spcPts val="2100"/>
              </a:spcBef>
              <a:spcAft>
                <a:spcPts val="0"/>
              </a:spcAft>
              <a:buSzPts val="3200"/>
              <a:buFont typeface="Calibri"/>
              <a:buChar char=" "/>
            </a:pPr>
            <a:r>
              <a:rPr lang="en-US" sz="3200"/>
              <a:t>a) no, there is no such thing as else</a:t>
            </a:r>
            <a:br>
              <a:rPr lang="en-US" sz="3200"/>
            </a:br>
            <a:r>
              <a:rPr lang="en-US" sz="3200"/>
              <a:t>b) no, else cannot be used with except</a:t>
            </a:r>
            <a:br>
              <a:rPr lang="en-US" sz="3200"/>
            </a:br>
            <a:r>
              <a:rPr lang="en-US" sz="3200"/>
              <a:t>c) no, else must come before except</a:t>
            </a:r>
            <a:br>
              <a:rPr lang="en-US" sz="3200"/>
            </a:br>
            <a:r>
              <a:rPr lang="en-US" sz="3200"/>
              <a:t>d) yes</a:t>
            </a:r>
            <a:endParaRPr b="1" sz="3200"/>
          </a:p>
        </p:txBody>
      </p:sp>
      <p:sp>
        <p:nvSpPr>
          <p:cNvPr id="411" name="Google Shape;411;p26"/>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412" name="Google Shape;412;p26"/>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13" name="Google Shape;413;p26"/>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414" name="Google Shape;414;p26"/>
          <p:cNvSpPr/>
          <p:nvPr/>
        </p:nvSpPr>
        <p:spPr>
          <a:xfrm>
            <a:off x="9089858" y="3200400"/>
            <a:ext cx="4419600" cy="38862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try</a:t>
            </a:r>
            <a:r>
              <a:rPr b="0" i="0" lang="en-US" sz="2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    </a:t>
            </a:r>
            <a:r>
              <a:rPr b="0" i="1" lang="en-US" sz="2800" u="none" cap="none" strike="noStrike">
                <a:solidFill>
                  <a:schemeClr val="dk1"/>
                </a:solidFill>
                <a:latin typeface="Calibri"/>
                <a:ea typeface="Calibri"/>
                <a:cs typeface="Calibri"/>
                <a:sym typeface="Calibri"/>
              </a:rPr>
              <a:t># Do something</a:t>
            </a:r>
            <a:r>
              <a:rPr b="0" i="0" lang="en-US" sz="2800" u="none" cap="none" strike="noStrike">
                <a:solidFill>
                  <a:schemeClr val="dk1"/>
                </a:solidFill>
                <a:latin typeface="Calibri"/>
                <a:ea typeface="Calibri"/>
                <a:cs typeface="Calibri"/>
                <a:sym typeface="Calibri"/>
              </a:rPr>
              <a:t> </a:t>
            </a:r>
            <a:endParaRPr b="0" i="0" sz="2800" u="none" cap="none" strike="noStrike">
              <a:solidFill>
                <a:schemeClr val="dk1"/>
              </a:solidFill>
              <a:latin typeface="Calibri"/>
              <a:ea typeface="Calibri"/>
              <a:cs typeface="Calibri"/>
              <a:sym typeface="Calibri"/>
            </a:endParaRPr>
          </a:p>
          <a:p>
            <a:pPr indent="0" lvl="1" marL="301752" marR="0" rtl="0" algn="l">
              <a:lnSpc>
                <a:spcPct val="15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except</a:t>
            </a:r>
            <a:r>
              <a:rPr b="0" i="0" lang="en-US" sz="2800" u="none" cap="none" strike="noStrike">
                <a:solidFill>
                  <a:schemeClr val="dk1"/>
                </a:solidFill>
                <a:latin typeface="Calibri"/>
                <a:ea typeface="Calibri"/>
                <a:cs typeface="Calibri"/>
                <a:sym typeface="Calibri"/>
              </a:rPr>
              <a:t>: </a:t>
            </a:r>
            <a:endParaRPr b="0" i="0" sz="2800" u="none" cap="none" strike="noStrike">
              <a:solidFill>
                <a:schemeClr val="dk1"/>
              </a:solidFill>
              <a:latin typeface="Calibri"/>
              <a:ea typeface="Calibri"/>
              <a:cs typeface="Calibri"/>
              <a:sym typeface="Calibri"/>
            </a:endParaRPr>
          </a:p>
          <a:p>
            <a:pPr indent="0" lvl="1" marL="301752" marR="0" rtl="0" algn="l">
              <a:lnSpc>
                <a:spcPct val="150000"/>
              </a:lnSpc>
              <a:spcBef>
                <a:spcPts val="0"/>
              </a:spcBef>
              <a:spcAft>
                <a:spcPts val="0"/>
              </a:spcAft>
              <a:buClr>
                <a:schemeClr val="dk1"/>
              </a:buClr>
              <a:buSzPts val="2800"/>
              <a:buFont typeface="Calibri"/>
              <a:buNone/>
            </a:pPr>
            <a:r>
              <a:rPr b="0" i="1" lang="en-US" sz="2800" u="none" cap="none" strike="noStrike">
                <a:solidFill>
                  <a:schemeClr val="dk1"/>
                </a:solidFill>
                <a:latin typeface="Calibri"/>
                <a:ea typeface="Calibri"/>
                <a:cs typeface="Calibri"/>
                <a:sym typeface="Calibri"/>
              </a:rPr>
              <a:t>  # Do something</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 </a:t>
            </a:r>
            <a:r>
              <a:rPr b="1" i="0" lang="en-US" sz="2800" u="none" cap="none" strike="noStrike">
                <a:solidFill>
                  <a:schemeClr val="dk1"/>
                </a:solidFill>
                <a:latin typeface="Calibri"/>
                <a:ea typeface="Calibri"/>
                <a:cs typeface="Calibri"/>
                <a:sym typeface="Calibri"/>
              </a:rPr>
              <a:t>else</a:t>
            </a:r>
            <a:r>
              <a:rPr b="0" i="0" lang="en-US" sz="2800" u="none" cap="none" strike="noStrike">
                <a:solidFill>
                  <a:schemeClr val="dk1"/>
                </a:solidFill>
                <a:latin typeface="Calibri"/>
                <a:ea typeface="Calibri"/>
                <a:cs typeface="Calibri"/>
                <a:sym typeface="Calibri"/>
              </a:rPr>
              <a:t>: </a:t>
            </a:r>
            <a:endParaRPr b="0" i="0" sz="2800" u="none" cap="none" strike="noStrike">
              <a:solidFill>
                <a:schemeClr val="dk1"/>
              </a:solidFill>
              <a:latin typeface="Calibri"/>
              <a:ea typeface="Calibri"/>
              <a:cs typeface="Calibri"/>
              <a:sym typeface="Calibri"/>
            </a:endParaRPr>
          </a:p>
          <a:p>
            <a:pPr indent="0" lvl="1" marL="301752" marR="0" rtl="0" algn="l">
              <a:lnSpc>
                <a:spcPct val="150000"/>
              </a:lnSpc>
              <a:spcBef>
                <a:spcPts val="0"/>
              </a:spcBef>
              <a:spcAft>
                <a:spcPts val="0"/>
              </a:spcAft>
              <a:buClr>
                <a:schemeClr val="dk1"/>
              </a:buClr>
              <a:buSzPts val="2800"/>
              <a:buFont typeface="Calibri"/>
              <a:buNone/>
            </a:pPr>
            <a:r>
              <a:rPr b="0" i="1" lang="en-US" sz="2800" u="none" cap="none" strike="noStrike">
                <a:solidFill>
                  <a:schemeClr val="dk1"/>
                </a:solidFill>
                <a:latin typeface="Calibri"/>
                <a:ea typeface="Calibri"/>
                <a:cs typeface="Calibri"/>
                <a:sym typeface="Calibri"/>
              </a:rPr>
              <a:t># Do something</a:t>
            </a:r>
            <a:endParaRPr b="0" i="0" sz="2800" u="none" cap="none" strike="noStrike">
              <a:solidFill>
                <a:schemeClr val="dk1"/>
              </a:solidFill>
              <a:latin typeface="Cambria"/>
              <a:ea typeface="Cambria"/>
              <a:cs typeface="Cambria"/>
              <a:sym typeface="Cambria"/>
            </a:endParaRPr>
          </a:p>
        </p:txBody>
      </p:sp>
      <p:pic>
        <p:nvPicPr>
          <p:cNvPr descr="Checkmark with solid fill" id="415" name="Google Shape;415;p26"/>
          <p:cNvPicPr preferRelativeResize="0"/>
          <p:nvPr/>
        </p:nvPicPr>
        <p:blipFill rotWithShape="1">
          <a:blip r:embed="rId3">
            <a:alphaModFix/>
          </a:blip>
          <a:srcRect b="0" l="0" r="0" t="0"/>
          <a:stretch/>
        </p:blipFill>
        <p:spPr>
          <a:xfrm>
            <a:off x="1645921" y="5363833"/>
            <a:ext cx="595563" cy="5955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9" name="Shape 419"/>
        <p:cNvGrpSpPr/>
        <p:nvPr/>
      </p:nvGrpSpPr>
      <p:grpSpPr>
        <a:xfrm>
          <a:off x="0" y="0"/>
          <a:ext cx="0" cy="0"/>
          <a:chOff x="0" y="0"/>
          <a:chExt cx="0" cy="0"/>
        </a:xfrm>
      </p:grpSpPr>
      <p:sp>
        <p:nvSpPr>
          <p:cNvPr id="420" name="Google Shape;420;p27"/>
          <p:cNvSpPr txBox="1"/>
          <p:nvPr>
            <p:ph type="title"/>
          </p:nvPr>
        </p:nvSpPr>
        <p:spPr>
          <a:xfrm>
            <a:off x="838200" y="647700"/>
            <a:ext cx="15392400" cy="1371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421" name="Google Shape;421;p27"/>
          <p:cNvSpPr txBox="1"/>
          <p:nvPr>
            <p:ph idx="1" type="body"/>
          </p:nvPr>
        </p:nvSpPr>
        <p:spPr>
          <a:xfrm>
            <a:off x="228600" y="2705100"/>
            <a:ext cx="176784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latin typeface="Cambria"/>
                <a:ea typeface="Cambria"/>
                <a:cs typeface="Cambria"/>
                <a:sym typeface="Cambria"/>
              </a:rPr>
              <a:t>5. Except block without Exception : </a:t>
            </a:r>
            <a:r>
              <a:rPr lang="en-US" sz="3200">
                <a:latin typeface="Cambria"/>
                <a:ea typeface="Cambria"/>
                <a:cs typeface="Cambria"/>
                <a:sym typeface="Cambria"/>
              </a:rPr>
              <a:t>can specify an except block without mentioning any exception(i.e. except:)</a:t>
            </a:r>
            <a:endParaRPr sz="3200" u="sng">
              <a:latin typeface="Cambria"/>
              <a:ea typeface="Cambria"/>
              <a:cs typeface="Cambria"/>
              <a:sym typeface="Cambria"/>
            </a:endParaRPr>
          </a:p>
        </p:txBody>
      </p:sp>
      <p:sp>
        <p:nvSpPr>
          <p:cNvPr id="422" name="Google Shape;422;p27"/>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423" name="Google Shape;423;p27"/>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24" name="Google Shape;424;p27"/>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425" name="Google Shape;425;p27"/>
          <p:cNvSpPr/>
          <p:nvPr/>
        </p:nvSpPr>
        <p:spPr>
          <a:xfrm>
            <a:off x="609600" y="4381500"/>
            <a:ext cx="8441094" cy="50292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rgbClr val="000000"/>
              </a:buClr>
              <a:buSzPts val="2700"/>
              <a:buFont typeface="Arial"/>
              <a:buNone/>
            </a:pPr>
            <a:r>
              <a:rPr b="1" i="0" lang="en-US" sz="2700" u="none" cap="none" strike="noStrike">
                <a:solidFill>
                  <a:schemeClr val="dk1"/>
                </a:solidFill>
                <a:latin typeface="Cambria"/>
                <a:ea typeface="Cambria"/>
                <a:cs typeface="Cambria"/>
                <a:sym typeface="Cambria"/>
              </a:rPr>
              <a:t>Syntax</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try:</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write the operations here</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except Exception1:</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if there is any exception, then execute this block</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else:</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if there is no exception than execute this block.</a:t>
            </a:r>
            <a:endParaRPr b="0" i="0" sz="2700" u="none" cap="none" strike="noStrike">
              <a:solidFill>
                <a:schemeClr val="dk1"/>
              </a:solidFill>
              <a:latin typeface="Cambria"/>
              <a:ea typeface="Cambria"/>
              <a:cs typeface="Cambria"/>
              <a:sym typeface="Cambri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9" name="Shape 429"/>
        <p:cNvGrpSpPr/>
        <p:nvPr/>
      </p:nvGrpSpPr>
      <p:grpSpPr>
        <a:xfrm>
          <a:off x="0" y="0"/>
          <a:ext cx="0" cy="0"/>
          <a:chOff x="0" y="0"/>
          <a:chExt cx="0" cy="0"/>
        </a:xfrm>
      </p:grpSpPr>
      <p:sp>
        <p:nvSpPr>
          <p:cNvPr id="430" name="Google Shape;430;p28"/>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431" name="Google Shape;431;p28"/>
          <p:cNvSpPr txBox="1"/>
          <p:nvPr>
            <p:ph idx="1" type="body"/>
          </p:nvPr>
        </p:nvSpPr>
        <p:spPr>
          <a:xfrm>
            <a:off x="228600" y="2705100"/>
            <a:ext cx="176784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latin typeface="Cambria"/>
                <a:ea typeface="Cambria"/>
                <a:cs typeface="Cambria"/>
                <a:sym typeface="Cambria"/>
              </a:rPr>
              <a:t>Example : </a:t>
            </a:r>
            <a:r>
              <a:rPr lang="en-US" sz="3200">
                <a:latin typeface="Cambria"/>
                <a:ea typeface="Cambria"/>
                <a:cs typeface="Cambria"/>
                <a:sym typeface="Cambria"/>
              </a:rPr>
              <a:t>Program to demonstrate the use of except block</a:t>
            </a:r>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lang="en-US" sz="3200" u="sng">
                <a:latin typeface="Cambria"/>
                <a:ea typeface="Cambria"/>
                <a:cs typeface="Cambria"/>
                <a:sym typeface="Cambria"/>
              </a:rPr>
              <a:t>.</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432" name="Google Shape;432;p28"/>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433" name="Google Shape;433;p28"/>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34" name="Google Shape;434;p28"/>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435" name="Google Shape;435;p28"/>
          <p:cNvSpPr/>
          <p:nvPr/>
        </p:nvSpPr>
        <p:spPr>
          <a:xfrm>
            <a:off x="533400" y="3444551"/>
            <a:ext cx="10439400" cy="5889949"/>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try:</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    file=open('File1.txt')</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    str1=f.readlines()</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    print(str1)</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except IOError:</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    print("error occured during input.....Program terminating...")</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Except ValueError:</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	 print(“could not  convert data to an integer.”)</a:t>
            </a:r>
            <a:endParaRPr b="0" i="0" sz="2600" u="none" cap="none" strike="noStrike">
              <a:solidFill>
                <a:schemeClr val="dk1"/>
              </a:solidFill>
              <a:latin typeface="Cambria"/>
              <a:ea typeface="Cambria"/>
              <a:cs typeface="Cambria"/>
              <a:sym typeface="Cambria"/>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except:</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    print(“Unexpected error......Program Terminating…")</a:t>
            </a:r>
            <a:endParaRPr b="0" i="0" sz="2600" u="none" cap="none" strike="noStrike">
              <a:solidFill>
                <a:schemeClr val="dk1"/>
              </a:solidFill>
              <a:latin typeface="Cambria"/>
              <a:ea typeface="Cambria"/>
              <a:cs typeface="Cambria"/>
              <a:sym typeface="Cambria"/>
            </a:endParaRPr>
          </a:p>
        </p:txBody>
      </p:sp>
      <p:sp>
        <p:nvSpPr>
          <p:cNvPr id="436" name="Google Shape;436;p28"/>
          <p:cNvSpPr/>
          <p:nvPr/>
        </p:nvSpPr>
        <p:spPr>
          <a:xfrm>
            <a:off x="11632162" y="4381500"/>
            <a:ext cx="5486401" cy="28194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Unexpected error......Program Terminating</a:t>
            </a:r>
            <a:endParaRPr b="0" i="0" sz="2800" u="none" cap="none" strike="noStrike">
              <a:solidFill>
                <a:schemeClr val="dk1"/>
              </a:solidFill>
              <a:latin typeface="Cambria"/>
              <a:ea typeface="Cambria"/>
              <a:cs typeface="Cambria"/>
              <a:sym typeface="Cambri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0" name="Shape 440"/>
        <p:cNvGrpSpPr/>
        <p:nvPr/>
      </p:nvGrpSpPr>
      <p:grpSpPr>
        <a:xfrm>
          <a:off x="0" y="0"/>
          <a:ext cx="0" cy="0"/>
          <a:chOff x="0" y="0"/>
          <a:chExt cx="0" cy="0"/>
        </a:xfrm>
      </p:grpSpPr>
      <p:sp>
        <p:nvSpPr>
          <p:cNvPr id="441" name="Google Shape;441;p29"/>
          <p:cNvSpPr txBox="1"/>
          <p:nvPr>
            <p:ph type="title"/>
          </p:nvPr>
        </p:nvSpPr>
        <p:spPr>
          <a:xfrm>
            <a:off x="762000" y="9525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442" name="Google Shape;442;p29"/>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Unsolved Programming Question for students</a:t>
            </a:r>
            <a:endParaRPr/>
          </a:p>
          <a:p>
            <a:pPr indent="-514350" lvl="1" marL="816102" rtl="0" algn="l">
              <a:lnSpc>
                <a:spcPct val="150000"/>
              </a:lnSpc>
              <a:spcBef>
                <a:spcPts val="900"/>
              </a:spcBef>
              <a:spcAft>
                <a:spcPts val="0"/>
              </a:spcAft>
              <a:buSzPts val="3200"/>
              <a:buAutoNum type="arabicPeriod"/>
            </a:pPr>
            <a:r>
              <a:rPr lang="en-US" sz="3200"/>
              <a:t> Write a Python function that takes a list of numbers and an index as input, and returns the element at the given index. If the index is out of bounds or the input is not a list, the function should print "Invalid input" without specifying the type of exception.</a:t>
            </a:r>
            <a:endParaRPr/>
          </a:p>
          <a:p>
            <a:pPr indent="-514350" lvl="1" marL="816102" rtl="0" algn="l">
              <a:lnSpc>
                <a:spcPct val="150000"/>
              </a:lnSpc>
              <a:spcBef>
                <a:spcPts val="900"/>
              </a:spcBef>
              <a:spcAft>
                <a:spcPts val="0"/>
              </a:spcAft>
              <a:buSzPts val="3200"/>
              <a:buAutoNum type="arabicPeriod"/>
            </a:pPr>
            <a:r>
              <a:rPr lang="en-US" sz="3200" u="sng">
                <a:latin typeface="Cambria"/>
                <a:ea typeface="Cambria"/>
                <a:cs typeface="Cambria"/>
                <a:sym typeface="Cambria"/>
              </a:rPr>
              <a:t> </a:t>
            </a:r>
            <a:r>
              <a:rPr lang="en-US" sz="3200"/>
              <a:t>Write a Python function that reads an integer from the user and computes the square root of the integer. If the input is not an integer or the square root is not a real number, the function should print "Error" without specifying the type of exception.</a:t>
            </a:r>
            <a:endParaRPr/>
          </a:p>
          <a:p>
            <a:pPr indent="-311150" lvl="1" marL="816102" rtl="0" algn="l">
              <a:lnSpc>
                <a:spcPct val="150000"/>
              </a:lnSpc>
              <a:spcBef>
                <a:spcPts val="900"/>
              </a:spcBef>
              <a:spcAft>
                <a:spcPts val="0"/>
              </a:spcAft>
              <a:buSzPts val="3200"/>
              <a:buNone/>
            </a:pPr>
            <a:r>
              <a:t/>
            </a:r>
            <a:endParaRPr sz="3200">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443" name="Google Shape;443;p29"/>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444" name="Google Shape;444;p29"/>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45" name="Google Shape;445;p29"/>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9" name="Shape 449"/>
        <p:cNvGrpSpPr/>
        <p:nvPr/>
      </p:nvGrpSpPr>
      <p:grpSpPr>
        <a:xfrm>
          <a:off x="0" y="0"/>
          <a:ext cx="0" cy="0"/>
          <a:chOff x="0" y="0"/>
          <a:chExt cx="0" cy="0"/>
        </a:xfrm>
      </p:grpSpPr>
      <p:sp>
        <p:nvSpPr>
          <p:cNvPr id="450" name="Google Shape;450;p30"/>
          <p:cNvSpPr txBox="1"/>
          <p:nvPr>
            <p:ph type="title"/>
          </p:nvPr>
        </p:nvSpPr>
        <p:spPr>
          <a:xfrm>
            <a:off x="914400" y="7239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451" name="Google Shape;451;p30"/>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Quiz</a:t>
            </a:r>
            <a:endParaRPr/>
          </a:p>
          <a:p>
            <a:pPr indent="-190500" lvl="0" marL="137160" rtl="0" algn="l">
              <a:lnSpc>
                <a:spcPct val="90000"/>
              </a:lnSpc>
              <a:spcBef>
                <a:spcPts val="2400"/>
              </a:spcBef>
              <a:spcAft>
                <a:spcPts val="0"/>
              </a:spcAft>
              <a:buSzPts val="3000"/>
              <a:buChar char=" "/>
            </a:pPr>
            <a:r>
              <a:rPr lang="en-US"/>
              <a:t>1. Which of the following best describes the behavior of an except block without specifying the Exception base class?</a:t>
            </a:r>
            <a:endParaRPr/>
          </a:p>
          <a:p>
            <a:pPr indent="-190500" lvl="0" marL="137160" rtl="0" algn="l">
              <a:lnSpc>
                <a:spcPct val="90000"/>
              </a:lnSpc>
              <a:spcBef>
                <a:spcPts val="2100"/>
              </a:spcBef>
              <a:spcAft>
                <a:spcPts val="0"/>
              </a:spcAft>
              <a:buSzPts val="3000"/>
              <a:buChar char=" "/>
            </a:pPr>
            <a:r>
              <a:rPr lang="en-US"/>
              <a:t>a) It handles only specific exceptions that are explicitly listed</a:t>
            </a:r>
            <a:br>
              <a:rPr lang="en-US"/>
            </a:br>
            <a:r>
              <a:rPr lang="en-US"/>
              <a:t>b) It handles any type of exception without specifying the type</a:t>
            </a:r>
            <a:br>
              <a:rPr lang="en-US"/>
            </a:br>
            <a:r>
              <a:rPr lang="en-US"/>
              <a:t>c) It raises an error if an exception occurs</a:t>
            </a:r>
            <a:br>
              <a:rPr lang="en-US"/>
            </a:br>
            <a:r>
              <a:rPr lang="en-US"/>
              <a:t>d) It catches exceptions raised by the finally block</a:t>
            </a:r>
            <a:endParaRPr/>
          </a:p>
          <a:p>
            <a:pPr indent="-190500" lvl="0" marL="137160" rtl="0" algn="l">
              <a:lnSpc>
                <a:spcPct val="90000"/>
              </a:lnSpc>
              <a:spcBef>
                <a:spcPts val="2100"/>
              </a:spcBef>
              <a:spcAft>
                <a:spcPts val="0"/>
              </a:spcAft>
              <a:buSzPts val="3000"/>
              <a:buChar char=" "/>
            </a:pPr>
            <a:r>
              <a:rPr lang="en-US"/>
              <a:t>2. When should you use an except block without specifying the Exception base class?</a:t>
            </a:r>
            <a:endParaRPr/>
          </a:p>
          <a:p>
            <a:pPr indent="-190500" lvl="0" marL="137160" rtl="0" algn="l">
              <a:lnSpc>
                <a:spcPct val="90000"/>
              </a:lnSpc>
              <a:spcBef>
                <a:spcPts val="2100"/>
              </a:spcBef>
              <a:spcAft>
                <a:spcPts val="0"/>
              </a:spcAft>
              <a:buSzPts val="3000"/>
              <a:buChar char=" "/>
            </a:pPr>
            <a:r>
              <a:rPr lang="en-US"/>
              <a:t>a) When you want to handle all exceptions in the same way</a:t>
            </a:r>
            <a:br>
              <a:rPr lang="en-US"/>
            </a:br>
            <a:r>
              <a:rPr lang="en-US"/>
              <a:t>b) When you want to handle specific exceptions separately</a:t>
            </a:r>
            <a:br>
              <a:rPr lang="en-US"/>
            </a:br>
            <a:r>
              <a:rPr lang="en-US"/>
              <a:t>c) When you want to handle any type of exception without specifying the type</a:t>
            </a:r>
            <a:br>
              <a:rPr lang="en-US"/>
            </a:br>
            <a:r>
              <a:rPr lang="en-US"/>
              <a:t>d) When you want to raise an error if an exception occurs</a:t>
            </a:r>
            <a:endParaRPr/>
          </a:p>
          <a:p>
            <a:pPr indent="0" lvl="0" marL="137160" rtl="0" algn="l">
              <a:lnSpc>
                <a:spcPct val="90000"/>
              </a:lnSpc>
              <a:spcBef>
                <a:spcPts val="2100"/>
              </a:spcBef>
              <a:spcAft>
                <a:spcPts val="0"/>
              </a:spcAft>
              <a:buSzPts val="3000"/>
              <a:buNone/>
            </a:pPr>
            <a:r>
              <a:t/>
            </a:r>
            <a:endParaRPr/>
          </a:p>
          <a:p>
            <a:pPr indent="0" lvl="1" marL="301752" rtl="0" algn="l">
              <a:lnSpc>
                <a:spcPct val="150000"/>
              </a:lnSpc>
              <a:spcBef>
                <a:spcPts val="600"/>
              </a:spcBef>
              <a:spcAft>
                <a:spcPts val="0"/>
              </a:spcAft>
              <a:buSzPts val="3200"/>
              <a:buNone/>
            </a:pPr>
            <a:r>
              <a:t/>
            </a:r>
            <a:endParaRPr b="1" sz="3200"/>
          </a:p>
        </p:txBody>
      </p:sp>
      <p:sp>
        <p:nvSpPr>
          <p:cNvPr id="452" name="Google Shape;452;p30"/>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453" name="Google Shape;453;p30"/>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54" name="Google Shape;454;p30"/>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pic>
        <p:nvPicPr>
          <p:cNvPr descr="Checkmark with solid fill" id="455" name="Google Shape;455;p30"/>
          <p:cNvPicPr preferRelativeResize="0"/>
          <p:nvPr/>
        </p:nvPicPr>
        <p:blipFill rotWithShape="1">
          <a:blip r:embed="rId3">
            <a:alphaModFix/>
          </a:blip>
          <a:srcRect b="0" l="0" r="0" t="0"/>
          <a:stretch/>
        </p:blipFill>
        <p:spPr>
          <a:xfrm>
            <a:off x="9870909" y="4547937"/>
            <a:ext cx="595563" cy="595563"/>
          </a:xfrm>
          <a:prstGeom prst="rect">
            <a:avLst/>
          </a:prstGeom>
          <a:noFill/>
          <a:ln>
            <a:noFill/>
          </a:ln>
        </p:spPr>
      </p:pic>
      <p:pic>
        <p:nvPicPr>
          <p:cNvPr descr="Checkmark with solid fill" id="456" name="Google Shape;456;p30"/>
          <p:cNvPicPr preferRelativeResize="0"/>
          <p:nvPr/>
        </p:nvPicPr>
        <p:blipFill rotWithShape="1">
          <a:blip r:embed="rId3">
            <a:alphaModFix/>
          </a:blip>
          <a:srcRect b="0" l="0" r="0" t="0"/>
          <a:stretch/>
        </p:blipFill>
        <p:spPr>
          <a:xfrm>
            <a:off x="12465702" y="8039100"/>
            <a:ext cx="595563" cy="5955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500"/>
                                        <p:tgtEl>
                                          <p:spTgt spid="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0" name="Shape 460"/>
        <p:cNvGrpSpPr/>
        <p:nvPr/>
      </p:nvGrpSpPr>
      <p:grpSpPr>
        <a:xfrm>
          <a:off x="0" y="0"/>
          <a:ext cx="0" cy="0"/>
          <a:chOff x="0" y="0"/>
          <a:chExt cx="0" cy="0"/>
        </a:xfrm>
      </p:grpSpPr>
      <p:sp>
        <p:nvSpPr>
          <p:cNvPr id="461" name="Google Shape;461;p31"/>
          <p:cNvSpPr txBox="1"/>
          <p:nvPr>
            <p:ph type="title"/>
          </p:nvPr>
        </p:nvSpPr>
        <p:spPr>
          <a:xfrm>
            <a:off x="914400" y="8001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462" name="Google Shape;462;p31"/>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203200" lvl="1" marL="137160" rtl="0" algn="l">
              <a:lnSpc>
                <a:spcPct val="90000"/>
              </a:lnSpc>
              <a:spcBef>
                <a:spcPts val="0"/>
              </a:spcBef>
              <a:spcAft>
                <a:spcPts val="0"/>
              </a:spcAft>
              <a:buSzPts val="3200"/>
              <a:buFont typeface="Calibri"/>
              <a:buChar char=" "/>
            </a:pPr>
            <a:r>
              <a:rPr b="1" lang="en-US" sz="3200"/>
              <a:t>Code snippet –Predict Output</a:t>
            </a:r>
            <a:endParaRPr/>
          </a:p>
          <a:p>
            <a:pPr indent="-514350" lvl="1" marL="816102" rtl="0" algn="l">
              <a:lnSpc>
                <a:spcPct val="150000"/>
              </a:lnSpc>
              <a:spcBef>
                <a:spcPts val="600"/>
              </a:spcBef>
              <a:spcAft>
                <a:spcPts val="0"/>
              </a:spcAft>
              <a:buSzPts val="3200"/>
              <a:buAutoNum type="arabicPeriod"/>
            </a:pPr>
            <a:r>
              <a:rPr lang="en-US" sz="3200"/>
              <a:t>What will be the  output if the user enters "abc" as input?</a:t>
            </a:r>
            <a:endParaRPr/>
          </a:p>
          <a:p>
            <a:pPr indent="-203200" lvl="0" marL="137160" rtl="0" algn="l">
              <a:lnSpc>
                <a:spcPct val="90000"/>
              </a:lnSpc>
              <a:spcBef>
                <a:spcPts val="2400"/>
              </a:spcBef>
              <a:spcAft>
                <a:spcPts val="0"/>
              </a:spcAft>
              <a:buSzPts val="3200"/>
              <a:buChar char=" "/>
            </a:pPr>
            <a:r>
              <a:rPr b="1" lang="en-US" sz="3200"/>
              <a:t>     </a:t>
            </a:r>
            <a:r>
              <a:rPr lang="en-US" sz="3200"/>
              <a:t>a ) </a:t>
            </a:r>
            <a:r>
              <a:rPr lang="en-US"/>
              <a:t>An error occurred</a:t>
            </a:r>
            <a:endParaRPr/>
          </a:p>
          <a:p>
            <a:pPr indent="-190500" lvl="0" marL="137160" rtl="0" algn="l">
              <a:lnSpc>
                <a:spcPct val="90000"/>
              </a:lnSpc>
              <a:spcBef>
                <a:spcPts val="2100"/>
              </a:spcBef>
              <a:spcAft>
                <a:spcPts val="0"/>
              </a:spcAft>
              <a:buSzPts val="3000"/>
              <a:buChar char=" "/>
            </a:pPr>
            <a:r>
              <a:rPr lang="en-US"/>
              <a:t>     b) Result: 0</a:t>
            </a:r>
            <a:endParaRPr/>
          </a:p>
          <a:p>
            <a:pPr indent="-190500" lvl="0" marL="137160" rtl="0" algn="l">
              <a:lnSpc>
                <a:spcPct val="90000"/>
              </a:lnSpc>
              <a:spcBef>
                <a:spcPts val="2100"/>
              </a:spcBef>
              <a:spcAft>
                <a:spcPts val="0"/>
              </a:spcAft>
              <a:buSzPts val="3000"/>
              <a:buChar char=" "/>
            </a:pPr>
            <a:r>
              <a:rPr lang="en-US"/>
              <a:t>     c) No output, the program will raise an error</a:t>
            </a:r>
            <a:endParaRPr/>
          </a:p>
          <a:p>
            <a:pPr indent="-190500" lvl="0" marL="137160" rtl="0" algn="l">
              <a:lnSpc>
                <a:spcPct val="90000"/>
              </a:lnSpc>
              <a:spcBef>
                <a:spcPts val="2100"/>
              </a:spcBef>
              <a:spcAft>
                <a:spcPts val="0"/>
              </a:spcAft>
              <a:buSzPts val="3000"/>
              <a:buChar char=" "/>
            </a:pPr>
            <a:r>
              <a:rPr lang="en-US"/>
              <a:t>     d) Result: Infinity</a:t>
            </a:r>
            <a:endParaRPr/>
          </a:p>
          <a:p>
            <a:pPr indent="0" lvl="1" marL="301752" rtl="0" algn="l">
              <a:lnSpc>
                <a:spcPct val="150000"/>
              </a:lnSpc>
              <a:spcBef>
                <a:spcPts val="600"/>
              </a:spcBef>
              <a:spcAft>
                <a:spcPts val="0"/>
              </a:spcAft>
              <a:buSzPts val="3200"/>
              <a:buNone/>
            </a:pPr>
            <a:r>
              <a:t/>
            </a:r>
            <a:endParaRPr b="1" sz="3200"/>
          </a:p>
        </p:txBody>
      </p:sp>
      <p:sp>
        <p:nvSpPr>
          <p:cNvPr id="463" name="Google Shape;463;p31"/>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464" name="Google Shape;464;p31"/>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65" name="Google Shape;465;p31"/>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466" name="Google Shape;466;p31"/>
          <p:cNvSpPr/>
          <p:nvPr/>
        </p:nvSpPr>
        <p:spPr>
          <a:xfrm>
            <a:off x="10896600" y="3238500"/>
            <a:ext cx="6477000" cy="46482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try:</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    x = int(input("Enter a number: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    y = 10 / x</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except:</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    print("An error occurred")</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else:</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    print("Result:", y)</a:t>
            </a:r>
            <a:endParaRPr b="0" i="0" sz="1400" u="none" cap="none" strike="noStrike">
              <a:solidFill>
                <a:srgbClr val="000000"/>
              </a:solidFill>
              <a:latin typeface="Arial"/>
              <a:ea typeface="Arial"/>
              <a:cs typeface="Arial"/>
              <a:sym typeface="Arial"/>
            </a:endParaRPr>
          </a:p>
        </p:txBody>
      </p:sp>
      <p:pic>
        <p:nvPicPr>
          <p:cNvPr descr="Checkmark with solid fill" id="467" name="Google Shape;467;p31"/>
          <p:cNvPicPr preferRelativeResize="0"/>
          <p:nvPr/>
        </p:nvPicPr>
        <p:blipFill rotWithShape="1">
          <a:blip r:embed="rId3">
            <a:alphaModFix/>
          </a:blip>
          <a:srcRect b="0" l="0" r="0" t="0"/>
          <a:stretch/>
        </p:blipFill>
        <p:spPr>
          <a:xfrm>
            <a:off x="4408572" y="4180974"/>
            <a:ext cx="595563" cy="5955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1" name="Shape 471"/>
        <p:cNvGrpSpPr/>
        <p:nvPr/>
      </p:nvGrpSpPr>
      <p:grpSpPr>
        <a:xfrm>
          <a:off x="0" y="0"/>
          <a:ext cx="0" cy="0"/>
          <a:chOff x="0" y="0"/>
          <a:chExt cx="0" cy="0"/>
        </a:xfrm>
      </p:grpSpPr>
      <p:sp>
        <p:nvSpPr>
          <p:cNvPr id="472" name="Google Shape;472;p32"/>
          <p:cNvSpPr txBox="1"/>
          <p:nvPr>
            <p:ph type="title"/>
          </p:nvPr>
        </p:nvSpPr>
        <p:spPr>
          <a:xfrm>
            <a:off x="838200" y="647700"/>
            <a:ext cx="15392400" cy="1371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Error and Exception Handling   </a:t>
            </a:r>
            <a:endParaRPr b="1" sz="8000">
              <a:latin typeface="Times New Roman"/>
              <a:ea typeface="Times New Roman"/>
              <a:cs typeface="Times New Roman"/>
              <a:sym typeface="Times New Roman"/>
            </a:endParaRPr>
          </a:p>
        </p:txBody>
      </p:sp>
      <p:sp>
        <p:nvSpPr>
          <p:cNvPr id="473" name="Google Shape;473;p32"/>
          <p:cNvSpPr txBox="1"/>
          <p:nvPr>
            <p:ph idx="1" type="body"/>
          </p:nvPr>
        </p:nvSpPr>
        <p:spPr>
          <a:xfrm>
            <a:off x="228600" y="2705100"/>
            <a:ext cx="176784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latin typeface="Cambria"/>
                <a:ea typeface="Cambria"/>
                <a:cs typeface="Cambria"/>
                <a:sym typeface="Cambria"/>
              </a:rPr>
              <a:t>6. The else Clause :</a:t>
            </a:r>
            <a:r>
              <a:rPr lang="en-US" sz="3200">
                <a:latin typeface="Cambria"/>
                <a:ea typeface="Cambria"/>
                <a:cs typeface="Cambria"/>
                <a:sym typeface="Cambria"/>
              </a:rPr>
              <a:t>The try… except block can optionally have an else clause .which ,when present must follow all except blocks .The statement(s) in the else block is executed only if the try clause does not raise an exception </a:t>
            </a:r>
            <a:endParaRPr sz="3200" u="sng">
              <a:latin typeface="Cambria"/>
              <a:ea typeface="Cambria"/>
              <a:cs typeface="Cambria"/>
              <a:sym typeface="Cambria"/>
            </a:endParaRPr>
          </a:p>
        </p:txBody>
      </p:sp>
      <p:sp>
        <p:nvSpPr>
          <p:cNvPr id="474" name="Google Shape;474;p32"/>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475" name="Google Shape;475;p32"/>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76" name="Google Shape;476;p32"/>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477" name="Google Shape;477;p32"/>
          <p:cNvSpPr/>
          <p:nvPr/>
        </p:nvSpPr>
        <p:spPr>
          <a:xfrm>
            <a:off x="6848669" y="4305300"/>
            <a:ext cx="8534400" cy="51054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rgbClr val="000000"/>
              </a:buClr>
              <a:buSzPts val="2700"/>
              <a:buFont typeface="Arial"/>
              <a:buNone/>
            </a:pPr>
            <a:r>
              <a:rPr b="1" i="0" lang="en-US" sz="2700" u="none" cap="none" strike="noStrike">
                <a:solidFill>
                  <a:schemeClr val="dk1"/>
                </a:solidFill>
                <a:latin typeface="Cambria"/>
                <a:ea typeface="Cambria"/>
                <a:cs typeface="Cambria"/>
                <a:sym typeface="Cambria"/>
              </a:rPr>
              <a:t>Syntax</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try:</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write the operations here</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except Exception1:</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if there is any exception, then execute this block</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else:</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700"/>
              <a:buFont typeface="Arial"/>
              <a:buNone/>
            </a:pPr>
            <a:r>
              <a:rPr b="0" i="0" lang="en-US" sz="2700" u="none" cap="none" strike="noStrike">
                <a:solidFill>
                  <a:schemeClr val="dk1"/>
                </a:solidFill>
                <a:latin typeface="Cambria"/>
                <a:ea typeface="Cambria"/>
                <a:cs typeface="Cambria"/>
                <a:sym typeface="Cambria"/>
              </a:rPr>
              <a:t>    if there is no exception than execute this block.</a:t>
            </a:r>
            <a:endParaRPr b="0" i="0" sz="2700" u="none" cap="none" strike="noStrike">
              <a:solidFill>
                <a:schemeClr val="dk1"/>
              </a:solidFill>
              <a:latin typeface="Cambria"/>
              <a:ea typeface="Cambria"/>
              <a:cs typeface="Cambria"/>
              <a:sym typeface="Cambri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1" name="Shape 481"/>
        <p:cNvGrpSpPr/>
        <p:nvPr/>
      </p:nvGrpSpPr>
      <p:grpSpPr>
        <a:xfrm>
          <a:off x="0" y="0"/>
          <a:ext cx="0" cy="0"/>
          <a:chOff x="0" y="0"/>
          <a:chExt cx="0" cy="0"/>
        </a:xfrm>
      </p:grpSpPr>
      <p:sp>
        <p:nvSpPr>
          <p:cNvPr id="482" name="Google Shape;482;p33"/>
          <p:cNvSpPr txBox="1"/>
          <p:nvPr>
            <p:ph type="title"/>
          </p:nvPr>
        </p:nvSpPr>
        <p:spPr>
          <a:xfrm>
            <a:off x="762000" y="876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483" name="Google Shape;483;p33"/>
          <p:cNvSpPr txBox="1"/>
          <p:nvPr>
            <p:ph idx="1" type="body"/>
          </p:nvPr>
        </p:nvSpPr>
        <p:spPr>
          <a:xfrm>
            <a:off x="228600" y="2705100"/>
            <a:ext cx="176784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latin typeface="Cambria"/>
                <a:ea typeface="Cambria"/>
                <a:cs typeface="Cambria"/>
                <a:sym typeface="Cambria"/>
              </a:rPr>
              <a:t>Example : </a:t>
            </a:r>
            <a:r>
              <a:rPr lang="en-US" sz="3200">
                <a:latin typeface="Cambria"/>
                <a:ea typeface="Cambria"/>
                <a:cs typeface="Cambria"/>
                <a:sym typeface="Cambria"/>
              </a:rPr>
              <a:t>Program to demonstrate the else block</a:t>
            </a:r>
            <a:endParaRPr/>
          </a:p>
          <a:p>
            <a:pPr indent="0" lvl="1" marL="301752" rtl="0" algn="l">
              <a:lnSpc>
                <a:spcPct val="150000"/>
              </a:lnSpc>
              <a:spcBef>
                <a:spcPts val="900"/>
              </a:spcBef>
              <a:spcAft>
                <a:spcPts val="0"/>
              </a:spcAft>
              <a:buSzPts val="3200"/>
              <a:buNone/>
            </a:pPr>
            <a:r>
              <a:t/>
            </a:r>
            <a:endParaRPr sz="3200">
              <a:latin typeface="Cambria"/>
              <a:ea typeface="Cambria"/>
              <a:cs typeface="Cambria"/>
              <a:sym typeface="Cambria"/>
            </a:endParaRPr>
          </a:p>
          <a:p>
            <a:pPr indent="0" lvl="1" marL="301752" rtl="0" algn="l">
              <a:lnSpc>
                <a:spcPct val="150000"/>
              </a:lnSpc>
              <a:spcBef>
                <a:spcPts val="900"/>
              </a:spcBef>
              <a:spcAft>
                <a:spcPts val="0"/>
              </a:spcAft>
              <a:buSzPts val="3200"/>
              <a:buNone/>
            </a:pPr>
            <a:r>
              <a:rPr lang="en-US" sz="3200" u="sng">
                <a:latin typeface="Cambria"/>
                <a:ea typeface="Cambria"/>
                <a:cs typeface="Cambria"/>
                <a:sym typeface="Cambria"/>
              </a:rPr>
              <a:t>.</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484" name="Google Shape;484;p33"/>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485" name="Google Shape;485;p33"/>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86" name="Google Shape;486;p33"/>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487" name="Google Shape;487;p33"/>
          <p:cNvSpPr/>
          <p:nvPr/>
        </p:nvSpPr>
        <p:spPr>
          <a:xfrm>
            <a:off x="609600" y="3771900"/>
            <a:ext cx="10210800" cy="52578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try:</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    file=open('DSU2.txt')</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    str1=file.readlines()</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    print(str1)</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except IOError:</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    print("error occured during input.....Program terminating...")</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else:</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rgbClr val="000000"/>
              </a:buClr>
              <a:buSzPts val="2600"/>
              <a:buFont typeface="Arial"/>
              <a:buNone/>
            </a:pPr>
            <a:r>
              <a:rPr b="0" i="0" lang="en-US" sz="2600" u="none" cap="none" strike="noStrike">
                <a:solidFill>
                  <a:schemeClr val="dk1"/>
                </a:solidFill>
                <a:latin typeface="Cambria"/>
                <a:ea typeface="Cambria"/>
                <a:cs typeface="Cambria"/>
                <a:sym typeface="Cambria"/>
              </a:rPr>
              <a:t>    print("Program  Terminating  Succesfully......")   </a:t>
            </a:r>
            <a:endParaRPr b="0" i="0" sz="2600" u="none" cap="none" strike="noStrike">
              <a:solidFill>
                <a:schemeClr val="dk1"/>
              </a:solidFill>
              <a:latin typeface="Cambria"/>
              <a:ea typeface="Cambria"/>
              <a:cs typeface="Cambria"/>
              <a:sym typeface="Cambria"/>
            </a:endParaRPr>
          </a:p>
        </p:txBody>
      </p:sp>
      <p:sp>
        <p:nvSpPr>
          <p:cNvPr id="488" name="Google Shape;488;p33"/>
          <p:cNvSpPr/>
          <p:nvPr/>
        </p:nvSpPr>
        <p:spPr>
          <a:xfrm>
            <a:off x="11353800" y="4381500"/>
            <a:ext cx="6172200" cy="34290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['Hello All, hope you are enjoying learning python\n'] </a:t>
            </a:r>
            <a:endParaRPr b="0" i="0" sz="2800" u="none" cap="none" strike="noStrike">
              <a:solidFill>
                <a:schemeClr val="dk1"/>
              </a:solidFill>
              <a:latin typeface="Calibri"/>
              <a:ea typeface="Calibri"/>
              <a:cs typeface="Calibri"/>
              <a:sym typeface="Calibri"/>
            </a:endParaRPr>
          </a:p>
          <a:p>
            <a:pPr indent="0" lvl="1" marL="301752" marR="0" rtl="0" algn="l">
              <a:lnSpc>
                <a:spcPct val="15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Program Terminating Successfully......</a:t>
            </a:r>
            <a:endParaRPr b="0" i="0" sz="2800" u="none" cap="none" strike="noStrike">
              <a:solidFill>
                <a:schemeClr val="dk1"/>
              </a:solidFill>
              <a:latin typeface="Cambria"/>
              <a:ea typeface="Cambria"/>
              <a:cs typeface="Cambria"/>
              <a:sym typeface="Cambri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2" name="Shape 492"/>
        <p:cNvGrpSpPr/>
        <p:nvPr/>
      </p:nvGrpSpPr>
      <p:grpSpPr>
        <a:xfrm>
          <a:off x="0" y="0"/>
          <a:ext cx="0" cy="0"/>
          <a:chOff x="0" y="0"/>
          <a:chExt cx="0" cy="0"/>
        </a:xfrm>
      </p:grpSpPr>
      <p:sp>
        <p:nvSpPr>
          <p:cNvPr id="493" name="Google Shape;493;p34"/>
          <p:cNvSpPr txBox="1"/>
          <p:nvPr>
            <p:ph type="title"/>
          </p:nvPr>
        </p:nvSpPr>
        <p:spPr>
          <a:xfrm>
            <a:off x="914400" y="8001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494" name="Google Shape;494;p34"/>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0" lvl="1" marL="301752" rtl="0" algn="l">
              <a:lnSpc>
                <a:spcPct val="150000"/>
              </a:lnSpc>
              <a:spcBef>
                <a:spcPts val="0"/>
              </a:spcBef>
              <a:spcAft>
                <a:spcPts val="0"/>
              </a:spcAft>
              <a:buSzPts val="3200"/>
              <a:buNone/>
            </a:pPr>
            <a:r>
              <a:rPr b="1" lang="en-US" sz="3200"/>
              <a:t>Unsolved Programming Question for students</a:t>
            </a:r>
            <a:endParaRPr/>
          </a:p>
          <a:p>
            <a:pPr indent="-514350" lvl="1" marL="816102" rtl="0" algn="l">
              <a:lnSpc>
                <a:spcPct val="150000"/>
              </a:lnSpc>
              <a:spcBef>
                <a:spcPts val="900"/>
              </a:spcBef>
              <a:spcAft>
                <a:spcPts val="0"/>
              </a:spcAft>
              <a:buSzPts val="3200"/>
              <a:buAutoNum type="arabicPeriod"/>
            </a:pPr>
            <a:r>
              <a:rPr lang="en-US" sz="3200"/>
              <a:t>Write a Python function that takes a list of integers as input and returns the sum of all even numbers in the list. If the list is empty or contains no even numbers, the function should return 0. Use an else block to handle the case when no even numbers are found </a:t>
            </a:r>
            <a:endParaRPr sz="3200"/>
          </a:p>
          <a:p>
            <a:pPr indent="-514350" lvl="1" marL="816102" rtl="0" algn="l">
              <a:lnSpc>
                <a:spcPct val="150000"/>
              </a:lnSpc>
              <a:spcBef>
                <a:spcPts val="900"/>
              </a:spcBef>
              <a:spcAft>
                <a:spcPts val="0"/>
              </a:spcAft>
              <a:buSzPts val="3200"/>
              <a:buAutoNum type="arabicPeriod"/>
            </a:pPr>
            <a:r>
              <a:rPr lang="en-US" sz="3200" u="sng">
                <a:latin typeface="Cambria"/>
                <a:ea typeface="Cambria"/>
                <a:cs typeface="Cambria"/>
                <a:sym typeface="Cambria"/>
              </a:rPr>
              <a:t> </a:t>
            </a:r>
            <a:r>
              <a:rPr lang="en-US" sz="3200"/>
              <a:t>Write a Python program that reads a list of student names and their corresponding scores from a file. For each student, if the score is greater than or equal to 80, the program should print "Pass". If the score is less than 80, the program should print "Fail". Use an else block to handle the case when a score is exactly 80</a:t>
            </a:r>
            <a:endParaRPr sz="3200" u="sng">
              <a:latin typeface="Cambria"/>
              <a:ea typeface="Cambria"/>
              <a:cs typeface="Cambria"/>
              <a:sym typeface="Cambria"/>
            </a:endParaRPr>
          </a:p>
          <a:p>
            <a:pPr indent="-71119" lvl="1" marL="576072" rtl="0" algn="l">
              <a:lnSpc>
                <a:spcPct val="90000"/>
              </a:lnSpc>
              <a:spcBef>
                <a:spcPts val="900"/>
              </a:spcBef>
              <a:spcAft>
                <a:spcPts val="0"/>
              </a:spcAft>
              <a:buSzPts val="3200"/>
              <a:buFont typeface="Noto Sans Symbols"/>
              <a:buNone/>
            </a:pPr>
            <a:r>
              <a:t/>
            </a:r>
            <a:endParaRPr sz="3200" u="sng">
              <a:latin typeface="Cambria"/>
              <a:ea typeface="Cambria"/>
              <a:cs typeface="Cambria"/>
              <a:sym typeface="Cambria"/>
            </a:endParaRPr>
          </a:p>
        </p:txBody>
      </p:sp>
      <p:sp>
        <p:nvSpPr>
          <p:cNvPr id="495" name="Google Shape;495;p34"/>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496" name="Google Shape;496;p34"/>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97" name="Google Shape;497;p34"/>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1" name="Shape 501"/>
        <p:cNvGrpSpPr/>
        <p:nvPr/>
      </p:nvGrpSpPr>
      <p:grpSpPr>
        <a:xfrm>
          <a:off x="0" y="0"/>
          <a:ext cx="0" cy="0"/>
          <a:chOff x="0" y="0"/>
          <a:chExt cx="0" cy="0"/>
        </a:xfrm>
      </p:grpSpPr>
      <p:sp>
        <p:nvSpPr>
          <p:cNvPr id="502" name="Google Shape;502;p35"/>
          <p:cNvSpPr txBox="1"/>
          <p:nvPr>
            <p:ph type="title"/>
          </p:nvPr>
        </p:nvSpPr>
        <p:spPr>
          <a:xfrm>
            <a:off x="827314" y="876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503" name="Google Shape;503;p35"/>
          <p:cNvSpPr txBox="1"/>
          <p:nvPr>
            <p:ph idx="1" type="body"/>
          </p:nvPr>
        </p:nvSpPr>
        <p:spPr>
          <a:xfrm>
            <a:off x="381000" y="2705100"/>
            <a:ext cx="17145000" cy="6705600"/>
          </a:xfrm>
          <a:prstGeom prst="rect">
            <a:avLst/>
          </a:prstGeom>
          <a:noFill/>
          <a:ln>
            <a:noFill/>
          </a:ln>
        </p:spPr>
        <p:txBody>
          <a:bodyPr anchorCtr="0" anchor="t" bIns="45700" lIns="0" spcFirstLastPara="1" rIns="0" wrap="square" tIns="45700">
            <a:noAutofit/>
          </a:bodyPr>
          <a:lstStyle/>
          <a:p>
            <a:pPr indent="0" lvl="1" marL="301752" rtl="0" algn="l">
              <a:lnSpc>
                <a:spcPct val="100000"/>
              </a:lnSpc>
              <a:spcBef>
                <a:spcPts val="0"/>
              </a:spcBef>
              <a:spcAft>
                <a:spcPts val="0"/>
              </a:spcAft>
              <a:buSzPts val="3200"/>
              <a:buNone/>
            </a:pPr>
            <a:r>
              <a:rPr b="1" lang="en-US" sz="3200">
                <a:latin typeface="Cambria"/>
                <a:ea typeface="Cambria"/>
                <a:cs typeface="Cambria"/>
                <a:sym typeface="Cambria"/>
              </a:rPr>
              <a:t>Quiz</a:t>
            </a:r>
            <a:endParaRPr/>
          </a:p>
          <a:p>
            <a:pPr indent="-203200" lvl="0" marL="137160" rtl="0" algn="l">
              <a:lnSpc>
                <a:spcPct val="100000"/>
              </a:lnSpc>
              <a:spcBef>
                <a:spcPts val="2400"/>
              </a:spcBef>
              <a:spcAft>
                <a:spcPts val="0"/>
              </a:spcAft>
              <a:buSzPts val="3200"/>
              <a:buChar char=" "/>
            </a:pPr>
            <a:r>
              <a:rPr lang="en-US" sz="3200">
                <a:latin typeface="Cambria"/>
                <a:ea typeface="Cambria"/>
                <a:cs typeface="Cambria"/>
                <a:sym typeface="Cambria"/>
              </a:rPr>
              <a:t>1. </a:t>
            </a:r>
            <a:r>
              <a:rPr lang="en-US"/>
              <a:t>What is the purpose of the else block in a try-except statement in Python?</a:t>
            </a:r>
            <a:endParaRPr/>
          </a:p>
          <a:p>
            <a:pPr indent="-190500" lvl="0" marL="137160" rtl="0" algn="l">
              <a:lnSpc>
                <a:spcPct val="100000"/>
              </a:lnSpc>
              <a:spcBef>
                <a:spcPts val="2100"/>
              </a:spcBef>
              <a:spcAft>
                <a:spcPts val="0"/>
              </a:spcAft>
              <a:buSzPts val="3000"/>
              <a:buChar char=" "/>
            </a:pPr>
            <a:r>
              <a:rPr lang="en-US"/>
              <a:t>a) It always executes after the try block</a:t>
            </a:r>
            <a:br>
              <a:rPr lang="en-US"/>
            </a:br>
            <a:r>
              <a:rPr lang="en-US"/>
              <a:t>b) It executes if an exception occurs in the try block</a:t>
            </a:r>
            <a:br>
              <a:rPr lang="en-US"/>
            </a:br>
            <a:r>
              <a:rPr lang="en-US"/>
              <a:t>c) It executes if no exception occurs in the try block</a:t>
            </a:r>
            <a:br>
              <a:rPr lang="en-US"/>
            </a:br>
            <a:r>
              <a:rPr lang="en-US"/>
              <a:t>d) It executes if the except block is skipped</a:t>
            </a:r>
            <a:endParaRPr sz="3200" u="sng">
              <a:latin typeface="Cambria"/>
              <a:ea typeface="Cambria"/>
              <a:cs typeface="Cambria"/>
              <a:sym typeface="Cambria"/>
            </a:endParaRPr>
          </a:p>
          <a:p>
            <a:pPr indent="-203200" lvl="0" marL="137160" rtl="0" algn="l">
              <a:lnSpc>
                <a:spcPct val="100000"/>
              </a:lnSpc>
              <a:spcBef>
                <a:spcPts val="2100"/>
              </a:spcBef>
              <a:spcAft>
                <a:spcPts val="0"/>
              </a:spcAft>
              <a:buSzPts val="3200"/>
              <a:buChar char=" "/>
            </a:pPr>
            <a:r>
              <a:rPr lang="en-US" sz="3200">
                <a:latin typeface="Cambria"/>
                <a:ea typeface="Cambria"/>
                <a:cs typeface="Cambria"/>
                <a:sym typeface="Cambria"/>
              </a:rPr>
              <a:t>2. </a:t>
            </a:r>
            <a:r>
              <a:rPr lang="en-US"/>
              <a:t>When is the else block executed in a try-except statement?</a:t>
            </a:r>
            <a:endParaRPr/>
          </a:p>
          <a:p>
            <a:pPr indent="-190500" lvl="0" marL="137160" rtl="0" algn="l">
              <a:lnSpc>
                <a:spcPct val="100000"/>
              </a:lnSpc>
              <a:spcBef>
                <a:spcPts val="2100"/>
              </a:spcBef>
              <a:spcAft>
                <a:spcPts val="0"/>
              </a:spcAft>
              <a:buSzPts val="3000"/>
              <a:buChar char=" "/>
            </a:pPr>
            <a:r>
              <a:rPr lang="en-US"/>
              <a:t>a) When an exception occurs in the try block</a:t>
            </a:r>
            <a:br>
              <a:rPr lang="en-US"/>
            </a:br>
            <a:r>
              <a:rPr lang="en-US"/>
              <a:t>b) When no exception occurs in the try block</a:t>
            </a:r>
            <a:br>
              <a:rPr lang="en-US"/>
            </a:br>
            <a:r>
              <a:rPr lang="en-US"/>
              <a:t>c) When an exception occurs in the except block</a:t>
            </a:r>
            <a:br>
              <a:rPr lang="en-US"/>
            </a:br>
            <a:r>
              <a:rPr lang="en-US"/>
              <a:t>d) When no except block is specified</a:t>
            </a:r>
            <a:endParaRPr/>
          </a:p>
          <a:p>
            <a:pPr indent="0" lvl="0" marL="137160" rtl="0" algn="l">
              <a:lnSpc>
                <a:spcPct val="90000"/>
              </a:lnSpc>
              <a:spcBef>
                <a:spcPts val="2100"/>
              </a:spcBef>
              <a:spcAft>
                <a:spcPts val="0"/>
              </a:spcAft>
              <a:buSzPts val="3000"/>
              <a:buNone/>
            </a:pPr>
            <a:r>
              <a:t/>
            </a:r>
            <a:endParaRPr/>
          </a:p>
        </p:txBody>
      </p:sp>
      <p:sp>
        <p:nvSpPr>
          <p:cNvPr id="504" name="Google Shape;504;p35"/>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505" name="Google Shape;505;p35"/>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06" name="Google Shape;506;p35"/>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pic>
        <p:nvPicPr>
          <p:cNvPr descr="Checkmark with solid fill" id="507" name="Google Shape;507;p35"/>
          <p:cNvPicPr preferRelativeResize="0"/>
          <p:nvPr/>
        </p:nvPicPr>
        <p:blipFill rotWithShape="1">
          <a:blip r:embed="rId3">
            <a:alphaModFix/>
          </a:blip>
          <a:srcRect b="0" l="0" r="0" t="0"/>
          <a:stretch/>
        </p:blipFill>
        <p:spPr>
          <a:xfrm>
            <a:off x="8548437" y="5143500"/>
            <a:ext cx="595563" cy="595563"/>
          </a:xfrm>
          <a:prstGeom prst="rect">
            <a:avLst/>
          </a:prstGeom>
          <a:noFill/>
          <a:ln>
            <a:noFill/>
          </a:ln>
        </p:spPr>
      </p:pic>
      <p:pic>
        <p:nvPicPr>
          <p:cNvPr descr="Checkmark with solid fill" id="508" name="Google Shape;508;p35"/>
          <p:cNvPicPr preferRelativeResize="0"/>
          <p:nvPr/>
        </p:nvPicPr>
        <p:blipFill rotWithShape="1">
          <a:blip r:embed="rId3">
            <a:alphaModFix/>
          </a:blip>
          <a:srcRect b="0" l="0" r="0" t="0"/>
          <a:stretch/>
        </p:blipFill>
        <p:spPr>
          <a:xfrm>
            <a:off x="7536783" y="7453563"/>
            <a:ext cx="595563" cy="5955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500"/>
                                        <p:tgtEl>
                                          <p:spTgt spid="5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500"/>
                                        <p:tgtEl>
                                          <p:spTgt spid="5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2" name="Shape 512"/>
        <p:cNvGrpSpPr/>
        <p:nvPr/>
      </p:nvGrpSpPr>
      <p:grpSpPr>
        <a:xfrm>
          <a:off x="0" y="0"/>
          <a:ext cx="0" cy="0"/>
          <a:chOff x="0" y="0"/>
          <a:chExt cx="0" cy="0"/>
        </a:xfrm>
      </p:grpSpPr>
      <p:sp>
        <p:nvSpPr>
          <p:cNvPr id="513" name="Google Shape;513;p36"/>
          <p:cNvSpPr txBox="1"/>
          <p:nvPr>
            <p:ph type="title"/>
          </p:nvPr>
        </p:nvSpPr>
        <p:spPr>
          <a:xfrm>
            <a:off x="838200" y="876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514" name="Google Shape;514;p36"/>
          <p:cNvSpPr txBox="1"/>
          <p:nvPr>
            <p:ph idx="1" type="body"/>
          </p:nvPr>
        </p:nvSpPr>
        <p:spPr>
          <a:xfrm>
            <a:off x="609600" y="2705100"/>
            <a:ext cx="17068800" cy="6477000"/>
          </a:xfrm>
          <a:prstGeom prst="rect">
            <a:avLst/>
          </a:prstGeom>
          <a:noFill/>
          <a:ln>
            <a:noFill/>
          </a:ln>
        </p:spPr>
        <p:txBody>
          <a:bodyPr anchorCtr="0" anchor="t" bIns="45700" lIns="0" spcFirstLastPara="1" rIns="0" wrap="square" tIns="45700">
            <a:noAutofit/>
          </a:bodyPr>
          <a:lstStyle/>
          <a:p>
            <a:pPr indent="-203200" lvl="1" marL="137160" rtl="0" algn="l">
              <a:lnSpc>
                <a:spcPct val="90000"/>
              </a:lnSpc>
              <a:spcBef>
                <a:spcPts val="0"/>
              </a:spcBef>
              <a:spcAft>
                <a:spcPts val="0"/>
              </a:spcAft>
              <a:buSzPts val="3200"/>
              <a:buFont typeface="Calibri"/>
              <a:buChar char=" "/>
            </a:pPr>
            <a:r>
              <a:rPr b="1" lang="en-US" sz="3200"/>
              <a:t>Code snippet –Predict Output</a:t>
            </a:r>
            <a:endParaRPr/>
          </a:p>
          <a:p>
            <a:pPr indent="-514350" lvl="1" marL="514350" rtl="0" algn="l">
              <a:lnSpc>
                <a:spcPct val="90000"/>
              </a:lnSpc>
              <a:spcBef>
                <a:spcPts val="2100"/>
              </a:spcBef>
              <a:spcAft>
                <a:spcPts val="0"/>
              </a:spcAft>
              <a:buSzPts val="3200"/>
              <a:buAutoNum type="arabicPeriod"/>
            </a:pPr>
            <a:r>
              <a:rPr lang="en-US" sz="3200"/>
              <a:t>What will be the output ?</a:t>
            </a:r>
            <a:endParaRPr/>
          </a:p>
          <a:p>
            <a:pPr indent="-203200" lvl="0" marL="137160" rtl="0" algn="l">
              <a:lnSpc>
                <a:spcPct val="90000"/>
              </a:lnSpc>
              <a:spcBef>
                <a:spcPts val="2100"/>
              </a:spcBef>
              <a:spcAft>
                <a:spcPts val="0"/>
              </a:spcAft>
              <a:buSzPts val="3200"/>
              <a:buChar char=" "/>
            </a:pPr>
            <a:r>
              <a:rPr lang="en-US" sz="3200"/>
              <a:t>     a)  </a:t>
            </a:r>
            <a:r>
              <a:rPr lang="en-US" sz="2800"/>
              <a:t>Hello</a:t>
            </a:r>
            <a:endParaRPr/>
          </a:p>
          <a:p>
            <a:pPr indent="-177800" lvl="0" marL="137160" rtl="0" algn="l">
              <a:lnSpc>
                <a:spcPct val="90000"/>
              </a:lnSpc>
              <a:spcBef>
                <a:spcPts val="2100"/>
              </a:spcBef>
              <a:spcAft>
                <a:spcPts val="0"/>
              </a:spcAft>
              <a:buSzPts val="2800"/>
              <a:buChar char=" "/>
            </a:pPr>
            <a:r>
              <a:rPr lang="en-US" sz="2800"/>
              <a:t>     b)  Something went wrong</a:t>
            </a:r>
            <a:endParaRPr/>
          </a:p>
          <a:p>
            <a:pPr indent="-177800" lvl="0" marL="137160" rtl="0" algn="l">
              <a:lnSpc>
                <a:spcPct val="90000"/>
              </a:lnSpc>
              <a:spcBef>
                <a:spcPts val="2100"/>
              </a:spcBef>
              <a:spcAft>
                <a:spcPts val="0"/>
              </a:spcAft>
              <a:buSzPts val="2800"/>
              <a:buChar char=" "/>
            </a:pPr>
            <a:r>
              <a:rPr lang="en-US" sz="2800"/>
              <a:t>     c) Hello , Nothing went wrong</a:t>
            </a:r>
            <a:endParaRPr/>
          </a:p>
          <a:p>
            <a:pPr indent="-177800" lvl="0" marL="137160" rtl="0" algn="l">
              <a:lnSpc>
                <a:spcPct val="90000"/>
              </a:lnSpc>
              <a:spcBef>
                <a:spcPts val="2100"/>
              </a:spcBef>
              <a:spcAft>
                <a:spcPts val="0"/>
              </a:spcAft>
              <a:buSzPts val="2800"/>
              <a:buChar char=" "/>
            </a:pPr>
            <a:r>
              <a:rPr lang="en-US" sz="2800"/>
              <a:t>     d) Hello, Something went wrong</a:t>
            </a:r>
            <a:endParaRPr/>
          </a:p>
          <a:p>
            <a:pPr indent="-190500" lvl="0" marL="137160" rtl="0" algn="l">
              <a:lnSpc>
                <a:spcPct val="90000"/>
              </a:lnSpc>
              <a:spcBef>
                <a:spcPts val="2100"/>
              </a:spcBef>
              <a:spcAft>
                <a:spcPts val="0"/>
              </a:spcAft>
              <a:buSzPts val="3000"/>
              <a:buChar char=" "/>
            </a:pPr>
            <a:r>
              <a:rPr lang="en-US"/>
              <a:t>    </a:t>
            </a:r>
            <a:endParaRPr sz="3200"/>
          </a:p>
          <a:p>
            <a:pPr indent="0" lvl="1" marL="0" rtl="0" algn="l">
              <a:lnSpc>
                <a:spcPct val="90000"/>
              </a:lnSpc>
              <a:spcBef>
                <a:spcPts val="2100"/>
              </a:spcBef>
              <a:spcAft>
                <a:spcPts val="0"/>
              </a:spcAft>
              <a:buSzPts val="3200"/>
              <a:buNone/>
            </a:pPr>
            <a:r>
              <a:t/>
            </a:r>
            <a:endParaRPr sz="3200"/>
          </a:p>
          <a:p>
            <a:pPr indent="0" lvl="0" marL="0" rtl="0" algn="l">
              <a:lnSpc>
                <a:spcPct val="90000"/>
              </a:lnSpc>
              <a:spcBef>
                <a:spcPts val="2100"/>
              </a:spcBef>
              <a:spcAft>
                <a:spcPts val="0"/>
              </a:spcAft>
              <a:buSzPts val="3000"/>
              <a:buNone/>
            </a:pPr>
            <a:r>
              <a:t/>
            </a:r>
            <a:endParaRPr/>
          </a:p>
        </p:txBody>
      </p:sp>
      <p:sp>
        <p:nvSpPr>
          <p:cNvPr id="515" name="Google Shape;515;p36"/>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516" name="Google Shape;516;p36"/>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17" name="Google Shape;517;p36"/>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518" name="Google Shape;518;p36"/>
          <p:cNvSpPr/>
          <p:nvPr/>
        </p:nvSpPr>
        <p:spPr>
          <a:xfrm>
            <a:off x="6553200" y="3162300"/>
            <a:ext cx="5638800" cy="45720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try:</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  print("Hello")</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except:</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  print("Something went wrong")</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else:</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  print("Nothing went wrong")</a:t>
            </a:r>
            <a:endParaRPr b="1" i="0" sz="2400" u="none" cap="none" strike="noStrike">
              <a:solidFill>
                <a:schemeClr val="dk1"/>
              </a:solidFill>
              <a:latin typeface="Calibri"/>
              <a:ea typeface="Calibri"/>
              <a:cs typeface="Calibri"/>
              <a:sym typeface="Calibri"/>
            </a:endParaRPr>
          </a:p>
        </p:txBody>
      </p:sp>
      <p:pic>
        <p:nvPicPr>
          <p:cNvPr descr="Checkmark with solid fill" id="519" name="Google Shape;519;p36"/>
          <p:cNvPicPr preferRelativeResize="0"/>
          <p:nvPr/>
        </p:nvPicPr>
        <p:blipFill rotWithShape="1">
          <a:blip r:embed="rId3">
            <a:alphaModFix/>
          </a:blip>
          <a:srcRect b="0" l="0" r="0" t="0"/>
          <a:stretch/>
        </p:blipFill>
        <p:spPr>
          <a:xfrm>
            <a:off x="623637" y="5348037"/>
            <a:ext cx="595563" cy="5955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500"/>
                                        <p:tgtEl>
                                          <p:spTgt spid="5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3" name="Shape 523"/>
        <p:cNvGrpSpPr/>
        <p:nvPr/>
      </p:nvGrpSpPr>
      <p:grpSpPr>
        <a:xfrm>
          <a:off x="0" y="0"/>
          <a:ext cx="0" cy="0"/>
          <a:chOff x="0" y="0"/>
          <a:chExt cx="0" cy="0"/>
        </a:xfrm>
      </p:grpSpPr>
      <p:sp>
        <p:nvSpPr>
          <p:cNvPr id="524" name="Google Shape;524;p37"/>
          <p:cNvSpPr txBox="1"/>
          <p:nvPr>
            <p:ph type="title"/>
          </p:nvPr>
        </p:nvSpPr>
        <p:spPr>
          <a:xfrm>
            <a:off x="685800" y="8001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a:latin typeface="Times New Roman"/>
                <a:ea typeface="Times New Roman"/>
                <a:cs typeface="Times New Roman"/>
                <a:sym typeface="Times New Roman"/>
              </a:rPr>
              <a:t>  </a:t>
            </a:r>
            <a:r>
              <a:rPr b="1" lang="en-US">
                <a:latin typeface="Times New Roman"/>
                <a:ea typeface="Times New Roman"/>
                <a:cs typeface="Times New Roman"/>
                <a:sym typeface="Times New Roman"/>
              </a:rPr>
              <a:t>EXCERCISE</a:t>
            </a:r>
            <a:endParaRPr b="1">
              <a:latin typeface="Times New Roman"/>
              <a:ea typeface="Times New Roman"/>
              <a:cs typeface="Times New Roman"/>
              <a:sym typeface="Times New Roman"/>
            </a:endParaRPr>
          </a:p>
        </p:txBody>
      </p:sp>
      <p:sp>
        <p:nvSpPr>
          <p:cNvPr id="525" name="Google Shape;525;p37"/>
          <p:cNvSpPr txBox="1"/>
          <p:nvPr>
            <p:ph idx="1" type="body"/>
          </p:nvPr>
        </p:nvSpPr>
        <p:spPr>
          <a:xfrm>
            <a:off x="457200" y="2705100"/>
            <a:ext cx="17068800" cy="6477000"/>
          </a:xfrm>
          <a:prstGeom prst="rect">
            <a:avLst/>
          </a:prstGeom>
          <a:noFill/>
          <a:ln>
            <a:noFill/>
          </a:ln>
        </p:spPr>
        <p:txBody>
          <a:bodyPr anchorCtr="0" anchor="t" bIns="45700" lIns="0" spcFirstLastPara="1" rIns="0" wrap="square" tIns="45700">
            <a:noAutofit/>
          </a:bodyPr>
          <a:lstStyle/>
          <a:p>
            <a:pPr indent="-203200" lvl="1" marL="137160" rtl="0" algn="l">
              <a:lnSpc>
                <a:spcPct val="90000"/>
              </a:lnSpc>
              <a:spcBef>
                <a:spcPts val="0"/>
              </a:spcBef>
              <a:spcAft>
                <a:spcPts val="0"/>
              </a:spcAft>
              <a:buSzPts val="3200"/>
              <a:buFont typeface="Calibri"/>
              <a:buChar char=" "/>
            </a:pPr>
            <a:r>
              <a:rPr b="1" lang="en-US" sz="3200"/>
              <a:t>Code snippet –Predict Output</a:t>
            </a:r>
            <a:endParaRPr/>
          </a:p>
          <a:p>
            <a:pPr indent="-514350" lvl="1" marL="514350" rtl="0" algn="l">
              <a:lnSpc>
                <a:spcPct val="90000"/>
              </a:lnSpc>
              <a:spcBef>
                <a:spcPts val="2100"/>
              </a:spcBef>
              <a:spcAft>
                <a:spcPts val="0"/>
              </a:spcAft>
              <a:buSzPts val="3200"/>
              <a:buAutoNum type="arabicPeriod"/>
            </a:pPr>
            <a:r>
              <a:rPr lang="en-US" sz="3200"/>
              <a:t>Predict the output for the following inputs:   </a:t>
            </a:r>
            <a:endParaRPr/>
          </a:p>
          <a:p>
            <a:pPr indent="-177800" lvl="0" marL="137160" rtl="0" algn="l">
              <a:lnSpc>
                <a:spcPct val="90000"/>
              </a:lnSpc>
              <a:spcBef>
                <a:spcPts val="2100"/>
              </a:spcBef>
              <a:spcAft>
                <a:spcPts val="0"/>
              </a:spcAft>
              <a:buSzPts val="2800"/>
              <a:buChar char=" "/>
            </a:pPr>
            <a:r>
              <a:rPr lang="en-US" sz="2800"/>
              <a:t> a) </a:t>
            </a:r>
            <a:r>
              <a:rPr lang="en-US"/>
              <a:t>Input: 0</a:t>
            </a:r>
            <a:endParaRPr/>
          </a:p>
          <a:p>
            <a:pPr indent="-190500" lvl="0" marL="137160" rtl="0" algn="l">
              <a:lnSpc>
                <a:spcPct val="90000"/>
              </a:lnSpc>
              <a:spcBef>
                <a:spcPts val="2100"/>
              </a:spcBef>
              <a:spcAft>
                <a:spcPts val="0"/>
              </a:spcAft>
              <a:buSzPts val="3000"/>
              <a:buChar char=" "/>
            </a:pPr>
            <a:r>
              <a:rPr lang="en-US"/>
              <a:t> b) Input: 2</a:t>
            </a:r>
            <a:endParaRPr/>
          </a:p>
          <a:p>
            <a:pPr indent="-190500" lvl="0" marL="137160" rtl="0" algn="l">
              <a:lnSpc>
                <a:spcPct val="90000"/>
              </a:lnSpc>
              <a:spcBef>
                <a:spcPts val="2100"/>
              </a:spcBef>
              <a:spcAft>
                <a:spcPts val="0"/>
              </a:spcAft>
              <a:buSzPts val="3000"/>
              <a:buChar char=" "/>
            </a:pPr>
            <a:r>
              <a:rPr lang="en-US"/>
              <a:t> c) Input: a (non-integer input)</a:t>
            </a:r>
            <a:endParaRPr/>
          </a:p>
          <a:p>
            <a:pPr indent="-190500" lvl="0" marL="137160" rtl="0" algn="l">
              <a:lnSpc>
                <a:spcPct val="90000"/>
              </a:lnSpc>
              <a:spcBef>
                <a:spcPts val="2100"/>
              </a:spcBef>
              <a:spcAft>
                <a:spcPts val="0"/>
              </a:spcAft>
              <a:buSzPts val="3000"/>
              <a:buChar char=" "/>
            </a:pPr>
            <a:r>
              <a:rPr lang="en-US"/>
              <a:t> d) Input: 5</a:t>
            </a:r>
            <a:endParaRPr/>
          </a:p>
          <a:p>
            <a:pPr indent="-190500" lvl="0" marL="137160" rtl="0" algn="l">
              <a:lnSpc>
                <a:spcPct val="90000"/>
              </a:lnSpc>
              <a:spcBef>
                <a:spcPts val="2100"/>
              </a:spcBef>
              <a:spcAft>
                <a:spcPts val="0"/>
              </a:spcAft>
              <a:buSzPts val="3000"/>
              <a:buChar char=" "/>
            </a:pPr>
            <a:r>
              <a:rPr lang="en-US"/>
              <a:t>.      </a:t>
            </a:r>
            <a:endParaRPr sz="3200"/>
          </a:p>
          <a:p>
            <a:pPr indent="0" lvl="1" marL="0" rtl="0" algn="l">
              <a:lnSpc>
                <a:spcPct val="90000"/>
              </a:lnSpc>
              <a:spcBef>
                <a:spcPts val="2100"/>
              </a:spcBef>
              <a:spcAft>
                <a:spcPts val="0"/>
              </a:spcAft>
              <a:buSzPts val="3200"/>
              <a:buNone/>
            </a:pPr>
            <a:r>
              <a:rPr lang="en-US" sz="3200"/>
              <a:t>a)Error case b)Pass case c)ValueError d)Pass case</a:t>
            </a:r>
            <a:endParaRPr sz="3200"/>
          </a:p>
          <a:p>
            <a:pPr indent="0" lvl="0" marL="0" rtl="0" algn="l">
              <a:lnSpc>
                <a:spcPct val="90000"/>
              </a:lnSpc>
              <a:spcBef>
                <a:spcPts val="2100"/>
              </a:spcBef>
              <a:spcAft>
                <a:spcPts val="0"/>
              </a:spcAft>
              <a:buSzPts val="3000"/>
              <a:buNone/>
            </a:pPr>
            <a:r>
              <a:t/>
            </a:r>
            <a:endParaRPr/>
          </a:p>
        </p:txBody>
      </p:sp>
      <p:sp>
        <p:nvSpPr>
          <p:cNvPr id="526" name="Google Shape;526;p37"/>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527" name="Google Shape;527;p37"/>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28" name="Google Shape;528;p37"/>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529" name="Google Shape;529;p37"/>
          <p:cNvSpPr/>
          <p:nvPr/>
        </p:nvSpPr>
        <p:spPr>
          <a:xfrm>
            <a:off x="9533021" y="2925925"/>
            <a:ext cx="7696200" cy="5473182"/>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1" marL="301752" marR="0" rtl="0" algn="l">
              <a:lnSpc>
                <a:spcPct val="15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while True:</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    x = int(input())</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    try:</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        result = 1/x</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    except:</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        print("Error case")</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        exit(0)</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    else:</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        print("Pass case")</a:t>
            </a:r>
            <a:endParaRPr b="0" i="0" sz="1400" u="none" cap="none" strike="noStrike">
              <a:solidFill>
                <a:srgbClr val="000000"/>
              </a:solidFill>
              <a:latin typeface="Arial"/>
              <a:ea typeface="Arial"/>
              <a:cs typeface="Arial"/>
              <a:sym typeface="Arial"/>
            </a:endParaRPr>
          </a:p>
          <a:p>
            <a:pPr indent="0" lvl="1" marL="301752" marR="0" rtl="0" algn="l">
              <a:lnSpc>
                <a:spcPct val="15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        exit(1)</a:t>
            </a:r>
            <a:endParaRPr b="1" i="0" sz="24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8"/>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Raising Exception</a:t>
            </a:r>
            <a:endParaRPr b="1" sz="8000">
              <a:latin typeface="Times New Roman"/>
              <a:ea typeface="Times New Roman"/>
              <a:cs typeface="Times New Roman"/>
              <a:sym typeface="Times New Roman"/>
            </a:endParaRPr>
          </a:p>
        </p:txBody>
      </p:sp>
      <p:sp>
        <p:nvSpPr>
          <p:cNvPr id="535" name="Google Shape;535;p38"/>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150000"/>
              </a:lnSpc>
              <a:spcBef>
                <a:spcPts val="0"/>
              </a:spcBef>
              <a:spcAft>
                <a:spcPts val="0"/>
              </a:spcAft>
              <a:buSzPts val="3300"/>
              <a:buFont typeface="Noto Sans Symbols"/>
              <a:buChar char="▪"/>
            </a:pPr>
            <a:r>
              <a:rPr lang="en-US" sz="3300">
                <a:latin typeface="Cambria"/>
                <a:ea typeface="Cambria"/>
                <a:cs typeface="Cambria"/>
                <a:sym typeface="Cambria"/>
              </a:rPr>
              <a:t> Exceptions can be raised using “raise” key word.</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 Syntax : </a:t>
            </a:r>
            <a:r>
              <a:rPr lang="en-US" sz="3600">
                <a:latin typeface="Courier New"/>
                <a:ea typeface="Courier New"/>
                <a:cs typeface="Courier New"/>
                <a:sym typeface="Courier New"/>
              </a:rPr>
              <a:t>raise [Exception [, args [, traceback]]] </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Here Exception is the type of exception (for example, NameError) and argument is a value for the exception argument. The argument is optional; if not supplied, the exception argument is None.</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The final argument, traceback, is also optional (and rarely used in practice), and, if present, is the traceback object used for the exception</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536" name="Google Shape;536;p38"/>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537" name="Google Shape;537;p38"/>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38" name="Google Shape;538;p38"/>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0" st="0"/>
                                            </p:txEl>
                                          </p:spTgt>
                                        </p:tgtEl>
                                        <p:attrNameLst>
                                          <p:attrName>style.visibility</p:attrName>
                                        </p:attrNameLst>
                                      </p:cBhvr>
                                      <p:to>
                                        <p:strVal val="visible"/>
                                      </p:to>
                                    </p:set>
                                    <p:animEffect filter="fade" transition="in">
                                      <p:cBhvr>
                                        <p:cTn dur="500"/>
                                        <p:tgtEl>
                                          <p:spTgt spid="5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1" st="1"/>
                                            </p:txEl>
                                          </p:spTgt>
                                        </p:tgtEl>
                                        <p:attrNameLst>
                                          <p:attrName>style.visibility</p:attrName>
                                        </p:attrNameLst>
                                      </p:cBhvr>
                                      <p:to>
                                        <p:strVal val="visible"/>
                                      </p:to>
                                    </p:set>
                                    <p:animEffect filter="fade" transition="in">
                                      <p:cBhvr>
                                        <p:cTn dur="500"/>
                                        <p:tgtEl>
                                          <p:spTgt spid="5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2" st="2"/>
                                            </p:txEl>
                                          </p:spTgt>
                                        </p:tgtEl>
                                        <p:attrNameLst>
                                          <p:attrName>style.visibility</p:attrName>
                                        </p:attrNameLst>
                                      </p:cBhvr>
                                      <p:to>
                                        <p:strVal val="visible"/>
                                      </p:to>
                                    </p:set>
                                    <p:animEffect filter="fade" transition="in">
                                      <p:cBhvr>
                                        <p:cTn dur="500"/>
                                        <p:tgtEl>
                                          <p:spTgt spid="5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3" st="3"/>
                                            </p:txEl>
                                          </p:spTgt>
                                        </p:tgtEl>
                                        <p:attrNameLst>
                                          <p:attrName>style.visibility</p:attrName>
                                        </p:attrNameLst>
                                      </p:cBhvr>
                                      <p:to>
                                        <p:strVal val="visible"/>
                                      </p:to>
                                    </p:set>
                                    <p:animEffect filter="fade" transition="in">
                                      <p:cBhvr>
                                        <p:cTn dur="500"/>
                                        <p:tgtEl>
                                          <p:spTgt spid="5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4" st="4"/>
                                            </p:txEl>
                                          </p:spTgt>
                                        </p:tgtEl>
                                        <p:attrNameLst>
                                          <p:attrName>style.visibility</p:attrName>
                                        </p:attrNameLst>
                                      </p:cBhvr>
                                      <p:to>
                                        <p:strVal val="visible"/>
                                      </p:to>
                                    </p:set>
                                    <p:animEffect filter="fade" transition="in">
                                      <p:cBhvr>
                                        <p:cTn dur="500"/>
                                        <p:tgtEl>
                                          <p:spTgt spid="5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xEl>
                                              <p:pRg end="5" st="5"/>
                                            </p:txEl>
                                          </p:spTgt>
                                        </p:tgtEl>
                                        <p:attrNameLst>
                                          <p:attrName>style.visibility</p:attrName>
                                        </p:attrNameLst>
                                      </p:cBhvr>
                                      <p:to>
                                        <p:strVal val="visible"/>
                                      </p:to>
                                    </p:set>
                                    <p:animEffect filter="fade" transition="in">
                                      <p:cBhvr>
                                        <p:cTn dur="500"/>
                                        <p:tgtEl>
                                          <p:spTgt spid="53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39"/>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Raising Exception</a:t>
            </a:r>
            <a:endParaRPr b="1" sz="8000">
              <a:latin typeface="Times New Roman"/>
              <a:ea typeface="Times New Roman"/>
              <a:cs typeface="Times New Roman"/>
              <a:sym typeface="Times New Roman"/>
            </a:endParaRPr>
          </a:p>
        </p:txBody>
      </p:sp>
      <p:sp>
        <p:nvSpPr>
          <p:cNvPr id="544" name="Google Shape;544;p39"/>
          <p:cNvSpPr txBox="1"/>
          <p:nvPr>
            <p:ph idx="1" type="body"/>
          </p:nvPr>
        </p:nvSpPr>
        <p:spPr>
          <a:xfrm>
            <a:off x="721895" y="2705101"/>
            <a:ext cx="16675151" cy="1120942"/>
          </a:xfrm>
          <a:prstGeom prst="rect">
            <a:avLst/>
          </a:prstGeom>
          <a:noFill/>
          <a:ln>
            <a:noFill/>
          </a:ln>
        </p:spPr>
        <p:txBody>
          <a:bodyPr anchorCtr="0" anchor="t" bIns="45700" lIns="0" spcFirstLastPara="1" rIns="0" wrap="square" tIns="45700">
            <a:noAutofit/>
          </a:bodyPr>
          <a:lstStyle/>
          <a:p>
            <a:pPr indent="-274319" lvl="1" marL="576072" rtl="0" algn="l">
              <a:lnSpc>
                <a:spcPct val="250000"/>
              </a:lnSpc>
              <a:spcBef>
                <a:spcPts val="0"/>
              </a:spcBef>
              <a:spcAft>
                <a:spcPts val="0"/>
              </a:spcAft>
              <a:buSzPts val="3300"/>
              <a:buFont typeface="Noto Sans Symbols"/>
              <a:buChar char="▪"/>
            </a:pPr>
            <a:r>
              <a:rPr lang="en-US" sz="3300" u="sng">
                <a:latin typeface="Cambria"/>
                <a:ea typeface="Cambria"/>
                <a:cs typeface="Cambria"/>
                <a:sym typeface="Cambria"/>
              </a:rPr>
              <a:t>Solved programming example</a:t>
            </a:r>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545" name="Google Shape;545;p39"/>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546" name="Google Shape;546;p39"/>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47" name="Google Shape;547;p39"/>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548" name="Google Shape;548;p39"/>
          <p:cNvSpPr/>
          <p:nvPr/>
        </p:nvSpPr>
        <p:spPr>
          <a:xfrm>
            <a:off x="1439470" y="4548060"/>
            <a:ext cx="7620000" cy="44196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    num =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    print(num)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    raise ValueError</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except: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    print("Exception Occurred.... Program Terminating")</a:t>
            </a:r>
            <a:endParaRPr b="0" i="0" sz="1400" u="none" cap="none" strike="noStrike">
              <a:solidFill>
                <a:srgbClr val="000000"/>
              </a:solidFill>
              <a:latin typeface="Arial"/>
              <a:ea typeface="Arial"/>
              <a:cs typeface="Arial"/>
              <a:sym typeface="Arial"/>
            </a:endParaRPr>
          </a:p>
        </p:txBody>
      </p:sp>
      <p:sp>
        <p:nvSpPr>
          <p:cNvPr id="549" name="Google Shape;549;p39"/>
          <p:cNvSpPr/>
          <p:nvPr/>
        </p:nvSpPr>
        <p:spPr>
          <a:xfrm>
            <a:off x="9516688" y="6065359"/>
            <a:ext cx="5334000" cy="23622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Output: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Exception Occurred.... Program Terminating</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
                                            <p:txEl>
                                              <p:pRg end="0" st="0"/>
                                            </p:txEl>
                                          </p:spTgt>
                                        </p:tgtEl>
                                        <p:attrNameLst>
                                          <p:attrName>style.visibility</p:attrName>
                                        </p:attrNameLst>
                                      </p:cBhvr>
                                      <p:to>
                                        <p:strVal val="visible"/>
                                      </p:to>
                                    </p:set>
                                    <p:animEffect filter="fade" transition="in">
                                      <p:cBhvr>
                                        <p:cTn dur="500"/>
                                        <p:tgtEl>
                                          <p:spTgt spid="54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
                                            <p:txEl>
                                              <p:pRg end="1" st="1"/>
                                            </p:txEl>
                                          </p:spTgt>
                                        </p:tgtEl>
                                        <p:attrNameLst>
                                          <p:attrName>style.visibility</p:attrName>
                                        </p:attrNameLst>
                                      </p:cBhvr>
                                      <p:to>
                                        <p:strVal val="visible"/>
                                      </p:to>
                                    </p:set>
                                    <p:animEffect filter="fade" transition="in">
                                      <p:cBhvr>
                                        <p:cTn dur="500"/>
                                        <p:tgtEl>
                                          <p:spTgt spid="54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
                                            <p:txEl>
                                              <p:pRg end="2" st="2"/>
                                            </p:txEl>
                                          </p:spTgt>
                                        </p:tgtEl>
                                        <p:attrNameLst>
                                          <p:attrName>style.visibility</p:attrName>
                                        </p:attrNameLst>
                                      </p:cBhvr>
                                      <p:to>
                                        <p:strVal val="visible"/>
                                      </p:to>
                                    </p:set>
                                    <p:animEffect filter="fade" transition="in">
                                      <p:cBhvr>
                                        <p:cTn dur="500"/>
                                        <p:tgtEl>
                                          <p:spTgt spid="54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
                                            <p:txEl>
                                              <p:pRg end="3" st="3"/>
                                            </p:txEl>
                                          </p:spTgt>
                                        </p:tgtEl>
                                        <p:attrNameLst>
                                          <p:attrName>style.visibility</p:attrName>
                                        </p:attrNameLst>
                                      </p:cBhvr>
                                      <p:to>
                                        <p:strVal val="visible"/>
                                      </p:to>
                                    </p:set>
                                    <p:animEffect filter="fade" transition="in">
                                      <p:cBhvr>
                                        <p:cTn dur="500"/>
                                        <p:tgtEl>
                                          <p:spTgt spid="54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40"/>
          <p:cNvSpPr txBox="1"/>
          <p:nvPr>
            <p:ph type="title"/>
          </p:nvPr>
        </p:nvSpPr>
        <p:spPr>
          <a:xfrm>
            <a:off x="838200" y="114300"/>
            <a:ext cx="16535400" cy="13716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Re - Raising Exception</a:t>
            </a:r>
            <a:endParaRPr b="1" sz="8000">
              <a:latin typeface="Times New Roman"/>
              <a:ea typeface="Times New Roman"/>
              <a:cs typeface="Times New Roman"/>
              <a:sym typeface="Times New Roman"/>
            </a:endParaRPr>
          </a:p>
        </p:txBody>
      </p:sp>
      <p:sp>
        <p:nvSpPr>
          <p:cNvPr id="555" name="Google Shape;555;p40"/>
          <p:cNvSpPr txBox="1"/>
          <p:nvPr>
            <p:ph idx="1" type="body"/>
          </p:nvPr>
        </p:nvSpPr>
        <p:spPr>
          <a:xfrm>
            <a:off x="838200" y="1638300"/>
            <a:ext cx="16558846" cy="7655533"/>
          </a:xfrm>
          <a:prstGeom prst="rect">
            <a:avLst/>
          </a:prstGeom>
          <a:noFill/>
          <a:ln>
            <a:noFill/>
          </a:ln>
        </p:spPr>
        <p:txBody>
          <a:bodyPr anchorCtr="0" anchor="t" bIns="45700" lIns="0" spcFirstLastPara="1" rIns="0" wrap="square" tIns="45700">
            <a:noAutofit/>
          </a:bodyPr>
          <a:lstStyle/>
          <a:p>
            <a:pPr indent="-274319" lvl="1" marL="576072" rtl="0" algn="l">
              <a:lnSpc>
                <a:spcPct val="150000"/>
              </a:lnSpc>
              <a:spcBef>
                <a:spcPts val="0"/>
              </a:spcBef>
              <a:spcAft>
                <a:spcPts val="0"/>
              </a:spcAft>
              <a:buSzPts val="3300"/>
              <a:buFont typeface="Noto Sans Symbols"/>
              <a:buChar char="▪"/>
            </a:pPr>
            <a:r>
              <a:rPr lang="en-US" sz="3300">
                <a:latin typeface="Cambria"/>
                <a:ea typeface="Cambria"/>
                <a:cs typeface="Cambria"/>
                <a:sym typeface="Cambria"/>
              </a:rPr>
              <a:t>Exception can be re raised in the except: block</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It refers to the practice of catching an exception and then raising it again</a:t>
            </a:r>
            <a:endParaRPr/>
          </a:p>
          <a:p>
            <a:pPr indent="-64769" lvl="1" marL="576072" rtl="0" algn="l">
              <a:lnSpc>
                <a:spcPct val="25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25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556" name="Google Shape;556;p40"/>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557" name="Google Shape;557;p40"/>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58" name="Google Shape;558;p40"/>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559" name="Google Shape;559;p40"/>
          <p:cNvSpPr/>
          <p:nvPr/>
        </p:nvSpPr>
        <p:spPr>
          <a:xfrm>
            <a:off x="1031107" y="3390900"/>
            <a:ext cx="8077200" cy="6055333"/>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def example_function(value):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if value &lt;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raise ValueError("Value must be non-negative")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print("Value is:",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except ValueError as 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print(f"Caught an exception: {ve}")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raise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Example 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example_function(-5)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except ValueError as 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print(f"Caught the re-raised exception: {ve}")</a:t>
            </a:r>
            <a:endParaRPr b="0" i="0" sz="1400" u="none" cap="none" strike="noStrike">
              <a:solidFill>
                <a:srgbClr val="000000"/>
              </a:solidFill>
              <a:latin typeface="Arial"/>
              <a:ea typeface="Arial"/>
              <a:cs typeface="Arial"/>
              <a:sym typeface="Arial"/>
            </a:endParaRPr>
          </a:p>
        </p:txBody>
      </p:sp>
      <p:sp>
        <p:nvSpPr>
          <p:cNvPr id="560" name="Google Shape;560;p40"/>
          <p:cNvSpPr/>
          <p:nvPr/>
        </p:nvSpPr>
        <p:spPr>
          <a:xfrm>
            <a:off x="9357362" y="5143500"/>
            <a:ext cx="8505090" cy="35052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Output: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Caught an exception: Value must be non-negative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Caught the re-raised exception: Value must be non-negative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xEl>
                                              <p:pRg end="0" st="0"/>
                                            </p:txEl>
                                          </p:spTgt>
                                        </p:tgtEl>
                                        <p:attrNameLst>
                                          <p:attrName>style.visibility</p:attrName>
                                        </p:attrNameLst>
                                      </p:cBhvr>
                                      <p:to>
                                        <p:strVal val="visible"/>
                                      </p:to>
                                    </p:set>
                                    <p:animEffect filter="fade" transition="in">
                                      <p:cBhvr>
                                        <p:cTn dur="500"/>
                                        <p:tgtEl>
                                          <p:spTgt spid="5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xEl>
                                              <p:pRg end="1" st="1"/>
                                            </p:txEl>
                                          </p:spTgt>
                                        </p:tgtEl>
                                        <p:attrNameLst>
                                          <p:attrName>style.visibility</p:attrName>
                                        </p:attrNameLst>
                                      </p:cBhvr>
                                      <p:to>
                                        <p:strVal val="visible"/>
                                      </p:to>
                                    </p:set>
                                    <p:animEffect filter="fade" transition="in">
                                      <p:cBhvr>
                                        <p:cTn dur="500"/>
                                        <p:tgtEl>
                                          <p:spTgt spid="5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xEl>
                                              <p:pRg end="2" st="2"/>
                                            </p:txEl>
                                          </p:spTgt>
                                        </p:tgtEl>
                                        <p:attrNameLst>
                                          <p:attrName>style.visibility</p:attrName>
                                        </p:attrNameLst>
                                      </p:cBhvr>
                                      <p:to>
                                        <p:strVal val="visible"/>
                                      </p:to>
                                    </p:set>
                                    <p:animEffect filter="fade" transition="in">
                                      <p:cBhvr>
                                        <p:cTn dur="500"/>
                                        <p:tgtEl>
                                          <p:spTgt spid="5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xEl>
                                              <p:pRg end="3" st="3"/>
                                            </p:txEl>
                                          </p:spTgt>
                                        </p:tgtEl>
                                        <p:attrNameLst>
                                          <p:attrName>style.visibility</p:attrName>
                                        </p:attrNameLst>
                                      </p:cBhvr>
                                      <p:to>
                                        <p:strVal val="visible"/>
                                      </p:to>
                                    </p:set>
                                    <p:animEffect filter="fade" transition="in">
                                      <p:cBhvr>
                                        <p:cTn dur="500"/>
                                        <p:tgtEl>
                                          <p:spTgt spid="5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xEl>
                                              <p:pRg end="4" st="4"/>
                                            </p:txEl>
                                          </p:spTgt>
                                        </p:tgtEl>
                                        <p:attrNameLst>
                                          <p:attrName>style.visibility</p:attrName>
                                        </p:attrNameLst>
                                      </p:cBhvr>
                                      <p:to>
                                        <p:strVal val="visible"/>
                                      </p:to>
                                    </p:set>
                                    <p:animEffect filter="fade" transition="in">
                                      <p:cBhvr>
                                        <p:cTn dur="500"/>
                                        <p:tgtEl>
                                          <p:spTgt spid="55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xEl>
                                              <p:pRg end="5" st="5"/>
                                            </p:txEl>
                                          </p:spTgt>
                                        </p:tgtEl>
                                        <p:attrNameLst>
                                          <p:attrName>style.visibility</p:attrName>
                                        </p:attrNameLst>
                                      </p:cBhvr>
                                      <p:to>
                                        <p:strVal val="visible"/>
                                      </p:to>
                                    </p:set>
                                    <p:animEffect filter="fade" transition="in">
                                      <p:cBhvr>
                                        <p:cTn dur="500"/>
                                        <p:tgtEl>
                                          <p:spTgt spid="55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xEl>
                                              <p:pRg end="6" st="6"/>
                                            </p:txEl>
                                          </p:spTgt>
                                        </p:tgtEl>
                                        <p:attrNameLst>
                                          <p:attrName>style.visibility</p:attrName>
                                        </p:attrNameLst>
                                      </p:cBhvr>
                                      <p:to>
                                        <p:strVal val="visible"/>
                                      </p:to>
                                    </p:set>
                                    <p:animEffect filter="fade" transition="in">
                                      <p:cBhvr>
                                        <p:cTn dur="500"/>
                                        <p:tgtEl>
                                          <p:spTgt spid="55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1"/>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Built-in Exception</a:t>
            </a:r>
            <a:endParaRPr b="1" sz="8000">
              <a:latin typeface="Times New Roman"/>
              <a:ea typeface="Times New Roman"/>
              <a:cs typeface="Times New Roman"/>
              <a:sym typeface="Times New Roman"/>
            </a:endParaRPr>
          </a:p>
        </p:txBody>
      </p:sp>
      <p:sp>
        <p:nvSpPr>
          <p:cNvPr id="566" name="Google Shape;566;p41"/>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150000"/>
              </a:lnSpc>
              <a:spcBef>
                <a:spcPts val="0"/>
              </a:spcBef>
              <a:spcAft>
                <a:spcPts val="0"/>
              </a:spcAft>
              <a:buSzPts val="3300"/>
              <a:buFont typeface="Noto Sans Symbols"/>
              <a:buChar char="▪"/>
            </a:pPr>
            <a:r>
              <a:rPr lang="en-US" sz="3300">
                <a:latin typeface="Cambria"/>
                <a:ea typeface="Cambria"/>
                <a:cs typeface="Cambria"/>
                <a:sym typeface="Cambria"/>
              </a:rPr>
              <a:t>Python provides a variety of built-in exceptions that cover a wide range of potential errors.</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SyntaxError: Raised when there is a syntax error in the code.</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print "Hello, World!"</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IndentationError: Raised when there is an incorrect indentation.</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if True:</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print("Indented incorrectly")</a:t>
            </a:r>
            <a:endParaRPr/>
          </a:p>
          <a:p>
            <a:pPr indent="-64769" lvl="1" marL="576072" rtl="0" algn="l">
              <a:lnSpc>
                <a:spcPct val="25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25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567" name="Google Shape;567;p41"/>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568" name="Google Shape;568;p41"/>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69" name="Google Shape;569;p41"/>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2"/>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Built-in Exception</a:t>
            </a:r>
            <a:endParaRPr b="1" sz="8000">
              <a:latin typeface="Times New Roman"/>
              <a:ea typeface="Times New Roman"/>
              <a:cs typeface="Times New Roman"/>
              <a:sym typeface="Times New Roman"/>
            </a:endParaRPr>
          </a:p>
        </p:txBody>
      </p:sp>
      <p:sp>
        <p:nvSpPr>
          <p:cNvPr id="575" name="Google Shape;575;p42"/>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150000"/>
              </a:lnSpc>
              <a:spcBef>
                <a:spcPts val="0"/>
              </a:spcBef>
              <a:spcAft>
                <a:spcPts val="0"/>
              </a:spcAft>
              <a:buSzPts val="3300"/>
              <a:buFont typeface="Noto Sans Symbols"/>
              <a:buChar char="▪"/>
            </a:pPr>
            <a:r>
              <a:rPr lang="en-US" sz="3300">
                <a:latin typeface="Cambria"/>
                <a:ea typeface="Cambria"/>
                <a:cs typeface="Cambria"/>
                <a:sym typeface="Cambria"/>
              </a:rPr>
              <a:t>NameError: Raised when a local or global name is not found.</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print(undefined_variable)</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TypeError: Raised when an operation or function is applied to an object of an inappropriate type.</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result = "2" + 2</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ValueError: Raised when a function receives an argument of the correct type but an inappropriate value.</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int("abc")</a:t>
            </a:r>
            <a:endParaRPr/>
          </a:p>
          <a:p>
            <a:pPr indent="-64769" lvl="1" marL="576072" rtl="0" algn="l">
              <a:lnSpc>
                <a:spcPct val="25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25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576" name="Google Shape;576;p42"/>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577" name="Google Shape;577;p42"/>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78" name="Google Shape;578;p42"/>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43"/>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Built-in Exception</a:t>
            </a:r>
            <a:endParaRPr b="1" sz="8000">
              <a:latin typeface="Times New Roman"/>
              <a:ea typeface="Times New Roman"/>
              <a:cs typeface="Times New Roman"/>
              <a:sym typeface="Times New Roman"/>
            </a:endParaRPr>
          </a:p>
        </p:txBody>
      </p:sp>
      <p:sp>
        <p:nvSpPr>
          <p:cNvPr id="584" name="Google Shape;584;p43"/>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150000"/>
              </a:lnSpc>
              <a:spcBef>
                <a:spcPts val="0"/>
              </a:spcBef>
              <a:spcAft>
                <a:spcPts val="0"/>
              </a:spcAft>
              <a:buSzPts val="3300"/>
              <a:buFont typeface="Noto Sans Symbols"/>
              <a:buChar char="▪"/>
            </a:pPr>
            <a:r>
              <a:rPr lang="en-US" sz="3300">
                <a:latin typeface="Cambria"/>
                <a:ea typeface="Cambria"/>
                <a:cs typeface="Cambria"/>
                <a:sym typeface="Cambria"/>
              </a:rPr>
              <a:t>ZeroDivisionError: Raised when division or modulo by zero is encountered.</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result = 10 / 0</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FileNotFoundError: Raised when a file or directory is requested but cannot be found.</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with open("nonexistent_file.txt", "r") as file:</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	content = file.read()</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IndexError: Raised when a sequence subscript is out of range.</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my_list = [1, 2, 3]</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print(my_list[5])</a:t>
            </a:r>
            <a:endParaRPr sz="2700">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585" name="Google Shape;585;p43"/>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586" name="Google Shape;586;p43"/>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87" name="Google Shape;587;p43"/>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44"/>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Built-in Exception</a:t>
            </a:r>
            <a:endParaRPr b="1" sz="8000">
              <a:latin typeface="Times New Roman"/>
              <a:ea typeface="Times New Roman"/>
              <a:cs typeface="Times New Roman"/>
              <a:sym typeface="Times New Roman"/>
            </a:endParaRPr>
          </a:p>
        </p:txBody>
      </p:sp>
      <p:sp>
        <p:nvSpPr>
          <p:cNvPr id="593" name="Google Shape;593;p44"/>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150000"/>
              </a:lnSpc>
              <a:spcBef>
                <a:spcPts val="0"/>
              </a:spcBef>
              <a:spcAft>
                <a:spcPts val="0"/>
              </a:spcAft>
              <a:buSzPts val="3300"/>
              <a:buFont typeface="Noto Sans Symbols"/>
              <a:buChar char="▪"/>
            </a:pPr>
            <a:r>
              <a:rPr lang="en-US" sz="3300">
                <a:latin typeface="Cambria"/>
                <a:ea typeface="Cambria"/>
                <a:cs typeface="Cambria"/>
                <a:sym typeface="Cambria"/>
              </a:rPr>
              <a:t>KeyError: Raised when a dictionary key is not found.</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my_dict = {"a": 1, "b": 2}</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print(my_dict["c"])</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AttributeError: Raised when an attribute reference or assignment fails.</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class MyClass:</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    pass</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obj = MyClass()</a:t>
            </a:r>
            <a:endParaRPr/>
          </a:p>
          <a:p>
            <a:pPr indent="0" lvl="2" marL="576072" rtl="0" algn="l">
              <a:lnSpc>
                <a:spcPct val="150000"/>
              </a:lnSpc>
              <a:spcBef>
                <a:spcPts val="900"/>
              </a:spcBef>
              <a:spcAft>
                <a:spcPts val="0"/>
              </a:spcAft>
              <a:buSzPts val="2700"/>
              <a:buNone/>
            </a:pPr>
            <a:r>
              <a:rPr lang="en-US" sz="2700">
                <a:latin typeface="Cambria"/>
                <a:ea typeface="Cambria"/>
                <a:cs typeface="Cambria"/>
                <a:sym typeface="Cambria"/>
              </a:rPr>
              <a:t>print(obj.attribute)</a:t>
            </a:r>
            <a:endParaRPr sz="2700" u="sng">
              <a:latin typeface="Cambria"/>
              <a:ea typeface="Cambria"/>
              <a:cs typeface="Cambria"/>
              <a:sym typeface="Cambria"/>
            </a:endParaRPr>
          </a:p>
          <a:p>
            <a:pPr indent="-64769" lvl="1" marL="576072" rtl="0" algn="l">
              <a:lnSpc>
                <a:spcPct val="25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594" name="Google Shape;594;p44"/>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595" name="Google Shape;595;p44"/>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96" name="Google Shape;596;p44"/>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45"/>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User Defined Exception</a:t>
            </a:r>
            <a:endParaRPr b="1" sz="8000">
              <a:latin typeface="Times New Roman"/>
              <a:ea typeface="Times New Roman"/>
              <a:cs typeface="Times New Roman"/>
              <a:sym typeface="Times New Roman"/>
            </a:endParaRPr>
          </a:p>
        </p:txBody>
      </p:sp>
      <p:sp>
        <p:nvSpPr>
          <p:cNvPr id="602" name="Google Shape;602;p45"/>
          <p:cNvSpPr txBox="1"/>
          <p:nvPr>
            <p:ph idx="1" type="body"/>
          </p:nvPr>
        </p:nvSpPr>
        <p:spPr>
          <a:xfrm>
            <a:off x="869302" y="2534933"/>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150000"/>
              </a:lnSpc>
              <a:spcBef>
                <a:spcPts val="0"/>
              </a:spcBef>
              <a:spcAft>
                <a:spcPts val="0"/>
              </a:spcAft>
              <a:buSzPts val="2800"/>
              <a:buFont typeface="Noto Sans Symbols"/>
              <a:buChar char="▪"/>
            </a:pPr>
            <a:r>
              <a:rPr lang="en-US" sz="2800">
                <a:latin typeface="Cambria"/>
                <a:ea typeface="Cambria"/>
                <a:cs typeface="Cambria"/>
                <a:sym typeface="Cambria"/>
              </a:rPr>
              <a:t>Own custom exceptions can be created by defining new classes that inherit from the built-in Exception class or one of its subclasses. This allows you to raise and catch exceptions tailored to the specific needs of your program.</a:t>
            </a:r>
            <a:endParaRPr/>
          </a:p>
          <a:p>
            <a:pPr indent="-64769" lvl="1" marL="576072" rtl="0" algn="l">
              <a:lnSpc>
                <a:spcPct val="25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25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603" name="Google Shape;603;p45"/>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604" name="Google Shape;604;p45"/>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05" name="Google Shape;605;p45"/>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606" name="Google Shape;606;p45"/>
          <p:cNvSpPr/>
          <p:nvPr/>
        </p:nvSpPr>
        <p:spPr>
          <a:xfrm>
            <a:off x="838200" y="4533900"/>
            <a:ext cx="9829800" cy="49530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Calibri"/>
                <a:ea typeface="Calibri"/>
                <a:cs typeface="Calibri"/>
                <a:sym typeface="Calibri"/>
              </a:rPr>
              <a:t>class MyError(Exception):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Calibri"/>
                <a:ea typeface="Calibri"/>
                <a:cs typeface="Calibri"/>
                <a:sym typeface="Calibri"/>
              </a:rPr>
              <a:t>    def __init__(self,val):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Calibri"/>
                <a:ea typeface="Calibri"/>
                <a:cs typeface="Calibri"/>
                <a:sym typeface="Calibri"/>
              </a:rPr>
              <a:t>        self.val = val</a:t>
            </a:r>
            <a:endParaRPr b="0" i="0" sz="2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Calibri"/>
                <a:ea typeface="Calibri"/>
                <a:cs typeface="Calibri"/>
                <a:sym typeface="Calibri"/>
              </a:rPr>
              <a:t>    def __str__(self):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Calibri"/>
                <a:ea typeface="Calibri"/>
                <a:cs typeface="Calibri"/>
                <a:sym typeface="Calibri"/>
              </a:rPr>
              <a:t>        return repr(self.val)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Calibri"/>
                <a:ea typeface="Calibri"/>
                <a:cs typeface="Calibri"/>
                <a:sym typeface="Calibri"/>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Calibri"/>
                <a:ea typeface="Calibri"/>
                <a:cs typeface="Calibri"/>
                <a:sym typeface="Calibri"/>
              </a:rPr>
              <a:t>    raise MyError(10)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Calibri"/>
                <a:ea typeface="Calibri"/>
                <a:cs typeface="Calibri"/>
                <a:sym typeface="Calibri"/>
              </a:rPr>
              <a:t>except MyError as 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Calibri"/>
                <a:ea typeface="Calibri"/>
                <a:cs typeface="Calibri"/>
                <a:sym typeface="Calibri"/>
              </a:rPr>
              <a:t>    print("User Defined Exception Generated With the Value : ", e.val)</a:t>
            </a:r>
            <a:endParaRPr b="0" i="0" sz="1400" u="none" cap="none" strike="noStrike">
              <a:solidFill>
                <a:srgbClr val="000000"/>
              </a:solidFill>
              <a:latin typeface="Arial"/>
              <a:ea typeface="Arial"/>
              <a:cs typeface="Arial"/>
              <a:sym typeface="Arial"/>
            </a:endParaRPr>
          </a:p>
        </p:txBody>
      </p:sp>
      <p:sp>
        <p:nvSpPr>
          <p:cNvPr id="607" name="Google Shape;607;p45"/>
          <p:cNvSpPr/>
          <p:nvPr/>
        </p:nvSpPr>
        <p:spPr>
          <a:xfrm>
            <a:off x="12039600" y="5524500"/>
            <a:ext cx="5105400" cy="2212564"/>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User Defined Exception Generated With the Value :  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46"/>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Finally Block</a:t>
            </a:r>
            <a:endParaRPr b="1" sz="8000">
              <a:latin typeface="Times New Roman"/>
              <a:ea typeface="Times New Roman"/>
              <a:cs typeface="Times New Roman"/>
              <a:sym typeface="Times New Roman"/>
            </a:endParaRPr>
          </a:p>
        </p:txBody>
      </p:sp>
      <p:sp>
        <p:nvSpPr>
          <p:cNvPr id="613" name="Google Shape;613;p46"/>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150000"/>
              </a:lnSpc>
              <a:spcBef>
                <a:spcPts val="0"/>
              </a:spcBef>
              <a:spcAft>
                <a:spcPts val="0"/>
              </a:spcAft>
              <a:buSzPts val="3300"/>
              <a:buFont typeface="Noto Sans Symbols"/>
              <a:buChar char="▪"/>
            </a:pPr>
            <a:r>
              <a:rPr lang="en-US" sz="3300">
                <a:latin typeface="Cambria"/>
                <a:ea typeface="Cambria"/>
                <a:cs typeface="Cambria"/>
                <a:sym typeface="Cambria"/>
              </a:rPr>
              <a:t>The finally block is used in conjunction with the try and except blocks to define a set of statements that will be executed whether an exception is raised or not. </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The finally block is often used to perform cleanup or resource release operations, ensuring that certain code is executed regardless of whether an exception occur</a:t>
            </a:r>
            <a:endParaRPr/>
          </a:p>
          <a:p>
            <a:pPr indent="-274319" lvl="1" marL="576072" rtl="0" algn="l">
              <a:lnSpc>
                <a:spcPct val="150000"/>
              </a:lnSpc>
              <a:spcBef>
                <a:spcPts val="900"/>
              </a:spcBef>
              <a:spcAft>
                <a:spcPts val="0"/>
              </a:spcAft>
              <a:buSzPts val="3300"/>
              <a:buFont typeface="Noto Sans Symbols"/>
              <a:buChar char="▪"/>
            </a:pPr>
            <a:r>
              <a:rPr lang="en-US" sz="3300">
                <a:latin typeface="Cambria"/>
                <a:ea typeface="Cambria"/>
                <a:cs typeface="Cambria"/>
                <a:sym typeface="Cambria"/>
              </a:rPr>
              <a:t>Else block with finally block is not allowed.</a:t>
            </a:r>
            <a:endParaRPr sz="3300">
              <a:latin typeface="Cambria"/>
              <a:ea typeface="Cambria"/>
              <a:cs typeface="Cambria"/>
              <a:sym typeface="Cambria"/>
            </a:endParaRPr>
          </a:p>
        </p:txBody>
      </p:sp>
      <p:sp>
        <p:nvSpPr>
          <p:cNvPr id="614" name="Google Shape;614;p46"/>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615" name="Google Shape;615;p46"/>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16" name="Google Shape;616;p46"/>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47"/>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Finally Block</a:t>
            </a:r>
            <a:endParaRPr b="1" sz="8000">
              <a:latin typeface="Times New Roman"/>
              <a:ea typeface="Times New Roman"/>
              <a:cs typeface="Times New Roman"/>
              <a:sym typeface="Times New Roman"/>
            </a:endParaRPr>
          </a:p>
        </p:txBody>
      </p:sp>
      <p:sp>
        <p:nvSpPr>
          <p:cNvPr id="622" name="Google Shape;622;p47"/>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64769" lvl="1" marL="576072" rtl="0" algn="l">
              <a:lnSpc>
                <a:spcPct val="150000"/>
              </a:lnSpc>
              <a:spcBef>
                <a:spcPts val="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623" name="Google Shape;623;p47"/>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624" name="Google Shape;624;p47"/>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25" name="Google Shape;625;p47"/>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626" name="Google Shape;626;p47"/>
          <p:cNvSpPr/>
          <p:nvPr/>
        </p:nvSpPr>
        <p:spPr>
          <a:xfrm>
            <a:off x="861646" y="2857500"/>
            <a:ext cx="10644554" cy="6436333"/>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    # Code that may raise an exception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    result = 10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except ZeroDivisionError: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    # Code to handle the specific exception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    print("Cannot divide by zero.")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finally: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    # Code that will always be executed, regardless of whether an exception occurs or not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    print("This will be executed no matter what.")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627" name="Google Shape;627;p47"/>
          <p:cNvSpPr/>
          <p:nvPr/>
        </p:nvSpPr>
        <p:spPr>
          <a:xfrm>
            <a:off x="11917680" y="4208766"/>
            <a:ext cx="5989320" cy="37338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Cannot divide by zero.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This will be executed no matter what.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48"/>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Finally Block</a:t>
            </a:r>
            <a:endParaRPr b="1" sz="8000">
              <a:latin typeface="Times New Roman"/>
              <a:ea typeface="Times New Roman"/>
              <a:cs typeface="Times New Roman"/>
              <a:sym typeface="Times New Roman"/>
            </a:endParaRPr>
          </a:p>
        </p:txBody>
      </p:sp>
      <p:sp>
        <p:nvSpPr>
          <p:cNvPr id="633" name="Google Shape;633;p48"/>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150000"/>
              </a:lnSpc>
              <a:spcBef>
                <a:spcPts val="0"/>
              </a:spcBef>
              <a:spcAft>
                <a:spcPts val="0"/>
              </a:spcAft>
              <a:buSzPts val="3600"/>
              <a:buFont typeface="Noto Sans Symbols"/>
              <a:buChar char="▪"/>
            </a:pPr>
            <a:r>
              <a:rPr lang="en-US" sz="3600"/>
              <a:t>for resource cleanup.</a:t>
            </a:r>
            <a:endParaRPr sz="3600" u="sng">
              <a:latin typeface="Cambria"/>
              <a:ea typeface="Cambria"/>
              <a:cs typeface="Cambria"/>
              <a:sym typeface="Cambria"/>
            </a:endParaRPr>
          </a:p>
        </p:txBody>
      </p:sp>
      <p:sp>
        <p:nvSpPr>
          <p:cNvPr id="634" name="Google Shape;634;p48"/>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635" name="Google Shape;635;p48"/>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36" name="Google Shape;636;p48"/>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637" name="Google Shape;637;p48"/>
          <p:cNvSpPr/>
          <p:nvPr/>
        </p:nvSpPr>
        <p:spPr>
          <a:xfrm>
            <a:off x="5562600" y="3162300"/>
            <a:ext cx="12496799" cy="61722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    file = open("example.txt", "r")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    # Code that may raise an exception while reading from the 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    content = file.read()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except FileNotFoundError: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    print("File not found.")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finally: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    # Ensure that the file is closed, whether an exception occurred or not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Calibri"/>
                <a:ea typeface="Calibri"/>
                <a:cs typeface="Calibri"/>
                <a:sym typeface="Calibri"/>
              </a:rPr>
              <a:t>    file.close()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49"/>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Finally Block</a:t>
            </a:r>
            <a:endParaRPr b="1" sz="8000">
              <a:latin typeface="Times New Roman"/>
              <a:ea typeface="Times New Roman"/>
              <a:cs typeface="Times New Roman"/>
              <a:sym typeface="Times New Roman"/>
            </a:endParaRPr>
          </a:p>
        </p:txBody>
      </p:sp>
      <p:sp>
        <p:nvSpPr>
          <p:cNvPr id="643" name="Google Shape;643;p49"/>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just">
              <a:lnSpc>
                <a:spcPct val="150000"/>
              </a:lnSpc>
              <a:spcBef>
                <a:spcPts val="0"/>
              </a:spcBef>
              <a:spcAft>
                <a:spcPts val="0"/>
              </a:spcAft>
              <a:buSzPts val="3300"/>
              <a:buFont typeface="Noto Sans Symbols"/>
              <a:buChar char="▪"/>
            </a:pPr>
            <a:r>
              <a:rPr lang="en-US" sz="3300">
                <a:latin typeface="Cambria"/>
                <a:ea typeface="Cambria"/>
                <a:cs typeface="Cambria"/>
                <a:sym typeface="Cambria"/>
              </a:rPr>
              <a:t>If finally block is placed immediately after the try block and followed by the except block, then if an exception is raised in the try block, the code in finally will be executed first. </a:t>
            </a:r>
            <a:endParaRPr/>
          </a:p>
          <a:p>
            <a:pPr indent="-274319" lvl="1" marL="576072" rtl="0" algn="just">
              <a:lnSpc>
                <a:spcPct val="150000"/>
              </a:lnSpc>
              <a:spcBef>
                <a:spcPts val="900"/>
              </a:spcBef>
              <a:spcAft>
                <a:spcPts val="0"/>
              </a:spcAft>
              <a:buSzPts val="3300"/>
              <a:buFont typeface="Noto Sans Symbols"/>
              <a:buChar char="▪"/>
            </a:pPr>
            <a:r>
              <a:rPr lang="en-US" sz="3300">
                <a:latin typeface="Cambria"/>
                <a:ea typeface="Cambria"/>
                <a:cs typeface="Cambria"/>
                <a:sym typeface="Cambria"/>
              </a:rPr>
              <a:t>Finally block will perform the operations written in it and then re-raise the exception. </a:t>
            </a:r>
            <a:endParaRPr/>
          </a:p>
          <a:p>
            <a:pPr indent="-274319" lvl="1" marL="576072" rtl="0" algn="just">
              <a:lnSpc>
                <a:spcPct val="150000"/>
              </a:lnSpc>
              <a:spcBef>
                <a:spcPts val="900"/>
              </a:spcBef>
              <a:spcAft>
                <a:spcPts val="0"/>
              </a:spcAft>
              <a:buSzPts val="3300"/>
              <a:buFont typeface="Noto Sans Symbols"/>
              <a:buChar char="▪"/>
            </a:pPr>
            <a:r>
              <a:rPr lang="en-US" sz="3300">
                <a:latin typeface="Cambria"/>
                <a:ea typeface="Cambria"/>
                <a:cs typeface="Cambria"/>
                <a:sym typeface="Cambria"/>
              </a:rPr>
              <a:t>This exception will be handled by the except block if present in the next higher layer of the try-except block.</a:t>
            </a:r>
            <a:endParaRPr/>
          </a:p>
        </p:txBody>
      </p:sp>
      <p:sp>
        <p:nvSpPr>
          <p:cNvPr id="644" name="Google Shape;644;p49"/>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645" name="Google Shape;645;p49"/>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46" name="Google Shape;646;p49"/>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50"/>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Finally Block</a:t>
            </a:r>
            <a:endParaRPr b="1" sz="8000">
              <a:latin typeface="Times New Roman"/>
              <a:ea typeface="Times New Roman"/>
              <a:cs typeface="Times New Roman"/>
              <a:sym typeface="Times New Roman"/>
            </a:endParaRPr>
          </a:p>
        </p:txBody>
      </p:sp>
      <p:sp>
        <p:nvSpPr>
          <p:cNvPr id="652" name="Google Shape;652;p50"/>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64769" lvl="1" marL="576072" rtl="0" algn="l">
              <a:lnSpc>
                <a:spcPct val="150000"/>
              </a:lnSpc>
              <a:spcBef>
                <a:spcPts val="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653" name="Google Shape;653;p50"/>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654" name="Google Shape;654;p50"/>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55" name="Google Shape;655;p50"/>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656" name="Google Shape;656;p50"/>
          <p:cNvSpPr/>
          <p:nvPr/>
        </p:nvSpPr>
        <p:spPr>
          <a:xfrm>
            <a:off x="861646" y="2857500"/>
            <a:ext cx="10644554" cy="6436333"/>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print("Dividing Strings.....")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quo = 'abc' / 'def'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finally: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print("In finally block....")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except TypeError: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print("In except block.... Handling TypeError...")</a:t>
            </a:r>
            <a:endParaRPr b="0" i="0" sz="1400" u="none" cap="none" strike="noStrike">
              <a:solidFill>
                <a:srgbClr val="000000"/>
              </a:solidFill>
              <a:latin typeface="Arial"/>
              <a:ea typeface="Arial"/>
              <a:cs typeface="Arial"/>
              <a:sym typeface="Arial"/>
            </a:endParaRPr>
          </a:p>
        </p:txBody>
      </p:sp>
      <p:sp>
        <p:nvSpPr>
          <p:cNvPr id="657" name="Google Shape;657;p50"/>
          <p:cNvSpPr/>
          <p:nvPr/>
        </p:nvSpPr>
        <p:spPr>
          <a:xfrm>
            <a:off x="11917680" y="2857500"/>
            <a:ext cx="5989320" cy="37338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Output: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Dividing Strings.....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In finally block....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In except block.... Handling TypeError...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51"/>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Clean up Action</a:t>
            </a:r>
            <a:endParaRPr b="1" sz="8000">
              <a:latin typeface="Times New Roman"/>
              <a:ea typeface="Times New Roman"/>
              <a:cs typeface="Times New Roman"/>
              <a:sym typeface="Times New Roman"/>
            </a:endParaRPr>
          </a:p>
        </p:txBody>
      </p:sp>
      <p:sp>
        <p:nvSpPr>
          <p:cNvPr id="663" name="Google Shape;663;p51"/>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just">
              <a:lnSpc>
                <a:spcPct val="150000"/>
              </a:lnSpc>
              <a:spcBef>
                <a:spcPts val="0"/>
              </a:spcBef>
              <a:spcAft>
                <a:spcPts val="0"/>
              </a:spcAft>
              <a:buSzPts val="3300"/>
              <a:buFont typeface="Noto Sans Symbols"/>
              <a:buChar char="▪"/>
            </a:pPr>
            <a:r>
              <a:rPr lang="en-US" sz="3300">
                <a:latin typeface="Cambria"/>
                <a:ea typeface="Cambria"/>
                <a:cs typeface="Cambria"/>
                <a:sym typeface="Cambria"/>
              </a:rPr>
              <a:t>In Python, some objects define standard clean-up actions that are automatically performed when the object is no longer needed. </a:t>
            </a:r>
            <a:endParaRPr/>
          </a:p>
          <a:p>
            <a:pPr indent="-274319" lvl="1" marL="576072" rtl="0" algn="just">
              <a:lnSpc>
                <a:spcPct val="150000"/>
              </a:lnSpc>
              <a:spcBef>
                <a:spcPts val="900"/>
              </a:spcBef>
              <a:spcAft>
                <a:spcPts val="0"/>
              </a:spcAft>
              <a:buSzPts val="3300"/>
              <a:buFont typeface="Noto Sans Symbols"/>
              <a:buChar char="▪"/>
            </a:pPr>
            <a:r>
              <a:rPr lang="en-US" sz="3300">
                <a:latin typeface="Cambria"/>
                <a:ea typeface="Cambria"/>
                <a:cs typeface="Cambria"/>
                <a:sym typeface="Cambria"/>
              </a:rPr>
              <a:t>The default clean-up action is performed irrespective of whether the operation using the object succeeded or failed. </a:t>
            </a:r>
            <a:endParaRPr/>
          </a:p>
          <a:p>
            <a:pPr indent="-274319" lvl="1" marL="576072" rtl="0" algn="just">
              <a:lnSpc>
                <a:spcPct val="150000"/>
              </a:lnSpc>
              <a:spcBef>
                <a:spcPts val="900"/>
              </a:spcBef>
              <a:spcAft>
                <a:spcPts val="0"/>
              </a:spcAft>
              <a:buSzPts val="3300"/>
              <a:buFont typeface="Noto Sans Symbols"/>
              <a:buChar char="▪"/>
            </a:pPr>
            <a:r>
              <a:rPr lang="en-US" sz="3300">
                <a:latin typeface="Cambria"/>
                <a:ea typeface="Cambria"/>
                <a:cs typeface="Cambria"/>
                <a:sym typeface="Cambria"/>
              </a:rPr>
              <a:t>The with statement is commonly used to define a clean-up action, particularly for resources like files. </a:t>
            </a:r>
            <a:endParaRPr/>
          </a:p>
          <a:p>
            <a:pPr indent="-274319" lvl="1" marL="576072" rtl="0" algn="just">
              <a:lnSpc>
                <a:spcPct val="150000"/>
              </a:lnSpc>
              <a:spcBef>
                <a:spcPts val="900"/>
              </a:spcBef>
              <a:spcAft>
                <a:spcPts val="0"/>
              </a:spcAft>
              <a:buSzPts val="3300"/>
              <a:buFont typeface="Noto Sans Symbols"/>
              <a:buChar char="▪"/>
            </a:pPr>
            <a:r>
              <a:rPr lang="en-US" sz="3300">
                <a:latin typeface="Cambria"/>
                <a:ea typeface="Cambria"/>
                <a:cs typeface="Cambria"/>
                <a:sym typeface="Cambria"/>
              </a:rPr>
              <a:t>It simplifies resource management by ensuring that certain operations are performed before and after a block of code. </a:t>
            </a:r>
            <a:endParaRPr/>
          </a:p>
        </p:txBody>
      </p:sp>
      <p:sp>
        <p:nvSpPr>
          <p:cNvPr id="664" name="Google Shape;664;p51"/>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665" name="Google Shape;665;p51"/>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66" name="Google Shape;666;p51"/>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52"/>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Clean up Action</a:t>
            </a:r>
            <a:endParaRPr b="1" sz="8000">
              <a:latin typeface="Times New Roman"/>
              <a:ea typeface="Times New Roman"/>
              <a:cs typeface="Times New Roman"/>
              <a:sym typeface="Times New Roman"/>
            </a:endParaRPr>
          </a:p>
        </p:txBody>
      </p:sp>
      <p:sp>
        <p:nvSpPr>
          <p:cNvPr id="672" name="Google Shape;672;p52"/>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150000"/>
              </a:lnSpc>
              <a:spcBef>
                <a:spcPts val="0"/>
              </a:spcBef>
              <a:spcAft>
                <a:spcPts val="0"/>
              </a:spcAft>
              <a:buSzPts val="3300"/>
              <a:buFont typeface="Noto Sans Symbols"/>
              <a:buChar char="▪"/>
            </a:pPr>
            <a:r>
              <a:rPr lang="en-US" sz="3300">
                <a:latin typeface="Cambria"/>
                <a:ea typeface="Cambria"/>
                <a:cs typeface="Cambria"/>
                <a:sym typeface="Cambria"/>
              </a:rPr>
              <a:t>In this example, the with statement ensures that the file is properly closed after reading its content.</a:t>
            </a:r>
            <a:endParaRPr sz="3300">
              <a:latin typeface="Cambria"/>
              <a:ea typeface="Cambria"/>
              <a:cs typeface="Cambria"/>
              <a:sym typeface="Cambria"/>
            </a:endParaRPr>
          </a:p>
        </p:txBody>
      </p:sp>
      <p:sp>
        <p:nvSpPr>
          <p:cNvPr id="673" name="Google Shape;673;p52"/>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674" name="Google Shape;674;p52"/>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75" name="Google Shape;675;p52"/>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676" name="Google Shape;676;p52"/>
          <p:cNvSpPr/>
          <p:nvPr/>
        </p:nvSpPr>
        <p:spPr>
          <a:xfrm>
            <a:off x="914400" y="4305300"/>
            <a:ext cx="9220200" cy="4836133"/>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Using with statement for file handling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with open("example.txt", "r") as 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content = file.read()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 Do something with the file content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File is automatically closed outside the with block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Clean-up action is performed, even if an exception occurs</a:t>
            </a:r>
            <a:endParaRPr b="0" i="0" sz="1400" u="none" cap="none" strike="noStrike">
              <a:solidFill>
                <a:srgbClr val="000000"/>
              </a:solidFill>
              <a:latin typeface="Arial"/>
              <a:ea typeface="Arial"/>
              <a:cs typeface="Arial"/>
              <a:sym typeface="Arial"/>
            </a:endParaRPr>
          </a:p>
        </p:txBody>
      </p:sp>
      <p:sp>
        <p:nvSpPr>
          <p:cNvPr id="677" name="Google Shape;677;p52"/>
          <p:cNvSpPr/>
          <p:nvPr/>
        </p:nvSpPr>
        <p:spPr>
          <a:xfrm>
            <a:off x="11201400" y="4686300"/>
            <a:ext cx="5989320" cy="37338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Equivalent code: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file = open("example.txt", "r")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    content = file.read()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    # Do something with the file content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finally: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    file.close()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53"/>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EXERCISE</a:t>
            </a:r>
            <a:endParaRPr b="1" sz="8000">
              <a:latin typeface="Times New Roman"/>
              <a:ea typeface="Times New Roman"/>
              <a:cs typeface="Times New Roman"/>
              <a:sym typeface="Times New Roman"/>
            </a:endParaRPr>
          </a:p>
        </p:txBody>
      </p:sp>
      <p:sp>
        <p:nvSpPr>
          <p:cNvPr id="683" name="Google Shape;683;p53"/>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100000"/>
              </a:lnSpc>
              <a:spcBef>
                <a:spcPts val="0"/>
              </a:spcBef>
              <a:spcAft>
                <a:spcPts val="0"/>
              </a:spcAft>
              <a:buSzPts val="3300"/>
              <a:buFont typeface="Noto Sans Symbols"/>
              <a:buChar char="▪"/>
            </a:pPr>
            <a:r>
              <a:rPr b="1" lang="en-US" sz="3300">
                <a:latin typeface="Cambria"/>
                <a:ea typeface="Cambria"/>
                <a:cs typeface="Cambria"/>
                <a:sym typeface="Cambria"/>
              </a:rPr>
              <a:t>Quiz</a:t>
            </a:r>
            <a:endParaRPr/>
          </a:p>
          <a:p>
            <a:pPr indent="-64769" lvl="1" marL="576072" rtl="0" algn="l">
              <a:lnSpc>
                <a:spcPct val="100000"/>
              </a:lnSpc>
              <a:spcBef>
                <a:spcPts val="900"/>
              </a:spcBef>
              <a:spcAft>
                <a:spcPts val="0"/>
              </a:spcAft>
              <a:buSzPts val="3300"/>
              <a:buFont typeface="Noto Sans Symbols"/>
              <a:buNone/>
            </a:pPr>
            <a:r>
              <a:t/>
            </a:r>
            <a:endParaRPr sz="3300">
              <a:latin typeface="Cambria"/>
              <a:ea typeface="Cambria"/>
              <a:cs typeface="Cambria"/>
              <a:sym typeface="Cambria"/>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Raising Exceptions:</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Q: How do you raise a custom exception in Python?</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a) raise CustomException()</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b) throw CustomException()</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c) throw Exception("Custom message")</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d) raise Exception("Custom message")</a:t>
            </a:r>
            <a:endParaRPr/>
          </a:p>
          <a:p>
            <a:pPr indent="-64769" lvl="1" marL="576072" rtl="0" algn="l">
              <a:lnSpc>
                <a:spcPct val="100000"/>
              </a:lnSpc>
              <a:spcBef>
                <a:spcPts val="900"/>
              </a:spcBef>
              <a:spcAft>
                <a:spcPts val="0"/>
              </a:spcAft>
              <a:buSzPts val="3300"/>
              <a:buFont typeface="Noto Sans Symbols"/>
              <a:buNone/>
            </a:pPr>
            <a:r>
              <a:t/>
            </a:r>
            <a:endParaRPr sz="3300">
              <a:latin typeface="Cambria"/>
              <a:ea typeface="Cambria"/>
              <a:cs typeface="Cambria"/>
              <a:sym typeface="Cambria"/>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Answer: a</a:t>
            </a:r>
            <a:endParaRPr sz="3300">
              <a:latin typeface="Cambria"/>
              <a:ea typeface="Cambria"/>
              <a:cs typeface="Cambria"/>
              <a:sym typeface="Cambria"/>
            </a:endParaRPr>
          </a:p>
          <a:p>
            <a:pPr indent="0" lvl="1" marL="301752" rtl="0" algn="l">
              <a:lnSpc>
                <a:spcPct val="100000"/>
              </a:lnSpc>
              <a:spcBef>
                <a:spcPts val="900"/>
              </a:spcBef>
              <a:spcAft>
                <a:spcPts val="0"/>
              </a:spcAft>
              <a:buSzPts val="3300"/>
              <a:buNone/>
            </a:pPr>
            <a:r>
              <a:t/>
            </a:r>
            <a:endParaRPr sz="3300" u="sng">
              <a:latin typeface="Cambria"/>
              <a:ea typeface="Cambria"/>
              <a:cs typeface="Cambria"/>
              <a:sym typeface="Cambria"/>
            </a:endParaRPr>
          </a:p>
          <a:p>
            <a:pPr indent="-64769" lvl="1" marL="576072" rtl="0" algn="l">
              <a:lnSpc>
                <a:spcPct val="10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684" name="Google Shape;684;p53"/>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685" name="Google Shape;685;p53"/>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86" name="Google Shape;686;p53"/>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0" st="0"/>
                                            </p:txEl>
                                          </p:spTgt>
                                        </p:tgtEl>
                                        <p:attrNameLst>
                                          <p:attrName>style.visibility</p:attrName>
                                        </p:attrNameLst>
                                      </p:cBhvr>
                                      <p:to>
                                        <p:strVal val="visible"/>
                                      </p:to>
                                    </p:set>
                                    <p:animEffect filter="fade" transition="in">
                                      <p:cBhvr>
                                        <p:cTn dur="500"/>
                                        <p:tgtEl>
                                          <p:spTgt spid="6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1" st="1"/>
                                            </p:txEl>
                                          </p:spTgt>
                                        </p:tgtEl>
                                        <p:attrNameLst>
                                          <p:attrName>style.visibility</p:attrName>
                                        </p:attrNameLst>
                                      </p:cBhvr>
                                      <p:to>
                                        <p:strVal val="visible"/>
                                      </p:to>
                                    </p:set>
                                    <p:animEffect filter="fade" transition="in">
                                      <p:cBhvr>
                                        <p:cTn dur="500"/>
                                        <p:tgtEl>
                                          <p:spTgt spid="6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2" st="2"/>
                                            </p:txEl>
                                          </p:spTgt>
                                        </p:tgtEl>
                                        <p:attrNameLst>
                                          <p:attrName>style.visibility</p:attrName>
                                        </p:attrNameLst>
                                      </p:cBhvr>
                                      <p:to>
                                        <p:strVal val="visible"/>
                                      </p:to>
                                    </p:set>
                                    <p:animEffect filter="fade" transition="in">
                                      <p:cBhvr>
                                        <p:cTn dur="500"/>
                                        <p:tgtEl>
                                          <p:spTgt spid="6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3" st="3"/>
                                            </p:txEl>
                                          </p:spTgt>
                                        </p:tgtEl>
                                        <p:attrNameLst>
                                          <p:attrName>style.visibility</p:attrName>
                                        </p:attrNameLst>
                                      </p:cBhvr>
                                      <p:to>
                                        <p:strVal val="visible"/>
                                      </p:to>
                                    </p:set>
                                    <p:animEffect filter="fade" transition="in">
                                      <p:cBhvr>
                                        <p:cTn dur="500"/>
                                        <p:tgtEl>
                                          <p:spTgt spid="6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4" st="4"/>
                                            </p:txEl>
                                          </p:spTgt>
                                        </p:tgtEl>
                                        <p:attrNameLst>
                                          <p:attrName>style.visibility</p:attrName>
                                        </p:attrNameLst>
                                      </p:cBhvr>
                                      <p:to>
                                        <p:strVal val="visible"/>
                                      </p:to>
                                    </p:set>
                                    <p:animEffect filter="fade" transition="in">
                                      <p:cBhvr>
                                        <p:cTn dur="500"/>
                                        <p:tgtEl>
                                          <p:spTgt spid="6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5" st="5"/>
                                            </p:txEl>
                                          </p:spTgt>
                                        </p:tgtEl>
                                        <p:attrNameLst>
                                          <p:attrName>style.visibility</p:attrName>
                                        </p:attrNameLst>
                                      </p:cBhvr>
                                      <p:to>
                                        <p:strVal val="visible"/>
                                      </p:to>
                                    </p:set>
                                    <p:animEffect filter="fade" transition="in">
                                      <p:cBhvr>
                                        <p:cTn dur="500"/>
                                        <p:tgtEl>
                                          <p:spTgt spid="6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6" st="6"/>
                                            </p:txEl>
                                          </p:spTgt>
                                        </p:tgtEl>
                                        <p:attrNameLst>
                                          <p:attrName>style.visibility</p:attrName>
                                        </p:attrNameLst>
                                      </p:cBhvr>
                                      <p:to>
                                        <p:strVal val="visible"/>
                                      </p:to>
                                    </p:set>
                                    <p:animEffect filter="fade" transition="in">
                                      <p:cBhvr>
                                        <p:cTn dur="500"/>
                                        <p:tgtEl>
                                          <p:spTgt spid="68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7" st="7"/>
                                            </p:txEl>
                                          </p:spTgt>
                                        </p:tgtEl>
                                        <p:attrNameLst>
                                          <p:attrName>style.visibility</p:attrName>
                                        </p:attrNameLst>
                                      </p:cBhvr>
                                      <p:to>
                                        <p:strVal val="visible"/>
                                      </p:to>
                                    </p:set>
                                    <p:animEffect filter="fade" transition="in">
                                      <p:cBhvr>
                                        <p:cTn dur="500"/>
                                        <p:tgtEl>
                                          <p:spTgt spid="68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8" st="8"/>
                                            </p:txEl>
                                          </p:spTgt>
                                        </p:tgtEl>
                                        <p:attrNameLst>
                                          <p:attrName>style.visibility</p:attrName>
                                        </p:attrNameLst>
                                      </p:cBhvr>
                                      <p:to>
                                        <p:strVal val="visible"/>
                                      </p:to>
                                    </p:set>
                                    <p:animEffect filter="fade" transition="in">
                                      <p:cBhvr>
                                        <p:cTn dur="500"/>
                                        <p:tgtEl>
                                          <p:spTgt spid="68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9" st="9"/>
                                            </p:txEl>
                                          </p:spTgt>
                                        </p:tgtEl>
                                        <p:attrNameLst>
                                          <p:attrName>style.visibility</p:attrName>
                                        </p:attrNameLst>
                                      </p:cBhvr>
                                      <p:to>
                                        <p:strVal val="visible"/>
                                      </p:to>
                                    </p:set>
                                    <p:animEffect filter="fade" transition="in">
                                      <p:cBhvr>
                                        <p:cTn dur="500"/>
                                        <p:tgtEl>
                                          <p:spTgt spid="68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10" st="10"/>
                                            </p:txEl>
                                          </p:spTgt>
                                        </p:tgtEl>
                                        <p:attrNameLst>
                                          <p:attrName>style.visibility</p:attrName>
                                        </p:attrNameLst>
                                      </p:cBhvr>
                                      <p:to>
                                        <p:strVal val="visible"/>
                                      </p:to>
                                    </p:set>
                                    <p:animEffect filter="fade" transition="in">
                                      <p:cBhvr>
                                        <p:cTn dur="500"/>
                                        <p:tgtEl>
                                          <p:spTgt spid="68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xEl>
                                              <p:pRg end="11" st="11"/>
                                            </p:txEl>
                                          </p:spTgt>
                                        </p:tgtEl>
                                        <p:attrNameLst>
                                          <p:attrName>style.visibility</p:attrName>
                                        </p:attrNameLst>
                                      </p:cBhvr>
                                      <p:to>
                                        <p:strVal val="visible"/>
                                      </p:to>
                                    </p:set>
                                    <p:animEffect filter="fade" transition="in">
                                      <p:cBhvr>
                                        <p:cTn dur="500"/>
                                        <p:tgtEl>
                                          <p:spTgt spid="683">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55"/>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EXERCISE</a:t>
            </a:r>
            <a:endParaRPr b="1" sz="8000">
              <a:latin typeface="Times New Roman"/>
              <a:ea typeface="Times New Roman"/>
              <a:cs typeface="Times New Roman"/>
              <a:sym typeface="Times New Roman"/>
            </a:endParaRPr>
          </a:p>
        </p:txBody>
      </p:sp>
      <p:sp>
        <p:nvSpPr>
          <p:cNvPr id="692" name="Google Shape;692;p55"/>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100000"/>
              </a:lnSpc>
              <a:spcBef>
                <a:spcPts val="0"/>
              </a:spcBef>
              <a:spcAft>
                <a:spcPts val="0"/>
              </a:spcAft>
              <a:buSzPts val="3300"/>
              <a:buFont typeface="Noto Sans Symbols"/>
              <a:buChar char="▪"/>
            </a:pPr>
            <a:r>
              <a:rPr b="1" lang="en-US" sz="3300">
                <a:latin typeface="Cambria"/>
                <a:ea typeface="Cambria"/>
                <a:cs typeface="Cambria"/>
                <a:sym typeface="Cambria"/>
              </a:rPr>
              <a:t>Quiz</a:t>
            </a:r>
            <a:endParaRPr/>
          </a:p>
          <a:p>
            <a:pPr indent="-64769" lvl="1" marL="576072" rtl="0" algn="l">
              <a:lnSpc>
                <a:spcPct val="100000"/>
              </a:lnSpc>
              <a:spcBef>
                <a:spcPts val="900"/>
              </a:spcBef>
              <a:spcAft>
                <a:spcPts val="0"/>
              </a:spcAft>
              <a:buSzPts val="3300"/>
              <a:buFont typeface="Noto Sans Symbols"/>
              <a:buNone/>
            </a:pPr>
            <a:r>
              <a:t/>
            </a:r>
            <a:endParaRPr sz="3300">
              <a:latin typeface="Cambria"/>
              <a:ea typeface="Cambria"/>
              <a:cs typeface="Cambria"/>
              <a:sym typeface="Cambria"/>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User-Defined Exceptions:</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Q: In Python, when creating a custom exception class, it is best practice to inherit from which class?</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a) Exception</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b) Error</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c) BaseException</a:t>
            </a:r>
            <a:endParaRPr sz="3300">
              <a:latin typeface="Cambria"/>
              <a:ea typeface="Cambria"/>
              <a:cs typeface="Cambria"/>
              <a:sym typeface="Cambria"/>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d) CustomError</a:t>
            </a:r>
            <a:endParaRPr sz="3300">
              <a:latin typeface="Cambria"/>
              <a:ea typeface="Cambria"/>
              <a:cs typeface="Cambria"/>
              <a:sym typeface="Cambria"/>
            </a:endParaRPr>
          </a:p>
          <a:p>
            <a:pPr indent="-64769" lvl="1" marL="576072" rtl="0" algn="l">
              <a:lnSpc>
                <a:spcPct val="100000"/>
              </a:lnSpc>
              <a:spcBef>
                <a:spcPts val="900"/>
              </a:spcBef>
              <a:spcAft>
                <a:spcPts val="0"/>
              </a:spcAft>
              <a:buSzPts val="3300"/>
              <a:buFont typeface="Noto Sans Symbols"/>
              <a:buNone/>
            </a:pPr>
            <a:r>
              <a:t/>
            </a:r>
            <a:endParaRPr sz="3300">
              <a:latin typeface="Cambria"/>
              <a:ea typeface="Cambria"/>
              <a:cs typeface="Cambria"/>
              <a:sym typeface="Cambria"/>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Answer: a</a:t>
            </a:r>
            <a:endParaRPr sz="3300" u="sng">
              <a:latin typeface="Cambria"/>
              <a:ea typeface="Cambria"/>
              <a:cs typeface="Cambria"/>
              <a:sym typeface="Cambria"/>
            </a:endParaRPr>
          </a:p>
          <a:p>
            <a:pPr indent="-64769" lvl="1" marL="576072" rtl="0" algn="l">
              <a:lnSpc>
                <a:spcPct val="10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693" name="Google Shape;693;p55"/>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694" name="Google Shape;694;p55"/>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95" name="Google Shape;695;p55"/>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0" st="0"/>
                                            </p:txEl>
                                          </p:spTgt>
                                        </p:tgtEl>
                                        <p:attrNameLst>
                                          <p:attrName>style.visibility</p:attrName>
                                        </p:attrNameLst>
                                      </p:cBhvr>
                                      <p:to>
                                        <p:strVal val="visible"/>
                                      </p:to>
                                    </p:set>
                                    <p:animEffect filter="fade" transition="in">
                                      <p:cBhvr>
                                        <p:cTn dur="500"/>
                                        <p:tgtEl>
                                          <p:spTgt spid="6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1" st="1"/>
                                            </p:txEl>
                                          </p:spTgt>
                                        </p:tgtEl>
                                        <p:attrNameLst>
                                          <p:attrName>style.visibility</p:attrName>
                                        </p:attrNameLst>
                                      </p:cBhvr>
                                      <p:to>
                                        <p:strVal val="visible"/>
                                      </p:to>
                                    </p:set>
                                    <p:animEffect filter="fade" transition="in">
                                      <p:cBhvr>
                                        <p:cTn dur="500"/>
                                        <p:tgtEl>
                                          <p:spTgt spid="6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2" st="2"/>
                                            </p:txEl>
                                          </p:spTgt>
                                        </p:tgtEl>
                                        <p:attrNameLst>
                                          <p:attrName>style.visibility</p:attrName>
                                        </p:attrNameLst>
                                      </p:cBhvr>
                                      <p:to>
                                        <p:strVal val="visible"/>
                                      </p:to>
                                    </p:set>
                                    <p:animEffect filter="fade" transition="in">
                                      <p:cBhvr>
                                        <p:cTn dur="500"/>
                                        <p:tgtEl>
                                          <p:spTgt spid="6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3" st="3"/>
                                            </p:txEl>
                                          </p:spTgt>
                                        </p:tgtEl>
                                        <p:attrNameLst>
                                          <p:attrName>style.visibility</p:attrName>
                                        </p:attrNameLst>
                                      </p:cBhvr>
                                      <p:to>
                                        <p:strVal val="visible"/>
                                      </p:to>
                                    </p:set>
                                    <p:animEffect filter="fade" transition="in">
                                      <p:cBhvr>
                                        <p:cTn dur="500"/>
                                        <p:tgtEl>
                                          <p:spTgt spid="6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4" st="4"/>
                                            </p:txEl>
                                          </p:spTgt>
                                        </p:tgtEl>
                                        <p:attrNameLst>
                                          <p:attrName>style.visibility</p:attrName>
                                        </p:attrNameLst>
                                      </p:cBhvr>
                                      <p:to>
                                        <p:strVal val="visible"/>
                                      </p:to>
                                    </p:set>
                                    <p:animEffect filter="fade" transition="in">
                                      <p:cBhvr>
                                        <p:cTn dur="500"/>
                                        <p:tgtEl>
                                          <p:spTgt spid="6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5" st="5"/>
                                            </p:txEl>
                                          </p:spTgt>
                                        </p:tgtEl>
                                        <p:attrNameLst>
                                          <p:attrName>style.visibility</p:attrName>
                                        </p:attrNameLst>
                                      </p:cBhvr>
                                      <p:to>
                                        <p:strVal val="visible"/>
                                      </p:to>
                                    </p:set>
                                    <p:animEffect filter="fade" transition="in">
                                      <p:cBhvr>
                                        <p:cTn dur="500"/>
                                        <p:tgtEl>
                                          <p:spTgt spid="69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6" st="6"/>
                                            </p:txEl>
                                          </p:spTgt>
                                        </p:tgtEl>
                                        <p:attrNameLst>
                                          <p:attrName>style.visibility</p:attrName>
                                        </p:attrNameLst>
                                      </p:cBhvr>
                                      <p:to>
                                        <p:strVal val="visible"/>
                                      </p:to>
                                    </p:set>
                                    <p:animEffect filter="fade" transition="in">
                                      <p:cBhvr>
                                        <p:cTn dur="500"/>
                                        <p:tgtEl>
                                          <p:spTgt spid="69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7" st="7"/>
                                            </p:txEl>
                                          </p:spTgt>
                                        </p:tgtEl>
                                        <p:attrNameLst>
                                          <p:attrName>style.visibility</p:attrName>
                                        </p:attrNameLst>
                                      </p:cBhvr>
                                      <p:to>
                                        <p:strVal val="visible"/>
                                      </p:to>
                                    </p:set>
                                    <p:animEffect filter="fade" transition="in">
                                      <p:cBhvr>
                                        <p:cTn dur="500"/>
                                        <p:tgtEl>
                                          <p:spTgt spid="69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8" st="8"/>
                                            </p:txEl>
                                          </p:spTgt>
                                        </p:tgtEl>
                                        <p:attrNameLst>
                                          <p:attrName>style.visibility</p:attrName>
                                        </p:attrNameLst>
                                      </p:cBhvr>
                                      <p:to>
                                        <p:strVal val="visible"/>
                                      </p:to>
                                    </p:set>
                                    <p:animEffect filter="fade" transition="in">
                                      <p:cBhvr>
                                        <p:cTn dur="500"/>
                                        <p:tgtEl>
                                          <p:spTgt spid="69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9" st="9"/>
                                            </p:txEl>
                                          </p:spTgt>
                                        </p:tgtEl>
                                        <p:attrNameLst>
                                          <p:attrName>style.visibility</p:attrName>
                                        </p:attrNameLst>
                                      </p:cBhvr>
                                      <p:to>
                                        <p:strVal val="visible"/>
                                      </p:to>
                                    </p:set>
                                    <p:animEffect filter="fade" transition="in">
                                      <p:cBhvr>
                                        <p:cTn dur="500"/>
                                        <p:tgtEl>
                                          <p:spTgt spid="69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10" st="10"/>
                                            </p:txEl>
                                          </p:spTgt>
                                        </p:tgtEl>
                                        <p:attrNameLst>
                                          <p:attrName>style.visibility</p:attrName>
                                        </p:attrNameLst>
                                      </p:cBhvr>
                                      <p:to>
                                        <p:strVal val="visible"/>
                                      </p:to>
                                    </p:set>
                                    <p:animEffect filter="fade" transition="in">
                                      <p:cBhvr>
                                        <p:cTn dur="500"/>
                                        <p:tgtEl>
                                          <p:spTgt spid="692">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56"/>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EXERCISE</a:t>
            </a:r>
            <a:endParaRPr b="1" sz="8000">
              <a:latin typeface="Times New Roman"/>
              <a:ea typeface="Times New Roman"/>
              <a:cs typeface="Times New Roman"/>
              <a:sym typeface="Times New Roman"/>
            </a:endParaRPr>
          </a:p>
        </p:txBody>
      </p:sp>
      <p:sp>
        <p:nvSpPr>
          <p:cNvPr id="701" name="Google Shape;701;p56"/>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100000"/>
              </a:lnSpc>
              <a:spcBef>
                <a:spcPts val="0"/>
              </a:spcBef>
              <a:spcAft>
                <a:spcPts val="0"/>
              </a:spcAft>
              <a:buSzPts val="3300"/>
              <a:buFont typeface="Noto Sans Symbols"/>
              <a:buChar char="▪"/>
            </a:pPr>
            <a:r>
              <a:rPr b="1" lang="en-US" sz="3300">
                <a:latin typeface="Cambria"/>
                <a:ea typeface="Cambria"/>
                <a:cs typeface="Cambria"/>
                <a:sym typeface="Cambria"/>
              </a:rPr>
              <a:t>Quiz</a:t>
            </a:r>
            <a:endParaRPr/>
          </a:p>
          <a:p>
            <a:pPr indent="-64769" lvl="1" marL="576072" rtl="0" algn="l">
              <a:lnSpc>
                <a:spcPct val="100000"/>
              </a:lnSpc>
              <a:spcBef>
                <a:spcPts val="900"/>
              </a:spcBef>
              <a:spcAft>
                <a:spcPts val="0"/>
              </a:spcAft>
              <a:buSzPts val="3300"/>
              <a:buFont typeface="Noto Sans Symbols"/>
              <a:buNone/>
            </a:pPr>
            <a:r>
              <a:t/>
            </a:r>
            <a:endParaRPr sz="3300">
              <a:latin typeface="Cambria"/>
              <a:ea typeface="Cambria"/>
              <a:cs typeface="Cambria"/>
              <a:sym typeface="Cambria"/>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4. Finally Block:</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Q: What is the primary purpose of the finally block in a try-except-finally construct?</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a) To catch and handle exceptions</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b) To execute code only when an exception occurs</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c) To ensure that certain code is executed regardless of whether an exception is raised or not</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d) To indicate the final statement of a program</a:t>
            </a:r>
            <a:endParaRPr/>
          </a:p>
          <a:p>
            <a:pPr indent="-64769" lvl="1" marL="576072" rtl="0" algn="l">
              <a:lnSpc>
                <a:spcPct val="100000"/>
              </a:lnSpc>
              <a:spcBef>
                <a:spcPts val="900"/>
              </a:spcBef>
              <a:spcAft>
                <a:spcPts val="0"/>
              </a:spcAft>
              <a:buSzPts val="3300"/>
              <a:buFont typeface="Noto Sans Symbols"/>
              <a:buNone/>
            </a:pPr>
            <a:r>
              <a:t/>
            </a:r>
            <a:endParaRPr sz="3300">
              <a:latin typeface="Cambria"/>
              <a:ea typeface="Cambria"/>
              <a:cs typeface="Cambria"/>
              <a:sym typeface="Cambria"/>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Answer: c</a:t>
            </a:r>
            <a:endParaRPr sz="3300" u="sng">
              <a:latin typeface="Cambria"/>
              <a:ea typeface="Cambria"/>
              <a:cs typeface="Cambria"/>
              <a:sym typeface="Cambria"/>
            </a:endParaRPr>
          </a:p>
          <a:p>
            <a:pPr indent="-64769" lvl="1" marL="576072" rtl="0" algn="l">
              <a:lnSpc>
                <a:spcPct val="10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702" name="Google Shape;702;p56"/>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703" name="Google Shape;703;p56"/>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04" name="Google Shape;704;p56"/>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0" st="0"/>
                                            </p:txEl>
                                          </p:spTgt>
                                        </p:tgtEl>
                                        <p:attrNameLst>
                                          <p:attrName>style.visibility</p:attrName>
                                        </p:attrNameLst>
                                      </p:cBhvr>
                                      <p:to>
                                        <p:strVal val="visible"/>
                                      </p:to>
                                    </p:set>
                                    <p:animEffect filter="fade" transition="in">
                                      <p:cBhvr>
                                        <p:cTn dur="500"/>
                                        <p:tgtEl>
                                          <p:spTgt spid="7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1" st="1"/>
                                            </p:txEl>
                                          </p:spTgt>
                                        </p:tgtEl>
                                        <p:attrNameLst>
                                          <p:attrName>style.visibility</p:attrName>
                                        </p:attrNameLst>
                                      </p:cBhvr>
                                      <p:to>
                                        <p:strVal val="visible"/>
                                      </p:to>
                                    </p:set>
                                    <p:animEffect filter="fade" transition="in">
                                      <p:cBhvr>
                                        <p:cTn dur="500"/>
                                        <p:tgtEl>
                                          <p:spTgt spid="7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2" st="2"/>
                                            </p:txEl>
                                          </p:spTgt>
                                        </p:tgtEl>
                                        <p:attrNameLst>
                                          <p:attrName>style.visibility</p:attrName>
                                        </p:attrNameLst>
                                      </p:cBhvr>
                                      <p:to>
                                        <p:strVal val="visible"/>
                                      </p:to>
                                    </p:set>
                                    <p:animEffect filter="fade" transition="in">
                                      <p:cBhvr>
                                        <p:cTn dur="500"/>
                                        <p:tgtEl>
                                          <p:spTgt spid="7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3" st="3"/>
                                            </p:txEl>
                                          </p:spTgt>
                                        </p:tgtEl>
                                        <p:attrNameLst>
                                          <p:attrName>style.visibility</p:attrName>
                                        </p:attrNameLst>
                                      </p:cBhvr>
                                      <p:to>
                                        <p:strVal val="visible"/>
                                      </p:to>
                                    </p:set>
                                    <p:animEffect filter="fade" transition="in">
                                      <p:cBhvr>
                                        <p:cTn dur="500"/>
                                        <p:tgtEl>
                                          <p:spTgt spid="7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4" st="4"/>
                                            </p:txEl>
                                          </p:spTgt>
                                        </p:tgtEl>
                                        <p:attrNameLst>
                                          <p:attrName>style.visibility</p:attrName>
                                        </p:attrNameLst>
                                      </p:cBhvr>
                                      <p:to>
                                        <p:strVal val="visible"/>
                                      </p:to>
                                    </p:set>
                                    <p:animEffect filter="fade" transition="in">
                                      <p:cBhvr>
                                        <p:cTn dur="500"/>
                                        <p:tgtEl>
                                          <p:spTgt spid="7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5" st="5"/>
                                            </p:txEl>
                                          </p:spTgt>
                                        </p:tgtEl>
                                        <p:attrNameLst>
                                          <p:attrName>style.visibility</p:attrName>
                                        </p:attrNameLst>
                                      </p:cBhvr>
                                      <p:to>
                                        <p:strVal val="visible"/>
                                      </p:to>
                                    </p:set>
                                    <p:animEffect filter="fade" transition="in">
                                      <p:cBhvr>
                                        <p:cTn dur="500"/>
                                        <p:tgtEl>
                                          <p:spTgt spid="70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6" st="6"/>
                                            </p:txEl>
                                          </p:spTgt>
                                        </p:tgtEl>
                                        <p:attrNameLst>
                                          <p:attrName>style.visibility</p:attrName>
                                        </p:attrNameLst>
                                      </p:cBhvr>
                                      <p:to>
                                        <p:strVal val="visible"/>
                                      </p:to>
                                    </p:set>
                                    <p:animEffect filter="fade" transition="in">
                                      <p:cBhvr>
                                        <p:cTn dur="500"/>
                                        <p:tgtEl>
                                          <p:spTgt spid="70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7" st="7"/>
                                            </p:txEl>
                                          </p:spTgt>
                                        </p:tgtEl>
                                        <p:attrNameLst>
                                          <p:attrName>style.visibility</p:attrName>
                                        </p:attrNameLst>
                                      </p:cBhvr>
                                      <p:to>
                                        <p:strVal val="visible"/>
                                      </p:to>
                                    </p:set>
                                    <p:animEffect filter="fade" transition="in">
                                      <p:cBhvr>
                                        <p:cTn dur="500"/>
                                        <p:tgtEl>
                                          <p:spTgt spid="70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8" st="8"/>
                                            </p:txEl>
                                          </p:spTgt>
                                        </p:tgtEl>
                                        <p:attrNameLst>
                                          <p:attrName>style.visibility</p:attrName>
                                        </p:attrNameLst>
                                      </p:cBhvr>
                                      <p:to>
                                        <p:strVal val="visible"/>
                                      </p:to>
                                    </p:set>
                                    <p:animEffect filter="fade" transition="in">
                                      <p:cBhvr>
                                        <p:cTn dur="500"/>
                                        <p:tgtEl>
                                          <p:spTgt spid="70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9" st="9"/>
                                            </p:txEl>
                                          </p:spTgt>
                                        </p:tgtEl>
                                        <p:attrNameLst>
                                          <p:attrName>style.visibility</p:attrName>
                                        </p:attrNameLst>
                                      </p:cBhvr>
                                      <p:to>
                                        <p:strVal val="visible"/>
                                      </p:to>
                                    </p:set>
                                    <p:animEffect filter="fade" transition="in">
                                      <p:cBhvr>
                                        <p:cTn dur="500"/>
                                        <p:tgtEl>
                                          <p:spTgt spid="70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10" st="10"/>
                                            </p:txEl>
                                          </p:spTgt>
                                        </p:tgtEl>
                                        <p:attrNameLst>
                                          <p:attrName>style.visibility</p:attrName>
                                        </p:attrNameLst>
                                      </p:cBhvr>
                                      <p:to>
                                        <p:strVal val="visible"/>
                                      </p:to>
                                    </p:set>
                                    <p:animEffect filter="fade" transition="in">
                                      <p:cBhvr>
                                        <p:cTn dur="500"/>
                                        <p:tgtEl>
                                          <p:spTgt spid="701">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57"/>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EXERCISE</a:t>
            </a:r>
            <a:endParaRPr b="1" sz="8000">
              <a:latin typeface="Times New Roman"/>
              <a:ea typeface="Times New Roman"/>
              <a:cs typeface="Times New Roman"/>
              <a:sym typeface="Times New Roman"/>
            </a:endParaRPr>
          </a:p>
        </p:txBody>
      </p:sp>
      <p:sp>
        <p:nvSpPr>
          <p:cNvPr id="710" name="Google Shape;710;p57"/>
          <p:cNvSpPr txBox="1"/>
          <p:nvPr>
            <p:ph idx="1" type="body"/>
          </p:nvPr>
        </p:nvSpPr>
        <p:spPr>
          <a:xfrm>
            <a:off x="861646" y="27051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100000"/>
              </a:lnSpc>
              <a:spcBef>
                <a:spcPts val="0"/>
              </a:spcBef>
              <a:spcAft>
                <a:spcPts val="0"/>
              </a:spcAft>
              <a:buSzPts val="3300"/>
              <a:buFont typeface="Noto Sans Symbols"/>
              <a:buChar char="▪"/>
            </a:pPr>
            <a:r>
              <a:rPr b="1" lang="en-US" sz="3300">
                <a:latin typeface="Cambria"/>
                <a:ea typeface="Cambria"/>
                <a:cs typeface="Cambria"/>
                <a:sym typeface="Cambria"/>
              </a:rPr>
              <a:t>Quiz</a:t>
            </a:r>
            <a:endParaRPr/>
          </a:p>
          <a:p>
            <a:pPr indent="0" lvl="1" marL="301752" rtl="0" algn="l">
              <a:lnSpc>
                <a:spcPct val="100000"/>
              </a:lnSpc>
              <a:spcBef>
                <a:spcPts val="900"/>
              </a:spcBef>
              <a:spcAft>
                <a:spcPts val="0"/>
              </a:spcAft>
              <a:buSzPts val="3300"/>
              <a:buNone/>
            </a:pPr>
            <a:r>
              <a:rPr lang="en-US" sz="3300">
                <a:latin typeface="Cambria"/>
                <a:ea typeface="Cambria"/>
                <a:cs typeface="Cambria"/>
                <a:sym typeface="Cambria"/>
              </a:rPr>
              <a:t> </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5. Cleanup Action:</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Q: When might you use a finally block for cleanup actions?</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a) Only when an exception is raised</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b) Only when no exception is raised</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c) Always, regardless of whether an exception is raised or not</a:t>
            </a:r>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d) Only when handling specific exceptions</a:t>
            </a:r>
            <a:endParaRPr/>
          </a:p>
          <a:p>
            <a:pPr indent="-64769" lvl="1" marL="576072" rtl="0" algn="l">
              <a:lnSpc>
                <a:spcPct val="100000"/>
              </a:lnSpc>
              <a:spcBef>
                <a:spcPts val="900"/>
              </a:spcBef>
              <a:spcAft>
                <a:spcPts val="0"/>
              </a:spcAft>
              <a:buSzPts val="3300"/>
              <a:buFont typeface="Noto Sans Symbols"/>
              <a:buNone/>
            </a:pPr>
            <a:r>
              <a:t/>
            </a:r>
            <a:endParaRPr sz="3300">
              <a:latin typeface="Cambria"/>
              <a:ea typeface="Cambria"/>
              <a:cs typeface="Cambria"/>
              <a:sym typeface="Cambria"/>
            </a:endParaRPr>
          </a:p>
          <a:p>
            <a:pPr indent="-274319" lvl="1" marL="576072" rtl="0" algn="l">
              <a:lnSpc>
                <a:spcPct val="100000"/>
              </a:lnSpc>
              <a:spcBef>
                <a:spcPts val="900"/>
              </a:spcBef>
              <a:spcAft>
                <a:spcPts val="0"/>
              </a:spcAft>
              <a:buSzPts val="3300"/>
              <a:buFont typeface="Noto Sans Symbols"/>
              <a:buChar char="▪"/>
            </a:pPr>
            <a:r>
              <a:rPr lang="en-US" sz="3300">
                <a:latin typeface="Cambria"/>
                <a:ea typeface="Cambria"/>
                <a:cs typeface="Cambria"/>
                <a:sym typeface="Cambria"/>
              </a:rPr>
              <a:t>Answer: c</a:t>
            </a:r>
            <a:endParaRPr sz="3300" u="sng">
              <a:latin typeface="Cambria"/>
              <a:ea typeface="Cambria"/>
              <a:cs typeface="Cambria"/>
              <a:sym typeface="Cambria"/>
            </a:endParaRPr>
          </a:p>
          <a:p>
            <a:pPr indent="0" lvl="1" marL="301752" rtl="0" algn="l">
              <a:lnSpc>
                <a:spcPct val="100000"/>
              </a:lnSpc>
              <a:spcBef>
                <a:spcPts val="900"/>
              </a:spcBef>
              <a:spcAft>
                <a:spcPts val="0"/>
              </a:spcAft>
              <a:buSzPts val="3300"/>
              <a:buNone/>
            </a:pPr>
            <a:r>
              <a:t/>
            </a:r>
            <a:endParaRPr sz="3300" u="sng">
              <a:latin typeface="Cambria"/>
              <a:ea typeface="Cambria"/>
              <a:cs typeface="Cambria"/>
              <a:sym typeface="Cambria"/>
            </a:endParaRPr>
          </a:p>
        </p:txBody>
      </p:sp>
      <p:sp>
        <p:nvSpPr>
          <p:cNvPr id="711" name="Google Shape;711;p57"/>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712" name="Google Shape;712;p57"/>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13" name="Google Shape;713;p57"/>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0" st="0"/>
                                            </p:txEl>
                                          </p:spTgt>
                                        </p:tgtEl>
                                        <p:attrNameLst>
                                          <p:attrName>style.visibility</p:attrName>
                                        </p:attrNameLst>
                                      </p:cBhvr>
                                      <p:to>
                                        <p:strVal val="visible"/>
                                      </p:to>
                                    </p:set>
                                    <p:animEffect filter="fade" transition="in">
                                      <p:cBhvr>
                                        <p:cTn dur="500"/>
                                        <p:tgtEl>
                                          <p:spTgt spid="7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1" st="1"/>
                                            </p:txEl>
                                          </p:spTgt>
                                        </p:tgtEl>
                                        <p:attrNameLst>
                                          <p:attrName>style.visibility</p:attrName>
                                        </p:attrNameLst>
                                      </p:cBhvr>
                                      <p:to>
                                        <p:strVal val="visible"/>
                                      </p:to>
                                    </p:set>
                                    <p:animEffect filter="fade" transition="in">
                                      <p:cBhvr>
                                        <p:cTn dur="500"/>
                                        <p:tgtEl>
                                          <p:spTgt spid="7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2" st="2"/>
                                            </p:txEl>
                                          </p:spTgt>
                                        </p:tgtEl>
                                        <p:attrNameLst>
                                          <p:attrName>style.visibility</p:attrName>
                                        </p:attrNameLst>
                                      </p:cBhvr>
                                      <p:to>
                                        <p:strVal val="visible"/>
                                      </p:to>
                                    </p:set>
                                    <p:animEffect filter="fade" transition="in">
                                      <p:cBhvr>
                                        <p:cTn dur="500"/>
                                        <p:tgtEl>
                                          <p:spTgt spid="7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3" st="3"/>
                                            </p:txEl>
                                          </p:spTgt>
                                        </p:tgtEl>
                                        <p:attrNameLst>
                                          <p:attrName>style.visibility</p:attrName>
                                        </p:attrNameLst>
                                      </p:cBhvr>
                                      <p:to>
                                        <p:strVal val="visible"/>
                                      </p:to>
                                    </p:set>
                                    <p:animEffect filter="fade" transition="in">
                                      <p:cBhvr>
                                        <p:cTn dur="500"/>
                                        <p:tgtEl>
                                          <p:spTgt spid="7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4" st="4"/>
                                            </p:txEl>
                                          </p:spTgt>
                                        </p:tgtEl>
                                        <p:attrNameLst>
                                          <p:attrName>style.visibility</p:attrName>
                                        </p:attrNameLst>
                                      </p:cBhvr>
                                      <p:to>
                                        <p:strVal val="visible"/>
                                      </p:to>
                                    </p:set>
                                    <p:animEffect filter="fade" transition="in">
                                      <p:cBhvr>
                                        <p:cTn dur="500"/>
                                        <p:tgtEl>
                                          <p:spTgt spid="71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5" st="5"/>
                                            </p:txEl>
                                          </p:spTgt>
                                        </p:tgtEl>
                                        <p:attrNameLst>
                                          <p:attrName>style.visibility</p:attrName>
                                        </p:attrNameLst>
                                      </p:cBhvr>
                                      <p:to>
                                        <p:strVal val="visible"/>
                                      </p:to>
                                    </p:set>
                                    <p:animEffect filter="fade" transition="in">
                                      <p:cBhvr>
                                        <p:cTn dur="500"/>
                                        <p:tgtEl>
                                          <p:spTgt spid="71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6" st="6"/>
                                            </p:txEl>
                                          </p:spTgt>
                                        </p:tgtEl>
                                        <p:attrNameLst>
                                          <p:attrName>style.visibility</p:attrName>
                                        </p:attrNameLst>
                                      </p:cBhvr>
                                      <p:to>
                                        <p:strVal val="visible"/>
                                      </p:to>
                                    </p:set>
                                    <p:animEffect filter="fade" transition="in">
                                      <p:cBhvr>
                                        <p:cTn dur="500"/>
                                        <p:tgtEl>
                                          <p:spTgt spid="71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7" st="7"/>
                                            </p:txEl>
                                          </p:spTgt>
                                        </p:tgtEl>
                                        <p:attrNameLst>
                                          <p:attrName>style.visibility</p:attrName>
                                        </p:attrNameLst>
                                      </p:cBhvr>
                                      <p:to>
                                        <p:strVal val="visible"/>
                                      </p:to>
                                    </p:set>
                                    <p:animEffect filter="fade" transition="in">
                                      <p:cBhvr>
                                        <p:cTn dur="500"/>
                                        <p:tgtEl>
                                          <p:spTgt spid="71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8" st="8"/>
                                            </p:txEl>
                                          </p:spTgt>
                                        </p:tgtEl>
                                        <p:attrNameLst>
                                          <p:attrName>style.visibility</p:attrName>
                                        </p:attrNameLst>
                                      </p:cBhvr>
                                      <p:to>
                                        <p:strVal val="visible"/>
                                      </p:to>
                                    </p:set>
                                    <p:animEffect filter="fade" transition="in">
                                      <p:cBhvr>
                                        <p:cTn dur="500"/>
                                        <p:tgtEl>
                                          <p:spTgt spid="71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9" st="9"/>
                                            </p:txEl>
                                          </p:spTgt>
                                        </p:tgtEl>
                                        <p:attrNameLst>
                                          <p:attrName>style.visibility</p:attrName>
                                        </p:attrNameLst>
                                      </p:cBhvr>
                                      <p:to>
                                        <p:strVal val="visible"/>
                                      </p:to>
                                    </p:set>
                                    <p:animEffect filter="fade" transition="in">
                                      <p:cBhvr>
                                        <p:cTn dur="500"/>
                                        <p:tgtEl>
                                          <p:spTgt spid="71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xEl>
                                              <p:pRg end="10" st="10"/>
                                            </p:txEl>
                                          </p:spTgt>
                                        </p:tgtEl>
                                        <p:attrNameLst>
                                          <p:attrName>style.visibility</p:attrName>
                                        </p:attrNameLst>
                                      </p:cBhvr>
                                      <p:to>
                                        <p:strVal val="visible"/>
                                      </p:to>
                                    </p:set>
                                    <p:animEffect filter="fade" transition="in">
                                      <p:cBhvr>
                                        <p:cTn dur="500"/>
                                        <p:tgtEl>
                                          <p:spTgt spid="710">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58"/>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EXERCISE</a:t>
            </a:r>
            <a:endParaRPr b="1" sz="8000">
              <a:latin typeface="Times New Roman"/>
              <a:ea typeface="Times New Roman"/>
              <a:cs typeface="Times New Roman"/>
              <a:sym typeface="Times New Roman"/>
            </a:endParaRPr>
          </a:p>
        </p:txBody>
      </p:sp>
      <p:sp>
        <p:nvSpPr>
          <p:cNvPr id="719" name="Google Shape;719;p58"/>
          <p:cNvSpPr txBox="1"/>
          <p:nvPr>
            <p:ph idx="1" type="body"/>
          </p:nvPr>
        </p:nvSpPr>
        <p:spPr>
          <a:xfrm>
            <a:off x="838200" y="20955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250000"/>
              </a:lnSpc>
              <a:spcBef>
                <a:spcPts val="0"/>
              </a:spcBef>
              <a:spcAft>
                <a:spcPts val="0"/>
              </a:spcAft>
              <a:buSzPts val="3300"/>
              <a:buFont typeface="Noto Sans Symbols"/>
              <a:buChar char="▪"/>
            </a:pPr>
            <a:r>
              <a:rPr b="1" lang="en-US" sz="3300">
                <a:latin typeface="Cambria"/>
                <a:ea typeface="Cambria"/>
                <a:cs typeface="Cambria"/>
                <a:sym typeface="Cambria"/>
              </a:rPr>
              <a:t>Code snippet – predict output </a:t>
            </a:r>
            <a:endParaRPr/>
          </a:p>
          <a:p>
            <a:pPr indent="-64769" lvl="1" marL="576072" rtl="0" algn="l">
              <a:lnSpc>
                <a:spcPct val="25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720" name="Google Shape;720;p58"/>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721" name="Google Shape;721;p58"/>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22" name="Google Shape;722;p58"/>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723" name="Google Shape;723;p58"/>
          <p:cNvSpPr/>
          <p:nvPr/>
        </p:nvSpPr>
        <p:spPr>
          <a:xfrm>
            <a:off x="1143000" y="3329473"/>
            <a:ext cx="9067800" cy="60198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def example_function(value):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if value &lt;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raise ValueError("Value must be non-negative")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print("Value is:",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except ValueError as 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print(f"Caught an exception: {ve}")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raise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example_function(-5)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except ValueError as 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print(f"Caught the re-raised exception: {ve}")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0" st="0"/>
                                            </p:txEl>
                                          </p:spTgt>
                                        </p:tgtEl>
                                        <p:attrNameLst>
                                          <p:attrName>style.visibility</p:attrName>
                                        </p:attrNameLst>
                                      </p:cBhvr>
                                      <p:to>
                                        <p:strVal val="visible"/>
                                      </p:to>
                                    </p:set>
                                    <p:animEffect filter="fade" transition="in">
                                      <p:cBhvr>
                                        <p:cTn dur="500"/>
                                        <p:tgtEl>
                                          <p:spTgt spid="7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 st="1"/>
                                            </p:txEl>
                                          </p:spTgt>
                                        </p:tgtEl>
                                        <p:attrNameLst>
                                          <p:attrName>style.visibility</p:attrName>
                                        </p:attrNameLst>
                                      </p:cBhvr>
                                      <p:to>
                                        <p:strVal val="visible"/>
                                      </p:to>
                                    </p:set>
                                    <p:animEffect filter="fade" transition="in">
                                      <p:cBhvr>
                                        <p:cTn dur="500"/>
                                        <p:tgtEl>
                                          <p:spTgt spid="7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2" st="2"/>
                                            </p:txEl>
                                          </p:spTgt>
                                        </p:tgtEl>
                                        <p:attrNameLst>
                                          <p:attrName>style.visibility</p:attrName>
                                        </p:attrNameLst>
                                      </p:cBhvr>
                                      <p:to>
                                        <p:strVal val="visible"/>
                                      </p:to>
                                    </p:set>
                                    <p:animEffect filter="fade" transition="in">
                                      <p:cBhvr>
                                        <p:cTn dur="500"/>
                                        <p:tgtEl>
                                          <p:spTgt spid="7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3" st="3"/>
                                            </p:txEl>
                                          </p:spTgt>
                                        </p:tgtEl>
                                        <p:attrNameLst>
                                          <p:attrName>style.visibility</p:attrName>
                                        </p:attrNameLst>
                                      </p:cBhvr>
                                      <p:to>
                                        <p:strVal val="visible"/>
                                      </p:to>
                                    </p:set>
                                    <p:animEffect filter="fade" transition="in">
                                      <p:cBhvr>
                                        <p:cTn dur="500"/>
                                        <p:tgtEl>
                                          <p:spTgt spid="71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59"/>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EXERCISE</a:t>
            </a:r>
            <a:endParaRPr b="1" sz="8000">
              <a:latin typeface="Times New Roman"/>
              <a:ea typeface="Times New Roman"/>
              <a:cs typeface="Times New Roman"/>
              <a:sym typeface="Times New Roman"/>
            </a:endParaRPr>
          </a:p>
        </p:txBody>
      </p:sp>
      <p:sp>
        <p:nvSpPr>
          <p:cNvPr id="729" name="Google Shape;729;p59"/>
          <p:cNvSpPr txBox="1"/>
          <p:nvPr>
            <p:ph idx="1" type="body"/>
          </p:nvPr>
        </p:nvSpPr>
        <p:spPr>
          <a:xfrm>
            <a:off x="762000" y="19431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250000"/>
              </a:lnSpc>
              <a:spcBef>
                <a:spcPts val="0"/>
              </a:spcBef>
              <a:spcAft>
                <a:spcPts val="0"/>
              </a:spcAft>
              <a:buSzPts val="3300"/>
              <a:buFont typeface="Noto Sans Symbols"/>
              <a:buChar char="▪"/>
            </a:pPr>
            <a:r>
              <a:rPr b="1" lang="en-US" sz="3300">
                <a:latin typeface="Cambria"/>
                <a:ea typeface="Cambria"/>
                <a:cs typeface="Cambria"/>
                <a:sym typeface="Cambria"/>
              </a:rPr>
              <a:t>Code snippet – predict output </a:t>
            </a:r>
            <a:endParaRPr/>
          </a:p>
          <a:p>
            <a:pPr indent="-64769" lvl="1" marL="576072" rtl="0" algn="l">
              <a:lnSpc>
                <a:spcPct val="25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730" name="Google Shape;730;p59"/>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731" name="Google Shape;731;p59"/>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32" name="Google Shape;732;p59"/>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733" name="Google Shape;733;p59"/>
          <p:cNvSpPr/>
          <p:nvPr/>
        </p:nvSpPr>
        <p:spPr>
          <a:xfrm>
            <a:off x="1066800" y="3162300"/>
            <a:ext cx="10668000" cy="61722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dk1"/>
                </a:solidFill>
                <a:latin typeface="Calibri"/>
                <a:ea typeface="Calibri"/>
                <a:cs typeface="Calibri"/>
                <a:sym typeface="Calibri"/>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dk1"/>
                </a:solidFill>
                <a:latin typeface="Calibri"/>
                <a:ea typeface="Calibri"/>
                <a:cs typeface="Calibri"/>
                <a:sym typeface="Calibri"/>
              </a:rPr>
              <a:t>    result = int("abc")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dk1"/>
                </a:solidFill>
                <a:latin typeface="Calibri"/>
                <a:ea typeface="Calibri"/>
                <a:cs typeface="Calibri"/>
                <a:sym typeface="Calibri"/>
              </a:rPr>
              <a:t>except ValueError as 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dk1"/>
                </a:solidFill>
                <a:latin typeface="Calibri"/>
                <a:ea typeface="Calibri"/>
                <a:cs typeface="Calibri"/>
                <a:sym typeface="Calibri"/>
              </a:rPr>
              <a:t>    print(f"Caught a ValueError: {ve}")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dk1"/>
                </a:solidFill>
                <a:latin typeface="Calibri"/>
                <a:ea typeface="Calibri"/>
                <a:cs typeface="Calibri"/>
                <a:sym typeface="Calibri"/>
              </a:rPr>
              <a:t>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dk1"/>
                </a:solidFill>
                <a:latin typeface="Calibri"/>
                <a:ea typeface="Calibri"/>
                <a:cs typeface="Calibri"/>
                <a:sym typeface="Calibri"/>
              </a:rPr>
              <a:t>    print("Conversion successful")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dk1"/>
                </a:solidFill>
                <a:latin typeface="Calibri"/>
                <a:ea typeface="Calibri"/>
                <a:cs typeface="Calibri"/>
                <a:sym typeface="Calibri"/>
              </a:rPr>
              <a:t>finally: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dk1"/>
                </a:solidFill>
                <a:latin typeface="Calibri"/>
                <a:ea typeface="Calibri"/>
                <a:cs typeface="Calibri"/>
                <a:sym typeface="Calibri"/>
              </a:rPr>
              <a:t>    print("Finally block executed")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0" st="0"/>
                                            </p:txEl>
                                          </p:spTgt>
                                        </p:tgtEl>
                                        <p:attrNameLst>
                                          <p:attrName>style.visibility</p:attrName>
                                        </p:attrNameLst>
                                      </p:cBhvr>
                                      <p:to>
                                        <p:strVal val="visible"/>
                                      </p:to>
                                    </p:set>
                                    <p:animEffect filter="fade" transition="in">
                                      <p:cBhvr>
                                        <p:cTn dur="500"/>
                                        <p:tgtEl>
                                          <p:spTgt spid="7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1" st="1"/>
                                            </p:txEl>
                                          </p:spTgt>
                                        </p:tgtEl>
                                        <p:attrNameLst>
                                          <p:attrName>style.visibility</p:attrName>
                                        </p:attrNameLst>
                                      </p:cBhvr>
                                      <p:to>
                                        <p:strVal val="visible"/>
                                      </p:to>
                                    </p:set>
                                    <p:animEffect filter="fade" transition="in">
                                      <p:cBhvr>
                                        <p:cTn dur="500"/>
                                        <p:tgtEl>
                                          <p:spTgt spid="72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2" st="2"/>
                                            </p:txEl>
                                          </p:spTgt>
                                        </p:tgtEl>
                                        <p:attrNameLst>
                                          <p:attrName>style.visibility</p:attrName>
                                        </p:attrNameLst>
                                      </p:cBhvr>
                                      <p:to>
                                        <p:strVal val="visible"/>
                                      </p:to>
                                    </p:set>
                                    <p:animEffect filter="fade" transition="in">
                                      <p:cBhvr>
                                        <p:cTn dur="500"/>
                                        <p:tgtEl>
                                          <p:spTgt spid="72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3" st="3"/>
                                            </p:txEl>
                                          </p:spTgt>
                                        </p:tgtEl>
                                        <p:attrNameLst>
                                          <p:attrName>style.visibility</p:attrName>
                                        </p:attrNameLst>
                                      </p:cBhvr>
                                      <p:to>
                                        <p:strVal val="visible"/>
                                      </p:to>
                                    </p:set>
                                    <p:animEffect filter="fade" transition="in">
                                      <p:cBhvr>
                                        <p:cTn dur="500"/>
                                        <p:tgtEl>
                                          <p:spTgt spid="72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60"/>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EXERCISE</a:t>
            </a:r>
            <a:endParaRPr b="1" sz="8000">
              <a:latin typeface="Times New Roman"/>
              <a:ea typeface="Times New Roman"/>
              <a:cs typeface="Times New Roman"/>
              <a:sym typeface="Times New Roman"/>
            </a:endParaRPr>
          </a:p>
        </p:txBody>
      </p:sp>
      <p:sp>
        <p:nvSpPr>
          <p:cNvPr id="739" name="Google Shape;739;p60"/>
          <p:cNvSpPr txBox="1"/>
          <p:nvPr>
            <p:ph idx="1" type="body"/>
          </p:nvPr>
        </p:nvSpPr>
        <p:spPr>
          <a:xfrm>
            <a:off x="457200" y="2095500"/>
            <a:ext cx="16535400" cy="7315200"/>
          </a:xfrm>
          <a:prstGeom prst="rect">
            <a:avLst/>
          </a:prstGeom>
          <a:noFill/>
          <a:ln>
            <a:noFill/>
          </a:ln>
        </p:spPr>
        <p:txBody>
          <a:bodyPr anchorCtr="0" anchor="t" bIns="45700" lIns="0" spcFirstLastPara="1" rIns="0" wrap="square" tIns="45700">
            <a:noAutofit/>
          </a:bodyPr>
          <a:lstStyle/>
          <a:p>
            <a:pPr indent="-274319" lvl="1" marL="576072" rtl="0" algn="l">
              <a:lnSpc>
                <a:spcPct val="250000"/>
              </a:lnSpc>
              <a:spcBef>
                <a:spcPts val="0"/>
              </a:spcBef>
              <a:spcAft>
                <a:spcPts val="0"/>
              </a:spcAft>
              <a:buSzPts val="3300"/>
              <a:buFont typeface="Noto Sans Symbols"/>
              <a:buChar char="▪"/>
            </a:pPr>
            <a:r>
              <a:rPr b="1" lang="en-US" sz="3300">
                <a:latin typeface="Cambria"/>
                <a:ea typeface="Cambria"/>
                <a:cs typeface="Cambria"/>
                <a:sym typeface="Cambria"/>
              </a:rPr>
              <a:t>Code snippet – predict output </a:t>
            </a:r>
            <a:endParaRPr/>
          </a:p>
          <a:p>
            <a:pPr indent="-64769" lvl="1" marL="576072" rtl="0" algn="l">
              <a:lnSpc>
                <a:spcPct val="25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740" name="Google Shape;740;p60"/>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741" name="Google Shape;741;p60"/>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42" name="Google Shape;742;p60"/>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743" name="Google Shape;743;p60"/>
          <p:cNvSpPr/>
          <p:nvPr/>
        </p:nvSpPr>
        <p:spPr>
          <a:xfrm>
            <a:off x="7086600" y="2628900"/>
            <a:ext cx="9525000" cy="67818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class CustomError(Exception):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pass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def example_function(value):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if value == 42: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raise CustomError("The answer to life, the universe, and everything")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print("Value is:",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example_function(42)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except CustomError as 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print(f"Caught a custom exception: {ce}")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finally: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chemeClr val="dk1"/>
                </a:solidFill>
                <a:latin typeface="Calibri"/>
                <a:ea typeface="Calibri"/>
                <a:cs typeface="Calibri"/>
                <a:sym typeface="Calibri"/>
              </a:rPr>
              <a:t>    print("Finally block executed")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xEl>
                                              <p:pRg end="0" st="0"/>
                                            </p:txEl>
                                          </p:spTgt>
                                        </p:tgtEl>
                                        <p:attrNameLst>
                                          <p:attrName>style.visibility</p:attrName>
                                        </p:attrNameLst>
                                      </p:cBhvr>
                                      <p:to>
                                        <p:strVal val="visible"/>
                                      </p:to>
                                    </p:set>
                                    <p:animEffect filter="fade" transition="in">
                                      <p:cBhvr>
                                        <p:cTn dur="500"/>
                                        <p:tgtEl>
                                          <p:spTgt spid="7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xEl>
                                              <p:pRg end="1" st="1"/>
                                            </p:txEl>
                                          </p:spTgt>
                                        </p:tgtEl>
                                        <p:attrNameLst>
                                          <p:attrName>style.visibility</p:attrName>
                                        </p:attrNameLst>
                                      </p:cBhvr>
                                      <p:to>
                                        <p:strVal val="visible"/>
                                      </p:to>
                                    </p:set>
                                    <p:animEffect filter="fade" transition="in">
                                      <p:cBhvr>
                                        <p:cTn dur="500"/>
                                        <p:tgtEl>
                                          <p:spTgt spid="7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xEl>
                                              <p:pRg end="2" st="2"/>
                                            </p:txEl>
                                          </p:spTgt>
                                        </p:tgtEl>
                                        <p:attrNameLst>
                                          <p:attrName>style.visibility</p:attrName>
                                        </p:attrNameLst>
                                      </p:cBhvr>
                                      <p:to>
                                        <p:strVal val="visible"/>
                                      </p:to>
                                    </p:set>
                                    <p:animEffect filter="fade" transition="in">
                                      <p:cBhvr>
                                        <p:cTn dur="500"/>
                                        <p:tgtEl>
                                          <p:spTgt spid="7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xEl>
                                              <p:pRg end="3" st="3"/>
                                            </p:txEl>
                                          </p:spTgt>
                                        </p:tgtEl>
                                        <p:attrNameLst>
                                          <p:attrName>style.visibility</p:attrName>
                                        </p:attrNameLst>
                                      </p:cBhvr>
                                      <p:to>
                                        <p:strVal val="visible"/>
                                      </p:to>
                                    </p:set>
                                    <p:animEffect filter="fade" transition="in">
                                      <p:cBhvr>
                                        <p:cTn dur="500"/>
                                        <p:tgtEl>
                                          <p:spTgt spid="73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61"/>
          <p:cNvSpPr txBox="1"/>
          <p:nvPr>
            <p:ph type="title"/>
          </p:nvPr>
        </p:nvSpPr>
        <p:spPr>
          <a:xfrm>
            <a:off x="914400" y="114300"/>
            <a:ext cx="16459200" cy="17145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8000"/>
              <a:buFont typeface="Times New Roman"/>
              <a:buNone/>
            </a:pPr>
            <a:r>
              <a:rPr b="1" lang="en-US" sz="8000" u="sng">
                <a:latin typeface="Times New Roman"/>
                <a:ea typeface="Times New Roman"/>
                <a:cs typeface="Times New Roman"/>
                <a:sym typeface="Times New Roman"/>
              </a:rPr>
              <a:t>EXERCISE</a:t>
            </a:r>
            <a:endParaRPr b="1" sz="8000">
              <a:latin typeface="Times New Roman"/>
              <a:ea typeface="Times New Roman"/>
              <a:cs typeface="Times New Roman"/>
              <a:sym typeface="Times New Roman"/>
            </a:endParaRPr>
          </a:p>
        </p:txBody>
      </p:sp>
      <p:sp>
        <p:nvSpPr>
          <p:cNvPr id="749" name="Google Shape;749;p61"/>
          <p:cNvSpPr txBox="1"/>
          <p:nvPr>
            <p:ph idx="1" type="body"/>
          </p:nvPr>
        </p:nvSpPr>
        <p:spPr>
          <a:xfrm>
            <a:off x="685800" y="2171700"/>
            <a:ext cx="16535400" cy="6588733"/>
          </a:xfrm>
          <a:prstGeom prst="rect">
            <a:avLst/>
          </a:prstGeom>
          <a:noFill/>
          <a:ln>
            <a:noFill/>
          </a:ln>
        </p:spPr>
        <p:txBody>
          <a:bodyPr anchorCtr="0" anchor="t" bIns="45700" lIns="0" spcFirstLastPara="1" rIns="0" wrap="square" tIns="45700">
            <a:noAutofit/>
          </a:bodyPr>
          <a:lstStyle/>
          <a:p>
            <a:pPr indent="-274319" lvl="1" marL="576072" rtl="0" algn="l">
              <a:lnSpc>
                <a:spcPct val="250000"/>
              </a:lnSpc>
              <a:spcBef>
                <a:spcPts val="0"/>
              </a:spcBef>
              <a:spcAft>
                <a:spcPts val="0"/>
              </a:spcAft>
              <a:buSzPts val="3300"/>
              <a:buFont typeface="Noto Sans Symbols"/>
              <a:buChar char="▪"/>
            </a:pPr>
            <a:r>
              <a:rPr b="1" lang="en-US" sz="3300">
                <a:latin typeface="Cambria"/>
                <a:ea typeface="Cambria"/>
                <a:cs typeface="Cambria"/>
                <a:sym typeface="Cambria"/>
              </a:rPr>
              <a:t>Code snippet – predict output </a:t>
            </a:r>
            <a:endParaRPr/>
          </a:p>
          <a:p>
            <a:pPr indent="-64769" lvl="1" marL="576072" rtl="0" algn="l">
              <a:lnSpc>
                <a:spcPct val="25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a:p>
            <a:pPr indent="-64769" lvl="1" marL="576072" rtl="0" algn="l">
              <a:lnSpc>
                <a:spcPct val="90000"/>
              </a:lnSpc>
              <a:spcBef>
                <a:spcPts val="900"/>
              </a:spcBef>
              <a:spcAft>
                <a:spcPts val="0"/>
              </a:spcAft>
              <a:buSzPts val="3300"/>
              <a:buFont typeface="Noto Sans Symbols"/>
              <a:buNone/>
            </a:pPr>
            <a:r>
              <a:t/>
            </a:r>
            <a:endParaRPr sz="3300" u="sng">
              <a:latin typeface="Cambria"/>
              <a:ea typeface="Cambria"/>
              <a:cs typeface="Cambria"/>
              <a:sym typeface="Cambria"/>
            </a:endParaRPr>
          </a:p>
        </p:txBody>
      </p:sp>
      <p:sp>
        <p:nvSpPr>
          <p:cNvPr id="750" name="Google Shape;750;p61"/>
          <p:cNvSpPr txBox="1"/>
          <p:nvPr>
            <p:ph idx="10" type="dt"/>
          </p:nvPr>
        </p:nvSpPr>
        <p:spPr>
          <a:xfrm>
            <a:off x="1645921" y="9689678"/>
            <a:ext cx="3708407" cy="547688"/>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5/1/2024</a:t>
            </a:r>
            <a:endParaRPr/>
          </a:p>
        </p:txBody>
      </p:sp>
      <p:sp>
        <p:nvSpPr>
          <p:cNvPr id="751" name="Google Shape;751;p61"/>
          <p:cNvSpPr txBox="1"/>
          <p:nvPr>
            <p:ph idx="12" type="sldNum"/>
          </p:nvPr>
        </p:nvSpPr>
        <p:spPr>
          <a:xfrm>
            <a:off x="14850688" y="9689678"/>
            <a:ext cx="1968038" cy="547688"/>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52" name="Google Shape;752;p61"/>
          <p:cNvSpPr txBox="1"/>
          <p:nvPr>
            <p:ph idx="11" type="ftr"/>
          </p:nvPr>
        </p:nvSpPr>
        <p:spPr>
          <a:xfrm>
            <a:off x="5529278" y="9689678"/>
            <a:ext cx="7234206" cy="54768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1.0001 LECTURE 1 				</a:t>
            </a:r>
            <a:endParaRPr/>
          </a:p>
          <a:p>
            <a:pPr indent="0" lvl="0" marL="0" rtl="0" algn="ctr">
              <a:lnSpc>
                <a:spcPct val="100000"/>
              </a:lnSpc>
              <a:spcBef>
                <a:spcPts val="0"/>
              </a:spcBef>
              <a:spcAft>
                <a:spcPts val="0"/>
              </a:spcAft>
              <a:buSzPts val="1400"/>
              <a:buNone/>
            </a:pPr>
            <a:r>
              <a:t/>
            </a:r>
            <a:endParaRPr sz="800"/>
          </a:p>
        </p:txBody>
      </p:sp>
      <p:sp>
        <p:nvSpPr>
          <p:cNvPr id="753" name="Google Shape;753;p61"/>
          <p:cNvSpPr/>
          <p:nvPr/>
        </p:nvSpPr>
        <p:spPr>
          <a:xfrm>
            <a:off x="1295400" y="3619500"/>
            <a:ext cx="7010400" cy="5638800"/>
          </a:xfrm>
          <a:prstGeom prst="rect">
            <a:avLst/>
          </a:prstGeom>
          <a:gradFill>
            <a:gsLst>
              <a:gs pos="0">
                <a:srgbClr val="B0C7CE"/>
              </a:gs>
              <a:gs pos="45000">
                <a:srgbClr val="BDD2D8"/>
              </a:gs>
              <a:gs pos="100000">
                <a:srgbClr val="C2D8DF"/>
              </a:gs>
            </a:gsLst>
            <a:path path="circle">
              <a:fillToRect b="50%" l="50%" r="50%" t="50%"/>
            </a:path>
            <a:tileRect/>
          </a:gradFill>
          <a:ln cap="flat" cmpd="sng" w="127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file = open("example.txt", "r")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content = file.read()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except FileNotFoundError: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print("File not found.")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finally: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file.close()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print("File closed")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0" st="0"/>
                                            </p:txEl>
                                          </p:spTgt>
                                        </p:tgtEl>
                                        <p:attrNameLst>
                                          <p:attrName>style.visibility</p:attrName>
                                        </p:attrNameLst>
                                      </p:cBhvr>
                                      <p:to>
                                        <p:strVal val="visible"/>
                                      </p:to>
                                    </p:set>
                                    <p:animEffect filter="fade" transition="in">
                                      <p:cBhvr>
                                        <p:cTn dur="500"/>
                                        <p:tgtEl>
                                          <p:spTgt spid="7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1" st="1"/>
                                            </p:txEl>
                                          </p:spTgt>
                                        </p:tgtEl>
                                        <p:attrNameLst>
                                          <p:attrName>style.visibility</p:attrName>
                                        </p:attrNameLst>
                                      </p:cBhvr>
                                      <p:to>
                                        <p:strVal val="visible"/>
                                      </p:to>
                                    </p:set>
                                    <p:animEffect filter="fade" transition="in">
                                      <p:cBhvr>
                                        <p:cTn dur="500"/>
                                        <p:tgtEl>
                                          <p:spTgt spid="7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2" st="2"/>
                                            </p:txEl>
                                          </p:spTgt>
                                        </p:tgtEl>
                                        <p:attrNameLst>
                                          <p:attrName>style.visibility</p:attrName>
                                        </p:attrNameLst>
                                      </p:cBhvr>
                                      <p:to>
                                        <p:strVal val="visible"/>
                                      </p:to>
                                    </p:set>
                                    <p:animEffect filter="fade" transition="in">
                                      <p:cBhvr>
                                        <p:cTn dur="500"/>
                                        <p:tgtEl>
                                          <p:spTgt spid="7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xEl>
                                              <p:pRg end="3" st="3"/>
                                            </p:txEl>
                                          </p:spTgt>
                                        </p:tgtEl>
                                        <p:attrNameLst>
                                          <p:attrName>style.visibility</p:attrName>
                                        </p:attrNameLst>
                                      </p:cBhvr>
                                      <p:to>
                                        <p:strVal val="visible"/>
                                      </p:to>
                                    </p:set>
                                    <p:animEffect filter="fade" transition="in">
                                      <p:cBhvr>
                                        <p:cTn dur="500"/>
                                        <p:tgtEl>
                                          <p:spTgt spid="74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Retrospect">
  <a:themeElements>
    <a:clrScheme name="Blue Green">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Manjushree T L</dc:creator>
</cp:coreProperties>
</file>