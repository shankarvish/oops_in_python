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</p:sldIdLst>
  <p:sldSz cx="12192000" cy="6858000"/>
  <p:notesSz cx="6858000" cy="9144000"/>
  <p:embeddedFontLst>
    <p:embeddedFont>
      <p:font typeface="Arial Black" panose="020B0A04020102020204" pitchFamily="34" charset="0"/>
      <p:regular r:id="rId106"/>
      <p:bold r:id="rId107"/>
    </p:embeddedFont>
    <p:embeddedFont>
      <p:font typeface="Cambria" panose="02040503050406030204" pitchFamily="18" charset="0"/>
      <p:regular r:id="rId108"/>
      <p:bold r:id="rId109"/>
      <p:italic r:id="rId110"/>
      <p:boldItalic r:id="rId111"/>
    </p:embeddedFont>
    <p:embeddedFont>
      <p:font typeface="Cambria Math" panose="02040503050406030204" pitchFamily="18" charset="0"/>
      <p:regular r:id="rId112"/>
    </p:embeddedFont>
    <p:embeddedFont>
      <p:font typeface="Consolas" panose="020B0609020204030204" pitchFamily="49" charset="0"/>
      <p:regular r:id="rId113"/>
      <p:bold r:id="rId114"/>
      <p:italic r:id="rId115"/>
      <p:boldItalic r:id="rId116"/>
    </p:embeddedFont>
    <p:embeddedFont>
      <p:font typeface="Constantia" panose="02030602050306030303" pitchFamily="18" charset="0"/>
      <p:regular r:id="rId117"/>
      <p:bold r:id="rId118"/>
      <p:italic r:id="rId119"/>
      <p:boldItalic r:id="rId120"/>
    </p:embeddedFont>
    <p:embeddedFont>
      <p:font typeface="Corbel" panose="020B0503020204020204" pitchFamily="34" charset="0"/>
      <p:regular r:id="rId121"/>
      <p:bold r:id="rId122"/>
      <p:italic r:id="rId123"/>
      <p:boldItalic r:id="rId124"/>
    </p:embeddedFont>
    <p:embeddedFont>
      <p:font typeface="Corben" panose="020B0604020202020204" charset="0"/>
      <p:bold r:id="rId125"/>
    </p:embeddedFont>
    <p:embeddedFont>
      <p:font typeface="Inter" panose="020B0604020202020204" charset="0"/>
      <p:regular r:id="rId126"/>
      <p:bold r:id="rId127"/>
      <p:italic r:id="rId128"/>
      <p:boldItalic r:id="rId129"/>
    </p:embeddedFont>
    <p:embeddedFont>
      <p:font typeface="Lato" panose="020F0502020204030203" pitchFamily="34" charset="0"/>
      <p:regular r:id="rId130"/>
      <p:bold r:id="rId131"/>
      <p:italic r:id="rId132"/>
      <p:boldItalic r:id="rId133"/>
    </p:embeddedFont>
    <p:embeddedFont>
      <p:font typeface="Verdana" panose="020B0604030504040204" pitchFamily="34" charset="0"/>
      <p:regular r:id="rId134"/>
      <p:bold r:id="rId135"/>
      <p:italic r:id="rId136"/>
      <p:boldItalic r:id="rId1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8" roundtripDataSignature="AMtx7mhXzU3h3DJjobm6+Pc0E6TVscsz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6BE398D-1F84-443D-9D18-A059D32F933B}">
  <a:tblStyle styleId="{36BE398D-1F84-443D-9D18-A059D32F933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rgbClr val="E9EFF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9EFF7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FF0F1B1-B04D-454F-ABEE-A4EC8A169F0F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BF8D396-BC0D-498F-BC9D-37ED036AAC6B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9EFF7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9EFF7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B70580C-F736-470D-B57C-30AB6EE4B1DB}" styleName="Table_3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0A761A7-5560-423C-A4AE-F660AE8A3120}" styleName="Table_4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1ADB8C7-09AD-476B-BB39-3383CC9A7205}" styleName="Table_5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0F0F0"/>
          </a:solidFill>
        </a:fill>
      </a:tcStyle>
    </a:wholeTbl>
    <a:band1H>
      <a:tcTxStyle/>
      <a:tcStyle>
        <a:tcBdr/>
        <a:fill>
          <a:solidFill>
            <a:srgbClr val="E0E0E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0E0E0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0F0F0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F0F0F0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05C561F-88DC-4E0E-807E-5E72D147E9C7}" styleName="Table_6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font" Target="fonts/font12.fntdata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customschemas.google.com/relationships/presentationmetadata" Target="metadata"/><Relationship Id="rId107" Type="http://schemas.openxmlformats.org/officeDocument/2006/relationships/font" Target="fonts/font2.fntdata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font" Target="fonts/font18.fntdata"/><Relationship Id="rId128" Type="http://schemas.openxmlformats.org/officeDocument/2006/relationships/font" Target="fonts/font23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font" Target="fonts/font8.fntdata"/><Relationship Id="rId118" Type="http://schemas.openxmlformats.org/officeDocument/2006/relationships/font" Target="fonts/font13.fntdata"/><Relationship Id="rId134" Type="http://schemas.openxmlformats.org/officeDocument/2006/relationships/font" Target="fonts/font29.fntdata"/><Relationship Id="rId139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font" Target="fonts/font3.fntdata"/><Relationship Id="rId124" Type="http://schemas.openxmlformats.org/officeDocument/2006/relationships/font" Target="fonts/font19.fntdata"/><Relationship Id="rId129" Type="http://schemas.openxmlformats.org/officeDocument/2006/relationships/font" Target="fonts/font24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font" Target="fonts/font9.fntdata"/><Relationship Id="rId119" Type="http://schemas.openxmlformats.org/officeDocument/2006/relationships/font" Target="fonts/font14.fntdata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font" Target="fonts/font25.fntdata"/><Relationship Id="rId135" Type="http://schemas.openxmlformats.org/officeDocument/2006/relationships/font" Target="fonts/font30.fntdata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font" Target="fonts/font4.fntdata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font" Target="fonts/font15.fntdata"/><Relationship Id="rId125" Type="http://schemas.openxmlformats.org/officeDocument/2006/relationships/font" Target="fonts/font20.fntdata"/><Relationship Id="rId141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font" Target="fonts/font5.fntdata"/><Relationship Id="rId115" Type="http://schemas.openxmlformats.org/officeDocument/2006/relationships/font" Target="fonts/font10.fntdata"/><Relationship Id="rId131" Type="http://schemas.openxmlformats.org/officeDocument/2006/relationships/font" Target="fonts/font26.fntdata"/><Relationship Id="rId136" Type="http://schemas.openxmlformats.org/officeDocument/2006/relationships/font" Target="fonts/font31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126" Type="http://schemas.openxmlformats.org/officeDocument/2006/relationships/font" Target="fonts/font21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font" Target="fonts/font16.fntdata"/><Relationship Id="rId142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font" Target="fonts/font11.fntdata"/><Relationship Id="rId137" Type="http://schemas.openxmlformats.org/officeDocument/2006/relationships/font" Target="fonts/font3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font" Target="fonts/font6.fntdata"/><Relationship Id="rId132" Type="http://schemas.openxmlformats.org/officeDocument/2006/relationships/font" Target="fonts/font27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font" Target="fonts/font1.fntdata"/><Relationship Id="rId127" Type="http://schemas.openxmlformats.org/officeDocument/2006/relationships/font" Target="fonts/font2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font" Target="fonts/font7.fntdata"/><Relationship Id="rId133" Type="http://schemas.openxmlformats.org/officeDocument/2006/relationships/font" Target="fonts/font28.fntdata"/><Relationship Id="rId16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1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1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0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0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0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10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0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9" name="Google Shape;29;p10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10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0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0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0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0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1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0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0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0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0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python/ref_list_index.asp" TargetMode="External"/><Relationship Id="rId13" Type="http://schemas.openxmlformats.org/officeDocument/2006/relationships/hyperlink" Target="https://www.w3schools.com/python/ref_list_sort.asp" TargetMode="External"/><Relationship Id="rId3" Type="http://schemas.openxmlformats.org/officeDocument/2006/relationships/hyperlink" Target="https://www.w3schools.com/python/ref_list_append.asp" TargetMode="External"/><Relationship Id="rId7" Type="http://schemas.openxmlformats.org/officeDocument/2006/relationships/hyperlink" Target="https://www.w3schools.com/python/ref_list_count.asp" TargetMode="External"/><Relationship Id="rId12" Type="http://schemas.openxmlformats.org/officeDocument/2006/relationships/hyperlink" Target="https://www.w3schools.com/python/ref_list_reverse.asp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python/ref_list_clear.asp" TargetMode="External"/><Relationship Id="rId11" Type="http://schemas.openxmlformats.org/officeDocument/2006/relationships/hyperlink" Target="https://www.w3schools.com/python/ref_list_copy.asp" TargetMode="External"/><Relationship Id="rId5" Type="http://schemas.openxmlformats.org/officeDocument/2006/relationships/hyperlink" Target="https://www.w3schools.com/python/ref_list_extend.asp" TargetMode="External"/><Relationship Id="rId10" Type="http://schemas.openxmlformats.org/officeDocument/2006/relationships/hyperlink" Target="https://www.w3schools.com/python/ref_list_remove.asp" TargetMode="External"/><Relationship Id="rId4" Type="http://schemas.openxmlformats.org/officeDocument/2006/relationships/hyperlink" Target="https://www.w3schools.com/python/ref_list_insert.asp" TargetMode="External"/><Relationship Id="rId9" Type="http://schemas.openxmlformats.org/officeDocument/2006/relationships/hyperlink" Target="https://www.w3schools.com/python/ref_list_pop.asp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1574801" y="981398"/>
            <a:ext cx="8387819" cy="939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rm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mbria"/>
              <a:buNone/>
            </a:pPr>
            <a:r>
              <a:rPr lang="en-US" sz="3600" b="1" i="0" u="none" strike="noStrike" cap="none" dirty="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OBJECT ORIENTED PROGRAMMING</a:t>
            </a:r>
            <a:endParaRPr dirty="0"/>
          </a:p>
        </p:txBody>
      </p:sp>
      <p:sp>
        <p:nvSpPr>
          <p:cNvPr id="89" name="Google Shape;89;p1"/>
          <p:cNvSpPr txBox="1"/>
          <p:nvPr/>
        </p:nvSpPr>
        <p:spPr>
          <a:xfrm>
            <a:off x="1097281" y="1944708"/>
            <a:ext cx="9926319" cy="1230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mbria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UNIT-3: </a:t>
            </a:r>
            <a:r>
              <a:rPr lang="en-US" sz="36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DATA STRUCTURES IN PYTHON</a:t>
            </a:r>
            <a:endParaRPr sz="3600" b="1" i="0" u="none" strike="noStrike" cap="none">
              <a:solidFill>
                <a:srgbClr val="C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478178" y="377056"/>
            <a:ext cx="10650070" cy="940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600"/>
              <a:buFont typeface="Corben"/>
              <a:buNone/>
            </a:pPr>
            <a:r>
              <a:rPr lang="en-US" sz="3600">
                <a:solidFill>
                  <a:srgbClr val="00B0F0"/>
                </a:solidFill>
                <a:latin typeface="Corben"/>
                <a:ea typeface="Corben"/>
                <a:cs typeface="Corben"/>
                <a:sym typeface="Corben"/>
              </a:rPr>
              <a:t>content</a:t>
            </a:r>
            <a:endParaRPr>
              <a:solidFill>
                <a:srgbClr val="00B0F0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478178" y="1138518"/>
            <a:ext cx="11193869" cy="5442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just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900" b="1">
                <a:latin typeface="Times New Roman"/>
                <a:ea typeface="Times New Roman"/>
                <a:cs typeface="Times New Roman"/>
                <a:sym typeface="Times New Roman"/>
              </a:rPr>
              <a:t>data structure </a:t>
            </a: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is a group of data elements that are put together under one name.	</a:t>
            </a:r>
            <a:endParaRPr/>
          </a:p>
          <a:p>
            <a:pPr marL="0" lvl="0" indent="0" algn="just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900" b="1">
                <a:latin typeface="Times New Roman"/>
                <a:ea typeface="Times New Roman"/>
                <a:cs typeface="Times New Roman"/>
                <a:sym typeface="Times New Roman"/>
              </a:rPr>
              <a:t>Data structure </a:t>
            </a: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defines a particular way of storing and organizing data in a computer so that it can be used efficiently.</a:t>
            </a:r>
            <a:endParaRPr/>
          </a:p>
          <a:p>
            <a:pPr marL="0" lvl="0" indent="0" algn="just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900" b="1">
                <a:latin typeface="Times New Roman"/>
                <a:ea typeface="Times New Roman"/>
                <a:cs typeface="Times New Roman"/>
                <a:sym typeface="Times New Roman"/>
              </a:rPr>
              <a:t>Sequence</a:t>
            </a: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 is the most basic data structure in python. It is a collection of elements arranged in a particular order.</a:t>
            </a:r>
            <a:endParaRPr/>
          </a:p>
          <a:p>
            <a:pPr marL="0" lvl="0" indent="0" algn="just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In the sequence data structure, each element has a specific index </a:t>
            </a:r>
            <a:r>
              <a:rPr lang="en-US" sz="2900" b="1" i="1">
                <a:latin typeface="Times New Roman"/>
                <a:ea typeface="Times New Roman"/>
                <a:cs typeface="Times New Roman"/>
                <a:sym typeface="Times New Roman"/>
              </a:rPr>
              <a:t>(starts from zero and is automatically incremented for the next element in the sequence)</a:t>
            </a:r>
            <a:endParaRPr/>
          </a:p>
          <a:p>
            <a:pPr marL="0" lvl="0" indent="0" algn="just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900" b="1" i="1">
                <a:latin typeface="Times New Roman"/>
                <a:ea typeface="Times New Roman"/>
                <a:cs typeface="Times New Roman"/>
                <a:sym typeface="Times New Roman"/>
              </a:rPr>
              <a:t>Ex: Strings – sequence of characters</a:t>
            </a:r>
            <a:endParaRPr/>
          </a:p>
          <a:p>
            <a:pPr marL="0" lvl="0" indent="0" algn="just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900" b="1" i="1">
                <a:latin typeface="Times New Roman"/>
                <a:ea typeface="Times New Roman"/>
                <a:cs typeface="Times New Roman"/>
                <a:sym typeface="Times New Roman"/>
              </a:rPr>
              <a:t>        Lists, Tuples – type of sequence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400" b="1">
              <a:solidFill>
                <a:srgbClr val="FF0000"/>
              </a:solidFill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>
            <a:spLocks noGrp="1"/>
          </p:cNvSpPr>
          <p:nvPr>
            <p:ph type="title"/>
          </p:nvPr>
        </p:nvSpPr>
        <p:spPr>
          <a:xfrm>
            <a:off x="259493" y="530688"/>
            <a:ext cx="4342004" cy="346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n"/>
              <a:buNone/>
            </a:pPr>
            <a:r>
              <a:rPr lang="en-US" sz="3200" dirty="0">
                <a:latin typeface="Corben"/>
                <a:ea typeface="Corben"/>
                <a:cs typeface="Corben"/>
                <a:sym typeface="Corben"/>
              </a:rPr>
              <a:t>Terminologies</a:t>
            </a:r>
            <a:endParaRPr dirty="0"/>
          </a:p>
        </p:txBody>
      </p:sp>
      <p:sp>
        <p:nvSpPr>
          <p:cNvPr id="104" name="Google Shape;104;p3"/>
          <p:cNvSpPr txBox="1">
            <a:spLocks noGrp="1"/>
          </p:cNvSpPr>
          <p:nvPr>
            <p:ph type="body" idx="1"/>
          </p:nvPr>
        </p:nvSpPr>
        <p:spPr>
          <a:xfrm>
            <a:off x="259492" y="1037691"/>
            <a:ext cx="4510215" cy="540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/>
              <a:t>Ordered and Unordered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Ordered/Indexed</a:t>
            </a:r>
            <a:r>
              <a:rPr lang="en-US"/>
              <a:t> – </a:t>
            </a:r>
            <a:r>
              <a:rPr lang="en-US">
                <a:latin typeface="Constantia"/>
                <a:ea typeface="Constantia"/>
                <a:cs typeface="Constantia"/>
                <a:sym typeface="Constantia"/>
              </a:rPr>
              <a:t>Ordered means that the data structure retains the ordering as provided by the programmer 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>
                <a:latin typeface="Constantia"/>
                <a:ea typeface="Constantia"/>
                <a:cs typeface="Constantia"/>
                <a:sym typeface="Constantia"/>
              </a:rPr>
              <a:t>	</a:t>
            </a:r>
            <a:r>
              <a:rPr lang="en-US" b="1"/>
              <a:t>Ex: </a:t>
            </a:r>
            <a:r>
              <a:rPr lang="en-US" i="1"/>
              <a:t>String, List and Tuples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i="1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Unordered - </a:t>
            </a:r>
            <a:r>
              <a:rPr lang="en-US">
                <a:latin typeface="Constantia"/>
                <a:ea typeface="Constantia"/>
                <a:cs typeface="Constantia"/>
                <a:sym typeface="Constantia"/>
              </a:rPr>
              <a:t>Unordered means that the data structure doesn’t have a specific order, and doesn’t care about any ordering by the programmer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Constantia"/>
                <a:ea typeface="Constantia"/>
                <a:cs typeface="Constantia"/>
                <a:sym typeface="Constantia"/>
              </a:rPr>
              <a:t> 	</a:t>
            </a:r>
            <a:r>
              <a:rPr lang="en-US" b="1"/>
              <a:t>Ex: </a:t>
            </a:r>
            <a:r>
              <a:rPr lang="en-US" i="1"/>
              <a:t>Sets and Dictionaries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7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700" b="1"/>
          </a:p>
        </p:txBody>
      </p:sp>
      <p:grpSp>
        <p:nvGrpSpPr>
          <p:cNvPr id="105" name="Google Shape;105;p3"/>
          <p:cNvGrpSpPr/>
          <p:nvPr/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06" name="Google Shape;106;p3"/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0">
                  <a:srgbClr val="8DA9DB">
                    <a:alpha val="0"/>
                  </a:srgbClr>
                </a:gs>
                <a:gs pos="19000">
                  <a:srgbClr val="8DA9DB">
                    <a:alpha val="0"/>
                  </a:srgbClr>
                </a:gs>
                <a:gs pos="100000">
                  <a:srgbClr val="8DA9DB"/>
                </a:gs>
              </a:gsLst>
              <a:lin ang="6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8" name="Google Shape;10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85708" y="380144"/>
            <a:ext cx="6390526" cy="6057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body" idx="1"/>
          </p:nvPr>
        </p:nvSpPr>
        <p:spPr>
          <a:xfrm>
            <a:off x="1239863" y="1531459"/>
            <a:ext cx="4917667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Char char="•"/>
            </a:pPr>
            <a:r>
              <a:rPr lang="en-US" b="1">
                <a:solidFill>
                  <a:srgbClr val="C00000"/>
                </a:solidFill>
              </a:rPr>
              <a:t>Immutable - </a:t>
            </a:r>
            <a:r>
              <a:rPr lang="en-US">
                <a:latin typeface="Constantia"/>
                <a:ea typeface="Constantia"/>
                <a:cs typeface="Constantia"/>
                <a:sym typeface="Constantia"/>
              </a:rPr>
              <a:t>if the value of an object cannot be changed over time, then it is known as immutable. Once created, the value of these objects is permanent 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	Ex: </a:t>
            </a:r>
            <a:r>
              <a:rPr lang="en-US" i="1">
                <a:solidFill>
                  <a:srgbClr val="0070C0"/>
                </a:solidFill>
              </a:rPr>
              <a:t>Strings, Tuples and Frozen-sets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solidFill>
                <a:srgbClr val="C00000"/>
              </a:solidFill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14" name="Google Shape;114;p4"/>
          <p:cNvSpPr txBox="1"/>
          <p:nvPr/>
        </p:nvSpPr>
        <p:spPr>
          <a:xfrm>
            <a:off x="3698696" y="731240"/>
            <a:ext cx="4103737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Mutable and Immutable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6657541" y="1520785"/>
            <a:ext cx="4294596" cy="3816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Mutable – </a:t>
            </a:r>
            <a:r>
              <a:rPr lang="en-US" sz="2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is the ability of objects to change their values. </a:t>
            </a:r>
            <a:r>
              <a:rPr lang="en-US" sz="28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Mutable objects are those whose internal state can be changed after creation. </a:t>
            </a:r>
            <a:endParaRPr sz="2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Ex: </a:t>
            </a:r>
            <a:r>
              <a:rPr lang="en-US" sz="2800" i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List, Set and Dictionary</a:t>
            </a:r>
            <a:endParaRPr sz="2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>
            <a:spLocks noGrp="1"/>
          </p:cNvSpPr>
          <p:nvPr>
            <p:ph type="title"/>
          </p:nvPr>
        </p:nvSpPr>
        <p:spPr>
          <a:xfrm>
            <a:off x="3268534" y="496766"/>
            <a:ext cx="5257800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Ex: int objects are immutable in python</a:t>
            </a:r>
            <a:endParaRPr/>
          </a:p>
        </p:txBody>
      </p:sp>
      <p:pic>
        <p:nvPicPr>
          <p:cNvPr id="121" name="Google Shape;12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63884" y="1292056"/>
            <a:ext cx="34671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171" y="2943056"/>
            <a:ext cx="3344813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 txBox="1"/>
          <p:nvPr/>
        </p:nvSpPr>
        <p:spPr>
          <a:xfrm>
            <a:off x="8168090" y="2943056"/>
            <a:ext cx="3864232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A0A23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-US" sz="2400" b="0" i="0" u="none" strike="noStrike">
                <a:solidFill>
                  <a:srgbClr val="0A0A23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reated a new object and bound the name 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 b="0" i="0" u="none" strike="noStrike">
                <a:solidFill>
                  <a:srgbClr val="0A0A23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 to this new object. The other object with the value of 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24601</a:t>
            </a:r>
            <a:r>
              <a:rPr lang="en-US" sz="2400" b="0" i="0" u="none" strike="noStrike">
                <a:solidFill>
                  <a:srgbClr val="0A0A23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 is no longer reachable by 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0133" y="1292055"/>
            <a:ext cx="2918932" cy="4492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5999" y="1193662"/>
            <a:ext cx="5702643" cy="1118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1978" y="1091012"/>
            <a:ext cx="4658497" cy="522329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 txBox="1"/>
          <p:nvPr/>
        </p:nvSpPr>
        <p:spPr>
          <a:xfrm>
            <a:off x="2756188" y="466983"/>
            <a:ext cx="653289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Ex: List objects are mutable in python</a:t>
            </a:r>
            <a:endParaRPr/>
          </a:p>
        </p:txBody>
      </p:sp>
      <p:sp>
        <p:nvSpPr>
          <p:cNvPr id="132" name="Google Shape;132;p6"/>
          <p:cNvSpPr txBox="1"/>
          <p:nvPr/>
        </p:nvSpPr>
        <p:spPr>
          <a:xfrm>
            <a:off x="10111112" y="2311758"/>
            <a:ext cx="18891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4390012992</a:t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8947320" y="3436706"/>
            <a:ext cx="2851322" cy="88931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2376, 2, 3</a:t>
            </a:r>
            <a:endParaRPr/>
          </a:p>
        </p:txBody>
      </p:sp>
      <p:sp>
        <p:nvSpPr>
          <p:cNvPr id="134" name="Google Shape;134;p6"/>
          <p:cNvSpPr txBox="1"/>
          <p:nvPr/>
        </p:nvSpPr>
        <p:spPr>
          <a:xfrm>
            <a:off x="10111112" y="4410421"/>
            <a:ext cx="18891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4390012992</a:t>
            </a:r>
            <a:endParaRPr/>
          </a:p>
        </p:txBody>
      </p:sp>
      <p:pic>
        <p:nvPicPr>
          <p:cNvPr id="135" name="Google Shape;135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2635" y="3519500"/>
            <a:ext cx="2851322" cy="806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>
            <a:spLocks noGrp="1"/>
          </p:cNvSpPr>
          <p:nvPr>
            <p:ph type="title"/>
          </p:nvPr>
        </p:nvSpPr>
        <p:spPr>
          <a:xfrm>
            <a:off x="478178" y="798853"/>
            <a:ext cx="10650070" cy="940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600"/>
              <a:buFont typeface="Corben"/>
              <a:buNone/>
            </a:pPr>
            <a:r>
              <a:rPr lang="en-US" sz="3600">
                <a:solidFill>
                  <a:srgbClr val="00B0F0"/>
                </a:solidFill>
                <a:latin typeface="Corben"/>
                <a:ea typeface="Corben"/>
                <a:cs typeface="Corben"/>
                <a:sym typeface="Corben"/>
              </a:rPr>
              <a:t>Data-structures</a:t>
            </a:r>
            <a:endParaRPr>
              <a:solidFill>
                <a:srgbClr val="00B0F0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  <p:sp>
        <p:nvSpPr>
          <p:cNvPr id="142" name="Google Shape;142;p7"/>
          <p:cNvSpPr txBox="1">
            <a:spLocks noGrp="1"/>
          </p:cNvSpPr>
          <p:nvPr>
            <p:ph type="body" idx="1"/>
          </p:nvPr>
        </p:nvSpPr>
        <p:spPr>
          <a:xfrm>
            <a:off x="232229" y="1739609"/>
            <a:ext cx="11654971" cy="4981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en-US" sz="2400" b="1" u="sng">
                <a:solidFill>
                  <a:srgbClr val="FF0000"/>
                </a:solidFill>
              </a:rPr>
              <a:t>Types of Data Structures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 b="1"/>
              <a:t>Strings</a:t>
            </a:r>
            <a:r>
              <a:rPr lang="en-US" sz="2400"/>
              <a:t> – immutable ordered sequence of characters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/>
              <a:t>        </a:t>
            </a:r>
            <a:r>
              <a:rPr lang="en-US">
                <a:solidFill>
                  <a:srgbClr val="C00000"/>
                </a:solidFill>
              </a:rPr>
              <a:t>EX:</a:t>
            </a:r>
            <a:r>
              <a:rPr lang="en-US"/>
              <a:t>  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S = ‘abc’  </a:t>
            </a:r>
            <a:r>
              <a:rPr lang="en-US"/>
              <a:t>or   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S = “abc”  </a:t>
            </a:r>
            <a:r>
              <a:rPr lang="en-US"/>
              <a:t>or    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S = ‘‘‘abc’’’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 b="1"/>
              <a:t>List</a:t>
            </a:r>
            <a:r>
              <a:rPr lang="en-US" sz="2400"/>
              <a:t> – mutable ordered sequence of objects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lang="en-US">
                <a:solidFill>
                  <a:srgbClr val="C00000"/>
                </a:solidFill>
              </a:rPr>
              <a:t>       EX:  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L = [1,2,’a’]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 b="1"/>
              <a:t>Tuples</a:t>
            </a:r>
            <a:r>
              <a:rPr lang="en-US" sz="2400"/>
              <a:t> – immutable ordered sequence of objects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ct val="116666"/>
              <a:buNone/>
            </a:pPr>
            <a:r>
              <a:rPr lang="en-US">
                <a:solidFill>
                  <a:srgbClr val="C00000"/>
                </a:solidFill>
              </a:rPr>
              <a:t>       EX:  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T = (1,2,’a’)</a:t>
            </a:r>
            <a:endParaRPr sz="24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 b="1"/>
              <a:t>Sets</a:t>
            </a:r>
            <a:r>
              <a:rPr lang="en-US" sz="2400"/>
              <a:t> – mutable unordered sequence of unique element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ct val="116666"/>
              <a:buNone/>
            </a:pPr>
            <a:r>
              <a:rPr lang="en-US">
                <a:solidFill>
                  <a:srgbClr val="C00000"/>
                </a:solidFill>
              </a:rPr>
              <a:t>       EX:  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S = {1,2,3}</a:t>
            </a: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 b="1"/>
              <a:t>      Frozen-sets</a:t>
            </a:r>
            <a:r>
              <a:rPr lang="en-US" sz="2400"/>
              <a:t> – same as </a:t>
            </a:r>
            <a:r>
              <a:rPr lang="en-US" sz="2400" b="1"/>
              <a:t>Sets</a:t>
            </a:r>
            <a:r>
              <a:rPr lang="en-US" sz="2400"/>
              <a:t> but it is immutable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ct val="116666"/>
              <a:buNone/>
            </a:pPr>
            <a:r>
              <a:rPr lang="en-US">
                <a:solidFill>
                  <a:srgbClr val="C00000"/>
                </a:solidFill>
              </a:rPr>
              <a:t>       EX:  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FS = frozenset(s)</a:t>
            </a:r>
            <a:endParaRPr sz="24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 b="1"/>
              <a:t>Dictionaries</a:t>
            </a:r>
            <a:r>
              <a:rPr lang="en-US" sz="2400"/>
              <a:t> – mutable unordered collection of value pairs </a:t>
            </a:r>
            <a:r>
              <a:rPr lang="en-US" i="1"/>
              <a:t>(mapping unique key to value)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ct val="100000"/>
              <a:buNone/>
            </a:pPr>
            <a:r>
              <a:rPr lang="en-US">
                <a:solidFill>
                  <a:srgbClr val="C00000"/>
                </a:solidFill>
              </a:rPr>
              <a:t>       EX:   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D = {(1:’Karnataka’),(2:’Kerala’),(3:’Tamil Nadu’)}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43" name="Google Shape;14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6000"/>
              <a:buFont typeface="Times New Roman"/>
              <a:buNone/>
            </a:pPr>
            <a:r>
              <a:rPr lang="en-US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/>
          <p:nvPr/>
        </p:nvSpPr>
        <p:spPr>
          <a:xfrm>
            <a:off x="708211" y="941281"/>
            <a:ext cx="11044518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List: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It is a data structure in Python. Lists are used to store multiple items in a single variable.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 list is an ordered sequence of values and are mutable/changeable.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The values inside the lists can be of any type (like integer, float, strings, lists, tuples, dictionaries etc..) and are called as elements or items. 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Lists are written with square brackets.</a:t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708211" y="3803603"/>
            <a:ext cx="11044518" cy="2739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mylist=[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-US" sz="24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-4</a:t>
            </a:r>
            <a:r>
              <a:rPr lang="en-US" sz="24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 25</a:t>
            </a:r>
            <a:r>
              <a:rPr lang="en-US" sz="24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 13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400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(mylist)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r>
              <a:rPr lang="en-US" sz="24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[10,-4, 25, 13]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List items are indexed, the first item has index </a:t>
            </a:r>
            <a:r>
              <a:rPr lang="en-US"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[0]</a:t>
            </a:r>
            <a:r>
              <a:rPr lang="en-US" sz="2000" b="1" i="1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, the second item has index </a:t>
            </a:r>
            <a:r>
              <a:rPr lang="en-US"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r>
              <a:rPr lang="en-US" sz="2000" b="1" i="1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 etc.</a:t>
            </a:r>
            <a:endParaRPr sz="2000" b="1" i="1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0" y="23261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6" name="Google Shape;156;p9"/>
          <p:cNvGraphicFramePr/>
          <p:nvPr/>
        </p:nvGraphicFramePr>
        <p:xfrm>
          <a:off x="8075482" y="5042264"/>
          <a:ext cx="3010300" cy="457210"/>
        </p:xfrm>
        <a:graphic>
          <a:graphicData uri="http://schemas.openxmlformats.org/drawingml/2006/table">
            <a:tbl>
              <a:tblPr firstRow="1" bandRow="1">
                <a:noFill/>
                <a:tableStyleId>{36BE398D-1F84-443D-9D18-A059D32F933B}</a:tableStyleId>
              </a:tblPr>
              <a:tblGrid>
                <a:gridCol w="75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2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10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-4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25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13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7" name="Google Shape;157;p9"/>
          <p:cNvGraphicFramePr/>
          <p:nvPr/>
        </p:nvGraphicFramePr>
        <p:xfrm>
          <a:off x="8075484" y="4676504"/>
          <a:ext cx="3010300" cy="365770"/>
        </p:xfrm>
        <a:graphic>
          <a:graphicData uri="http://schemas.openxmlformats.org/drawingml/2006/table">
            <a:tbl>
              <a:tblPr firstRow="1" bandRow="1">
                <a:noFill/>
                <a:tableStyleId>{EFF0F1B1-B04D-454F-ABEE-A4EC8A169F0F}</a:tableStyleId>
              </a:tblPr>
              <a:tblGrid>
                <a:gridCol w="75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2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>
            <a:spLocks noGrp="1"/>
          </p:cNvSpPr>
          <p:nvPr>
            <p:ph type="body" idx="1"/>
          </p:nvPr>
        </p:nvSpPr>
        <p:spPr>
          <a:xfrm>
            <a:off x="602082" y="811205"/>
            <a:ext cx="10987835" cy="6046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latin typeface="Constantia"/>
                <a:ea typeface="Constantia"/>
                <a:cs typeface="Constantia"/>
                <a:sym typeface="Constantia"/>
              </a:rPr>
              <a:t>List Items - Data Types: </a:t>
            </a:r>
            <a:r>
              <a:rPr lang="en-US" sz="2400">
                <a:latin typeface="Constantia"/>
                <a:ea typeface="Constantia"/>
                <a:cs typeface="Constantia"/>
                <a:sym typeface="Constantia"/>
              </a:rPr>
              <a:t>List items can be of any data type</a:t>
            </a:r>
            <a:endParaRPr sz="2400"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list1 = [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lang="en-US" sz="2400" b="1"/>
            </a:br>
            <a:r>
              <a:rPr lang="en-US" sz="2400" b="1"/>
              <a:t>	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list2 = [</a:t>
            </a:r>
            <a:r>
              <a:rPr lang="en-US" sz="24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lang="en-US" sz="2400" b="1"/>
            </a:br>
            <a:r>
              <a:rPr lang="en-US" sz="2400" b="1"/>
              <a:t>	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list3 = [</a:t>
            </a:r>
            <a:r>
              <a:rPr lang="en-US" sz="2400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print(list1)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print(list2)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print(list3)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['apple', 'banana', 'cherry‘]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[1, 5, 7, 9, 3]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[True, False, False]</a:t>
            </a:r>
            <a:endParaRPr sz="24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 txBox="1">
            <a:spLocks noGrp="1"/>
          </p:cNvSpPr>
          <p:nvPr>
            <p:ph type="body" idx="1"/>
          </p:nvPr>
        </p:nvSpPr>
        <p:spPr>
          <a:xfrm>
            <a:off x="549740" y="1143640"/>
            <a:ext cx="10987835" cy="4353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List Items - Data Types:  </a:t>
            </a:r>
            <a:r>
              <a:rPr lang="en-US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 list can contain different data types</a:t>
            </a:r>
            <a:endParaRPr b="1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list1 = [</a:t>
            </a:r>
            <a:r>
              <a:rPr lang="en-US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"abc"</a:t>
            </a:r>
            <a:r>
              <a:rPr lang="en-US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34</a:t>
            </a:r>
            <a:r>
              <a:rPr lang="en-US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US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lang="en-US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"male"</a:t>
            </a:r>
            <a:r>
              <a:rPr lang="en-US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print(list1)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 ['abc', 34, True, 40, 'male‘] 	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>
            <a:spLocks noGrp="1"/>
          </p:cNvSpPr>
          <p:nvPr>
            <p:ph type="body" idx="1"/>
          </p:nvPr>
        </p:nvSpPr>
        <p:spPr>
          <a:xfrm>
            <a:off x="811741" y="1432614"/>
            <a:ext cx="10987835" cy="389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Constantia"/>
                <a:ea typeface="Constantia"/>
                <a:cs typeface="Constantia"/>
                <a:sym typeface="Constantia"/>
              </a:rPr>
              <a:t>Allow Duplicates:   </a:t>
            </a:r>
            <a:r>
              <a:rPr lang="en-US">
                <a:latin typeface="Constantia"/>
                <a:ea typeface="Constantia"/>
                <a:cs typeface="Constantia"/>
                <a:sym typeface="Constantia"/>
              </a:rPr>
              <a:t>Since lists are indexed, they can have items with the same value: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mylist =[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lang="en-US" b="1"/>
            </a:br>
            <a:r>
              <a:rPr lang="en-US" b="1"/>
              <a:t>	</a:t>
            </a:r>
            <a:r>
              <a:rPr lang="en-US" sz="2400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(mylist)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['apple', 'banana', 'cherry', 'apple', 'cherry']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"/>
          <p:cNvSpPr txBox="1">
            <a:spLocks noGrp="1"/>
          </p:cNvSpPr>
          <p:nvPr>
            <p:ph type="body" idx="1"/>
          </p:nvPr>
        </p:nvSpPr>
        <p:spPr>
          <a:xfrm>
            <a:off x="711104" y="1216852"/>
            <a:ext cx="10987835" cy="4629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latin typeface="Constantia"/>
                <a:ea typeface="Constantia"/>
                <a:cs typeface="Constantia"/>
                <a:sym typeface="Constantia"/>
              </a:rPr>
              <a:t>type(): </a:t>
            </a:r>
            <a:r>
              <a:rPr lang="en-US" sz="2400">
                <a:latin typeface="Constantia"/>
                <a:ea typeface="Constantia"/>
                <a:cs typeface="Constantia"/>
                <a:sym typeface="Constantia"/>
              </a:rPr>
              <a:t>From Python's perspective, list are defined as objects with the data type ‘list'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latin typeface="Consolas"/>
                <a:ea typeface="Consolas"/>
                <a:cs typeface="Consolas"/>
                <a:sym typeface="Consolas"/>
              </a:rPr>
              <a:t>&lt;class 'list'&gt;</a:t>
            </a:r>
            <a:endParaRPr sz="2400" b="1" i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mylist = [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lang="en-US" sz="2400" b="1"/>
            </a:br>
            <a:r>
              <a:rPr lang="en-US" sz="2400" b="1"/>
              <a:t>	</a:t>
            </a:r>
            <a:r>
              <a:rPr lang="en-US" sz="2400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400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(mylist))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&lt;class 'list'&gt;</a:t>
            </a:r>
            <a:endParaRPr sz="24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 txBox="1">
            <a:spLocks noGrp="1"/>
          </p:cNvSpPr>
          <p:nvPr>
            <p:ph type="body" idx="1"/>
          </p:nvPr>
        </p:nvSpPr>
        <p:spPr>
          <a:xfrm>
            <a:off x="725619" y="1042681"/>
            <a:ext cx="10987835" cy="5522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Constantia"/>
                <a:ea typeface="Constantia"/>
                <a:cs typeface="Constantia"/>
                <a:sym typeface="Constantia"/>
              </a:rPr>
              <a:t>The list() Constructor: </a:t>
            </a:r>
            <a:r>
              <a:rPr lang="en-US">
                <a:latin typeface="Constantia"/>
                <a:ea typeface="Constantia"/>
                <a:cs typeface="Constantia"/>
                <a:sym typeface="Constantia"/>
              </a:rPr>
              <a:t>It is also possible to use the </a:t>
            </a:r>
            <a:r>
              <a:rPr lang="en-US" b="1" i="1">
                <a:latin typeface="Constantia"/>
                <a:ea typeface="Constantia"/>
                <a:cs typeface="Constantia"/>
                <a:sym typeface="Constantia"/>
              </a:rPr>
              <a:t>list() </a:t>
            </a:r>
            <a:r>
              <a:rPr lang="en-US">
                <a:latin typeface="Constantia"/>
                <a:ea typeface="Constantia"/>
                <a:cs typeface="Constantia"/>
                <a:sym typeface="Constantia"/>
              </a:rPr>
              <a:t>constructor to make a list.</a:t>
            </a:r>
            <a:endParaRPr b="1" i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mylist = list((</a:t>
            </a:r>
            <a:r>
              <a:rPr lang="en-US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en-US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)) </a:t>
            </a:r>
            <a:br>
              <a:rPr lang="en-US" b="1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1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(mylist) 	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['apple', 'banana', 'cherry‘]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"/>
          <p:cNvSpPr txBox="1">
            <a:spLocks noGrp="1"/>
          </p:cNvSpPr>
          <p:nvPr>
            <p:ph type="body" idx="1"/>
          </p:nvPr>
        </p:nvSpPr>
        <p:spPr>
          <a:xfrm>
            <a:off x="456858" y="926567"/>
            <a:ext cx="6426827" cy="563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>
                <a:latin typeface="Constantia"/>
                <a:ea typeface="Constantia"/>
                <a:cs typeface="Constantia"/>
                <a:sym typeface="Constantia"/>
              </a:rPr>
              <a:t>Access List Items: </a:t>
            </a:r>
            <a:r>
              <a:rPr lang="en-US" sz="2000">
                <a:latin typeface="Constantia"/>
                <a:ea typeface="Constantia"/>
                <a:cs typeface="Constantia"/>
                <a:sym typeface="Constantia"/>
              </a:rPr>
              <a:t>You can access list items by referring to the index number, inside square brackets</a:t>
            </a:r>
            <a:endParaRPr sz="2000" b="1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0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my_list = [</a:t>
            </a:r>
            <a:r>
              <a:rPr lang="en-US" sz="20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3,4,6,10,8</a:t>
            </a:r>
            <a:r>
              <a:rPr lang="en-US" sz="20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lang="en-US" sz="2000" b="1"/>
            </a:br>
            <a:r>
              <a:rPr lang="en-US" sz="2000" b="1"/>
              <a:t>	</a:t>
            </a:r>
            <a:r>
              <a:rPr lang="en-US" sz="2000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0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(mylist[</a:t>
            </a:r>
            <a:r>
              <a:rPr lang="en-US"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20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 	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 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>
                <a:latin typeface="Constantia"/>
                <a:ea typeface="Constantia"/>
                <a:cs typeface="Constantia"/>
                <a:sym typeface="Constantia"/>
              </a:rPr>
              <a:t>Negative Indexing: </a:t>
            </a:r>
            <a:r>
              <a:rPr lang="en-US" sz="2000">
                <a:latin typeface="Constantia"/>
                <a:ea typeface="Constantia"/>
                <a:cs typeface="Constantia"/>
                <a:sym typeface="Constantia"/>
              </a:rPr>
              <a:t>Negative indexing means start from the end. </a:t>
            </a: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lang="en-US" sz="2000">
                <a:latin typeface="Constantia"/>
                <a:ea typeface="Constantia"/>
                <a:cs typeface="Constantia"/>
                <a:sym typeface="Constantia"/>
              </a:rPr>
              <a:t> refers to the last item, </a:t>
            </a: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-2 </a:t>
            </a:r>
            <a:r>
              <a:rPr lang="en-US" sz="2000">
                <a:latin typeface="Constantia"/>
                <a:ea typeface="Constantia"/>
                <a:cs typeface="Constantia"/>
                <a:sym typeface="Constantia"/>
              </a:rPr>
              <a:t>refers to the second last item etc.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0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my_list = [</a:t>
            </a:r>
            <a:r>
              <a:rPr lang="en-US" sz="20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3,4,6,10,8</a:t>
            </a:r>
            <a:r>
              <a:rPr lang="en-US" sz="20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lang="en-US" sz="2000" b="1"/>
            </a:br>
            <a:r>
              <a:rPr lang="en-US" sz="2000" b="1"/>
              <a:t>	</a:t>
            </a:r>
            <a:r>
              <a:rPr lang="en-US" sz="2000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0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(mylist[</a:t>
            </a:r>
            <a:r>
              <a:rPr lang="en-US"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-1</a:t>
            </a:r>
            <a:r>
              <a:rPr lang="en-US" sz="20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 	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 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/>
          </a:p>
        </p:txBody>
      </p:sp>
      <p:pic>
        <p:nvPicPr>
          <p:cNvPr id="188" name="Google Shape;18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83685" y="1684961"/>
            <a:ext cx="4982967" cy="3575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"/>
          <p:cNvSpPr txBox="1">
            <a:spLocks noGrp="1"/>
          </p:cNvSpPr>
          <p:nvPr>
            <p:ph type="body" idx="1"/>
          </p:nvPr>
        </p:nvSpPr>
        <p:spPr>
          <a:xfrm>
            <a:off x="318499" y="318499"/>
            <a:ext cx="11753636" cy="6285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800" b="1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rPr>
              <a:t>Range of Indexes: </a:t>
            </a:r>
            <a:r>
              <a:rPr lang="en-US"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rPr>
              <a:t>You can specify a range of indexes by specifying where to start and where to end the range.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nstantia"/>
                <a:ea typeface="Constantia"/>
                <a:cs typeface="Constantia"/>
                <a:sym typeface="Constantia"/>
              </a:rPr>
              <a:t>When specifying a range, the return value will be a new list with the specified items.</a:t>
            </a:r>
            <a:endParaRPr sz="1800" b="1" i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 sz="1050"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Return the third, fourth, and fifth item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mylist = [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"orange"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"kiwi"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"melon"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"mango"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lang="en-US" sz="2200" b="1"/>
            </a:br>
            <a:r>
              <a:rPr lang="en-US" sz="2200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(mylist[</a:t>
            </a:r>
            <a:r>
              <a:rPr lang="en-US" sz="22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2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 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 sz="20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['cherry', 'orange', 'kiwi']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i="1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Note:</a:t>
            </a:r>
            <a:r>
              <a:rPr lang="en-US" sz="2000" i="1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 The search will start at index </a:t>
            </a:r>
            <a:r>
              <a:rPr lang="en-US" sz="2000" b="1" i="1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2 </a:t>
            </a:r>
            <a:r>
              <a:rPr lang="en-US" sz="2000" i="1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(</a:t>
            </a:r>
            <a:r>
              <a:rPr lang="en-US" sz="2000" b="1" i="1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included</a:t>
            </a:r>
            <a:r>
              <a:rPr lang="en-US" sz="2000" i="1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) and end at index </a:t>
            </a:r>
            <a:r>
              <a:rPr lang="en-US" sz="2000" b="1" i="1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5</a:t>
            </a:r>
            <a:r>
              <a:rPr lang="en-US" sz="2000" i="1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 (</a:t>
            </a:r>
            <a:r>
              <a:rPr lang="en-US" sz="2000" b="1" i="1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not included</a:t>
            </a:r>
            <a:r>
              <a:rPr lang="en-US" sz="2000" i="1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).</a:t>
            </a:r>
            <a:endParaRPr sz="1800" i="1">
              <a:solidFill>
                <a:srgbClr val="FF00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48135"/>
              </a:buClr>
              <a:buSzPts val="1800"/>
              <a:buNone/>
            </a:pPr>
            <a:r>
              <a:rPr lang="en-US" sz="1800" i="1">
                <a:solidFill>
                  <a:srgbClr val="548135"/>
                </a:solidFill>
                <a:latin typeface="Constantia"/>
                <a:ea typeface="Constantia"/>
                <a:cs typeface="Constantia"/>
                <a:sym typeface="Constantia"/>
              </a:rPr>
              <a:t>------------------------------------------------------------------------------------------------------------------------------------------</a:t>
            </a:r>
            <a:endParaRPr/>
          </a:p>
        </p:txBody>
      </p:sp>
      <p:graphicFrame>
        <p:nvGraphicFramePr>
          <p:cNvPr id="194" name="Google Shape;194;p16"/>
          <p:cNvGraphicFramePr/>
          <p:nvPr/>
        </p:nvGraphicFramePr>
        <p:xfrm>
          <a:off x="1695234" y="5376174"/>
          <a:ext cx="8024100" cy="1009225"/>
        </p:xfrm>
        <a:graphic>
          <a:graphicData uri="http://schemas.openxmlformats.org/drawingml/2006/table">
            <a:tbl>
              <a:tblPr firstRow="1" bandRow="1">
                <a:noFill/>
                <a:tableStyleId>{36BE398D-1F84-443D-9D18-A059D32F933B}</a:tableStyleId>
              </a:tblPr>
              <a:tblGrid>
                <a:gridCol w="1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09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apple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banana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cherry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orange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kiwi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melon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mango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5" name="Google Shape;195;p16"/>
          <p:cNvGraphicFramePr/>
          <p:nvPr/>
        </p:nvGraphicFramePr>
        <p:xfrm>
          <a:off x="1695234" y="5010414"/>
          <a:ext cx="8024100" cy="365770"/>
        </p:xfrm>
        <a:graphic>
          <a:graphicData uri="http://schemas.openxmlformats.org/drawingml/2006/table">
            <a:tbl>
              <a:tblPr firstRow="1" bandRow="1">
                <a:noFill/>
                <a:tableStyleId>{EFF0F1B1-B04D-454F-ABEE-A4EC8A169F0F}</a:tableStyleId>
              </a:tblPr>
              <a:tblGrid>
                <a:gridCol w="1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8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5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>
            <a:spLocks noGrp="1"/>
          </p:cNvSpPr>
          <p:nvPr>
            <p:ph type="body" idx="1"/>
          </p:nvPr>
        </p:nvSpPr>
        <p:spPr>
          <a:xfrm>
            <a:off x="544529" y="821933"/>
            <a:ext cx="11435137" cy="5355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returns the items from the beginning to, but NOT including, "kiwi"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mylist =[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"orange"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"kiwi"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"melon"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"mango"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lang="en-US" sz="2200" b="1"/>
            </a:br>
            <a:r>
              <a:rPr lang="en-US" sz="2200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(mylist[:</a:t>
            </a:r>
            <a:r>
              <a:rPr lang="en-US" sz="22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 </a:t>
            </a:r>
            <a:r>
              <a:rPr lang="en-US" sz="2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endParaRPr sz="8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['apple', 'banana', 'cherry', 'orange']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graphicFrame>
        <p:nvGraphicFramePr>
          <p:cNvPr id="201" name="Google Shape;201;p17"/>
          <p:cNvGraphicFramePr/>
          <p:nvPr/>
        </p:nvGraphicFramePr>
        <p:xfrm>
          <a:off x="1695234" y="5376174"/>
          <a:ext cx="8024100" cy="1009225"/>
        </p:xfrm>
        <a:graphic>
          <a:graphicData uri="http://schemas.openxmlformats.org/drawingml/2006/table">
            <a:tbl>
              <a:tblPr firstRow="1" bandRow="1">
                <a:noFill/>
                <a:tableStyleId>{36BE398D-1F84-443D-9D18-A059D32F933B}</a:tableStyleId>
              </a:tblPr>
              <a:tblGrid>
                <a:gridCol w="1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09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apple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banana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cherry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orange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kiwi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melon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mango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2" name="Google Shape;202;p17"/>
          <p:cNvGraphicFramePr/>
          <p:nvPr/>
        </p:nvGraphicFramePr>
        <p:xfrm>
          <a:off x="1695234" y="5010414"/>
          <a:ext cx="8024100" cy="365770"/>
        </p:xfrm>
        <a:graphic>
          <a:graphicData uri="http://schemas.openxmlformats.org/drawingml/2006/table">
            <a:tbl>
              <a:tblPr firstRow="1" bandRow="1">
                <a:noFill/>
                <a:tableStyleId>{EFF0F1B1-B04D-454F-ABEE-A4EC8A169F0F}</a:tableStyleId>
              </a:tblPr>
              <a:tblGrid>
                <a:gridCol w="1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8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5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>
            <a:spLocks noGrp="1"/>
          </p:cNvSpPr>
          <p:nvPr>
            <p:ph type="body" idx="1"/>
          </p:nvPr>
        </p:nvSpPr>
        <p:spPr>
          <a:xfrm>
            <a:off x="224118" y="708212"/>
            <a:ext cx="11636188" cy="5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</a:pPr>
            <a:endParaRPr sz="400"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returns the items from "cherry" to the end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mylist = [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"orange"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"kiwi"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"melon"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"mango"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lang="en-US" sz="2200" b="1"/>
            </a:br>
            <a:r>
              <a:rPr lang="en-US" sz="2200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(mylist[</a:t>
            </a:r>
            <a:r>
              <a:rPr lang="en-US" sz="22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:])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['cherry', 'orange', 'kiwi', 'melon', 'mango’]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--------------------------------------------------------------------------------------</a:t>
            </a:r>
            <a:endParaRPr/>
          </a:p>
        </p:txBody>
      </p:sp>
      <p:graphicFrame>
        <p:nvGraphicFramePr>
          <p:cNvPr id="208" name="Google Shape;208;p18"/>
          <p:cNvGraphicFramePr/>
          <p:nvPr/>
        </p:nvGraphicFramePr>
        <p:xfrm>
          <a:off x="1695234" y="5376174"/>
          <a:ext cx="8024100" cy="1009225"/>
        </p:xfrm>
        <a:graphic>
          <a:graphicData uri="http://schemas.openxmlformats.org/drawingml/2006/table">
            <a:tbl>
              <a:tblPr firstRow="1" bandRow="1">
                <a:noFill/>
                <a:tableStyleId>{36BE398D-1F84-443D-9D18-A059D32F933B}</a:tableStyleId>
              </a:tblPr>
              <a:tblGrid>
                <a:gridCol w="1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09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apple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banana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cherry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orange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kiwi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melon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mango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9" name="Google Shape;209;p18"/>
          <p:cNvGraphicFramePr/>
          <p:nvPr/>
        </p:nvGraphicFramePr>
        <p:xfrm>
          <a:off x="1695234" y="5010414"/>
          <a:ext cx="8024100" cy="365770"/>
        </p:xfrm>
        <a:graphic>
          <a:graphicData uri="http://schemas.openxmlformats.org/drawingml/2006/table">
            <a:tbl>
              <a:tblPr firstRow="1" bandRow="1">
                <a:noFill/>
                <a:tableStyleId>{EFF0F1B1-B04D-454F-ABEE-A4EC8A169F0F}</a:tableStyleId>
              </a:tblPr>
              <a:tblGrid>
                <a:gridCol w="1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8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5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>
            <a:spLocks noGrp="1"/>
          </p:cNvSpPr>
          <p:nvPr>
            <p:ph type="body" idx="1"/>
          </p:nvPr>
        </p:nvSpPr>
        <p:spPr>
          <a:xfrm>
            <a:off x="503433" y="780837"/>
            <a:ext cx="11589249" cy="4048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Range of Negative Indexes: </a:t>
            </a:r>
            <a:r>
              <a:rPr lang="en-US" sz="22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Specify negative indexes if you want to start the search from the end of the tuple, returns the items from "orange" (-4) to, but NOT including "mango" (-1)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mylist=[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"orange"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"kiwi"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"melon"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"mango"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lang="en-US" sz="2200" b="1"/>
            </a:br>
            <a:r>
              <a:rPr lang="en-US" sz="2200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(mylist[-</a:t>
            </a:r>
            <a:r>
              <a:rPr lang="en-US" sz="22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:-</a:t>
            </a:r>
            <a:r>
              <a:rPr lang="en-US" sz="22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['orange', 'kiwi', 'melon']</a:t>
            </a:r>
            <a:endParaRPr/>
          </a:p>
        </p:txBody>
      </p:sp>
      <p:graphicFrame>
        <p:nvGraphicFramePr>
          <p:cNvPr id="215" name="Google Shape;215;p19"/>
          <p:cNvGraphicFramePr/>
          <p:nvPr/>
        </p:nvGraphicFramePr>
        <p:xfrm>
          <a:off x="1695234" y="5376174"/>
          <a:ext cx="8024100" cy="1009225"/>
        </p:xfrm>
        <a:graphic>
          <a:graphicData uri="http://schemas.openxmlformats.org/drawingml/2006/table">
            <a:tbl>
              <a:tblPr firstRow="1" bandRow="1">
                <a:noFill/>
                <a:tableStyleId>{36BE398D-1F84-443D-9D18-A059D32F933B}</a:tableStyleId>
              </a:tblPr>
              <a:tblGrid>
                <a:gridCol w="1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09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apple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banana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cherry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orange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kiwi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melon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mango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6" name="Google Shape;216;p19"/>
          <p:cNvGraphicFramePr/>
          <p:nvPr/>
        </p:nvGraphicFramePr>
        <p:xfrm>
          <a:off x="1695234" y="5010414"/>
          <a:ext cx="8024100" cy="365770"/>
        </p:xfrm>
        <a:graphic>
          <a:graphicData uri="http://schemas.openxmlformats.org/drawingml/2006/table">
            <a:tbl>
              <a:tblPr firstRow="1" bandRow="1">
                <a:noFill/>
                <a:tableStyleId>{EFF0F1B1-B04D-454F-ABEE-A4EC8A169F0F}</a:tableStyleId>
              </a:tblPr>
              <a:tblGrid>
                <a:gridCol w="1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8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5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7" name="Google Shape;217;p19"/>
          <p:cNvGraphicFramePr/>
          <p:nvPr/>
        </p:nvGraphicFramePr>
        <p:xfrm>
          <a:off x="1695234" y="6394477"/>
          <a:ext cx="8024100" cy="365770"/>
        </p:xfrm>
        <a:graphic>
          <a:graphicData uri="http://schemas.openxmlformats.org/drawingml/2006/table">
            <a:tbl>
              <a:tblPr firstRow="1" bandRow="1">
                <a:noFill/>
                <a:tableStyleId>{EFF0F1B1-B04D-454F-ABEE-A4EC8A169F0F}</a:tableStyleId>
              </a:tblPr>
              <a:tblGrid>
                <a:gridCol w="1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8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-7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-6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-5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-4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-3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-2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-1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"/>
          <p:cNvSpPr txBox="1">
            <a:spLocks noGrp="1"/>
          </p:cNvSpPr>
          <p:nvPr>
            <p:ph type="body" idx="1"/>
          </p:nvPr>
        </p:nvSpPr>
        <p:spPr>
          <a:xfrm>
            <a:off x="421240" y="625288"/>
            <a:ext cx="11168677" cy="3882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 item value: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Change the second item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thislist = [</a:t>
            </a:r>
            <a:r>
              <a:rPr lang="en-US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en-US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lang="en-US" b="1"/>
            </a:br>
            <a:r>
              <a:rPr lang="en-US" b="1"/>
              <a:t>	</a:t>
            </a:r>
            <a:r>
              <a:rPr lang="en-US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thislist[</a:t>
            </a:r>
            <a:r>
              <a:rPr lang="en-US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 = </a:t>
            </a:r>
            <a:r>
              <a:rPr lang="en-US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"blackcurrant"</a:t>
            </a:r>
            <a:br>
              <a:rPr lang="en-US" b="1"/>
            </a:br>
            <a:r>
              <a:rPr lang="en-US" b="1"/>
              <a:t>	</a:t>
            </a:r>
            <a:r>
              <a:rPr lang="en-US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(thislist)	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["apple", "blackcurrant", "cherry"]</a:t>
            </a:r>
            <a:endParaRPr sz="4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--------------------------------------------------------------------------------------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223" name="Google Shape;223;p20"/>
          <p:cNvGraphicFramePr/>
          <p:nvPr/>
        </p:nvGraphicFramePr>
        <p:xfrm>
          <a:off x="671242" y="5223496"/>
          <a:ext cx="3438900" cy="1009225"/>
        </p:xfrm>
        <a:graphic>
          <a:graphicData uri="http://schemas.openxmlformats.org/drawingml/2006/table">
            <a:tbl>
              <a:tblPr firstRow="1" bandRow="1">
                <a:noFill/>
                <a:tableStyleId>{36BE398D-1F84-443D-9D18-A059D32F933B}</a:tableStyleId>
              </a:tblPr>
              <a:tblGrid>
                <a:gridCol w="1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9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apple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banana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cherry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4" name="Google Shape;224;p20"/>
          <p:cNvGraphicFramePr/>
          <p:nvPr/>
        </p:nvGraphicFramePr>
        <p:xfrm>
          <a:off x="671242" y="4849868"/>
          <a:ext cx="3438900" cy="365770"/>
        </p:xfrm>
        <a:graphic>
          <a:graphicData uri="http://schemas.openxmlformats.org/drawingml/2006/table">
            <a:tbl>
              <a:tblPr firstRow="1" bandRow="1">
                <a:noFill/>
                <a:tableStyleId>{EFF0F1B1-B04D-454F-ABEE-A4EC8A169F0F}</a:tableStyleId>
              </a:tblPr>
              <a:tblGrid>
                <a:gridCol w="1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5" name="Google Shape;225;p20"/>
          <p:cNvSpPr/>
          <p:nvPr/>
        </p:nvSpPr>
        <p:spPr>
          <a:xfrm>
            <a:off x="4202616" y="5543168"/>
            <a:ext cx="1992702" cy="36987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6" name="Google Shape;226;p20"/>
          <p:cNvGraphicFramePr/>
          <p:nvPr/>
        </p:nvGraphicFramePr>
        <p:xfrm>
          <a:off x="6287786" y="5215628"/>
          <a:ext cx="5400750" cy="1009225"/>
        </p:xfrm>
        <a:graphic>
          <a:graphicData uri="http://schemas.openxmlformats.org/drawingml/2006/table">
            <a:tbl>
              <a:tblPr firstRow="1" bandRow="1">
                <a:noFill/>
                <a:tableStyleId>{36BE398D-1F84-443D-9D18-A059D32F933B}</a:tableStyleId>
              </a:tblPr>
              <a:tblGrid>
                <a:gridCol w="18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9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apple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blackcurrant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cherry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7" name="Google Shape;227;p20"/>
          <p:cNvGraphicFramePr/>
          <p:nvPr/>
        </p:nvGraphicFramePr>
        <p:xfrm>
          <a:off x="6287786" y="4858202"/>
          <a:ext cx="5400750" cy="365770"/>
        </p:xfrm>
        <a:graphic>
          <a:graphicData uri="http://schemas.openxmlformats.org/drawingml/2006/table">
            <a:tbl>
              <a:tblPr firstRow="1" bandRow="1">
                <a:noFill/>
                <a:tableStyleId>{EFF0F1B1-B04D-454F-ABEE-A4EC8A169F0F}</a:tableStyleId>
              </a:tblPr>
              <a:tblGrid>
                <a:gridCol w="18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"/>
          <p:cNvSpPr txBox="1">
            <a:spLocks noGrp="1"/>
          </p:cNvSpPr>
          <p:nvPr>
            <p:ph type="body" idx="1"/>
          </p:nvPr>
        </p:nvSpPr>
        <p:spPr>
          <a:xfrm>
            <a:off x="339047" y="708917"/>
            <a:ext cx="11691991" cy="4643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 a range of item values: To change the value of items within a specific range, define a list with the new values, and refer to the range of index numbers where you want to insert the new values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Change the values "banana" and "cherry" with the values "blackcurrant" and "watermelon"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thislist = [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"orange"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"kiwi"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"mango"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lang="en-US" sz="2400" b="1"/>
            </a:b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thislist[</a:t>
            </a:r>
            <a:r>
              <a:rPr lang="en-US" sz="24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4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 = [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"blackcurrant"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"watermelon"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lang="en-US" sz="2400" b="1"/>
            </a:br>
            <a:r>
              <a:rPr lang="en-US" sz="2400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(thislist)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["apple", "blackcurrant",  "watermelon", "orange", "kiwi", "mango"]</a:t>
            </a:r>
            <a:endParaRPr sz="2200"/>
          </a:p>
        </p:txBody>
      </p:sp>
      <p:graphicFrame>
        <p:nvGraphicFramePr>
          <p:cNvPr id="233" name="Google Shape;233;p21"/>
          <p:cNvGraphicFramePr/>
          <p:nvPr/>
        </p:nvGraphicFramePr>
        <p:xfrm>
          <a:off x="339046" y="4768384"/>
          <a:ext cx="8024100" cy="457210"/>
        </p:xfrm>
        <a:graphic>
          <a:graphicData uri="http://schemas.openxmlformats.org/drawingml/2006/table">
            <a:tbl>
              <a:tblPr firstRow="1" bandRow="1">
                <a:noFill/>
                <a:tableStyleId>{36BE398D-1F84-443D-9D18-A059D32F933B}</a:tableStyleId>
              </a:tblPr>
              <a:tblGrid>
                <a:gridCol w="1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apple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banana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cherry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orange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kiwi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melon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mango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4" name="Google Shape;234;p21"/>
          <p:cNvGraphicFramePr/>
          <p:nvPr/>
        </p:nvGraphicFramePr>
        <p:xfrm>
          <a:off x="339046" y="4405084"/>
          <a:ext cx="8024100" cy="365770"/>
        </p:xfrm>
        <a:graphic>
          <a:graphicData uri="http://schemas.openxmlformats.org/drawingml/2006/table">
            <a:tbl>
              <a:tblPr firstRow="1" bandRow="1">
                <a:noFill/>
                <a:tableStyleId>{EFF0F1B1-B04D-454F-ABEE-A4EC8A169F0F}</a:tableStyleId>
              </a:tblPr>
              <a:tblGrid>
                <a:gridCol w="1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0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5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5" name="Google Shape;235;p21"/>
          <p:cNvSpPr/>
          <p:nvPr/>
        </p:nvSpPr>
        <p:spPr>
          <a:xfrm rot="5400000">
            <a:off x="4081990" y="5494695"/>
            <a:ext cx="1185492" cy="647272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  <a:solidFill>
            <a:schemeClr val="accent1"/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6" name="Google Shape;236;p21"/>
          <p:cNvGraphicFramePr/>
          <p:nvPr/>
        </p:nvGraphicFramePr>
        <p:xfrm>
          <a:off x="4998372" y="5885473"/>
          <a:ext cx="6907600" cy="701050"/>
        </p:xfrm>
        <a:graphic>
          <a:graphicData uri="http://schemas.openxmlformats.org/drawingml/2006/table">
            <a:tbl>
              <a:tblPr firstRow="1" bandRow="1">
                <a:noFill/>
                <a:tableStyleId>{36BE398D-1F84-443D-9D18-A059D32F933B}</a:tableStyleId>
              </a:tblPr>
              <a:tblGrid>
                <a:gridCol w="98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6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apple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black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currant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watermelon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orange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kiwi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melon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mango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7" name="Google Shape;237;p21"/>
          <p:cNvGraphicFramePr/>
          <p:nvPr/>
        </p:nvGraphicFramePr>
        <p:xfrm>
          <a:off x="4998372" y="5497444"/>
          <a:ext cx="6907600" cy="365770"/>
        </p:xfrm>
        <a:graphic>
          <a:graphicData uri="http://schemas.openxmlformats.org/drawingml/2006/table">
            <a:tbl>
              <a:tblPr firstRow="1" bandRow="1">
                <a:noFill/>
                <a:tableStyleId>{EFF0F1B1-B04D-454F-ABEE-A4EC8A169F0F}</a:tableStyleId>
              </a:tblPr>
              <a:tblGrid>
                <a:gridCol w="98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6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0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5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"/>
          <p:cNvSpPr txBox="1">
            <a:spLocks noGrp="1"/>
          </p:cNvSpPr>
          <p:nvPr>
            <p:ph type="body" idx="1"/>
          </p:nvPr>
        </p:nvSpPr>
        <p:spPr>
          <a:xfrm>
            <a:off x="483826" y="730657"/>
            <a:ext cx="10987835" cy="6009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 a range of item values: </a:t>
            </a:r>
            <a:r>
              <a:rPr lang="en-US" sz="24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you insert more items than you replace, the new items will be inserted where you specified, and the remaining items will move accordingly</a:t>
            </a:r>
            <a:endParaRPr sz="400"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Change the second item value by replacing it with two new values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thislist = [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lang="en-US" sz="2400" b="1"/>
            </a:br>
            <a:r>
              <a:rPr lang="en-US" sz="2400" b="1"/>
              <a:t>	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thislist[</a:t>
            </a:r>
            <a:r>
              <a:rPr lang="en-US" sz="24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4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 = [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"blackcurrant"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"watermelon"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lang="en-US" sz="2400" b="1"/>
            </a:br>
            <a:r>
              <a:rPr lang="en-US" sz="2400" b="1"/>
              <a:t>	</a:t>
            </a:r>
            <a:r>
              <a:rPr lang="en-US" sz="2400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(thislist) 	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["apple", "blackcurrant", "watermelon", "cherry"]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--------------------------------------------------------------------------------------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243" name="Google Shape;243;p22"/>
          <p:cNvGraphicFramePr/>
          <p:nvPr/>
        </p:nvGraphicFramePr>
        <p:xfrm>
          <a:off x="671242" y="4849868"/>
          <a:ext cx="3438900" cy="365770"/>
        </p:xfrm>
        <a:graphic>
          <a:graphicData uri="http://schemas.openxmlformats.org/drawingml/2006/table">
            <a:tbl>
              <a:tblPr firstRow="1" bandRow="1">
                <a:noFill/>
                <a:tableStyleId>{EFF0F1B1-B04D-454F-ABEE-A4EC8A169F0F}</a:tableStyleId>
              </a:tblPr>
              <a:tblGrid>
                <a:gridCol w="1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4" name="Google Shape;244;p22"/>
          <p:cNvGraphicFramePr/>
          <p:nvPr/>
        </p:nvGraphicFramePr>
        <p:xfrm>
          <a:off x="671242" y="5223496"/>
          <a:ext cx="3438900" cy="1009225"/>
        </p:xfrm>
        <a:graphic>
          <a:graphicData uri="http://schemas.openxmlformats.org/drawingml/2006/table">
            <a:tbl>
              <a:tblPr firstRow="1" bandRow="1">
                <a:noFill/>
                <a:tableStyleId>{36BE398D-1F84-443D-9D18-A059D32F933B}</a:tableStyleId>
              </a:tblPr>
              <a:tblGrid>
                <a:gridCol w="1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9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apple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banana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cherry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5" name="Google Shape;245;p22"/>
          <p:cNvGraphicFramePr/>
          <p:nvPr/>
        </p:nvGraphicFramePr>
        <p:xfrm>
          <a:off x="6976153" y="5223496"/>
          <a:ext cx="4682900" cy="1009225"/>
        </p:xfrm>
        <a:graphic>
          <a:graphicData uri="http://schemas.openxmlformats.org/drawingml/2006/table">
            <a:tbl>
              <a:tblPr firstRow="1" bandRow="1">
                <a:noFill/>
                <a:tableStyleId>{36BE398D-1F84-443D-9D18-A059D32F933B}</a:tableStyleId>
              </a:tblPr>
              <a:tblGrid>
                <a:gridCol w="117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09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apple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black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currant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watermelon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cherry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6" name="Google Shape;246;p22"/>
          <p:cNvGraphicFramePr/>
          <p:nvPr/>
        </p:nvGraphicFramePr>
        <p:xfrm>
          <a:off x="6976152" y="4849868"/>
          <a:ext cx="4682900" cy="365770"/>
        </p:xfrm>
        <a:graphic>
          <a:graphicData uri="http://schemas.openxmlformats.org/drawingml/2006/table">
            <a:tbl>
              <a:tblPr firstRow="1" bandRow="1">
                <a:noFill/>
                <a:tableStyleId>{EFF0F1B1-B04D-454F-ABEE-A4EC8A169F0F}</a:tableStyleId>
              </a:tblPr>
              <a:tblGrid>
                <a:gridCol w="117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7" name="Google Shape;247;p22"/>
          <p:cNvSpPr/>
          <p:nvPr/>
        </p:nvSpPr>
        <p:spPr>
          <a:xfrm>
            <a:off x="4202615" y="5543168"/>
            <a:ext cx="2681069" cy="36987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3"/>
          <p:cNvSpPr txBox="1">
            <a:spLocks noGrp="1"/>
          </p:cNvSpPr>
          <p:nvPr>
            <p:ph type="body" idx="1"/>
          </p:nvPr>
        </p:nvSpPr>
        <p:spPr>
          <a:xfrm>
            <a:off x="308225" y="832207"/>
            <a:ext cx="11661167" cy="5619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 a range of item values:</a:t>
            </a:r>
            <a:endParaRPr sz="700"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Change the second and third value by replacing it with one value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thislist = [</a:t>
            </a:r>
            <a:r>
              <a:rPr lang="en-US" sz="28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2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8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en-US" sz="2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8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sz="2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lang="en-US" sz="2800" b="1"/>
            </a:br>
            <a:r>
              <a:rPr lang="en-US" sz="2800" b="1"/>
              <a:t>	</a:t>
            </a:r>
            <a:r>
              <a:rPr lang="en-US" sz="2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thislist[</a:t>
            </a:r>
            <a:r>
              <a:rPr lang="en-U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2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 = [</a:t>
            </a:r>
            <a:r>
              <a:rPr lang="en-US" sz="28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"watermelon"</a:t>
            </a:r>
            <a:r>
              <a:rPr lang="en-US" sz="2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lang="en-US" sz="2800" b="1"/>
            </a:br>
            <a:r>
              <a:rPr lang="en-US" sz="2800" b="1"/>
              <a:t>	</a:t>
            </a:r>
            <a:r>
              <a:rPr lang="en-US" sz="2800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(thislist)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["apple", "watermelon"]</a:t>
            </a:r>
            <a:endParaRPr/>
          </a:p>
        </p:txBody>
      </p:sp>
      <p:graphicFrame>
        <p:nvGraphicFramePr>
          <p:cNvPr id="253" name="Google Shape;253;p23"/>
          <p:cNvGraphicFramePr/>
          <p:nvPr/>
        </p:nvGraphicFramePr>
        <p:xfrm>
          <a:off x="671242" y="5223496"/>
          <a:ext cx="3438900" cy="1009225"/>
        </p:xfrm>
        <a:graphic>
          <a:graphicData uri="http://schemas.openxmlformats.org/drawingml/2006/table">
            <a:tbl>
              <a:tblPr firstRow="1" bandRow="1">
                <a:noFill/>
                <a:tableStyleId>{36BE398D-1F84-443D-9D18-A059D32F933B}</a:tableStyleId>
              </a:tblPr>
              <a:tblGrid>
                <a:gridCol w="1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9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apple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banana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cherry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4" name="Google Shape;254;p23"/>
          <p:cNvGraphicFramePr/>
          <p:nvPr/>
        </p:nvGraphicFramePr>
        <p:xfrm>
          <a:off x="671242" y="4849868"/>
          <a:ext cx="3438900" cy="365770"/>
        </p:xfrm>
        <a:graphic>
          <a:graphicData uri="http://schemas.openxmlformats.org/drawingml/2006/table">
            <a:tbl>
              <a:tblPr firstRow="1" bandRow="1">
                <a:noFill/>
                <a:tableStyleId>{EFF0F1B1-B04D-454F-ABEE-A4EC8A169F0F}</a:tableStyleId>
              </a:tblPr>
              <a:tblGrid>
                <a:gridCol w="1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5" name="Google Shape;255;p23"/>
          <p:cNvGraphicFramePr/>
          <p:nvPr/>
        </p:nvGraphicFramePr>
        <p:xfrm>
          <a:off x="7265536" y="5230126"/>
          <a:ext cx="3738100" cy="1009225"/>
        </p:xfrm>
        <a:graphic>
          <a:graphicData uri="http://schemas.openxmlformats.org/drawingml/2006/table">
            <a:tbl>
              <a:tblPr firstRow="1" bandRow="1">
                <a:noFill/>
                <a:tableStyleId>{36BE398D-1F84-443D-9D18-A059D32F933B}</a:tableStyleId>
              </a:tblPr>
              <a:tblGrid>
                <a:gridCol w="186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9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apple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Watermelon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6" name="Google Shape;256;p23"/>
          <p:cNvGraphicFramePr/>
          <p:nvPr/>
        </p:nvGraphicFramePr>
        <p:xfrm>
          <a:off x="7265538" y="4849868"/>
          <a:ext cx="3738100" cy="365770"/>
        </p:xfrm>
        <a:graphic>
          <a:graphicData uri="http://schemas.openxmlformats.org/drawingml/2006/table">
            <a:tbl>
              <a:tblPr firstRow="1" bandRow="1">
                <a:noFill/>
                <a:tableStyleId>{EFF0F1B1-B04D-454F-ABEE-A4EC8A169F0F}</a:tableStyleId>
              </a:tblPr>
              <a:tblGrid>
                <a:gridCol w="186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7" name="Google Shape;257;p23"/>
          <p:cNvSpPr/>
          <p:nvPr/>
        </p:nvSpPr>
        <p:spPr>
          <a:xfrm>
            <a:off x="4202615" y="5543168"/>
            <a:ext cx="2979021" cy="36987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4"/>
          <p:cNvSpPr txBox="1">
            <a:spLocks noGrp="1"/>
          </p:cNvSpPr>
          <p:nvPr>
            <p:ph type="title"/>
          </p:nvPr>
        </p:nvSpPr>
        <p:spPr>
          <a:xfrm>
            <a:off x="838200" y="832207"/>
            <a:ext cx="10515600" cy="71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1">
                <a:latin typeface="Calibri"/>
                <a:ea typeface="Calibri"/>
                <a:cs typeface="Calibri"/>
                <a:sym typeface="Calibri"/>
              </a:rPr>
              <a:t>Python has a set of built-in methods that you can use on lists</a:t>
            </a:r>
            <a:endParaRPr sz="3200" b="1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3" name="Google Shape;263;p24"/>
          <p:cNvGraphicFramePr/>
          <p:nvPr/>
        </p:nvGraphicFramePr>
        <p:xfrm>
          <a:off x="575354" y="1633592"/>
          <a:ext cx="10952250" cy="4996200"/>
        </p:xfrm>
        <a:graphic>
          <a:graphicData uri="http://schemas.openxmlformats.org/drawingml/2006/table">
            <a:tbl>
              <a:tblPr>
                <a:noFill/>
                <a:tableStyleId>{2BF8D396-BC0D-498F-BC9D-37ED036AAC6B}</a:tableStyleId>
              </a:tblPr>
              <a:tblGrid>
                <a:gridCol w="1604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4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/>
                        <a:t>Method</a:t>
                      </a:r>
                      <a:endParaRPr/>
                    </a:p>
                  </a:txBody>
                  <a:tcPr marL="111575" marR="55775" marT="55775" marB="55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/>
                        <a:t>Description</a:t>
                      </a:r>
                      <a:endParaRPr/>
                    </a:p>
                  </a:txBody>
                  <a:tcPr marL="55775" marR="55775" marT="55775" marB="557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sng" strike="noStrike" cap="none">
                          <a:solidFill>
                            <a:schemeClr val="hlink"/>
                          </a:solidFill>
                          <a:hlinkClick r:id="rId3"/>
                        </a:rPr>
                        <a:t>append()</a:t>
                      </a:r>
                      <a:endParaRPr sz="2000" u="none" strike="noStrike" cap="none"/>
                    </a:p>
                  </a:txBody>
                  <a:tcPr marL="111575" marR="55775" marT="55775" marB="55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Adds an element at the end of the list</a:t>
                      </a:r>
                      <a:endParaRPr/>
                    </a:p>
                  </a:txBody>
                  <a:tcPr marL="55775" marR="55775" marT="55775" marB="557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sng" strike="noStrike" cap="none">
                          <a:solidFill>
                            <a:schemeClr val="hlink"/>
                          </a:solidFill>
                          <a:hlinkClick r:id="rId4"/>
                        </a:rPr>
                        <a:t>insert()</a:t>
                      </a:r>
                      <a:endParaRPr sz="2000" u="none" strike="noStrike" cap="none"/>
                    </a:p>
                  </a:txBody>
                  <a:tcPr marL="111575" marR="55775" marT="55775" marB="55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Adds an element at the specified position</a:t>
                      </a:r>
                      <a:endParaRPr/>
                    </a:p>
                  </a:txBody>
                  <a:tcPr marL="55775" marR="55775" marT="55775" marB="557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sng" strike="noStrike" cap="none">
                          <a:solidFill>
                            <a:schemeClr val="hlink"/>
                          </a:solidFill>
                          <a:hlinkClick r:id="rId5"/>
                        </a:rPr>
                        <a:t>extend()</a:t>
                      </a:r>
                      <a:endParaRPr sz="2000" u="none" strike="noStrike" cap="none"/>
                    </a:p>
                  </a:txBody>
                  <a:tcPr marL="111575" marR="55775" marT="55775" marB="55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Add the elements of a list (or any iterable), to the end of the current list</a:t>
                      </a:r>
                      <a:endParaRPr/>
                    </a:p>
                  </a:txBody>
                  <a:tcPr marL="55775" marR="55775" marT="55775" marB="557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sng" strike="noStrike" cap="none">
                          <a:solidFill>
                            <a:schemeClr val="hlink"/>
                          </a:solidFill>
                          <a:hlinkClick r:id="rId6"/>
                        </a:rPr>
                        <a:t>clear()</a:t>
                      </a:r>
                      <a:endParaRPr sz="2000" u="none" strike="noStrike" cap="none"/>
                    </a:p>
                  </a:txBody>
                  <a:tcPr marL="111575" marR="55775" marT="55775" marB="55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Removes all the elements from the list</a:t>
                      </a:r>
                      <a:endParaRPr/>
                    </a:p>
                  </a:txBody>
                  <a:tcPr marL="55775" marR="55775" marT="55775" marB="557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sng" strike="noStrike" cap="none">
                          <a:solidFill>
                            <a:schemeClr val="hlink"/>
                          </a:solidFill>
                          <a:hlinkClick r:id="rId7"/>
                        </a:rPr>
                        <a:t>count()</a:t>
                      </a:r>
                      <a:endParaRPr sz="2000" u="none" strike="noStrike" cap="none"/>
                    </a:p>
                  </a:txBody>
                  <a:tcPr marL="111575" marR="55775" marT="55775" marB="55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Returns the number of elements with the specified value</a:t>
                      </a:r>
                      <a:endParaRPr/>
                    </a:p>
                  </a:txBody>
                  <a:tcPr marL="55775" marR="55775" marT="55775" marB="5577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sng" strike="noStrike" cap="none">
                          <a:solidFill>
                            <a:schemeClr val="hlink"/>
                          </a:solidFill>
                          <a:hlinkClick r:id="rId8"/>
                        </a:rPr>
                        <a:t>index()</a:t>
                      </a:r>
                      <a:endParaRPr sz="2000" u="none" strike="noStrike" cap="none"/>
                    </a:p>
                  </a:txBody>
                  <a:tcPr marL="111575" marR="55775" marT="55775" marB="55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Returns the index of the first element with the specified value</a:t>
                      </a:r>
                      <a:endParaRPr/>
                    </a:p>
                  </a:txBody>
                  <a:tcPr marL="55775" marR="55775" marT="55775" marB="5577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sng" strike="noStrike" cap="none">
                          <a:solidFill>
                            <a:schemeClr val="hlink"/>
                          </a:solidFill>
                          <a:hlinkClick r:id="rId9"/>
                        </a:rPr>
                        <a:t>pop()</a:t>
                      </a:r>
                      <a:endParaRPr sz="2000" u="none" strike="noStrike" cap="none"/>
                    </a:p>
                  </a:txBody>
                  <a:tcPr marL="111575" marR="55775" marT="55775" marB="55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Removes the element at the specified position</a:t>
                      </a:r>
                      <a:endParaRPr/>
                    </a:p>
                  </a:txBody>
                  <a:tcPr marL="55775" marR="55775" marT="55775" marB="5577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sng" strike="noStrike" cap="none">
                          <a:solidFill>
                            <a:schemeClr val="hlink"/>
                          </a:solidFill>
                          <a:hlinkClick r:id="rId10"/>
                        </a:rPr>
                        <a:t>remove()</a:t>
                      </a:r>
                      <a:endParaRPr sz="2000" u="none" strike="noStrike" cap="none"/>
                    </a:p>
                  </a:txBody>
                  <a:tcPr marL="111575" marR="55775" marT="55775" marB="55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Removes the first item with the specified value</a:t>
                      </a:r>
                      <a:endParaRPr/>
                    </a:p>
                  </a:txBody>
                  <a:tcPr marL="55775" marR="55775" marT="55775" marB="5577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sng" strike="noStrike" cap="none">
                          <a:solidFill>
                            <a:schemeClr val="hlink"/>
                          </a:solidFill>
                          <a:hlinkClick r:id="rId11"/>
                        </a:rPr>
                        <a:t>copy()</a:t>
                      </a:r>
                      <a:endParaRPr sz="2000" u="none" strike="noStrike" cap="none"/>
                    </a:p>
                  </a:txBody>
                  <a:tcPr marL="111575" marR="55775" marT="55775" marB="55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Returns a copy of the list</a:t>
                      </a:r>
                      <a:endParaRPr/>
                    </a:p>
                  </a:txBody>
                  <a:tcPr marL="55775" marR="55775" marT="55775" marB="5577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sng" strike="noStrike" cap="none">
                          <a:solidFill>
                            <a:schemeClr val="hlink"/>
                          </a:solidFill>
                          <a:hlinkClick r:id="rId12"/>
                        </a:rPr>
                        <a:t>reverse()</a:t>
                      </a:r>
                      <a:endParaRPr sz="2000" u="none" strike="noStrike" cap="none"/>
                    </a:p>
                  </a:txBody>
                  <a:tcPr marL="111575" marR="55775" marT="55775" marB="55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Reverses the order of the list</a:t>
                      </a:r>
                      <a:endParaRPr/>
                    </a:p>
                  </a:txBody>
                  <a:tcPr marL="55775" marR="55775" marT="55775" marB="5577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sng" strike="noStrike" cap="none">
                          <a:solidFill>
                            <a:schemeClr val="hlink"/>
                          </a:solidFill>
                          <a:hlinkClick r:id="rId13"/>
                        </a:rPr>
                        <a:t>sort()</a:t>
                      </a:r>
                      <a:endParaRPr sz="2000" u="none" strike="noStrike" cap="none"/>
                    </a:p>
                  </a:txBody>
                  <a:tcPr marL="111575" marR="55775" marT="55775" marB="55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Sorts the list</a:t>
                      </a:r>
                      <a:endParaRPr/>
                    </a:p>
                  </a:txBody>
                  <a:tcPr marL="55775" marR="55775" marT="55775" marB="5577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5"/>
          <p:cNvSpPr txBox="1">
            <a:spLocks noGrp="1"/>
          </p:cNvSpPr>
          <p:nvPr>
            <p:ph type="body" idx="1"/>
          </p:nvPr>
        </p:nvSpPr>
        <p:spPr>
          <a:xfrm>
            <a:off x="838200" y="739739"/>
            <a:ext cx="10515600" cy="5437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append()</a:t>
            </a:r>
            <a:r>
              <a:rPr lang="en-US"/>
              <a:t> - The append() method appends an element to the end of the list.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Syntax: </a:t>
            </a:r>
            <a:r>
              <a:rPr lang="en-US" b="0" i="1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-US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.append(</a:t>
            </a:r>
            <a:r>
              <a:rPr lang="en-US" b="0" i="1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elmnt</a:t>
            </a:r>
            <a:r>
              <a:rPr lang="en-US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u="none" strike="noStrik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Example: Add an element to list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 b="1"/>
              <a:t>a = ["apple", "banana", "cherry"]                a = ["apple", "banana", "cherry"]</a:t>
            </a:r>
            <a:br>
              <a:rPr lang="en-US" sz="2600" b="1"/>
            </a:br>
            <a:r>
              <a:rPr lang="en-US" sz="2600" b="1"/>
              <a:t>b = “watermelon”			     OR     a.append(“watermelon”)</a:t>
            </a:r>
            <a:br>
              <a:rPr lang="en-US" sz="2600" b="1"/>
            </a:br>
            <a:r>
              <a:rPr lang="en-US" sz="2600" b="1"/>
              <a:t>a.append(b)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['apple', 'banana', 'cherry', ‘watermelon']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graphicFrame>
        <p:nvGraphicFramePr>
          <p:cNvPr id="269" name="Google Shape;269;p25"/>
          <p:cNvGraphicFramePr/>
          <p:nvPr/>
        </p:nvGraphicFramePr>
        <p:xfrm>
          <a:off x="1125876" y="2192538"/>
          <a:ext cx="8018125" cy="425320"/>
        </p:xfrm>
        <a:graphic>
          <a:graphicData uri="http://schemas.openxmlformats.org/drawingml/2006/table">
            <a:tbl>
              <a:tblPr>
                <a:noFill/>
                <a:tableStyleId>{FB70580C-F736-470D-B57C-30AB6EE4B1DB}</a:tableStyleId>
              </a:tblPr>
              <a:tblGrid>
                <a:gridCol w="7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i="1" u="none" strike="noStrike" cap="none"/>
                        <a:t>elmnt</a:t>
                      </a:r>
                      <a:endParaRPr sz="1800" u="none" strike="noStrike" cap="none"/>
                    </a:p>
                  </a:txBody>
                  <a:tcPr marL="151000" marR="75500" marT="75500" marB="7550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Required. An element of any type (string, number, object etc.)</a:t>
                      </a:r>
                      <a:endParaRPr/>
                    </a:p>
                  </a:txBody>
                  <a:tcPr marL="75500" marR="75500" marT="75500" marB="7550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70" name="Google Shape;270;p25"/>
          <p:cNvCxnSpPr/>
          <p:nvPr/>
        </p:nvCxnSpPr>
        <p:spPr>
          <a:xfrm>
            <a:off x="5712431" y="3667874"/>
            <a:ext cx="0" cy="98631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1" name="Google Shape;271;p25"/>
          <p:cNvCxnSpPr/>
          <p:nvPr/>
        </p:nvCxnSpPr>
        <p:spPr>
          <a:xfrm>
            <a:off x="6450458" y="3667874"/>
            <a:ext cx="0" cy="98631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6"/>
          <p:cNvSpPr txBox="1">
            <a:spLocks noGrp="1"/>
          </p:cNvSpPr>
          <p:nvPr>
            <p:ph type="title"/>
          </p:nvPr>
        </p:nvSpPr>
        <p:spPr>
          <a:xfrm>
            <a:off x="838200" y="500062"/>
            <a:ext cx="10515600" cy="240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1">
                <a:latin typeface="Times New Roman"/>
                <a:ea typeface="Times New Roman"/>
                <a:cs typeface="Times New Roman"/>
                <a:sym typeface="Times New Roman"/>
              </a:rPr>
              <a:t>extend() method - adds the specified list elements (or any iterable) to the end of the current list.</a:t>
            </a:r>
            <a:br>
              <a:rPr lang="en-US" sz="2800" b="1" i="1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400" b="1" i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1" i="1">
                <a:latin typeface="Times New Roman"/>
                <a:ea typeface="Times New Roman"/>
                <a:cs typeface="Times New Roman"/>
                <a:sym typeface="Times New Roman"/>
              </a:rPr>
              <a:t>Syntax: </a:t>
            </a:r>
            <a:r>
              <a:rPr lang="en-US" sz="2800" b="1" i="1">
                <a:latin typeface="Consolas"/>
                <a:ea typeface="Consolas"/>
                <a:cs typeface="Consolas"/>
                <a:sym typeface="Consolas"/>
              </a:rPr>
              <a:t>list.extend(iterable)</a:t>
            </a:r>
            <a:br>
              <a:rPr lang="en-US" sz="2800" b="1" i="1">
                <a:latin typeface="Consolas"/>
                <a:ea typeface="Consolas"/>
                <a:cs typeface="Consolas"/>
                <a:sym typeface="Consolas"/>
              </a:rPr>
            </a:br>
            <a:endParaRPr sz="2800" b="1" i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7" name="Google Shape;277;p26"/>
          <p:cNvSpPr txBox="1">
            <a:spLocks noGrp="1"/>
          </p:cNvSpPr>
          <p:nvPr>
            <p:ph type="body" idx="1"/>
          </p:nvPr>
        </p:nvSpPr>
        <p:spPr>
          <a:xfrm>
            <a:off x="838200" y="2962847"/>
            <a:ext cx="10515600" cy="3546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Consolas"/>
                <a:ea typeface="Consolas"/>
                <a:cs typeface="Consolas"/>
                <a:sym typeface="Consolas"/>
              </a:rPr>
              <a:t>a = ["apple", "banana", "cherry"]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Consolas"/>
                <a:ea typeface="Consolas"/>
                <a:cs typeface="Consolas"/>
                <a:sym typeface="Consolas"/>
              </a:rPr>
              <a:t>b = ["Ford", "BMW", "Volvo"]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Consolas"/>
                <a:ea typeface="Consolas"/>
                <a:cs typeface="Consolas"/>
                <a:sym typeface="Consolas"/>
              </a:rPr>
              <a:t>a.extend(b)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Consolas"/>
                <a:ea typeface="Consolas"/>
                <a:cs typeface="Consolas"/>
                <a:sym typeface="Consolas"/>
              </a:rPr>
              <a:t>print(a)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['apple', 'banana', 'cherry', 'Ford', 'BMW', 'Volvo']</a:t>
            </a:r>
            <a:endParaRPr b="1"/>
          </a:p>
        </p:txBody>
      </p:sp>
      <p:graphicFrame>
        <p:nvGraphicFramePr>
          <p:cNvPr id="278" name="Google Shape;278;p26"/>
          <p:cNvGraphicFramePr/>
          <p:nvPr/>
        </p:nvGraphicFramePr>
        <p:xfrm>
          <a:off x="910976" y="2316516"/>
          <a:ext cx="6630250" cy="425320"/>
        </p:xfrm>
        <a:graphic>
          <a:graphicData uri="http://schemas.openxmlformats.org/drawingml/2006/table">
            <a:tbl>
              <a:tblPr>
                <a:noFill/>
                <a:tableStyleId>{FB70580C-F736-470D-B57C-30AB6EE4B1DB}</a:tableStyleId>
              </a:tblPr>
              <a:tblGrid>
                <a:gridCol w="117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9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i="1" u="none" strike="noStrike" cap="none"/>
                        <a:t>iterable</a:t>
                      </a:r>
                      <a:endParaRPr sz="1800" u="none" strike="noStrike" cap="none"/>
                    </a:p>
                  </a:txBody>
                  <a:tcPr marL="151000" marR="75500" marT="75500" marB="7550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Required. Any iterable (list, set, tuple, etc.)</a:t>
                      </a:r>
                      <a:endParaRPr/>
                    </a:p>
                  </a:txBody>
                  <a:tcPr marL="75500" marR="75500" marT="75500" marB="7550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9" name="Google Shape;279;p26"/>
          <p:cNvSpPr/>
          <p:nvPr/>
        </p:nvSpPr>
        <p:spPr>
          <a:xfrm>
            <a:off x="1485471" y="1929774"/>
            <a:ext cx="967226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7"/>
          <p:cNvSpPr txBox="1">
            <a:spLocks noGrp="1"/>
          </p:cNvSpPr>
          <p:nvPr>
            <p:ph type="body" idx="1"/>
          </p:nvPr>
        </p:nvSpPr>
        <p:spPr>
          <a:xfrm>
            <a:off x="603528" y="753035"/>
            <a:ext cx="10987835" cy="5902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insert() - The insert() method inserts an item at the specified index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Syntax: </a:t>
            </a:r>
            <a:r>
              <a:rPr lang="en-US" b="0" i="1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-US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.insert(</a:t>
            </a:r>
            <a:r>
              <a:rPr lang="en-US" b="0" i="1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pos</a:t>
            </a:r>
            <a:r>
              <a:rPr lang="en-US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b="0" i="1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elmnt</a:t>
            </a:r>
            <a:r>
              <a:rPr lang="en-US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0" i="0" u="none" strike="noStrik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</a:pPr>
            <a:endParaRPr sz="400"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vowels=['a','i','o','u']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	print("old list =",vowels) 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vowels.insert(1,'e') 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print("new list =",vowels)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old list = ['a', 'i', 'o', 'u']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	new list = ['a', 'e', 'i', 'o', 'u']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--------------------------------------------------------------------------------------</a:t>
            </a:r>
            <a:endParaRPr/>
          </a:p>
        </p:txBody>
      </p:sp>
      <p:graphicFrame>
        <p:nvGraphicFramePr>
          <p:cNvPr id="285" name="Google Shape;285;p27"/>
          <p:cNvGraphicFramePr/>
          <p:nvPr/>
        </p:nvGraphicFramePr>
        <p:xfrm>
          <a:off x="8465902" y="3179819"/>
          <a:ext cx="3010300" cy="457210"/>
        </p:xfrm>
        <a:graphic>
          <a:graphicData uri="http://schemas.openxmlformats.org/drawingml/2006/table">
            <a:tbl>
              <a:tblPr firstRow="1" bandRow="1">
                <a:noFill/>
                <a:tableStyleId>{36BE398D-1F84-443D-9D18-A059D32F933B}</a:tableStyleId>
              </a:tblPr>
              <a:tblGrid>
                <a:gridCol w="75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2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i</a:t>
                      </a:r>
                      <a:endParaRPr sz="2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o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u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6" name="Google Shape;286;p27"/>
          <p:cNvGraphicFramePr/>
          <p:nvPr/>
        </p:nvGraphicFramePr>
        <p:xfrm>
          <a:off x="8465902" y="2838507"/>
          <a:ext cx="3010300" cy="365770"/>
        </p:xfrm>
        <a:graphic>
          <a:graphicData uri="http://schemas.openxmlformats.org/drawingml/2006/table">
            <a:tbl>
              <a:tblPr firstRow="1" bandRow="1">
                <a:noFill/>
                <a:tableStyleId>{EFF0F1B1-B04D-454F-ABEE-A4EC8A169F0F}</a:tableStyleId>
              </a:tblPr>
              <a:tblGrid>
                <a:gridCol w="75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2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7" name="Google Shape;287;p27"/>
          <p:cNvGraphicFramePr/>
          <p:nvPr/>
        </p:nvGraphicFramePr>
        <p:xfrm>
          <a:off x="8465900" y="4689029"/>
          <a:ext cx="3010375" cy="457210"/>
        </p:xfrm>
        <a:graphic>
          <a:graphicData uri="http://schemas.openxmlformats.org/drawingml/2006/table">
            <a:tbl>
              <a:tblPr firstRow="1" bandRow="1">
                <a:noFill/>
                <a:tableStyleId>{36BE398D-1F84-443D-9D18-A059D32F933B}</a:tableStyleId>
              </a:tblPr>
              <a:tblGrid>
                <a:gridCol w="60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2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2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i</a:t>
                      </a:r>
                      <a:endParaRPr sz="2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o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u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8" name="Google Shape;288;p27"/>
          <p:cNvGraphicFramePr/>
          <p:nvPr/>
        </p:nvGraphicFramePr>
        <p:xfrm>
          <a:off x="8465900" y="4323269"/>
          <a:ext cx="3010375" cy="365770"/>
        </p:xfrm>
        <a:graphic>
          <a:graphicData uri="http://schemas.openxmlformats.org/drawingml/2006/table">
            <a:tbl>
              <a:tblPr firstRow="1" bandRow="1">
                <a:noFill/>
                <a:tableStyleId>{EFF0F1B1-B04D-454F-ABEE-A4EC8A169F0F}</a:tableStyleId>
              </a:tblPr>
              <a:tblGrid>
                <a:gridCol w="60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2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2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9" name="Google Shape;289;p27"/>
          <p:cNvGraphicFramePr/>
          <p:nvPr/>
        </p:nvGraphicFramePr>
        <p:xfrm>
          <a:off x="715770" y="1828256"/>
          <a:ext cx="7705175" cy="1131040"/>
        </p:xfrm>
        <a:graphic>
          <a:graphicData uri="http://schemas.openxmlformats.org/drawingml/2006/table">
            <a:tbl>
              <a:tblPr>
                <a:noFill/>
                <a:tableStyleId>{FB70580C-F736-470D-B57C-30AB6EE4B1DB}</a:tableStyleId>
              </a:tblPr>
              <a:tblGrid>
                <a:gridCol w="8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3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i="1" u="none" strike="noStrike" cap="none"/>
                        <a:t>pos</a:t>
                      </a:r>
                      <a:endParaRPr sz="1800" u="none" strike="noStrike" cap="none"/>
                    </a:p>
                  </a:txBody>
                  <a:tcPr marL="151000" marR="75500" marT="75500" marB="7550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Required. A number specifying in which position to insert the value</a:t>
                      </a:r>
                      <a:endParaRPr/>
                    </a:p>
                  </a:txBody>
                  <a:tcPr marL="75500" marR="75500" marT="75500" marB="7550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i="1" u="none" strike="noStrike" cap="none"/>
                        <a:t>elmnt</a:t>
                      </a:r>
                      <a:endParaRPr sz="1800" u="none" strike="noStrike" cap="none"/>
                    </a:p>
                  </a:txBody>
                  <a:tcPr marL="151000" marR="75500" marT="75500" marB="7550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Required. An element of any type (string, number, object etc.)</a:t>
                      </a:r>
                      <a:endParaRPr/>
                    </a:p>
                  </a:txBody>
                  <a:tcPr marL="75500" marR="75500" marT="75500" marB="7550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0" name="Google Shape;290;p27"/>
          <p:cNvSpPr/>
          <p:nvPr/>
        </p:nvSpPr>
        <p:spPr>
          <a:xfrm>
            <a:off x="9708776" y="3637019"/>
            <a:ext cx="262289" cy="68625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8"/>
          <p:cNvSpPr txBox="1">
            <a:spLocks noGrp="1"/>
          </p:cNvSpPr>
          <p:nvPr>
            <p:ph type="title"/>
          </p:nvPr>
        </p:nvSpPr>
        <p:spPr>
          <a:xfrm>
            <a:off x="838200" y="1222624"/>
            <a:ext cx="10515600" cy="842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3100" b="1">
                <a:latin typeface="Times New Roman"/>
                <a:ea typeface="Times New Roman"/>
                <a:cs typeface="Times New Roman"/>
                <a:sym typeface="Times New Roman"/>
              </a:rPr>
              <a:t>clear()</a:t>
            </a:r>
            <a:r>
              <a:rPr lang="en-US" sz="3100" b="1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 method - removes all the elements from a list.</a:t>
            </a:r>
            <a:br>
              <a:rPr lang="en-US" sz="3100" b="1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100" b="1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b="1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Syntax: </a:t>
            </a:r>
            <a:r>
              <a:rPr lang="en-US" sz="2800" b="1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list.clear()</a:t>
            </a:r>
            <a:br>
              <a:rPr lang="en-US" sz="2800" b="1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2800" b="1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28"/>
          <p:cNvSpPr txBox="1">
            <a:spLocks noGrp="1"/>
          </p:cNvSpPr>
          <p:nvPr>
            <p:ph type="body" idx="1"/>
          </p:nvPr>
        </p:nvSpPr>
        <p:spPr>
          <a:xfrm>
            <a:off x="838200" y="2373329"/>
            <a:ext cx="10515600" cy="4171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list1=[1,2,3,4,5]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print(list1)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list1.clear()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print(list1)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[1, 2, 3, 4, 5]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[ ]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9"/>
          <p:cNvSpPr txBox="1">
            <a:spLocks noGrp="1"/>
          </p:cNvSpPr>
          <p:nvPr>
            <p:ph type="title"/>
          </p:nvPr>
        </p:nvSpPr>
        <p:spPr>
          <a:xfrm>
            <a:off x="838200" y="493160"/>
            <a:ext cx="10515600" cy="1197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1" i="1">
                <a:latin typeface="Times New Roman"/>
                <a:ea typeface="Times New Roman"/>
                <a:cs typeface="Times New Roman"/>
                <a:sym typeface="Times New Roman"/>
              </a:rPr>
              <a:t>count()</a:t>
            </a:r>
            <a:r>
              <a:rPr lang="en-US" sz="3200" b="1" i="1" u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 method - returns the number of elements with the specified value</a:t>
            </a:r>
            <a:endParaRPr sz="3200" b="1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29"/>
          <p:cNvSpPr txBox="1">
            <a:spLocks noGrp="1"/>
          </p:cNvSpPr>
          <p:nvPr>
            <p:ph type="body" idx="1"/>
          </p:nvPr>
        </p:nvSpPr>
        <p:spPr>
          <a:xfrm>
            <a:off x="838200" y="1825624"/>
            <a:ext cx="10515600" cy="4811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Syntax: </a:t>
            </a:r>
            <a:r>
              <a:rPr lang="en-US" b="0" i="1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-US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.count(</a:t>
            </a:r>
            <a:r>
              <a:rPr lang="en-US" b="0" i="1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Example: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points = [1, 4, 2, 9, 7, 8, 9, 3, 1]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x = points.count(9)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print(x)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2</a:t>
            </a:r>
            <a:endParaRPr b="1"/>
          </a:p>
        </p:txBody>
      </p:sp>
      <p:graphicFrame>
        <p:nvGraphicFramePr>
          <p:cNvPr id="303" name="Google Shape;303;p29"/>
          <p:cNvGraphicFramePr/>
          <p:nvPr/>
        </p:nvGraphicFramePr>
        <p:xfrm>
          <a:off x="992312" y="2511037"/>
          <a:ext cx="8542100" cy="699640"/>
        </p:xfrm>
        <a:graphic>
          <a:graphicData uri="http://schemas.openxmlformats.org/drawingml/2006/table">
            <a:tbl>
              <a:tblPr>
                <a:noFill/>
                <a:tableStyleId>{FB70580C-F736-470D-B57C-30AB6EE4B1DB}</a:tableStyleId>
              </a:tblPr>
              <a:tblGrid>
                <a:gridCol w="81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2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7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i="1" u="none" strike="noStrike" cap="none"/>
                        <a:t>value</a:t>
                      </a:r>
                      <a:endParaRPr sz="1800" u="none" strike="noStrike" cap="none"/>
                    </a:p>
                  </a:txBody>
                  <a:tcPr marL="151000" marR="75500" marT="75500" marB="7550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Required. Any type (string, number, list, tuple, etc.). The value to search for.</a:t>
                      </a:r>
                      <a:endParaRPr/>
                    </a:p>
                  </a:txBody>
                  <a:tcPr marL="75500" marR="75500" marT="75500" marB="7550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0"/>
          <p:cNvSpPr txBox="1">
            <a:spLocks noGrp="1"/>
          </p:cNvSpPr>
          <p:nvPr>
            <p:ph type="title"/>
          </p:nvPr>
        </p:nvSpPr>
        <p:spPr>
          <a:xfrm>
            <a:off x="838200" y="725281"/>
            <a:ext cx="10515600" cy="1197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3200" b="1" i="1">
                <a:latin typeface="Times New Roman"/>
                <a:ea typeface="Times New Roman"/>
                <a:cs typeface="Times New Roman"/>
                <a:sym typeface="Times New Roman"/>
              </a:rPr>
              <a:t>index() method - returns the index at the first occurrence of the specified value. If the element is not found it valueerror exception is thrown.</a:t>
            </a:r>
            <a:endParaRPr sz="3200" b="1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30"/>
          <p:cNvSpPr txBox="1">
            <a:spLocks noGrp="1"/>
          </p:cNvSpPr>
          <p:nvPr>
            <p:ph type="body" idx="1"/>
          </p:nvPr>
        </p:nvSpPr>
        <p:spPr>
          <a:xfrm>
            <a:off x="838200" y="2046519"/>
            <a:ext cx="10515600" cy="4811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Syntax: </a:t>
            </a:r>
            <a:r>
              <a:rPr lang="en-US" b="0" i="1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-US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.index(</a:t>
            </a:r>
            <a:r>
              <a:rPr lang="en-US" b="0" i="1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elmnt</a:t>
            </a:r>
            <a:r>
              <a:rPr lang="en-US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Example: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list1=[4, 55, 64, 32, 16, 32]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x = list1.index(32)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print(x)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3</a:t>
            </a:r>
            <a:endParaRPr b="1"/>
          </a:p>
        </p:txBody>
      </p:sp>
      <p:graphicFrame>
        <p:nvGraphicFramePr>
          <p:cNvPr id="310" name="Google Shape;310;p30"/>
          <p:cNvGraphicFramePr/>
          <p:nvPr>
            <p:extLst>
              <p:ext uri="{D42A27DB-BD31-4B8C-83A1-F6EECF244321}">
                <p14:modId xmlns:p14="http://schemas.microsoft.com/office/powerpoint/2010/main" val="902125798"/>
              </p:ext>
            </p:extLst>
          </p:nvPr>
        </p:nvGraphicFramePr>
        <p:xfrm>
          <a:off x="966728" y="2569459"/>
          <a:ext cx="10251878" cy="425320"/>
        </p:xfrm>
        <a:graphic>
          <a:graphicData uri="http://schemas.openxmlformats.org/drawingml/2006/table">
            <a:tbl>
              <a:tblPr>
                <a:noFill/>
                <a:tableStyleId>{FB70580C-F736-470D-B57C-30AB6EE4B1DB}</a:tableStyleId>
              </a:tblPr>
              <a:tblGrid>
                <a:gridCol w="1136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15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7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i="1" u="none" strike="noStrike" cap="none"/>
                        <a:t>elmnt</a:t>
                      </a:r>
                      <a:endParaRPr sz="1800" u="none" strike="noStrike" cap="none"/>
                    </a:p>
                  </a:txBody>
                  <a:tcPr marL="151000" marR="75500" marT="75500" marB="7550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Required. Any type (string, number, list, etc.). The element to search for</a:t>
                      </a:r>
                      <a:endParaRPr dirty="0"/>
                    </a:p>
                  </a:txBody>
                  <a:tcPr marL="75500" marR="75500" marT="75500" marB="7550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1" name="Google Shape;311;p30"/>
          <p:cNvGraphicFramePr/>
          <p:nvPr/>
        </p:nvGraphicFramePr>
        <p:xfrm>
          <a:off x="7520683" y="5042263"/>
          <a:ext cx="3616500" cy="570325"/>
        </p:xfrm>
        <a:graphic>
          <a:graphicData uri="http://schemas.openxmlformats.org/drawingml/2006/table">
            <a:tbl>
              <a:tblPr firstRow="1" bandRow="1">
                <a:noFill/>
                <a:tableStyleId>{36BE398D-1F84-443D-9D18-A059D32F933B}</a:tableStyleId>
              </a:tblPr>
              <a:tblGrid>
                <a:gridCol w="60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2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2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0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55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64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32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16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32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2" name="Google Shape;312;p30"/>
          <p:cNvGraphicFramePr/>
          <p:nvPr/>
        </p:nvGraphicFramePr>
        <p:xfrm>
          <a:off x="7520683" y="4676504"/>
          <a:ext cx="3616500" cy="365770"/>
        </p:xfrm>
        <a:graphic>
          <a:graphicData uri="http://schemas.openxmlformats.org/drawingml/2006/table">
            <a:tbl>
              <a:tblPr firstRow="1" bandRow="1">
                <a:noFill/>
                <a:tableStyleId>{EFF0F1B1-B04D-454F-ABEE-A4EC8A169F0F}</a:tableStyleId>
              </a:tblPr>
              <a:tblGrid>
                <a:gridCol w="60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2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2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5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1"/>
          <p:cNvSpPr txBox="1">
            <a:spLocks noGrp="1"/>
          </p:cNvSpPr>
          <p:nvPr>
            <p:ph type="body" idx="1"/>
          </p:nvPr>
        </p:nvSpPr>
        <p:spPr>
          <a:xfrm>
            <a:off x="304796" y="771467"/>
            <a:ext cx="11297123" cy="5607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pop() method removes the element at the specified position.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Syntax: </a:t>
            </a:r>
            <a:r>
              <a:rPr lang="en-US" b="0" i="1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-US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.pop(</a:t>
            </a:r>
            <a:r>
              <a:rPr lang="en-US" b="0" i="1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pos</a:t>
            </a:r>
            <a:r>
              <a:rPr lang="en-US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 Element at the Given Index from the List:</a:t>
            </a:r>
            <a:endParaRPr sz="700"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language = ['Python', 'Java', 'C++', 'French', 'C’]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print(‘Old  List: ', language)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	value = language.pop(3) 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print(‘Popped Value: ', value) 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print('Updated  List: ', language)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Old List = ['Python', 'Java', 'C++', 'French', 'C’]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Popped Value: French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Updated List: ['Python', 'Java', 'C++', 'C']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--------------------------------------------------------------------------------------</a:t>
            </a:r>
            <a:endParaRPr/>
          </a:p>
        </p:txBody>
      </p:sp>
      <p:graphicFrame>
        <p:nvGraphicFramePr>
          <p:cNvPr id="318" name="Google Shape;318;p31"/>
          <p:cNvGraphicFramePr/>
          <p:nvPr/>
        </p:nvGraphicFramePr>
        <p:xfrm>
          <a:off x="614084" y="1979169"/>
          <a:ext cx="10036500" cy="701040"/>
        </p:xfrm>
        <a:graphic>
          <a:graphicData uri="http://schemas.openxmlformats.org/drawingml/2006/table">
            <a:tbl>
              <a:tblPr>
                <a:noFill/>
                <a:tableStyleId>{FB70580C-F736-470D-B57C-30AB6EE4B1DB}</a:tableStyleId>
              </a:tblPr>
              <a:tblGrid>
                <a:gridCol w="72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1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i="1" u="none" strike="noStrike" cap="none"/>
                        <a:t>pos</a:t>
                      </a:r>
                      <a:endParaRPr sz="1800" u="none" strike="noStrike" cap="none"/>
                    </a:p>
                  </a:txBody>
                  <a:tcPr marL="152400" marR="76200" marT="76200" marB="7620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Optional. A number specifying the position of the element you want to remove, default value is -1, which returns the last item</a:t>
                      </a:r>
                      <a:endParaRPr/>
                    </a:p>
                  </a:txBody>
                  <a:tcPr marL="76200" marR="76200" marT="76200" marB="7620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9" name="Google Shape;319;p31"/>
          <p:cNvGraphicFramePr/>
          <p:nvPr/>
        </p:nvGraphicFramePr>
        <p:xfrm>
          <a:off x="6588857" y="4511241"/>
          <a:ext cx="5578875" cy="457210"/>
        </p:xfrm>
        <a:graphic>
          <a:graphicData uri="http://schemas.openxmlformats.org/drawingml/2006/table">
            <a:tbl>
              <a:tblPr firstRow="1" bandRow="1">
                <a:noFill/>
                <a:tableStyleId>{36BE398D-1F84-443D-9D18-A059D32F933B}</a:tableStyleId>
              </a:tblPr>
              <a:tblGrid>
                <a:gridCol w="111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5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5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Python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Java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C++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French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0" name="Google Shape;320;p31"/>
          <p:cNvGraphicFramePr/>
          <p:nvPr/>
        </p:nvGraphicFramePr>
        <p:xfrm>
          <a:off x="6588857" y="4135206"/>
          <a:ext cx="5578875" cy="365770"/>
        </p:xfrm>
        <a:graphic>
          <a:graphicData uri="http://schemas.openxmlformats.org/drawingml/2006/table">
            <a:tbl>
              <a:tblPr firstRow="1" bandRow="1">
                <a:noFill/>
                <a:tableStyleId>{EFF0F1B1-B04D-454F-ABEE-A4EC8A169F0F}</a:tableStyleId>
              </a:tblPr>
              <a:tblGrid>
                <a:gridCol w="111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5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5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1" name="Google Shape;321;p31"/>
          <p:cNvSpPr/>
          <p:nvPr/>
        </p:nvSpPr>
        <p:spPr>
          <a:xfrm>
            <a:off x="9234803" y="4978716"/>
            <a:ext cx="286978" cy="778046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2" name="Google Shape;322;p31"/>
          <p:cNvGraphicFramePr/>
          <p:nvPr/>
        </p:nvGraphicFramePr>
        <p:xfrm>
          <a:off x="7146744" y="5756762"/>
          <a:ext cx="4463100" cy="457210"/>
        </p:xfrm>
        <a:graphic>
          <a:graphicData uri="http://schemas.openxmlformats.org/drawingml/2006/table">
            <a:tbl>
              <a:tblPr firstRow="1" bandRow="1">
                <a:noFill/>
                <a:tableStyleId>{36BE398D-1F84-443D-9D18-A059D32F933B}</a:tableStyleId>
              </a:tblPr>
              <a:tblGrid>
                <a:gridCol w="111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5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Python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Java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C++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2"/>
          <p:cNvSpPr txBox="1">
            <a:spLocks noGrp="1"/>
          </p:cNvSpPr>
          <p:nvPr>
            <p:ph type="body" idx="1"/>
          </p:nvPr>
        </p:nvSpPr>
        <p:spPr>
          <a:xfrm>
            <a:off x="643869" y="981634"/>
            <a:ext cx="10987835" cy="5607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pop() when index is not passed: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endParaRPr sz="700"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language = ['Python', 'Java', 'C++', 'C'] 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print(‘Popped Value: ', language.pop()) 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print('Updated List: ', language) 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print(‘Popped Value: ', language.pop(-1)) 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print('Updated List: ', language)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Popped Value: C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Updated List: ['Python', 'Java', 'C++’]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Popped Value: C++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List:  ['Python', 'Java']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-------------------------------------------------------------------------------------</a:t>
            </a:r>
            <a:endParaRPr/>
          </a:p>
        </p:txBody>
      </p:sp>
      <p:graphicFrame>
        <p:nvGraphicFramePr>
          <p:cNvPr id="328" name="Google Shape;328;p32"/>
          <p:cNvGraphicFramePr/>
          <p:nvPr/>
        </p:nvGraphicFramePr>
        <p:xfrm>
          <a:off x="7240527" y="1312745"/>
          <a:ext cx="4463100" cy="457210"/>
        </p:xfrm>
        <a:graphic>
          <a:graphicData uri="http://schemas.openxmlformats.org/drawingml/2006/table">
            <a:tbl>
              <a:tblPr firstRow="1" bandRow="1">
                <a:noFill/>
                <a:tableStyleId>{36BE398D-1F84-443D-9D18-A059D32F933B}</a:tableStyleId>
              </a:tblPr>
              <a:tblGrid>
                <a:gridCol w="111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5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Python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Java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C++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9" name="Google Shape;329;p32"/>
          <p:cNvSpPr/>
          <p:nvPr/>
        </p:nvSpPr>
        <p:spPr>
          <a:xfrm>
            <a:off x="9185097" y="1769945"/>
            <a:ext cx="286978" cy="839691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0" name="Google Shape;330;p32"/>
          <p:cNvGraphicFramePr/>
          <p:nvPr/>
        </p:nvGraphicFramePr>
        <p:xfrm>
          <a:off x="7675122" y="2642629"/>
          <a:ext cx="3347325" cy="457210"/>
        </p:xfrm>
        <a:graphic>
          <a:graphicData uri="http://schemas.openxmlformats.org/drawingml/2006/table">
            <a:tbl>
              <a:tblPr firstRow="1" bandRow="1">
                <a:noFill/>
                <a:tableStyleId>{36BE398D-1F84-443D-9D18-A059D32F933B}</a:tableStyleId>
              </a:tblPr>
              <a:tblGrid>
                <a:gridCol w="111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5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Python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Java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C++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1" name="Google Shape;331;p32"/>
          <p:cNvSpPr/>
          <p:nvPr/>
        </p:nvSpPr>
        <p:spPr>
          <a:xfrm>
            <a:off x="9184397" y="3487050"/>
            <a:ext cx="286978" cy="839691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2" name="Google Shape;332;p32"/>
          <p:cNvGraphicFramePr/>
          <p:nvPr/>
        </p:nvGraphicFramePr>
        <p:xfrm>
          <a:off x="8212112" y="4384878"/>
          <a:ext cx="2231550" cy="457210"/>
        </p:xfrm>
        <a:graphic>
          <a:graphicData uri="http://schemas.openxmlformats.org/drawingml/2006/table">
            <a:tbl>
              <a:tblPr firstRow="1" bandRow="1">
                <a:noFill/>
                <a:tableStyleId>{36BE398D-1F84-443D-9D18-A059D32F933B}</a:tableStyleId>
              </a:tblPr>
              <a:tblGrid>
                <a:gridCol w="111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Python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Java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3" name="Google Shape;333;p32"/>
          <p:cNvSpPr txBox="1"/>
          <p:nvPr/>
        </p:nvSpPr>
        <p:spPr>
          <a:xfrm>
            <a:off x="9338859" y="1998659"/>
            <a:ext cx="82193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pop()</a:t>
            </a:r>
            <a:endParaRPr/>
          </a:p>
        </p:txBody>
      </p:sp>
      <p:sp>
        <p:nvSpPr>
          <p:cNvPr id="334" name="Google Shape;334;p32"/>
          <p:cNvSpPr txBox="1"/>
          <p:nvPr/>
        </p:nvSpPr>
        <p:spPr>
          <a:xfrm>
            <a:off x="9327886" y="3686295"/>
            <a:ext cx="10376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pop(-1)</a:t>
            </a:r>
            <a:endParaRPr/>
          </a:p>
        </p:txBody>
      </p:sp>
      <p:graphicFrame>
        <p:nvGraphicFramePr>
          <p:cNvPr id="335" name="Google Shape;335;p32"/>
          <p:cNvGraphicFramePr/>
          <p:nvPr/>
        </p:nvGraphicFramePr>
        <p:xfrm>
          <a:off x="7240527" y="915210"/>
          <a:ext cx="4463100" cy="365770"/>
        </p:xfrm>
        <a:graphic>
          <a:graphicData uri="http://schemas.openxmlformats.org/drawingml/2006/table">
            <a:tbl>
              <a:tblPr firstRow="1" bandRow="1">
                <a:noFill/>
                <a:tableStyleId>{EFF0F1B1-B04D-454F-ABEE-A4EC8A169F0F}</a:tableStyleId>
              </a:tblPr>
              <a:tblGrid>
                <a:gridCol w="111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5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6" name="Google Shape;336;p32"/>
          <p:cNvGraphicFramePr/>
          <p:nvPr/>
        </p:nvGraphicFramePr>
        <p:xfrm>
          <a:off x="7675122" y="3116560"/>
          <a:ext cx="3347325" cy="365770"/>
        </p:xfrm>
        <a:graphic>
          <a:graphicData uri="http://schemas.openxmlformats.org/drawingml/2006/table">
            <a:tbl>
              <a:tblPr firstRow="1" bandRow="1">
                <a:noFill/>
                <a:tableStyleId>{EFF0F1B1-B04D-454F-ABEE-A4EC8A169F0F}</a:tableStyleId>
              </a:tblPr>
              <a:tblGrid>
                <a:gridCol w="111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5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-3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-2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-1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/>
          <p:cNvSpPr txBox="1">
            <a:spLocks noGrp="1"/>
          </p:cNvSpPr>
          <p:nvPr>
            <p:ph type="body" idx="1"/>
          </p:nvPr>
        </p:nvSpPr>
        <p:spPr>
          <a:xfrm>
            <a:off x="536293" y="770562"/>
            <a:ext cx="10987835" cy="591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 i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remove( ) method: removes the first occurrence of the element with the specified value.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 i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Syntax: </a:t>
            </a:r>
            <a:r>
              <a:rPr lang="en-US" b="0" i="1" u="none" strike="noStrike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-US" b="0" i="0" u="none" strike="noStrike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.remove</a:t>
            </a:r>
            <a:r>
              <a:rPr lang="en-US" b="0" i="0" u="none" strike="noStrike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b="0" i="1" u="none" strike="noStrike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elmnt</a:t>
            </a:r>
            <a:r>
              <a:rPr lang="en-US" b="0" i="0" u="none" strike="noStrike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i="1" u="none" strike="noStrike" dirty="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i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remove() method searches for the given element  in the list and removes the first matching element.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remove() method takes a single element as an  argument and removes it from the list.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element(argument) passed to the remove()  method doesn't exist,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valueError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exception is thrown.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i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list1 = [5,78,12,26,50]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	print('Original list: ', list1) 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list1.remove(12)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print('Updated list elements: ', list1)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Original list:	[5, 78, 12, 26, 50]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Updated list: [5, 78, 26, 50]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-------------------------------------------------------------------------------------</a:t>
            </a:r>
            <a:endParaRPr dirty="0"/>
          </a:p>
        </p:txBody>
      </p:sp>
      <p:graphicFrame>
        <p:nvGraphicFramePr>
          <p:cNvPr id="342" name="Google Shape;342;p33"/>
          <p:cNvGraphicFramePr/>
          <p:nvPr>
            <p:extLst>
              <p:ext uri="{D42A27DB-BD31-4B8C-83A1-F6EECF244321}">
                <p14:modId xmlns:p14="http://schemas.microsoft.com/office/powerpoint/2010/main" val="1902916406"/>
              </p:ext>
            </p:extLst>
          </p:nvPr>
        </p:nvGraphicFramePr>
        <p:xfrm>
          <a:off x="667871" y="2182264"/>
          <a:ext cx="10383587" cy="492110"/>
        </p:xfrm>
        <a:graphic>
          <a:graphicData uri="http://schemas.openxmlformats.org/drawingml/2006/table">
            <a:tbl>
              <a:tblPr>
                <a:noFill/>
                <a:tableStyleId>{FB70580C-F736-470D-B57C-30AB6EE4B1DB}</a:tableStyleId>
              </a:tblPr>
              <a:tblGrid>
                <a:gridCol w="978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05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211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i="1" u="none" strike="noStrike" cap="none"/>
                        <a:t>elmnt</a:t>
                      </a:r>
                      <a:endParaRPr sz="1800" u="none" strike="noStrike" cap="none"/>
                    </a:p>
                  </a:txBody>
                  <a:tcPr marL="151000" marR="75500" marT="75500" marB="7550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Required. Denotes the element you want to remove</a:t>
                      </a:r>
                      <a:endParaRPr dirty="0"/>
                    </a:p>
                  </a:txBody>
                  <a:tcPr marL="75500" marR="75500" marT="75500" marB="7550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4"/>
          <p:cNvSpPr txBox="1">
            <a:spLocks noGrp="1"/>
          </p:cNvSpPr>
          <p:nvPr>
            <p:ph type="body" idx="1"/>
          </p:nvPr>
        </p:nvSpPr>
        <p:spPr>
          <a:xfrm>
            <a:off x="603528" y="1021975"/>
            <a:ext cx="10987835" cy="5607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 List: </a:t>
            </a:r>
            <a:r>
              <a:rPr lang="en-US" sz="2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list can be copied with = operator.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problem with copying the list in this way is that if  you modify the new_list, the old_list is also modified.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old_list = [1, 2, 3]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new_list = old_list</a:t>
            </a:r>
            <a:endParaRPr sz="2400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new_list.append('a') 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print('New List:', new_list ) 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print('Old List:', old_list 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New List: [1, 2, 3, 'a’]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Old List: [1, 2, 3, 'a']</a:t>
            </a:r>
            <a:endParaRPr/>
          </a:p>
        </p:txBody>
      </p:sp>
      <p:graphicFrame>
        <p:nvGraphicFramePr>
          <p:cNvPr id="348" name="Google Shape;348;p34"/>
          <p:cNvGraphicFramePr/>
          <p:nvPr/>
        </p:nvGraphicFramePr>
        <p:xfrm>
          <a:off x="9020707" y="3404258"/>
          <a:ext cx="2414400" cy="370850"/>
        </p:xfrm>
        <a:graphic>
          <a:graphicData uri="http://schemas.openxmlformats.org/drawingml/2006/table">
            <a:tbl>
              <a:tblPr firstRow="1" bandRow="1">
                <a:noFill/>
                <a:tableStyleId>{C0A761A7-5560-423C-A4AE-F660AE8A3120}</a:tableStyleId>
              </a:tblPr>
              <a:tblGrid>
                <a:gridCol w="8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9" name="Google Shape;349;p34"/>
          <p:cNvSpPr txBox="1"/>
          <p:nvPr/>
        </p:nvSpPr>
        <p:spPr>
          <a:xfrm>
            <a:off x="7189283" y="3144766"/>
            <a:ext cx="8842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old_list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4"/>
          <p:cNvSpPr txBox="1"/>
          <p:nvPr/>
        </p:nvSpPr>
        <p:spPr>
          <a:xfrm>
            <a:off x="7136159" y="3742447"/>
            <a:ext cx="9904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new_list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" name="Google Shape;351;p34"/>
          <p:cNvCxnSpPr/>
          <p:nvPr/>
        </p:nvCxnSpPr>
        <p:spPr>
          <a:xfrm>
            <a:off x="7967251" y="3336667"/>
            <a:ext cx="985681" cy="18466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52" name="Google Shape;352;p34"/>
          <p:cNvCxnSpPr/>
          <p:nvPr/>
        </p:nvCxnSpPr>
        <p:spPr>
          <a:xfrm rot="10800000" flipH="1">
            <a:off x="8073499" y="3650120"/>
            <a:ext cx="879433" cy="31689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353" name="Google Shape;353;p34"/>
          <p:cNvGraphicFramePr/>
          <p:nvPr/>
        </p:nvGraphicFramePr>
        <p:xfrm>
          <a:off x="9014572" y="5334034"/>
          <a:ext cx="2414400" cy="370850"/>
        </p:xfrm>
        <a:graphic>
          <a:graphicData uri="http://schemas.openxmlformats.org/drawingml/2006/table">
            <a:tbl>
              <a:tblPr firstRow="1" bandRow="1">
                <a:noFill/>
                <a:tableStyleId>{C0A761A7-5560-423C-A4AE-F660AE8A3120}</a:tableStyleId>
              </a:tblPr>
              <a:tblGrid>
                <a:gridCol w="60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a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54" name="Google Shape;354;p34"/>
          <p:cNvCxnSpPr/>
          <p:nvPr/>
        </p:nvCxnSpPr>
        <p:spPr>
          <a:xfrm>
            <a:off x="7974202" y="5270548"/>
            <a:ext cx="985681" cy="18466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55" name="Google Shape;355;p34"/>
          <p:cNvCxnSpPr/>
          <p:nvPr/>
        </p:nvCxnSpPr>
        <p:spPr>
          <a:xfrm rot="10800000" flipH="1">
            <a:off x="8073498" y="5564376"/>
            <a:ext cx="879433" cy="31689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56" name="Google Shape;356;p34"/>
          <p:cNvSpPr txBox="1"/>
          <p:nvPr/>
        </p:nvSpPr>
        <p:spPr>
          <a:xfrm>
            <a:off x="7111230" y="5093533"/>
            <a:ext cx="8842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old_list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4"/>
          <p:cNvSpPr txBox="1"/>
          <p:nvPr/>
        </p:nvSpPr>
        <p:spPr>
          <a:xfrm>
            <a:off x="7111230" y="5696609"/>
            <a:ext cx="9904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new_list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4"/>
          <p:cNvSpPr txBox="1"/>
          <p:nvPr/>
        </p:nvSpPr>
        <p:spPr>
          <a:xfrm>
            <a:off x="6534127" y="4215452"/>
            <a:ext cx="5339137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appending ‘a’ to new_list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5"/>
          <p:cNvSpPr txBox="1">
            <a:spLocks noGrp="1"/>
          </p:cNvSpPr>
          <p:nvPr>
            <p:ph type="body" idx="1"/>
          </p:nvPr>
        </p:nvSpPr>
        <p:spPr>
          <a:xfrm>
            <a:off x="549740" y="1062317"/>
            <a:ext cx="11440202" cy="5607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copy( ): copy() method returns a copy of the specified list.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Syntax: </a:t>
            </a:r>
            <a:r>
              <a:rPr lang="en-US" i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list.copy()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need the original list unchanged when the new list  is modified, you can use copy() method.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copy() method doesn't take any parameters and it returns a shallow copy of the list.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copy() function returns a list. It doesn't modify the  original list.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list1 = [1,2,4] 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new_list = list1.copy()  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new_list.append(5) 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print('Old List: ', list1)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print('New List: ', new_list)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Old List: [1, 2, 4]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New List: [1, 2, 4, 5]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-------------------------------------------------------------------------------------</a:t>
            </a:r>
            <a:endParaRPr/>
          </a:p>
        </p:txBody>
      </p:sp>
      <p:graphicFrame>
        <p:nvGraphicFramePr>
          <p:cNvPr id="364" name="Google Shape;364;p35"/>
          <p:cNvGraphicFramePr/>
          <p:nvPr/>
        </p:nvGraphicFramePr>
        <p:xfrm>
          <a:off x="9400013" y="2925567"/>
          <a:ext cx="2414400" cy="370850"/>
        </p:xfrm>
        <a:graphic>
          <a:graphicData uri="http://schemas.openxmlformats.org/drawingml/2006/table">
            <a:tbl>
              <a:tblPr firstRow="1" bandRow="1">
                <a:noFill/>
                <a:tableStyleId>{C0A761A7-5560-423C-A4AE-F660AE8A3120}</a:tableStyleId>
              </a:tblPr>
              <a:tblGrid>
                <a:gridCol w="8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65" name="Google Shape;365;p35"/>
          <p:cNvCxnSpPr/>
          <p:nvPr/>
        </p:nvCxnSpPr>
        <p:spPr>
          <a:xfrm>
            <a:off x="8524571" y="3110987"/>
            <a:ext cx="875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66" name="Google Shape;366;p35"/>
          <p:cNvSpPr txBox="1"/>
          <p:nvPr/>
        </p:nvSpPr>
        <p:spPr>
          <a:xfrm>
            <a:off x="7999230" y="2933568"/>
            <a:ext cx="5828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list1</a:t>
            </a:r>
            <a:endParaRPr/>
          </a:p>
        </p:txBody>
      </p:sp>
      <p:cxnSp>
        <p:nvCxnSpPr>
          <p:cNvPr id="367" name="Google Shape;367;p35"/>
          <p:cNvCxnSpPr/>
          <p:nvPr/>
        </p:nvCxnSpPr>
        <p:spPr>
          <a:xfrm>
            <a:off x="8524571" y="3818191"/>
            <a:ext cx="875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68" name="Google Shape;368;p35"/>
          <p:cNvSpPr txBox="1"/>
          <p:nvPr/>
        </p:nvSpPr>
        <p:spPr>
          <a:xfrm>
            <a:off x="7591618" y="3634279"/>
            <a:ext cx="9904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new_list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9" name="Google Shape;369;p35"/>
          <p:cNvGraphicFramePr/>
          <p:nvPr/>
        </p:nvGraphicFramePr>
        <p:xfrm>
          <a:off x="9400013" y="3632771"/>
          <a:ext cx="2414400" cy="370850"/>
        </p:xfrm>
        <a:graphic>
          <a:graphicData uri="http://schemas.openxmlformats.org/drawingml/2006/table">
            <a:tbl>
              <a:tblPr firstRow="1" bandRow="1">
                <a:noFill/>
                <a:tableStyleId>{C0A761A7-5560-423C-A4AE-F660AE8A3120}</a:tableStyleId>
              </a:tblPr>
              <a:tblGrid>
                <a:gridCol w="8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0" name="Google Shape;370;p35"/>
          <p:cNvSpPr txBox="1"/>
          <p:nvPr/>
        </p:nvSpPr>
        <p:spPr>
          <a:xfrm>
            <a:off x="8178229" y="4151241"/>
            <a:ext cx="3811713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appending 5 to new_list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1" name="Google Shape;371;p35"/>
          <p:cNvGraphicFramePr/>
          <p:nvPr/>
        </p:nvGraphicFramePr>
        <p:xfrm>
          <a:off x="9383760" y="5835564"/>
          <a:ext cx="2414400" cy="370850"/>
        </p:xfrm>
        <a:graphic>
          <a:graphicData uri="http://schemas.openxmlformats.org/drawingml/2006/table">
            <a:tbl>
              <a:tblPr firstRow="1" bandRow="1">
                <a:noFill/>
                <a:tableStyleId>{C0A761A7-5560-423C-A4AE-F660AE8A3120}</a:tableStyleId>
              </a:tblPr>
              <a:tblGrid>
                <a:gridCol w="60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5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2" name="Google Shape;372;p35"/>
          <p:cNvGraphicFramePr/>
          <p:nvPr/>
        </p:nvGraphicFramePr>
        <p:xfrm>
          <a:off x="9383760" y="5248238"/>
          <a:ext cx="2414400" cy="370850"/>
        </p:xfrm>
        <a:graphic>
          <a:graphicData uri="http://schemas.openxmlformats.org/drawingml/2006/table">
            <a:tbl>
              <a:tblPr firstRow="1" bandRow="1">
                <a:noFill/>
                <a:tableStyleId>{C0A761A7-5560-423C-A4AE-F660AE8A3120}</a:tableStyleId>
              </a:tblPr>
              <a:tblGrid>
                <a:gridCol w="8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3" name="Google Shape;373;p35"/>
          <p:cNvSpPr txBox="1"/>
          <p:nvPr/>
        </p:nvSpPr>
        <p:spPr>
          <a:xfrm>
            <a:off x="7795424" y="5224235"/>
            <a:ext cx="5828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list1</a:t>
            </a:r>
            <a:endParaRPr/>
          </a:p>
        </p:txBody>
      </p:sp>
      <p:cxnSp>
        <p:nvCxnSpPr>
          <p:cNvPr id="374" name="Google Shape;374;p35"/>
          <p:cNvCxnSpPr/>
          <p:nvPr/>
        </p:nvCxnSpPr>
        <p:spPr>
          <a:xfrm>
            <a:off x="8378276" y="5422361"/>
            <a:ext cx="875442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75" name="Google Shape;375;p35"/>
          <p:cNvCxnSpPr/>
          <p:nvPr/>
        </p:nvCxnSpPr>
        <p:spPr>
          <a:xfrm>
            <a:off x="8409190" y="6020984"/>
            <a:ext cx="875442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76" name="Google Shape;376;p35"/>
          <p:cNvSpPr txBox="1"/>
          <p:nvPr/>
        </p:nvSpPr>
        <p:spPr>
          <a:xfrm>
            <a:off x="7503998" y="5791074"/>
            <a:ext cx="9904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new_list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6"/>
          <p:cNvSpPr txBox="1">
            <a:spLocks noGrp="1"/>
          </p:cNvSpPr>
          <p:nvPr>
            <p:ph type="body" idx="1"/>
          </p:nvPr>
        </p:nvSpPr>
        <p:spPr>
          <a:xfrm>
            <a:off x="616975" y="995081"/>
            <a:ext cx="10987835" cy="5607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reverse( ) method: reverse() method reverses the order of the elements.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Syntax: </a:t>
            </a:r>
            <a:r>
              <a:rPr lang="en-US" b="0" i="1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-US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.reverse()</a:t>
            </a:r>
            <a:endParaRPr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reverse() function doesn't return any value. It  only reverses the elements and updates the list.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list1 = [1,5,8,6,11,55]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print('Original List:', list1) 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list1.reverse()       		  		     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2200" b="1">
                <a:latin typeface="Consolas"/>
                <a:ea typeface="Consolas"/>
                <a:cs typeface="Consolas"/>
                <a:sym typeface="Consolas"/>
              </a:rPr>
              <a:t>print('Reversed List:', list1)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Original List: [1, 5, 8, 6, 11, 55]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Reversed List: [55, 11, 6, 8, 5, 1]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-------------------------------------------------------------------------------------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7"/>
          <p:cNvSpPr txBox="1">
            <a:spLocks noGrp="1"/>
          </p:cNvSpPr>
          <p:nvPr>
            <p:ph type="body" idx="1"/>
          </p:nvPr>
        </p:nvSpPr>
        <p:spPr>
          <a:xfrm>
            <a:off x="603528" y="658905"/>
            <a:ext cx="10987835" cy="619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sort( ) method: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sort() method sorts the elements of a given list. It sorts the list ascending by default.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sort() method sorts the elements of a given list in a specific order - Ascending or Descending.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Syntax: list.sort(reverse=True|False, key=myFunc)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list1 = [1,15,88,6,51,55]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print('Original List:', list1)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list1.sort()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print('sorted List:', list1)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Original List: [1, 15, 88, 6, 51, 55]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sorted List: [1, 6, 15, 51, 55, 88]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-------------------------------------------------------------------------------------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387" name="Google Shape;387;p37"/>
          <p:cNvGraphicFramePr/>
          <p:nvPr/>
        </p:nvGraphicFramePr>
        <p:xfrm>
          <a:off x="756007" y="2483307"/>
          <a:ext cx="10515600" cy="942070"/>
        </p:xfrm>
        <a:graphic>
          <a:graphicData uri="http://schemas.openxmlformats.org/drawingml/2006/table">
            <a:tbl>
              <a:tblPr>
                <a:noFill/>
                <a:tableStyleId>{FB70580C-F736-470D-B57C-30AB6EE4B1DB}</a:tableStyleId>
              </a:tblPr>
              <a:tblGrid>
                <a:gridCol w="143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8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reverse</a:t>
                      </a:r>
                      <a:endParaRPr/>
                    </a:p>
                  </a:txBody>
                  <a:tcPr marL="151000" marR="75500" marT="75500" marB="7550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Optional. reverse=True will sort the list descending. Default is reverse=False</a:t>
                      </a:r>
                      <a:endParaRPr/>
                    </a:p>
                  </a:txBody>
                  <a:tcPr marL="75500" marR="75500" marT="75500" marB="7550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key</a:t>
                      </a:r>
                      <a:endParaRPr/>
                    </a:p>
                  </a:txBody>
                  <a:tcPr marL="151000" marR="75500" marT="75500" marB="7550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Optional. A function to specify the sorting criteria(s)</a:t>
                      </a:r>
                      <a:endParaRPr/>
                    </a:p>
                  </a:txBody>
                  <a:tcPr marL="75500" marR="75500" marT="75500" marB="7550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8"/>
          <p:cNvSpPr txBox="1">
            <a:spLocks noGrp="1"/>
          </p:cNvSpPr>
          <p:nvPr>
            <p:ph type="title"/>
          </p:nvPr>
        </p:nvSpPr>
        <p:spPr>
          <a:xfrm>
            <a:off x="838200" y="873303"/>
            <a:ext cx="10515600" cy="817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 b="1">
                <a:latin typeface="Calibri"/>
                <a:ea typeface="Calibri"/>
                <a:cs typeface="Calibri"/>
                <a:sym typeface="Calibri"/>
              </a:rPr>
              <a:t>Sort the list descending</a:t>
            </a:r>
            <a:endParaRPr/>
          </a:p>
        </p:txBody>
      </p:sp>
      <p:sp>
        <p:nvSpPr>
          <p:cNvPr id="393" name="Google Shape;393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list1 = [1,15,88,6,51,55]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print('Original List:', list1)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list1.sort(reverse=True)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print('sorted List:', list1)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Original List: [1, 15, 88, 6, 51, 55]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sorted List: [88, 55, 51, 15, 6, 1]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Sort the list by the length of the values</a:t>
            </a:r>
            <a:endParaRPr/>
          </a:p>
        </p:txBody>
      </p:sp>
      <p:sp>
        <p:nvSpPr>
          <p:cNvPr id="399" name="Google Shape;399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Consolas"/>
                <a:ea typeface="Consolas"/>
                <a:cs typeface="Consolas"/>
                <a:sym typeface="Consolas"/>
              </a:rPr>
              <a:t>def myFunc(e):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Consolas"/>
                <a:ea typeface="Consolas"/>
                <a:cs typeface="Consolas"/>
                <a:sym typeface="Consolas"/>
              </a:rPr>
              <a:t>  	return len(e)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Consolas"/>
                <a:ea typeface="Consolas"/>
                <a:cs typeface="Consolas"/>
                <a:sym typeface="Consolas"/>
              </a:rPr>
              <a:t>cars = ['Ford', 'Mitsubishi', 'BMW', 'VW']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Consolas"/>
                <a:ea typeface="Consolas"/>
                <a:cs typeface="Consolas"/>
                <a:sym typeface="Consolas"/>
              </a:rPr>
              <a:t>cars.sort(key=myFunc)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Consolas"/>
                <a:ea typeface="Consolas"/>
                <a:cs typeface="Consolas"/>
                <a:sym typeface="Consolas"/>
              </a:rPr>
              <a:t>print(cars)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['VW', 'BMW', 'Ford', 'Mitsubishi']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0"/>
          <p:cNvSpPr txBox="1">
            <a:spLocks noGrp="1"/>
          </p:cNvSpPr>
          <p:nvPr>
            <p:ph type="title"/>
          </p:nvPr>
        </p:nvSpPr>
        <p:spPr>
          <a:xfrm>
            <a:off x="838200" y="75554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Sort the list descending and by the length of the values</a:t>
            </a:r>
            <a:endParaRPr/>
          </a:p>
        </p:txBody>
      </p:sp>
      <p:sp>
        <p:nvSpPr>
          <p:cNvPr id="405" name="Google Shape;405;p40"/>
          <p:cNvSpPr txBox="1">
            <a:spLocks noGrp="1"/>
          </p:cNvSpPr>
          <p:nvPr>
            <p:ph type="body" idx="1"/>
          </p:nvPr>
        </p:nvSpPr>
        <p:spPr>
          <a:xfrm>
            <a:off x="838200" y="2506662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Consolas"/>
                <a:ea typeface="Consolas"/>
                <a:cs typeface="Consolas"/>
                <a:sym typeface="Consolas"/>
              </a:rPr>
              <a:t>def myFunc(e):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Consolas"/>
                <a:ea typeface="Consolas"/>
                <a:cs typeface="Consolas"/>
                <a:sym typeface="Consolas"/>
              </a:rPr>
              <a:t>  	return len(e)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Consolas"/>
                <a:ea typeface="Consolas"/>
                <a:cs typeface="Consolas"/>
                <a:sym typeface="Consolas"/>
              </a:rPr>
              <a:t>cars = ['Ford', 'Mitsubishi', 'BMW', 'VW']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Consolas"/>
                <a:ea typeface="Consolas"/>
                <a:cs typeface="Consolas"/>
                <a:sym typeface="Consolas"/>
              </a:rPr>
              <a:t>cars.sort(reverse=True, key=myFunc)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Consolas"/>
                <a:ea typeface="Consolas"/>
                <a:cs typeface="Consolas"/>
                <a:sym typeface="Consolas"/>
              </a:rPr>
              <a:t>print(cars)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['Mitsubishi', 'Ford', 'BMW', 'VW']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1"/>
          <p:cNvSpPr txBox="1">
            <a:spLocks noGrp="1"/>
          </p:cNvSpPr>
          <p:nvPr>
            <p:ph type="body" idx="1"/>
          </p:nvPr>
        </p:nvSpPr>
        <p:spPr>
          <a:xfrm>
            <a:off x="602082" y="658905"/>
            <a:ext cx="10987835" cy="619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Arithmetic operation +, * on list: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ls1=[1,2,3]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ls2=[5,6,7]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print(ls1+ls2)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Output: </a:t>
            </a: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[1, 2, 3, 5, 6, 7]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---------------------------------------------------------------</a:t>
            </a:r>
            <a:endParaRPr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ls1=[1,2,3]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print(ls1*3)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Output: </a:t>
            </a: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[1, 2, 3, 1, 2, 3, 1, 2, 3]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</a:t>
            </a:r>
            <a:endParaRPr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ls1=[1,2,3]</a:t>
            </a:r>
            <a:endParaRPr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[0]*4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Output:</a:t>
            </a: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[0, 0, 0, 0]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-------------------------------------------------------------------------------------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2"/>
          <p:cNvSpPr txBox="1">
            <a:spLocks noGrp="1"/>
          </p:cNvSpPr>
          <p:nvPr>
            <p:ph type="body" idx="1"/>
          </p:nvPr>
        </p:nvSpPr>
        <p:spPr>
          <a:xfrm>
            <a:off x="838200" y="852755"/>
            <a:ext cx="10515600" cy="583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 i="1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</a:t>
            </a:r>
            <a:r>
              <a:rPr lang="en-US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b="1" i="1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in</a:t>
            </a:r>
            <a:r>
              <a:rPr lang="en-US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sz="2800"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list1 = [1,15,88,6,51,55]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if 88 in list1</a:t>
            </a:r>
            <a:endParaRPr sz="2800" b="1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print('Element Found')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Element Found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</a:t>
            </a:r>
            <a:endParaRPr sz="2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list1 = [1,15,88,6,51,55]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if 100 not in list1</a:t>
            </a:r>
            <a:endParaRPr sz="2800" b="1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print('Element not present’)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/>
              <a:t>Element not present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3"/>
          <p:cNvSpPr txBox="1">
            <a:spLocks noGrp="1"/>
          </p:cNvSpPr>
          <p:nvPr>
            <p:ph type="body" idx="1"/>
          </p:nvPr>
        </p:nvSpPr>
        <p:spPr>
          <a:xfrm>
            <a:off x="318500" y="658905"/>
            <a:ext cx="11691990" cy="619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Lists and Functions: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utility functions like </a:t>
            </a:r>
            <a:r>
              <a:rPr lang="en-US" sz="2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max(), min(), sum(), len() etc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can be used on lists. Hence most of the operations will be easy without the usage of loops.</a:t>
            </a:r>
            <a:endParaRPr sz="1800"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sz="18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ls=[3,12,5,26,32,1,4]				ls=[3,12,5,26,32,1,4]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max(ls) 						min(ls) 		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Output: </a:t>
            </a: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32						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 </a:t>
            </a: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------------------------------------------------------------</a:t>
            </a:r>
            <a:endParaRPr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ls=[3,12,5,26,32,1,4]				ls=[3,12,5,26,32,1,4]</a:t>
            </a:r>
            <a:endParaRPr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sum(ls) 						len(ls) 	</a:t>
            </a:r>
            <a:endParaRPr sz="2400" b="1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rPr lang="en-US" sz="2400" b="1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	Output: </a:t>
            </a: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83						</a:t>
            </a:r>
            <a:r>
              <a:rPr lang="en-US" sz="2400" b="1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Output: </a:t>
            </a: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------------------------------------------------------------</a:t>
            </a:r>
            <a:endParaRPr sz="2400" b="1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rPr lang="en-US" sz="2400" b="1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ls=[3,12,5,26,32,1,4]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avg=sum(ls)/len(ls)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print(avg)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Output: </a:t>
            </a: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11.857142857142858	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21" name="Google Shape;421;p43"/>
          <p:cNvCxnSpPr/>
          <p:nvPr/>
        </p:nvCxnSpPr>
        <p:spPr>
          <a:xfrm>
            <a:off x="6452171" y="2239766"/>
            <a:ext cx="0" cy="396582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4"/>
          <p:cNvSpPr txBox="1">
            <a:spLocks noGrp="1"/>
          </p:cNvSpPr>
          <p:nvPr>
            <p:ph type="body" idx="1"/>
          </p:nvPr>
        </p:nvSpPr>
        <p:spPr>
          <a:xfrm>
            <a:off x="121024" y="981633"/>
            <a:ext cx="11551023" cy="619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Looping through list: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1. A Simple </a:t>
            </a:r>
            <a:r>
              <a:rPr lang="en-US" b="1" i="1"/>
              <a:t>for </a:t>
            </a:r>
            <a:r>
              <a:rPr lang="en-US" b="1"/>
              <a:t>Loop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	</a:t>
            </a:r>
            <a:r>
              <a:rPr lang="en-US" sz="2000"/>
              <a:t>Using a Python for loop is one of the simplest methods for iterating over a list or any other sequence (e.g. TUPLES, SETS, OR DICTIONARIES).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We can use them to run the statements contained within the loop once for each item in a list.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	</a:t>
            </a:r>
            <a:r>
              <a:rPr lang="en-US" sz="2400" b="1"/>
              <a:t>Example:</a:t>
            </a:r>
            <a:endParaRPr b="1"/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fruits = ["Apple", "Mango", "Banana", "Peach"]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for i in fruits: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    print(i)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/>
              <a:t>	Output:</a:t>
            </a:r>
            <a:endParaRPr/>
          </a:p>
          <a:p>
            <a:pPr marL="13716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Apple</a:t>
            </a:r>
            <a:endParaRPr/>
          </a:p>
          <a:p>
            <a:pPr marL="13716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Mango</a:t>
            </a:r>
            <a:endParaRPr/>
          </a:p>
          <a:p>
            <a:pPr marL="13716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Banana</a:t>
            </a:r>
            <a:endParaRPr/>
          </a:p>
          <a:p>
            <a:pPr marL="13716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Peach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5"/>
          <p:cNvSpPr txBox="1">
            <a:spLocks noGrp="1"/>
          </p:cNvSpPr>
          <p:nvPr>
            <p:ph type="body" idx="1"/>
          </p:nvPr>
        </p:nvSpPr>
        <p:spPr>
          <a:xfrm>
            <a:off x="201706" y="900951"/>
            <a:ext cx="11551023" cy="5728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Looping through list: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2. A </a:t>
            </a:r>
            <a:r>
              <a:rPr lang="en-US" b="1" i="1"/>
              <a:t>for</a:t>
            </a:r>
            <a:r>
              <a:rPr lang="en-US" b="1"/>
              <a:t> Loop with </a:t>
            </a:r>
            <a:r>
              <a:rPr lang="en-US" b="1" i="1"/>
              <a:t>range()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</a:t>
            </a:r>
            <a:r>
              <a:rPr lang="en-US" sz="2000" b="1"/>
              <a:t>range()</a:t>
            </a:r>
            <a:r>
              <a:rPr lang="en-US" sz="2000"/>
              <a:t> generates a sequence of integers from the provided starting and stopping indexes.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</a:t>
            </a:r>
            <a:r>
              <a:rPr lang="en-US" sz="2000" b="1"/>
              <a:t>Example: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fruits = ["Apple", "Mango", "Banana", "Peach"]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for i in range(len(fruits)):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  print("The list at index", i, "contains a", fruits[i])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 sz="2400" b="1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The list at index 0 contains a Apple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The list at index 1 contains a Mango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The list at index 2 contains a Banana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The list at index 3 contains a Peach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rPr lang="en-US" sz="1800" b="1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		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6"/>
          <p:cNvSpPr txBox="1">
            <a:spLocks noGrp="1"/>
          </p:cNvSpPr>
          <p:nvPr>
            <p:ph type="body" idx="1"/>
          </p:nvPr>
        </p:nvSpPr>
        <p:spPr>
          <a:xfrm>
            <a:off x="309283" y="712693"/>
            <a:ext cx="11645152" cy="619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 programming: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	Functional Programming decomposes a problem into a set of functions. The map(),filter(), and reduce() functions.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1"/>
              <a:t>1. map( ) Function: </a:t>
            </a:r>
            <a:r>
              <a:rPr lang="en-US" sz="2200"/>
              <a:t>The map() function applies a particular function to every element of a list.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1" i="1"/>
              <a:t>   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1" i="1"/>
              <a:t>Syntax: </a:t>
            </a:r>
            <a:r>
              <a:rPr lang="en-US" sz="2200"/>
              <a:t>map(function,sequence)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After applying the specified function in the sequence, the map( ) function returns the modified list.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7"/>
          <p:cNvSpPr txBox="1">
            <a:spLocks noGrp="1"/>
          </p:cNvSpPr>
          <p:nvPr>
            <p:ph type="body" idx="1"/>
          </p:nvPr>
        </p:nvSpPr>
        <p:spPr>
          <a:xfrm>
            <a:off x="838200" y="1304818"/>
            <a:ext cx="10515600" cy="4872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1" i="1"/>
              <a:t>Ex: </a:t>
            </a:r>
            <a:r>
              <a:rPr lang="en-US" sz="2200"/>
              <a:t>Program that adds 2 to every value in the list.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1">
                <a:latin typeface="Consolas"/>
                <a:ea typeface="Consolas"/>
                <a:cs typeface="Consolas"/>
                <a:sym typeface="Consolas"/>
              </a:rPr>
              <a:t>def add(x): 	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1">
                <a:latin typeface="Consolas"/>
                <a:ea typeface="Consolas"/>
                <a:cs typeface="Consolas"/>
                <a:sym typeface="Consolas"/>
              </a:rPr>
              <a:t>	x=x+2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1">
                <a:latin typeface="Consolas"/>
                <a:ea typeface="Consolas"/>
                <a:cs typeface="Consolas"/>
                <a:sym typeface="Consolas"/>
              </a:rPr>
              <a:t>	return x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b="1">
              <a:latin typeface="Consolas"/>
              <a:ea typeface="Consolas"/>
              <a:cs typeface="Consolas"/>
              <a:sym typeface="Consolas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1">
                <a:latin typeface="Consolas"/>
                <a:ea typeface="Consolas"/>
                <a:cs typeface="Consolas"/>
                <a:sym typeface="Consolas"/>
              </a:rPr>
              <a:t>num=[1,2,3,4,5,6,7]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1">
                <a:latin typeface="Consolas"/>
                <a:ea typeface="Consolas"/>
                <a:cs typeface="Consolas"/>
                <a:sym typeface="Consolas"/>
              </a:rPr>
              <a:t>print(“original list is: ”,num)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1">
                <a:latin typeface="Consolas"/>
                <a:ea typeface="Consolas"/>
                <a:cs typeface="Consolas"/>
                <a:sym typeface="Consolas"/>
              </a:rPr>
              <a:t>new=list(map(add,num))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1">
                <a:latin typeface="Consolas"/>
                <a:ea typeface="Consolas"/>
                <a:cs typeface="Consolas"/>
                <a:sym typeface="Consolas"/>
              </a:rPr>
              <a:t>print(“modified list is: ”,new)</a:t>
            </a:r>
            <a:endParaRPr/>
          </a:p>
        </p:txBody>
      </p:sp>
      <p:sp>
        <p:nvSpPr>
          <p:cNvPr id="442" name="Google Shape;442;p47"/>
          <p:cNvSpPr/>
          <p:nvPr/>
        </p:nvSpPr>
        <p:spPr>
          <a:xfrm>
            <a:off x="6661632" y="2691617"/>
            <a:ext cx="535444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original list is: [1,2,3,4,5,6,7]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modified list is: [3,4,5,6,7,8,9]</a:t>
            </a:r>
            <a:endParaRPr sz="2000" b="1" i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8"/>
          <p:cNvSpPr txBox="1">
            <a:spLocks noGrp="1"/>
          </p:cNvSpPr>
          <p:nvPr>
            <p:ph type="body" idx="1"/>
          </p:nvPr>
        </p:nvSpPr>
        <p:spPr>
          <a:xfrm>
            <a:off x="575353" y="712693"/>
            <a:ext cx="10911155" cy="53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1"/>
              <a:t>2. </a:t>
            </a:r>
            <a:r>
              <a:rPr lang="en-US" b="1"/>
              <a:t>reduce( ) Function: </a:t>
            </a:r>
            <a:endParaRPr sz="2400"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/>
              <a:t>Syntax:</a:t>
            </a:r>
            <a:r>
              <a:rPr lang="en-US" sz="2400"/>
              <a:t>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latin typeface="Consolas"/>
                <a:ea typeface="Consolas"/>
                <a:cs typeface="Consolas"/>
                <a:sym typeface="Consolas"/>
              </a:rPr>
              <a:t>	reduce(function,sequence)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b="1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b="1"/>
              <a:t>At first step, first two elements of sequence are picked, the function is applied on the elements and the result is obtained.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b="1"/>
              <a:t>Next step is to apply the same function to the previously attained result and the number just succeeding the second element and the result is again stored.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b="1"/>
              <a:t>This process continues till no more elements are left in the sequence.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b="1"/>
              <a:t>The final result is returned and printed on console.</a:t>
            </a:r>
            <a:endParaRPr sz="22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9"/>
          <p:cNvSpPr txBox="1">
            <a:spLocks noGrp="1"/>
          </p:cNvSpPr>
          <p:nvPr>
            <p:ph type="body" idx="1"/>
          </p:nvPr>
        </p:nvSpPr>
        <p:spPr>
          <a:xfrm>
            <a:off x="410966" y="931772"/>
            <a:ext cx="11250203" cy="549984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Ex: Program to calculate the sum of values in a list using the reduce( ) function.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import functools</a:t>
            </a:r>
            <a:r>
              <a:rPr lang="en-US" sz="24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600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#functools is a module that contains the function reduce()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def add(x,y):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return x+y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num_list=[1,2,3,4,5]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print(“sum of values in list=”)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print(functools.reduce(add,num_list))</a:t>
            </a:r>
            <a:endParaRPr/>
          </a:p>
        </p:txBody>
      </p:sp>
      <p:sp>
        <p:nvSpPr>
          <p:cNvPr id="453" name="Google Shape;453;p49"/>
          <p:cNvSpPr/>
          <p:nvPr/>
        </p:nvSpPr>
        <p:spPr>
          <a:xfrm>
            <a:off x="1183341" y="5505741"/>
            <a:ext cx="491265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sum of values in list= 15</a:t>
            </a:r>
            <a:endParaRPr sz="2200" b="1" i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454" name="Google Shape;454;p49"/>
          <p:cNvGraphicFramePr/>
          <p:nvPr/>
        </p:nvGraphicFramePr>
        <p:xfrm>
          <a:off x="8641976" y="2629148"/>
          <a:ext cx="2770125" cy="370850"/>
        </p:xfrm>
        <a:graphic>
          <a:graphicData uri="http://schemas.openxmlformats.org/drawingml/2006/table">
            <a:tbl>
              <a:tblPr firstRow="1" bandRow="1">
                <a:noFill/>
                <a:tableStyleId>{91ADB8C7-09AD-476B-BB39-3383CC9A7205}</a:tableStyleId>
              </a:tblPr>
              <a:tblGrid>
                <a:gridCol w="55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4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55" name="Google Shape;455;p49"/>
          <p:cNvCxnSpPr/>
          <p:nvPr/>
        </p:nvCxnSpPr>
        <p:spPr>
          <a:xfrm>
            <a:off x="8875058" y="3012142"/>
            <a:ext cx="128620" cy="63817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56" name="Google Shape;456;p49"/>
          <p:cNvCxnSpPr/>
          <p:nvPr/>
        </p:nvCxnSpPr>
        <p:spPr>
          <a:xfrm flipH="1">
            <a:off x="9154521" y="3048000"/>
            <a:ext cx="231526" cy="60232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57" name="Google Shape;457;p49"/>
          <p:cNvSpPr txBox="1"/>
          <p:nvPr/>
        </p:nvSpPr>
        <p:spPr>
          <a:xfrm>
            <a:off x="8911695" y="369833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cxnSp>
        <p:nvCxnSpPr>
          <p:cNvPr id="458" name="Google Shape;458;p49"/>
          <p:cNvCxnSpPr>
            <a:endCxn id="457" idx="3"/>
          </p:cNvCxnSpPr>
          <p:nvPr/>
        </p:nvCxnSpPr>
        <p:spPr>
          <a:xfrm flipH="1">
            <a:off x="9213381" y="3034598"/>
            <a:ext cx="758400" cy="848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59" name="Google Shape;459;p49"/>
          <p:cNvCxnSpPr/>
          <p:nvPr/>
        </p:nvCxnSpPr>
        <p:spPr>
          <a:xfrm>
            <a:off x="9154521" y="4032170"/>
            <a:ext cx="0" cy="36852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60" name="Google Shape;460;p49"/>
          <p:cNvSpPr txBox="1"/>
          <p:nvPr/>
        </p:nvSpPr>
        <p:spPr>
          <a:xfrm>
            <a:off x="9003678" y="440069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cxnSp>
        <p:nvCxnSpPr>
          <p:cNvPr id="461" name="Google Shape;461;p49"/>
          <p:cNvCxnSpPr>
            <a:endCxn id="460" idx="3"/>
          </p:cNvCxnSpPr>
          <p:nvPr/>
        </p:nvCxnSpPr>
        <p:spPr>
          <a:xfrm flipH="1">
            <a:off x="9305364" y="3069165"/>
            <a:ext cx="1255200" cy="1516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62" name="Google Shape;462;p49"/>
          <p:cNvCxnSpPr/>
          <p:nvPr/>
        </p:nvCxnSpPr>
        <p:spPr>
          <a:xfrm>
            <a:off x="9154521" y="4770031"/>
            <a:ext cx="0" cy="36852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63" name="Google Shape;463;p49"/>
          <p:cNvSpPr txBox="1"/>
          <p:nvPr/>
        </p:nvSpPr>
        <p:spPr>
          <a:xfrm>
            <a:off x="9003678" y="5213345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464" name="Google Shape;464;p49"/>
          <p:cNvCxnSpPr/>
          <p:nvPr/>
        </p:nvCxnSpPr>
        <p:spPr>
          <a:xfrm flipH="1">
            <a:off x="9382212" y="3069120"/>
            <a:ext cx="1680797" cy="224405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65" name="Google Shape;465;p49"/>
          <p:cNvCxnSpPr/>
          <p:nvPr/>
        </p:nvCxnSpPr>
        <p:spPr>
          <a:xfrm>
            <a:off x="9253911" y="5521932"/>
            <a:ext cx="0" cy="36852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66" name="Google Shape;466;p49"/>
          <p:cNvSpPr txBox="1"/>
          <p:nvPr/>
        </p:nvSpPr>
        <p:spPr>
          <a:xfrm>
            <a:off x="9062538" y="594115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0"/>
          <p:cNvSpPr txBox="1">
            <a:spLocks noGrp="1"/>
          </p:cNvSpPr>
          <p:nvPr>
            <p:ph type="body" idx="1"/>
          </p:nvPr>
        </p:nvSpPr>
        <p:spPr>
          <a:xfrm>
            <a:off x="309283" y="712693"/>
            <a:ext cx="11645152" cy="619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1"/>
              <a:t>3. filter( ) Function: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The filter() method filters the given sequence with the help of a function that tests each element in the sequence to be true or not. 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1"/>
              <a:t>Syntax:</a:t>
            </a:r>
            <a:r>
              <a:rPr lang="en-US" sz="2200"/>
              <a:t>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	</a:t>
            </a:r>
            <a:r>
              <a:rPr lang="en-US" sz="2200" b="1">
                <a:latin typeface="Consolas"/>
                <a:ea typeface="Consolas"/>
                <a:cs typeface="Consolas"/>
                <a:sym typeface="Consolas"/>
              </a:rPr>
              <a:t>filter(function,sequence)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1">
                <a:latin typeface="Consolas"/>
                <a:ea typeface="Consolas"/>
                <a:cs typeface="Consolas"/>
                <a:sym typeface="Consolas"/>
              </a:rPr>
              <a:t>function: function that tests if each element of a sequence is true or not.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1">
                <a:latin typeface="Consolas"/>
                <a:ea typeface="Consolas"/>
                <a:cs typeface="Consolas"/>
                <a:sym typeface="Consolas"/>
              </a:rPr>
              <a:t>sequence: sequence which needs to be filtered, it can be sets, lists, tuples, or containers of any iterators.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br>
              <a:rPr lang="en-US" sz="2200" b="1">
                <a:latin typeface="Consolas"/>
                <a:ea typeface="Consolas"/>
                <a:cs typeface="Consolas"/>
                <a:sym typeface="Consolas"/>
              </a:rPr>
            </a:br>
            <a:endParaRPr sz="22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1"/>
          <p:cNvSpPr txBox="1">
            <a:spLocks noGrp="1"/>
          </p:cNvSpPr>
          <p:nvPr>
            <p:ph type="body" idx="1"/>
          </p:nvPr>
        </p:nvSpPr>
        <p:spPr>
          <a:xfrm>
            <a:off x="838200" y="924674"/>
            <a:ext cx="10515600" cy="5252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/>
              <a:t>Ex: </a:t>
            </a:r>
            <a:r>
              <a:rPr lang="en-US" sz="2800"/>
              <a:t>Program to create a list of numbers divisible by 2 using filter()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Example: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1">
                <a:latin typeface="Courier New"/>
                <a:ea typeface="Courier New"/>
                <a:cs typeface="Courier New"/>
                <a:sym typeface="Courier New"/>
              </a:rPr>
              <a:t>values=[1,2,3,4,5,6,7,8,9,10,11,12,13,14,15,16,17,18,19,20]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def check(x):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    if x%2==0: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        return True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evens=list(filter(check, values))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print(evens)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477" name="Google Shape;477;p51"/>
          <p:cNvSpPr/>
          <p:nvPr/>
        </p:nvSpPr>
        <p:spPr>
          <a:xfrm>
            <a:off x="7001939" y="3550818"/>
            <a:ext cx="491265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[2,4,6,8,10,12,14,16,18,20]</a:t>
            </a:r>
            <a:endParaRPr sz="2200" b="1" i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6000"/>
              <a:buFont typeface="Times New Roman"/>
              <a:buNone/>
            </a:pPr>
            <a:r>
              <a:rPr lang="en-US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TUPLES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3"/>
          <p:cNvSpPr/>
          <p:nvPr/>
        </p:nvSpPr>
        <p:spPr>
          <a:xfrm>
            <a:off x="708211" y="752599"/>
            <a:ext cx="11044518" cy="2616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Tuples: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Like list, Tuples are used to store multiple items in a single variable.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 tuple is a collection which is ordered and unchangeable.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Tuples are written with round brackets.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53"/>
          <p:cNvSpPr/>
          <p:nvPr/>
        </p:nvSpPr>
        <p:spPr>
          <a:xfrm>
            <a:off x="708211" y="3368700"/>
            <a:ext cx="11044518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 = (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200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(thistuple)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r>
              <a:rPr lang="en-US" sz="2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("apple", "banana", "cherry")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i="1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Tuple items are indexed, the first item has index </a:t>
            </a:r>
            <a:r>
              <a:rPr lang="en-US" sz="1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[0]</a:t>
            </a:r>
            <a:r>
              <a:rPr lang="en-US" sz="1800" b="1" i="1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, the second item has index </a:t>
            </a:r>
            <a:r>
              <a:rPr lang="en-US" sz="1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r>
              <a:rPr lang="en-US" sz="1800" b="1" i="1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 and so on.</a:t>
            </a:r>
            <a:endParaRPr sz="3200" b="1" i="1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89" name="Google Shape;489;p53"/>
          <p:cNvSpPr/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90" name="Google Shape;490;p53"/>
          <p:cNvGraphicFramePr/>
          <p:nvPr/>
        </p:nvGraphicFramePr>
        <p:xfrm>
          <a:off x="8202200" y="4411837"/>
          <a:ext cx="3438900" cy="1009225"/>
        </p:xfrm>
        <a:graphic>
          <a:graphicData uri="http://schemas.openxmlformats.org/drawingml/2006/table">
            <a:tbl>
              <a:tblPr firstRow="1" bandRow="1">
                <a:noFill/>
                <a:tableStyleId>{36BE398D-1F84-443D-9D18-A059D32F933B}</a:tableStyleId>
              </a:tblPr>
              <a:tblGrid>
                <a:gridCol w="1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9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apple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banana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cherry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1" name="Google Shape;491;p53"/>
          <p:cNvGraphicFramePr/>
          <p:nvPr/>
        </p:nvGraphicFramePr>
        <p:xfrm>
          <a:off x="8202200" y="4046077"/>
          <a:ext cx="3438900" cy="365770"/>
        </p:xfrm>
        <a:graphic>
          <a:graphicData uri="http://schemas.openxmlformats.org/drawingml/2006/table">
            <a:tbl>
              <a:tblPr firstRow="1" bandRow="1">
                <a:noFill/>
                <a:tableStyleId>{EFF0F1B1-B04D-454F-ABEE-A4EC8A169F0F}</a:tableStyleId>
              </a:tblPr>
              <a:tblGrid>
                <a:gridCol w="1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6" name="Google Shape;496;p54"/>
          <p:cNvGraphicFramePr/>
          <p:nvPr/>
        </p:nvGraphicFramePr>
        <p:xfrm>
          <a:off x="690554" y="1109898"/>
          <a:ext cx="10677375" cy="5644950"/>
        </p:xfrm>
        <a:graphic>
          <a:graphicData uri="http://schemas.openxmlformats.org/drawingml/2006/table">
            <a:tbl>
              <a:tblPr>
                <a:noFill/>
                <a:tableStyleId>{FB70580C-F736-470D-B57C-30AB6EE4B1DB}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9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Sl. No.</a:t>
                      </a:r>
                      <a:endParaRPr/>
                    </a:p>
                  </a:txBody>
                  <a:tcPr marL="43875" marR="43875" marT="43875" marB="43875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Key</a:t>
                      </a:r>
                      <a:endParaRPr/>
                    </a:p>
                  </a:txBody>
                  <a:tcPr marL="43875" marR="43875" marT="43875" marB="438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List</a:t>
                      </a:r>
                      <a:endParaRPr/>
                    </a:p>
                  </a:txBody>
                  <a:tcPr marL="43875" marR="43875" marT="43875" marB="438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Tuple</a:t>
                      </a:r>
                      <a:endParaRPr/>
                    </a:p>
                  </a:txBody>
                  <a:tcPr marL="43875" marR="43875" marT="43875" marB="438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1</a:t>
                      </a:r>
                      <a:endParaRPr/>
                    </a:p>
                  </a:txBody>
                  <a:tcPr marL="43875" marR="43875" marT="43875" marB="438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Type</a:t>
                      </a:r>
                      <a:endParaRPr/>
                    </a:p>
                  </a:txBody>
                  <a:tcPr marL="43875" marR="43875" marT="43875" marB="438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List is </a:t>
                      </a: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mutable</a:t>
                      </a: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.</a:t>
                      </a:r>
                      <a:endParaRPr/>
                    </a:p>
                  </a:txBody>
                  <a:tcPr marL="43875" marR="43875" marT="43875" marB="438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Tuple is </a:t>
                      </a: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immutable</a:t>
                      </a: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.</a:t>
                      </a:r>
                      <a:endParaRPr/>
                    </a:p>
                  </a:txBody>
                  <a:tcPr marL="43875" marR="43875" marT="43875" marB="438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2</a:t>
                      </a:r>
                      <a:endParaRPr/>
                    </a:p>
                  </a:txBody>
                  <a:tcPr marL="43875" marR="43875" marT="43875" marB="438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Iteration</a:t>
                      </a:r>
                      <a:endParaRPr/>
                    </a:p>
                  </a:txBody>
                  <a:tcPr marL="43875" marR="43875" marT="43875" marB="438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List iteration is </a:t>
                      </a: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slower</a:t>
                      </a: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 and is time consuming.</a:t>
                      </a:r>
                      <a:endParaRPr/>
                    </a:p>
                  </a:txBody>
                  <a:tcPr marL="43875" marR="43875" marT="43875" marB="438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Tuple iteration is </a:t>
                      </a: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faster</a:t>
                      </a: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.</a:t>
                      </a:r>
                      <a:endParaRPr/>
                    </a:p>
                  </a:txBody>
                  <a:tcPr marL="43875" marR="43875" marT="43875" marB="438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3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3</a:t>
                      </a:r>
                      <a:endParaRPr/>
                    </a:p>
                  </a:txBody>
                  <a:tcPr marL="43875" marR="43875" marT="43875" marB="438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Appropriate for</a:t>
                      </a:r>
                      <a:endParaRPr/>
                    </a:p>
                  </a:txBody>
                  <a:tcPr marL="43875" marR="43875" marT="43875" marB="438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List is useful for </a:t>
                      </a: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insertion</a:t>
                      </a: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 and </a:t>
                      </a: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deletion</a:t>
                      </a: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 operations.</a:t>
                      </a:r>
                      <a:endParaRPr/>
                    </a:p>
                  </a:txBody>
                  <a:tcPr marL="43875" marR="43875" marT="43875" marB="438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Tuple is useful for </a:t>
                      </a: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read only </a:t>
                      </a: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operations like accessing elements.</a:t>
                      </a:r>
                      <a:endParaRPr/>
                    </a:p>
                  </a:txBody>
                  <a:tcPr marL="43875" marR="43875" marT="43875" marB="438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847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4</a:t>
                      </a:r>
                      <a:endParaRPr/>
                    </a:p>
                  </a:txBody>
                  <a:tcPr marL="43875" marR="43875" marT="43875" marB="438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Memory Consumption</a:t>
                      </a:r>
                      <a:endParaRPr/>
                    </a:p>
                  </a:txBody>
                  <a:tcPr marL="43875" marR="43875" marT="43875" marB="438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List consumes </a:t>
                      </a: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more</a:t>
                      </a: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 </a:t>
                      </a: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memory</a:t>
                      </a: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.</a:t>
                      </a:r>
                      <a:endParaRPr/>
                    </a:p>
                  </a:txBody>
                  <a:tcPr marL="43875" marR="43875" marT="43875" marB="438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Tuples consumes </a:t>
                      </a: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less</a:t>
                      </a: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 </a:t>
                      </a: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memory</a:t>
                      </a: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.</a:t>
                      </a:r>
                      <a:endParaRPr/>
                    </a:p>
                  </a:txBody>
                  <a:tcPr marL="43875" marR="43875" marT="43875" marB="438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5</a:t>
                      </a:r>
                      <a:endParaRPr/>
                    </a:p>
                  </a:txBody>
                  <a:tcPr marL="43875" marR="43875" marT="43875" marB="438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Methods</a:t>
                      </a:r>
                      <a:endParaRPr/>
                    </a:p>
                  </a:txBody>
                  <a:tcPr marL="43875" marR="43875" marT="43875" marB="438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List provides many in-built </a:t>
                      </a: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methods</a:t>
                      </a: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.</a:t>
                      </a:r>
                      <a:endParaRPr/>
                    </a:p>
                  </a:txBody>
                  <a:tcPr marL="43875" marR="43875" marT="43875" marB="438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Tuples have less in-built </a:t>
                      </a: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methods</a:t>
                      </a: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.</a:t>
                      </a:r>
                      <a:endParaRPr/>
                    </a:p>
                  </a:txBody>
                  <a:tcPr marL="43875" marR="43875" marT="43875" marB="438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0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6</a:t>
                      </a:r>
                      <a:endParaRPr/>
                    </a:p>
                  </a:txBody>
                  <a:tcPr marL="43875" marR="43875" marT="43875" marB="438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Error prone</a:t>
                      </a:r>
                      <a:endParaRPr/>
                    </a:p>
                  </a:txBody>
                  <a:tcPr marL="43875" marR="43875" marT="43875" marB="438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List operations are more error prone.</a:t>
                      </a:r>
                      <a:endParaRPr/>
                    </a:p>
                  </a:txBody>
                  <a:tcPr marL="43875" marR="43875" marT="43875" marB="438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Tuples operations are safe.</a:t>
                      </a:r>
                      <a:endParaRPr/>
                    </a:p>
                  </a:txBody>
                  <a:tcPr marL="43875" marR="43875" marT="43875" marB="438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97" name="Google Shape;497;p54"/>
          <p:cNvSpPr/>
          <p:nvPr/>
        </p:nvSpPr>
        <p:spPr>
          <a:xfrm>
            <a:off x="259304" y="95367"/>
            <a:ext cx="916708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Following are the important differences between List and Tuple.</a:t>
            </a:r>
            <a:endParaRPr sz="3200" b="1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5"/>
          <p:cNvSpPr txBox="1">
            <a:spLocks noGrp="1"/>
          </p:cNvSpPr>
          <p:nvPr>
            <p:ph type="body" idx="1"/>
          </p:nvPr>
        </p:nvSpPr>
        <p:spPr>
          <a:xfrm>
            <a:off x="697658" y="1411941"/>
            <a:ext cx="10987835" cy="3858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 b="1">
                <a:latin typeface="Constantia"/>
                <a:ea typeface="Constantia"/>
                <a:cs typeface="Constantia"/>
                <a:sym typeface="Constantia"/>
              </a:rPr>
              <a:t>Similarities: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 b="1">
              <a:latin typeface="Constantia"/>
              <a:ea typeface="Constantia"/>
              <a:cs typeface="Constantia"/>
              <a:sym typeface="Constanti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>
                <a:latin typeface="Constantia"/>
                <a:ea typeface="Constantia"/>
                <a:cs typeface="Constantia"/>
                <a:sym typeface="Constantia"/>
              </a:rPr>
              <a:t>Although there are many </a:t>
            </a:r>
            <a:r>
              <a:rPr lang="en-US" sz="2600" b="1">
                <a:latin typeface="Constantia"/>
                <a:ea typeface="Constantia"/>
                <a:cs typeface="Constantia"/>
                <a:sym typeface="Constantia"/>
              </a:rPr>
              <a:t>differences between list and tuple, </a:t>
            </a:r>
            <a:r>
              <a:rPr lang="en-US" sz="2600">
                <a:latin typeface="Constantia"/>
                <a:ea typeface="Constantia"/>
                <a:cs typeface="Constantia"/>
                <a:sym typeface="Constantia"/>
              </a:rPr>
              <a:t>there are some similarities too, as follows: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>
              <a:latin typeface="Constantia"/>
              <a:ea typeface="Constantia"/>
              <a:cs typeface="Constantia"/>
              <a:sym typeface="Constantia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>
                <a:latin typeface="Constantia"/>
                <a:ea typeface="Constantia"/>
                <a:cs typeface="Constantia"/>
                <a:sym typeface="Constantia"/>
              </a:rPr>
              <a:t>The two data structures are both sequence data types that store collections of items.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>
                <a:latin typeface="Constantia"/>
                <a:ea typeface="Constantia"/>
                <a:cs typeface="Constantia"/>
                <a:sym typeface="Constantia"/>
              </a:rPr>
              <a:t>Items of any data type can be stored in them.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>
                <a:latin typeface="Constantia"/>
                <a:ea typeface="Constantia"/>
                <a:cs typeface="Constantia"/>
                <a:sym typeface="Constantia"/>
              </a:rPr>
              <a:t>Items can be accessed by their index.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6"/>
          <p:cNvSpPr txBox="1">
            <a:spLocks noGrp="1"/>
          </p:cNvSpPr>
          <p:nvPr>
            <p:ph type="body" idx="1"/>
          </p:nvPr>
        </p:nvSpPr>
        <p:spPr>
          <a:xfrm>
            <a:off x="452063" y="1210234"/>
            <a:ext cx="11219983" cy="5159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latin typeface="Constantia"/>
                <a:ea typeface="Constantia"/>
                <a:cs typeface="Constantia"/>
                <a:sym typeface="Constantia"/>
              </a:rPr>
              <a:t>Allow Duplicates:   </a:t>
            </a:r>
            <a:r>
              <a:rPr lang="en-US" sz="2400">
                <a:latin typeface="Constantia"/>
                <a:ea typeface="Constantia"/>
                <a:cs typeface="Constantia"/>
                <a:sym typeface="Constantia"/>
              </a:rPr>
              <a:t>Since tuples are indexed, they can have items with the same value: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 = (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US" sz="2400" b="1"/>
            </a:br>
            <a:r>
              <a:rPr lang="en-US" sz="2400" b="1"/>
              <a:t>	</a:t>
            </a:r>
            <a:r>
              <a:rPr lang="en-US" sz="2400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(thistuple)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('apple', 'banana', 'cherry', 'apple', 'cherry')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7"/>
          <p:cNvSpPr txBox="1">
            <a:spLocks noGrp="1"/>
          </p:cNvSpPr>
          <p:nvPr>
            <p:ph type="body" idx="1"/>
          </p:nvPr>
        </p:nvSpPr>
        <p:spPr>
          <a:xfrm>
            <a:off x="684211" y="1037690"/>
            <a:ext cx="10987835" cy="5465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latin typeface="Constantia"/>
                <a:ea typeface="Constantia"/>
                <a:cs typeface="Constantia"/>
                <a:sym typeface="Constantia"/>
              </a:rPr>
              <a:t>Create Tuple With One Item: </a:t>
            </a:r>
            <a:r>
              <a:rPr lang="en-US" sz="2400">
                <a:latin typeface="Constantia"/>
                <a:ea typeface="Constantia"/>
                <a:cs typeface="Constantia"/>
                <a:sym typeface="Constantia"/>
              </a:rPr>
              <a:t>To create a tuple with only one item, you have to add a </a:t>
            </a:r>
            <a:r>
              <a:rPr lang="en-US" sz="2400" b="1" i="1">
                <a:latin typeface="Constantia"/>
                <a:ea typeface="Constantia"/>
                <a:cs typeface="Constantia"/>
                <a:sym typeface="Constantia"/>
              </a:rPr>
              <a:t>comma</a:t>
            </a:r>
            <a:r>
              <a:rPr lang="en-US" sz="2400">
                <a:latin typeface="Constantia"/>
                <a:ea typeface="Constantia"/>
                <a:cs typeface="Constantia"/>
                <a:sym typeface="Constantia"/>
              </a:rPr>
              <a:t> after the item, otherwise Python will not recognize it as a tuple.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 = (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,)</a:t>
            </a:r>
            <a:br>
              <a:rPr lang="en-US" sz="2400" b="1"/>
            </a:br>
            <a:r>
              <a:rPr lang="en-US" sz="2400" b="1"/>
              <a:t>	</a:t>
            </a:r>
            <a:r>
              <a:rPr lang="en-US" sz="2400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400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(thistuple))</a:t>
            </a:r>
            <a:br>
              <a:rPr lang="en-US" sz="2400" b="1"/>
            </a:br>
            <a:br>
              <a:rPr lang="en-US" sz="2400"/>
            </a:br>
            <a:r>
              <a:rPr lang="en-US" sz="2400"/>
              <a:t>	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#NOT a tuple</a:t>
            </a:r>
            <a:b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 = (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US" sz="2400" b="1"/>
            </a:br>
            <a:r>
              <a:rPr lang="en-US" sz="2400" b="1"/>
              <a:t>	</a:t>
            </a:r>
            <a:r>
              <a:rPr lang="en-US" sz="2400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400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(thistuple))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&lt;class 'tuple'&gt;</a:t>
            </a:r>
            <a:b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&lt;class 'str'&gt;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8"/>
          <p:cNvSpPr txBox="1">
            <a:spLocks noGrp="1"/>
          </p:cNvSpPr>
          <p:nvPr>
            <p:ph type="body" idx="1"/>
          </p:nvPr>
        </p:nvSpPr>
        <p:spPr>
          <a:xfrm>
            <a:off x="602082" y="860912"/>
            <a:ext cx="10987835" cy="5553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latin typeface="Constantia"/>
                <a:ea typeface="Constantia"/>
                <a:cs typeface="Constantia"/>
                <a:sym typeface="Constantia"/>
              </a:rPr>
              <a:t>Tuple Items - Data Types: </a:t>
            </a:r>
            <a:r>
              <a:rPr lang="en-US" sz="2400">
                <a:latin typeface="Constantia"/>
                <a:ea typeface="Constantia"/>
                <a:cs typeface="Constantia"/>
                <a:sym typeface="Constantia"/>
              </a:rPr>
              <a:t>Tuple items can be of any data type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tuple1 = (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US" sz="2400" b="1"/>
            </a:br>
            <a:r>
              <a:rPr lang="en-US" sz="2400" b="1"/>
              <a:t>	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tuple2 = (</a:t>
            </a:r>
            <a:r>
              <a:rPr lang="en-US" sz="24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US" sz="2400" b="1"/>
            </a:br>
            <a:r>
              <a:rPr lang="en-US" sz="2400" b="1"/>
              <a:t>	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tuple3 = (</a:t>
            </a:r>
            <a:r>
              <a:rPr lang="en-US" sz="2400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print(tuple1)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print(tuple2)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print(tuple3)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('apple', 'banana', 'cherry')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(1, 5, 7, 9, 3)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(True, False, False)</a:t>
            </a:r>
            <a:endParaRPr sz="1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9"/>
          <p:cNvSpPr txBox="1">
            <a:spLocks noGrp="1"/>
          </p:cNvSpPr>
          <p:nvPr>
            <p:ph type="body" idx="1"/>
          </p:nvPr>
        </p:nvSpPr>
        <p:spPr>
          <a:xfrm>
            <a:off x="563187" y="1075765"/>
            <a:ext cx="10987835" cy="3751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Tuple Items - Data Types: </a:t>
            </a: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 tuple can contain items of different data types</a:t>
            </a:r>
            <a:endParaRPr sz="2400" b="1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tuple1 = (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"abc"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34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"male"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print(tuple1)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sz="24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 ('abc', 34, True, 40, 'male') 	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0"/>
          <p:cNvSpPr txBox="1">
            <a:spLocks noGrp="1"/>
          </p:cNvSpPr>
          <p:nvPr>
            <p:ph type="body" idx="1"/>
          </p:nvPr>
        </p:nvSpPr>
        <p:spPr>
          <a:xfrm>
            <a:off x="737998" y="1156447"/>
            <a:ext cx="10987835" cy="4689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latin typeface="Constantia"/>
                <a:ea typeface="Constantia"/>
                <a:cs typeface="Constantia"/>
                <a:sym typeface="Constantia"/>
              </a:rPr>
              <a:t>type(): </a:t>
            </a:r>
            <a:r>
              <a:rPr lang="en-US" sz="2400">
                <a:latin typeface="Constantia"/>
                <a:ea typeface="Constantia"/>
                <a:cs typeface="Constantia"/>
                <a:sym typeface="Constantia"/>
              </a:rPr>
              <a:t>From Python's perspective, tuples are defined as objects with the data type 'tuple'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latin typeface="Consolas"/>
                <a:ea typeface="Consolas"/>
                <a:cs typeface="Consolas"/>
                <a:sym typeface="Consolas"/>
              </a:rPr>
              <a:t>&lt;class 'tuple'&gt;</a:t>
            </a:r>
            <a:endParaRPr sz="2400" b="1" i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mytuple = (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US" sz="2400" b="1"/>
            </a:br>
            <a:r>
              <a:rPr lang="en-US" sz="2400" b="1"/>
              <a:t>	</a:t>
            </a:r>
            <a:r>
              <a:rPr lang="en-US" sz="2400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400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(mytuple))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&lt;class 'tuple'&gt;</a:t>
            </a:r>
            <a:endParaRPr sz="24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1"/>
          <p:cNvSpPr txBox="1">
            <a:spLocks noGrp="1"/>
          </p:cNvSpPr>
          <p:nvPr>
            <p:ph type="body" idx="1"/>
          </p:nvPr>
        </p:nvSpPr>
        <p:spPr>
          <a:xfrm>
            <a:off x="724552" y="1129553"/>
            <a:ext cx="10987835" cy="4061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latin typeface="Constantia"/>
                <a:ea typeface="Constantia"/>
                <a:cs typeface="Constantia"/>
                <a:sym typeface="Constantia"/>
              </a:rPr>
              <a:t>The tuple() Constructor: </a:t>
            </a:r>
            <a:r>
              <a:rPr lang="en-US" sz="2400">
                <a:latin typeface="Constantia"/>
                <a:ea typeface="Constantia"/>
                <a:cs typeface="Constantia"/>
                <a:sym typeface="Constantia"/>
              </a:rPr>
              <a:t>It is also possible to use the </a:t>
            </a:r>
            <a:r>
              <a:rPr lang="en-US" sz="2400" b="1" i="1">
                <a:latin typeface="Constantia"/>
                <a:ea typeface="Constantia"/>
                <a:cs typeface="Constantia"/>
                <a:sym typeface="Constantia"/>
              </a:rPr>
              <a:t>tuple() </a:t>
            </a:r>
            <a:r>
              <a:rPr lang="en-US" sz="2400">
                <a:latin typeface="Constantia"/>
                <a:ea typeface="Constantia"/>
                <a:cs typeface="Constantia"/>
                <a:sym typeface="Constantia"/>
              </a:rPr>
              <a:t>constructor to make a tuple.</a:t>
            </a:r>
            <a:endParaRPr sz="2400" b="1" i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 = tuple((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)) </a:t>
            </a:r>
            <a:br>
              <a:rPr lang="en-US" sz="2400" b="1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400" b="1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400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(thistuple) 	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('apple', 'banana', 'cherry')</a:t>
            </a:r>
            <a:endParaRPr sz="24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2"/>
          <p:cNvSpPr txBox="1">
            <a:spLocks noGrp="1"/>
          </p:cNvSpPr>
          <p:nvPr>
            <p:ph type="body" idx="1"/>
          </p:nvPr>
        </p:nvSpPr>
        <p:spPr>
          <a:xfrm>
            <a:off x="616974" y="821933"/>
            <a:ext cx="10987835" cy="6036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>
                <a:latin typeface="Constantia"/>
                <a:ea typeface="Constantia"/>
                <a:cs typeface="Constantia"/>
                <a:sym typeface="Constantia"/>
              </a:rPr>
              <a:t>Access Tuple Items: </a:t>
            </a:r>
            <a:r>
              <a:rPr lang="en-US" sz="1800">
                <a:latin typeface="Constantia"/>
                <a:ea typeface="Constantia"/>
                <a:cs typeface="Constantia"/>
                <a:sym typeface="Constantia"/>
              </a:rPr>
              <a:t>You can access tuple items by referring to the index number, inside square brackets</a:t>
            </a:r>
            <a:endParaRPr sz="1800" b="1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 = (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US" sz="2200" b="1"/>
            </a:br>
            <a:r>
              <a:rPr lang="en-US" sz="2200" b="1"/>
              <a:t>	</a:t>
            </a:r>
            <a:r>
              <a:rPr lang="en-US" sz="2200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(thistuple[</a:t>
            </a:r>
            <a:r>
              <a:rPr lang="en-US" sz="22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 </a:t>
            </a: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endParaRPr sz="7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banana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----------------------------------------------------------------------------------------------------------------------------------------------------------------------------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>
                <a:latin typeface="Constantia"/>
                <a:ea typeface="Constantia"/>
                <a:cs typeface="Constantia"/>
                <a:sym typeface="Constantia"/>
              </a:rPr>
              <a:t>Negative Indexing: </a:t>
            </a:r>
            <a:r>
              <a:rPr lang="en-US" sz="1800">
                <a:latin typeface="Constantia"/>
                <a:ea typeface="Constantia"/>
                <a:cs typeface="Constantia"/>
                <a:sym typeface="Constantia"/>
              </a:rPr>
              <a:t>Negative indexing means start from the end. </a:t>
            </a: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lang="en-US" sz="1800">
                <a:latin typeface="Constantia"/>
                <a:ea typeface="Constantia"/>
                <a:cs typeface="Constantia"/>
                <a:sym typeface="Constantia"/>
              </a:rPr>
              <a:t> refers to the last item, </a:t>
            </a: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-2 </a:t>
            </a:r>
            <a:r>
              <a:rPr lang="en-US" sz="1800">
                <a:latin typeface="Constantia"/>
                <a:ea typeface="Constantia"/>
                <a:cs typeface="Constantia"/>
                <a:sym typeface="Constantia"/>
              </a:rPr>
              <a:t>refers to the second last item etc.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 = (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US" sz="2200" b="1"/>
            </a:br>
            <a:r>
              <a:rPr lang="en-US" sz="2200" b="1"/>
              <a:t>	</a:t>
            </a:r>
            <a:r>
              <a:rPr lang="en-US" sz="2200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(thistuple[</a:t>
            </a:r>
            <a:r>
              <a:rPr lang="en-US" sz="22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-1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 	</a:t>
            </a:r>
            <a:endParaRPr sz="9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cherry</a:t>
            </a:r>
            <a:endParaRPr/>
          </a:p>
        </p:txBody>
      </p:sp>
      <p:graphicFrame>
        <p:nvGraphicFramePr>
          <p:cNvPr id="538" name="Google Shape;538;p62"/>
          <p:cNvGraphicFramePr/>
          <p:nvPr/>
        </p:nvGraphicFramePr>
        <p:xfrm>
          <a:off x="8116582" y="2233715"/>
          <a:ext cx="3438900" cy="778750"/>
        </p:xfrm>
        <a:graphic>
          <a:graphicData uri="http://schemas.openxmlformats.org/drawingml/2006/table">
            <a:tbl>
              <a:tblPr firstRow="1" bandRow="1">
                <a:noFill/>
                <a:tableStyleId>{36BE398D-1F84-443D-9D18-A059D32F933B}</a:tableStyleId>
              </a:tblPr>
              <a:tblGrid>
                <a:gridCol w="1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8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apple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banana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cherry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9" name="Google Shape;539;p62"/>
          <p:cNvGraphicFramePr/>
          <p:nvPr/>
        </p:nvGraphicFramePr>
        <p:xfrm>
          <a:off x="8116582" y="1867955"/>
          <a:ext cx="3438900" cy="365770"/>
        </p:xfrm>
        <a:graphic>
          <a:graphicData uri="http://schemas.openxmlformats.org/drawingml/2006/table">
            <a:tbl>
              <a:tblPr firstRow="1" bandRow="1">
                <a:noFill/>
                <a:tableStyleId>{EFF0F1B1-B04D-454F-ABEE-A4EC8A169F0F}</a:tableStyleId>
              </a:tblPr>
              <a:tblGrid>
                <a:gridCol w="1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0" name="Google Shape;540;p62"/>
          <p:cNvGraphicFramePr/>
          <p:nvPr/>
        </p:nvGraphicFramePr>
        <p:xfrm>
          <a:off x="8116582" y="4990045"/>
          <a:ext cx="3438900" cy="778750"/>
        </p:xfrm>
        <a:graphic>
          <a:graphicData uri="http://schemas.openxmlformats.org/drawingml/2006/table">
            <a:tbl>
              <a:tblPr firstRow="1" bandRow="1">
                <a:noFill/>
                <a:tableStyleId>{36BE398D-1F84-443D-9D18-A059D32F933B}</a:tableStyleId>
              </a:tblPr>
              <a:tblGrid>
                <a:gridCol w="1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8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apple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banana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cherry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1" name="Google Shape;541;p62"/>
          <p:cNvGraphicFramePr/>
          <p:nvPr/>
        </p:nvGraphicFramePr>
        <p:xfrm>
          <a:off x="8116582" y="5794567"/>
          <a:ext cx="3438900" cy="365770"/>
        </p:xfrm>
        <a:graphic>
          <a:graphicData uri="http://schemas.openxmlformats.org/drawingml/2006/table">
            <a:tbl>
              <a:tblPr firstRow="1" bandRow="1">
                <a:noFill/>
                <a:tableStyleId>{EFF0F1B1-B04D-454F-ABEE-A4EC8A169F0F}</a:tableStyleId>
              </a:tblPr>
              <a:tblGrid>
                <a:gridCol w="1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-3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-2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-1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3"/>
          <p:cNvSpPr txBox="1">
            <a:spLocks noGrp="1"/>
          </p:cNvSpPr>
          <p:nvPr>
            <p:ph type="body" idx="1"/>
          </p:nvPr>
        </p:nvSpPr>
        <p:spPr>
          <a:xfrm>
            <a:off x="267129" y="847164"/>
            <a:ext cx="11924872" cy="6494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nstantia"/>
                <a:ea typeface="Constantia"/>
                <a:cs typeface="Constantia"/>
                <a:sym typeface="Constantia"/>
              </a:rPr>
              <a:t>When specifying a range, the return value will be a new tuple with the specified items.</a:t>
            </a:r>
            <a:endParaRPr sz="1800" b="1" i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 sz="1050"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Return the third, fourth, and fifth item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US" sz="2400" b="1" i="1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Note:</a:t>
            </a:r>
            <a:r>
              <a:rPr lang="en-US" sz="2400" i="1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 The search will start at index 2 (included) and end at index 5 (not included).</a:t>
            </a:r>
            <a:endParaRPr sz="2400"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thistuple=(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"orange"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"kiwi"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"melon"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"mango"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US" sz="2200" b="1"/>
            </a:br>
            <a:r>
              <a:rPr lang="en-US" sz="2400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(thistuple[</a:t>
            </a:r>
            <a:r>
              <a:rPr lang="en-US" sz="24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4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 	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('cherry', 'orange', 'kiwi')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48135"/>
              </a:buClr>
              <a:buSzPts val="1800"/>
              <a:buNone/>
            </a:pPr>
            <a:r>
              <a:rPr lang="en-US" sz="1800" i="1">
                <a:solidFill>
                  <a:srgbClr val="548135"/>
                </a:solidFill>
                <a:latin typeface="Constantia"/>
                <a:ea typeface="Constantia"/>
                <a:cs typeface="Constantia"/>
                <a:sym typeface="Constantia"/>
              </a:rPr>
              <a:t>------------------------------------------------------------------------------------------------------------------------------------------</a:t>
            </a:r>
            <a:endParaRPr/>
          </a:p>
        </p:txBody>
      </p:sp>
      <p:graphicFrame>
        <p:nvGraphicFramePr>
          <p:cNvPr id="547" name="Google Shape;547;p63"/>
          <p:cNvGraphicFramePr/>
          <p:nvPr/>
        </p:nvGraphicFramePr>
        <p:xfrm>
          <a:off x="1726057" y="5766591"/>
          <a:ext cx="8024100" cy="1009225"/>
        </p:xfrm>
        <a:graphic>
          <a:graphicData uri="http://schemas.openxmlformats.org/drawingml/2006/table">
            <a:tbl>
              <a:tblPr firstRow="1" bandRow="1">
                <a:noFill/>
                <a:tableStyleId>{36BE398D-1F84-443D-9D18-A059D32F933B}</a:tableStyleId>
              </a:tblPr>
              <a:tblGrid>
                <a:gridCol w="1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09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apple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banana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cherry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orange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kiwi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melon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mango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8" name="Google Shape;548;p63"/>
          <p:cNvGraphicFramePr/>
          <p:nvPr/>
        </p:nvGraphicFramePr>
        <p:xfrm>
          <a:off x="1726057" y="5400831"/>
          <a:ext cx="8024100" cy="365770"/>
        </p:xfrm>
        <a:graphic>
          <a:graphicData uri="http://schemas.openxmlformats.org/drawingml/2006/table">
            <a:tbl>
              <a:tblPr firstRow="1" bandRow="1">
                <a:noFill/>
                <a:tableStyleId>{EFF0F1B1-B04D-454F-ABEE-A4EC8A169F0F}</a:tableStyleId>
              </a:tblPr>
              <a:tblGrid>
                <a:gridCol w="1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8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5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4"/>
          <p:cNvSpPr txBox="1">
            <a:spLocks noGrp="1"/>
          </p:cNvSpPr>
          <p:nvPr>
            <p:ph type="body" idx="1"/>
          </p:nvPr>
        </p:nvSpPr>
        <p:spPr>
          <a:xfrm>
            <a:off x="318499" y="1017142"/>
            <a:ext cx="11794732" cy="515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returns the items from the beginning to, but NOT included, "kiwi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thistuple=(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"orange"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"kiwi"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"melon"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"mango"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US" sz="2200" b="1"/>
            </a:br>
            <a:r>
              <a:rPr lang="en-US" sz="2200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(thistuple[:</a:t>
            </a:r>
            <a:r>
              <a:rPr lang="en-US" sz="22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 </a:t>
            </a:r>
            <a:r>
              <a:rPr lang="en-US" sz="2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endParaRPr sz="8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('apple', 'banana', 'cherry', 'orange')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graphicFrame>
        <p:nvGraphicFramePr>
          <p:cNvPr id="554" name="Google Shape;554;p64"/>
          <p:cNvGraphicFramePr/>
          <p:nvPr/>
        </p:nvGraphicFramePr>
        <p:xfrm>
          <a:off x="1726057" y="4841917"/>
          <a:ext cx="8024100" cy="1078775"/>
        </p:xfrm>
        <a:graphic>
          <a:graphicData uri="http://schemas.openxmlformats.org/drawingml/2006/table">
            <a:tbl>
              <a:tblPr firstRow="1" bandRow="1">
                <a:noFill/>
                <a:tableStyleId>{36BE398D-1F84-443D-9D18-A059D32F933B}</a:tableStyleId>
              </a:tblPr>
              <a:tblGrid>
                <a:gridCol w="1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7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apple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banana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cherry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orange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kiwi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melon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mango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5" name="Google Shape;555;p64"/>
          <p:cNvGraphicFramePr/>
          <p:nvPr/>
        </p:nvGraphicFramePr>
        <p:xfrm>
          <a:off x="1726057" y="4476157"/>
          <a:ext cx="8024100" cy="365770"/>
        </p:xfrm>
        <a:graphic>
          <a:graphicData uri="http://schemas.openxmlformats.org/drawingml/2006/table">
            <a:tbl>
              <a:tblPr firstRow="1" bandRow="1">
                <a:noFill/>
                <a:tableStyleId>{EFF0F1B1-B04D-454F-ABEE-A4EC8A169F0F}</a:tableStyleId>
              </a:tblPr>
              <a:tblGrid>
                <a:gridCol w="1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8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5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5"/>
          <p:cNvSpPr txBox="1">
            <a:spLocks noGrp="1"/>
          </p:cNvSpPr>
          <p:nvPr>
            <p:ph type="body" idx="1"/>
          </p:nvPr>
        </p:nvSpPr>
        <p:spPr>
          <a:xfrm>
            <a:off x="236306" y="941293"/>
            <a:ext cx="11955694" cy="5607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</a:pPr>
            <a:endParaRPr sz="400"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returns the items from "cherry" and to the end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 =(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"orange"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"kiwi"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"melon"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"mango"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US" sz="2200" b="1"/>
            </a:br>
            <a:r>
              <a:rPr lang="en-US" sz="2200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(thistuple[</a:t>
            </a:r>
            <a:r>
              <a:rPr lang="en-US" sz="22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:])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800"/>
              <a:t> ('cherry', 'orange', 'kiwi', 'melon', 'mango')</a:t>
            </a:r>
            <a:endParaRPr sz="40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--------------------------------------------------------------------------------------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561" name="Google Shape;561;p65"/>
          <p:cNvGraphicFramePr/>
          <p:nvPr/>
        </p:nvGraphicFramePr>
        <p:xfrm>
          <a:off x="1726057" y="4841917"/>
          <a:ext cx="8024100" cy="1078775"/>
        </p:xfrm>
        <a:graphic>
          <a:graphicData uri="http://schemas.openxmlformats.org/drawingml/2006/table">
            <a:tbl>
              <a:tblPr firstRow="1" bandRow="1">
                <a:noFill/>
                <a:tableStyleId>{36BE398D-1F84-443D-9D18-A059D32F933B}</a:tableStyleId>
              </a:tblPr>
              <a:tblGrid>
                <a:gridCol w="1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7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apple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banana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cherry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orange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kiwi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melon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mango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2" name="Google Shape;562;p65"/>
          <p:cNvGraphicFramePr/>
          <p:nvPr/>
        </p:nvGraphicFramePr>
        <p:xfrm>
          <a:off x="1726057" y="4476157"/>
          <a:ext cx="8024100" cy="365770"/>
        </p:xfrm>
        <a:graphic>
          <a:graphicData uri="http://schemas.openxmlformats.org/drawingml/2006/table">
            <a:tbl>
              <a:tblPr firstRow="1" bandRow="1">
                <a:noFill/>
                <a:tableStyleId>{EFF0F1B1-B04D-454F-ABEE-A4EC8A169F0F}</a:tableStyleId>
              </a:tblPr>
              <a:tblGrid>
                <a:gridCol w="1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8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5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66"/>
          <p:cNvSpPr txBox="1">
            <a:spLocks noGrp="1"/>
          </p:cNvSpPr>
          <p:nvPr>
            <p:ph type="body" idx="1"/>
          </p:nvPr>
        </p:nvSpPr>
        <p:spPr>
          <a:xfrm>
            <a:off x="226031" y="996593"/>
            <a:ext cx="11876925" cy="5180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 b="1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Range of Negative Indexes: </a:t>
            </a:r>
            <a:r>
              <a:rPr lang="en-US" sz="2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Specify negative indexes if you want to start the search from the end of the tuple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returns the items from index -4 (included) to index -1 (excluded)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thistuple=(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"orange"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"kiwi"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"melon"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"mango"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US" sz="2200" b="1"/>
            </a:br>
            <a:r>
              <a:rPr lang="en-US" sz="2200" b="1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(thistuple[-</a:t>
            </a:r>
            <a:r>
              <a:rPr lang="en-US" sz="22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:-</a:t>
            </a:r>
            <a:r>
              <a:rPr lang="en-US" sz="22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('orange', 'kiwi', 'melon')</a:t>
            </a:r>
            <a:endParaRPr/>
          </a:p>
        </p:txBody>
      </p:sp>
      <p:graphicFrame>
        <p:nvGraphicFramePr>
          <p:cNvPr id="568" name="Google Shape;568;p66"/>
          <p:cNvGraphicFramePr/>
          <p:nvPr/>
        </p:nvGraphicFramePr>
        <p:xfrm>
          <a:off x="1808250" y="5098177"/>
          <a:ext cx="8024100" cy="1078775"/>
        </p:xfrm>
        <a:graphic>
          <a:graphicData uri="http://schemas.openxmlformats.org/drawingml/2006/table">
            <a:tbl>
              <a:tblPr firstRow="1" bandRow="1">
                <a:noFill/>
                <a:tableStyleId>{36BE398D-1F84-443D-9D18-A059D32F933B}</a:tableStyleId>
              </a:tblPr>
              <a:tblGrid>
                <a:gridCol w="1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7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apple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banana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cherry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orange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kiwi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melon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mango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9" name="Google Shape;569;p66"/>
          <p:cNvGraphicFramePr/>
          <p:nvPr/>
        </p:nvGraphicFramePr>
        <p:xfrm>
          <a:off x="1808250" y="6176963"/>
          <a:ext cx="8024100" cy="365770"/>
        </p:xfrm>
        <a:graphic>
          <a:graphicData uri="http://schemas.openxmlformats.org/drawingml/2006/table">
            <a:tbl>
              <a:tblPr firstRow="1" bandRow="1">
                <a:noFill/>
                <a:tableStyleId>{EFF0F1B1-B04D-454F-ABEE-A4EC8A169F0F}</a:tableStyleId>
              </a:tblPr>
              <a:tblGrid>
                <a:gridCol w="1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8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-7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-6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-5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-4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-3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-2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-1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67"/>
          <p:cNvSpPr txBox="1">
            <a:spLocks noGrp="1"/>
          </p:cNvSpPr>
          <p:nvPr>
            <p:ph type="body" idx="1"/>
          </p:nvPr>
        </p:nvSpPr>
        <p:spPr>
          <a:xfrm>
            <a:off x="563187" y="1075765"/>
            <a:ext cx="10987835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Change Tuple Values: </a:t>
            </a:r>
            <a:r>
              <a:rPr lang="en-US" sz="22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Once a tuple is created, you cannot change its values - </a:t>
            </a:r>
            <a:r>
              <a:rPr lang="en-US" sz="2200" b="1" i="1">
                <a:latin typeface="Constantia"/>
                <a:ea typeface="Constantia"/>
                <a:cs typeface="Constantia"/>
                <a:sym typeface="Constantia"/>
              </a:rPr>
              <a:t>unchangeable</a:t>
            </a:r>
            <a:r>
              <a:rPr lang="en-US" sz="2200">
                <a:latin typeface="Constantia"/>
                <a:ea typeface="Constantia"/>
                <a:cs typeface="Constantia"/>
                <a:sym typeface="Constantia"/>
              </a:rPr>
              <a:t> or </a:t>
            </a:r>
            <a:r>
              <a:rPr lang="en-US" sz="2200" b="1" i="1">
                <a:latin typeface="Constantia"/>
                <a:ea typeface="Constantia"/>
                <a:cs typeface="Constantia"/>
                <a:sym typeface="Constantia"/>
              </a:rPr>
              <a:t>immutable</a:t>
            </a:r>
            <a:r>
              <a:rPr lang="en-US" sz="2200">
                <a:latin typeface="Constantia"/>
                <a:ea typeface="Constantia"/>
                <a:cs typeface="Constantia"/>
                <a:sym typeface="Constantia"/>
              </a:rPr>
              <a:t>. 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latin typeface="Constantia"/>
                <a:ea typeface="Constantia"/>
                <a:cs typeface="Constantia"/>
                <a:sym typeface="Constantia"/>
              </a:rPr>
              <a:t>	But there is a workaround. You can convert the tuple into a list, change the list, and convert the list back into a tuple.</a:t>
            </a:r>
            <a:endParaRPr sz="2200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 = (</a:t>
            </a:r>
            <a:r>
              <a:rPr lang="en-US" sz="2200" b="1" i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 i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 i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US" sz="2200" b="1"/>
            </a:br>
            <a:r>
              <a:rPr lang="en-US" sz="2200" b="1"/>
              <a:t>	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 = </a:t>
            </a:r>
            <a:r>
              <a:rPr lang="en-US" sz="2200" b="1" i="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(x)</a:t>
            </a:r>
            <a:br>
              <a:rPr lang="en-US" sz="2200" b="1"/>
            </a:br>
            <a:r>
              <a:rPr lang="en-US" sz="2200" b="1"/>
              <a:t>	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y[</a:t>
            </a:r>
            <a:r>
              <a:rPr lang="en-US" sz="2200" b="1" i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 = </a:t>
            </a:r>
            <a:r>
              <a:rPr lang="en-US" sz="2200" b="1" i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"kiwi"</a:t>
            </a:r>
            <a:br>
              <a:rPr lang="en-US" sz="2200" b="1"/>
            </a:br>
            <a:r>
              <a:rPr lang="en-US" sz="2200" b="1"/>
              <a:t>	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 = </a:t>
            </a:r>
            <a:r>
              <a:rPr lang="en-US" sz="2200" b="1" i="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tuple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(y)</a:t>
            </a:r>
            <a:br>
              <a:rPr lang="en-US" sz="2200" b="1"/>
            </a:br>
            <a:r>
              <a:rPr lang="en-US" sz="2200" b="1"/>
              <a:t>	</a:t>
            </a:r>
            <a:r>
              <a:rPr lang="en-US" sz="2200" b="1" i="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(x)</a:t>
            </a:r>
            <a:endParaRPr sz="22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("apple", "kiwi", "cherry")</a:t>
            </a:r>
            <a:endParaRPr sz="22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68"/>
          <p:cNvSpPr txBox="1">
            <a:spLocks noGrp="1"/>
          </p:cNvSpPr>
          <p:nvPr>
            <p:ph type="body" idx="1"/>
          </p:nvPr>
        </p:nvSpPr>
        <p:spPr>
          <a:xfrm>
            <a:off x="618565" y="1062318"/>
            <a:ext cx="10932457" cy="4746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Add Items: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Since tuples are immutable, they do not have a built-in append() method, but there are other ways to add items to a tuple.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1. Convert into a list: </a:t>
            </a:r>
            <a:r>
              <a:rPr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Just like the workaround for changing a tuple, you can convert it into a list, add your item(s), and convert it back into a tuple.</a:t>
            </a:r>
            <a:endParaRPr sz="4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 = (</a:t>
            </a:r>
            <a:r>
              <a:rPr lang="en-US" sz="2200" b="1" i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 i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 i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US" sz="2200" b="1"/>
            </a:br>
            <a:r>
              <a:rPr lang="en-US" sz="2200" b="1"/>
              <a:t>	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 = </a:t>
            </a:r>
            <a:r>
              <a:rPr lang="en-US" sz="2200" b="1" i="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(thistuple)</a:t>
            </a:r>
            <a:br>
              <a:rPr lang="en-US" sz="2200" b="1"/>
            </a:br>
            <a:r>
              <a:rPr lang="en-US" sz="2200" b="1"/>
              <a:t>	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y.append(</a:t>
            </a:r>
            <a:r>
              <a:rPr lang="en-US" sz="2200" b="1" i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"orange"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US" sz="2200" b="1"/>
            </a:br>
            <a:r>
              <a:rPr lang="en-US" sz="2200" b="1"/>
              <a:t>	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 = </a:t>
            </a:r>
            <a:r>
              <a:rPr lang="en-US" sz="2200" b="1" i="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tuple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(y)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('apple', 'banana', 'cherry', 'orange')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9"/>
          <p:cNvSpPr txBox="1">
            <a:spLocks noGrp="1"/>
          </p:cNvSpPr>
          <p:nvPr>
            <p:ph type="body" idx="1"/>
          </p:nvPr>
        </p:nvSpPr>
        <p:spPr>
          <a:xfrm>
            <a:off x="605118" y="1008529"/>
            <a:ext cx="10932457" cy="566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Add Items</a:t>
            </a:r>
            <a:r>
              <a:rPr lang="en-US" sz="1800" i="1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(continue)</a:t>
            </a:r>
            <a:r>
              <a:rPr lang="en-US" sz="1800" b="1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: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2. </a:t>
            </a:r>
            <a:r>
              <a:rPr lang="en-US" sz="1800" b="1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Add tuple to a tuple:</a:t>
            </a:r>
            <a:r>
              <a:rPr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 You are allowed to add tuples to tuples, so if you want to add one item, (or many), create a new tuple with the item(s), and add it to the existing tuple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						</a:t>
            </a:r>
            <a:endParaRPr sz="18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 = (</a:t>
            </a:r>
            <a:r>
              <a:rPr lang="en-US" sz="2200" b="1" i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 i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 i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	</a:t>
            </a:r>
            <a:br>
              <a:rPr lang="en-US" sz="2200"/>
            </a:br>
            <a:r>
              <a:rPr lang="en-US" sz="2200" b="1"/>
              <a:t>	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 = (</a:t>
            </a:r>
            <a:r>
              <a:rPr lang="en-US" sz="2200" b="1" i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"orange"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,)</a:t>
            </a:r>
            <a:br>
              <a:rPr lang="en-US" sz="2200" b="1"/>
            </a:br>
            <a:r>
              <a:rPr lang="en-US" sz="2200" b="1"/>
              <a:t>	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</a:t>
            </a: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thistuple +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y</a:t>
            </a:r>
            <a:br>
              <a:rPr lang="en-US" sz="2200" b="1"/>
            </a:br>
            <a:r>
              <a:rPr lang="en-US" sz="2200" b="1"/>
              <a:t>	</a:t>
            </a:r>
            <a:r>
              <a:rPr lang="en-US" sz="2200" b="1" i="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(thistuple)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200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('apple', 'banana', 'cherry', 'orange')</a:t>
            </a:r>
            <a:endParaRPr sz="2200" b="1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0"/>
          <p:cNvSpPr txBox="1">
            <a:spLocks noGrp="1"/>
          </p:cNvSpPr>
          <p:nvPr>
            <p:ph type="body" idx="1"/>
          </p:nvPr>
        </p:nvSpPr>
        <p:spPr>
          <a:xfrm>
            <a:off x="560294" y="766482"/>
            <a:ext cx="10932457" cy="593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Remove Items: </a:t>
            </a:r>
            <a:r>
              <a:rPr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Tuples are unchangeable, so you cannot remove items from it, but you can use the same workaround as we used for changing and adding tuple items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						</a:t>
            </a:r>
            <a:endParaRPr sz="18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18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 = (</a:t>
            </a:r>
            <a:r>
              <a:rPr lang="en-US" sz="1800" b="1" i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18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1800" b="1" i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en-US" sz="18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1800" b="1" i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sz="18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US" sz="1800" b="1"/>
            </a:br>
            <a:r>
              <a:rPr lang="en-US" sz="1800" b="1"/>
              <a:t>	</a:t>
            </a:r>
            <a:r>
              <a:rPr lang="en-US" sz="18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 = </a:t>
            </a:r>
            <a:r>
              <a:rPr lang="en-US" sz="1800" b="1" i="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-US" sz="18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(thistuple)</a:t>
            </a:r>
            <a:br>
              <a:rPr lang="en-US" sz="1800" b="1"/>
            </a:br>
            <a:r>
              <a:rPr lang="en-US" sz="1800" b="1"/>
              <a:t>	</a:t>
            </a:r>
            <a:r>
              <a:rPr lang="en-US" sz="18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y.remove(</a:t>
            </a:r>
            <a:r>
              <a:rPr lang="en-US" sz="1800" b="1" i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18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US" sz="1800" b="1"/>
            </a:br>
            <a:r>
              <a:rPr lang="en-US" sz="1800" b="1"/>
              <a:t>	</a:t>
            </a:r>
            <a:r>
              <a:rPr lang="en-US" sz="18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 = </a:t>
            </a:r>
            <a:r>
              <a:rPr lang="en-US" sz="1800" b="1" i="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tuple</a:t>
            </a:r>
            <a:r>
              <a:rPr lang="en-US" sz="18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(y)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1800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('banana', 'cherry')</a:t>
            </a:r>
            <a:endParaRPr sz="1800" b="1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i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-------------------------------------------------------------------------------------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 = (</a:t>
            </a:r>
            <a:r>
              <a:rPr lang="en-US" sz="1800" b="1" i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18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1800" b="1" i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en-US" sz="18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1800" b="1" i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sz="18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US" sz="1800" b="1"/>
            </a:br>
            <a:r>
              <a:rPr lang="en-US" sz="1800" b="1"/>
              <a:t>	</a:t>
            </a:r>
            <a:r>
              <a:rPr lang="en-US" sz="1800" b="1" i="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del</a:t>
            </a:r>
            <a:r>
              <a:rPr lang="en-US" sz="18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thistuple</a:t>
            </a:r>
            <a:br>
              <a:rPr lang="en-US" sz="1800" b="1"/>
            </a:br>
            <a:r>
              <a:rPr lang="en-US" sz="1800" b="1"/>
              <a:t>	</a:t>
            </a:r>
            <a:r>
              <a:rPr lang="en-US" sz="1800" b="1" i="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8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(thistuple)</a:t>
            </a:r>
            <a:r>
              <a:rPr lang="en-US" sz="1800" b="1" i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en-US" sz="1800" b="1" i="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#this will raise an error because the tuple no longer exists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1800" i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NameError: name 'thistuple' is not defined</a:t>
            </a:r>
            <a:endParaRPr sz="1800" b="1">
              <a:solidFill>
                <a:srgbClr val="FF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71"/>
          <p:cNvSpPr txBox="1">
            <a:spLocks noGrp="1"/>
          </p:cNvSpPr>
          <p:nvPr>
            <p:ph type="body" idx="1"/>
          </p:nvPr>
        </p:nvSpPr>
        <p:spPr>
          <a:xfrm>
            <a:off x="366108" y="80683"/>
            <a:ext cx="10932457" cy="6696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dirty="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Unpacking a Tuple: </a:t>
            </a:r>
            <a:r>
              <a:rPr lang="en-US" sz="1800" dirty="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When we create a tuple, we normally assign values to it. This is called </a:t>
            </a:r>
            <a:r>
              <a:rPr lang="en-US" sz="1800" b="1" dirty="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"packing"</a:t>
            </a:r>
            <a:r>
              <a:rPr lang="en-US" sz="1800" dirty="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 a tuple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i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						</a:t>
            </a:r>
            <a:endParaRPr sz="1800" b="1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1800" b="1" i="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fruits = (</a:t>
            </a:r>
            <a:r>
              <a:rPr lang="en-US" sz="1800" b="1" i="0" dirty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1800" b="1" i="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1800" b="1" i="0" dirty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en-US" sz="1800" b="1" i="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1800" b="1" i="0" dirty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sz="1800" b="1" i="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1800" b="1" dirty="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800" b="1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(fruits)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1800" i="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('apple', 'banana', 'cherry')</a:t>
            </a:r>
            <a:endParaRPr sz="1800" b="1" dirty="0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i="1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-------------------------------------------------------------------------------------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dirty="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But, in Python, we are also allowed to extract the values back into variables. This is called </a:t>
            </a:r>
            <a:r>
              <a:rPr lang="en-US" sz="1800" b="1" i="1" dirty="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"unpacking"</a:t>
            </a:r>
            <a:r>
              <a:rPr lang="en-US" sz="1800" i="1" dirty="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: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i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i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 i="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fruits = (</a:t>
            </a:r>
            <a:r>
              <a:rPr lang="en-US" sz="1800" b="1" i="0" dirty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1800" b="1" i="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1800" b="1" i="0" dirty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en-US" sz="1800" b="1" i="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1800" b="1" i="0" dirty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sz="1800" b="1" i="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US" sz="1800" b="1" dirty="0"/>
            </a:br>
            <a:r>
              <a:rPr lang="en-US" sz="1800" b="1" dirty="0"/>
              <a:t>	</a:t>
            </a:r>
            <a:r>
              <a:rPr lang="en-US" sz="1800" b="1" i="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800" b="1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var1</a:t>
            </a:r>
            <a:r>
              <a:rPr lang="en-US" sz="1800" b="1" i="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var2, var3) = fruits</a:t>
            </a:r>
            <a:br>
              <a:rPr lang="en-US" sz="1800" b="1" dirty="0"/>
            </a:br>
            <a:r>
              <a:rPr lang="en-US" sz="1800" b="1" dirty="0"/>
              <a:t>	</a:t>
            </a:r>
            <a:r>
              <a:rPr lang="en-US" sz="1800" b="1" i="0" dirty="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800" b="1" i="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800" b="1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var1</a:t>
            </a:r>
            <a:r>
              <a:rPr lang="en-US" sz="1800" b="1" i="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US" sz="1800" b="1" dirty="0"/>
            </a:br>
            <a:r>
              <a:rPr lang="en-US" sz="1800" b="1" dirty="0"/>
              <a:t>	</a:t>
            </a:r>
            <a:r>
              <a:rPr lang="en-US" sz="1800" b="1" i="0" dirty="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800" b="1" i="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(var2)</a:t>
            </a:r>
            <a:br>
              <a:rPr lang="en-US" sz="1800" b="1" dirty="0"/>
            </a:br>
            <a:r>
              <a:rPr lang="en-US" sz="1800" b="1" dirty="0"/>
              <a:t>	</a:t>
            </a:r>
            <a:r>
              <a:rPr lang="en-US" sz="1800" b="1" i="0" dirty="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800" b="1" i="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800" b="1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var3</a:t>
            </a:r>
            <a:r>
              <a:rPr lang="en-US" sz="1800" b="1" i="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 b="1" i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apple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banana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cherry</a:t>
            </a: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C55A11"/>
              </a:buClr>
              <a:buSzPts val="1800"/>
              <a:buNone/>
            </a:pPr>
            <a:r>
              <a:rPr lang="en-US" sz="1800" b="1" i="1" dirty="0">
                <a:solidFill>
                  <a:srgbClr val="C55A11"/>
                </a:solidFill>
              </a:rPr>
              <a:t>Note:</a:t>
            </a:r>
            <a:r>
              <a:rPr lang="en-US" sz="1800" i="1" dirty="0">
                <a:solidFill>
                  <a:srgbClr val="C55A11"/>
                </a:solidFill>
              </a:rPr>
              <a:t> The number of variables must match the number of values in the tuple, if not, you must use an * </a:t>
            </a:r>
            <a:r>
              <a:rPr lang="en-US" sz="1800" b="1" i="1" dirty="0">
                <a:solidFill>
                  <a:srgbClr val="C55A11"/>
                </a:solidFill>
              </a:rPr>
              <a:t>asterisk</a:t>
            </a:r>
            <a:r>
              <a:rPr lang="en-US" sz="1800" i="1" dirty="0">
                <a:solidFill>
                  <a:srgbClr val="C55A11"/>
                </a:solidFill>
              </a:rPr>
              <a:t> to collect the remaining values as a list.</a:t>
            </a:r>
            <a:endParaRPr sz="1800" i="1" dirty="0">
              <a:solidFill>
                <a:srgbClr val="C55A1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72"/>
          <p:cNvSpPr txBox="1">
            <a:spLocks noGrp="1"/>
          </p:cNvSpPr>
          <p:nvPr>
            <p:ph type="body" idx="1"/>
          </p:nvPr>
        </p:nvSpPr>
        <p:spPr>
          <a:xfrm>
            <a:off x="502025" y="820271"/>
            <a:ext cx="11268634" cy="6212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Using Asterisk 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en-US" sz="2400" b="1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: </a:t>
            </a:r>
            <a:r>
              <a:rPr lang="en-US" sz="24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If the number of variables is less than the number of values, you can add an * to the variable name and the values will be assigned to the variable as a list</a:t>
            </a:r>
            <a:endParaRPr sz="1800"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						</a:t>
            </a:r>
            <a:endParaRPr sz="18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893763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fruits = ("apple","banana","cherry","strawberry","raspberry")</a:t>
            </a:r>
            <a:endParaRPr/>
          </a:p>
          <a:p>
            <a:pPr marL="893763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(var1, var2, *var3) = fruits</a:t>
            </a:r>
            <a:endParaRPr/>
          </a:p>
          <a:p>
            <a:pPr marL="893763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200"/>
              <a:buNone/>
            </a:pPr>
            <a:r>
              <a:rPr lang="en-US" sz="2200" b="1" i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(var1)</a:t>
            </a:r>
            <a:endParaRPr/>
          </a:p>
          <a:p>
            <a:pPr marL="893763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2200"/>
              <a:buNone/>
            </a:pPr>
            <a:r>
              <a:rPr lang="en-US" sz="2200" b="1" i="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(var2)</a:t>
            </a:r>
            <a:endParaRPr/>
          </a:p>
          <a:p>
            <a:pPr marL="893763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</a:pPr>
            <a:r>
              <a:rPr lang="en-US" sz="2200" b="1" i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(var3)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200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apple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banana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['cherry', 'strawberry', 'raspberry']</a:t>
            </a:r>
            <a:endParaRPr sz="2200" b="1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73"/>
          <p:cNvSpPr txBox="1">
            <a:spLocks noGrp="1"/>
          </p:cNvSpPr>
          <p:nvPr>
            <p:ph type="body" idx="1"/>
          </p:nvPr>
        </p:nvSpPr>
        <p:spPr>
          <a:xfrm>
            <a:off x="551330" y="927847"/>
            <a:ext cx="11452411" cy="6212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Using Asterisk </a:t>
            </a: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en-US" sz="1800" i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(continue)</a:t>
            </a:r>
            <a:r>
              <a:rPr lang="en-US" sz="1800" b="1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:</a:t>
            </a:r>
            <a:endParaRPr sz="1800"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						</a:t>
            </a:r>
            <a:endParaRPr sz="18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4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fruits = (</a:t>
            </a:r>
            <a:r>
              <a:rPr lang="en-US" sz="2400" b="1" i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24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 i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"mango"</a:t>
            </a:r>
            <a:r>
              <a:rPr lang="en-US" sz="24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 i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"papaya"</a:t>
            </a:r>
            <a:r>
              <a:rPr lang="en-US" sz="24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 i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"pineapple"</a:t>
            </a:r>
            <a:r>
              <a:rPr lang="en-US" sz="24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400" b="1" i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sz="24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US" sz="2400" b="1"/>
            </a:br>
            <a:r>
              <a:rPr lang="en-US" sz="2400" b="1"/>
              <a:t>	</a:t>
            </a:r>
            <a:r>
              <a:rPr lang="en-US" sz="24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(green, *tropic, red) = fruits</a:t>
            </a:r>
            <a:br>
              <a:rPr lang="en-US" sz="2400" b="1"/>
            </a:br>
            <a:r>
              <a:rPr lang="en-US" sz="2400" b="1"/>
              <a:t>	</a:t>
            </a:r>
            <a:r>
              <a:rPr lang="en-US" sz="2400" b="1" i="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4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(green)</a:t>
            </a:r>
            <a:br>
              <a:rPr lang="en-US" sz="2400" b="1"/>
            </a:br>
            <a:r>
              <a:rPr lang="en-US" sz="2400" b="1"/>
              <a:t>	</a:t>
            </a:r>
            <a:r>
              <a:rPr lang="en-US" sz="2400" b="1" i="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4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(tropic)</a:t>
            </a:r>
            <a:br>
              <a:rPr lang="en-US" sz="2400" b="1"/>
            </a:br>
            <a:r>
              <a:rPr lang="en-US" sz="2400" b="1"/>
              <a:t>	</a:t>
            </a:r>
            <a:r>
              <a:rPr lang="en-US" sz="2400" b="1" i="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4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(red)</a:t>
            </a:r>
            <a:endParaRPr sz="24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apple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['mango', 'papaya', 'pineapple']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cherry	</a:t>
            </a:r>
            <a:endParaRPr sz="2400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74"/>
          <p:cNvSpPr txBox="1">
            <a:spLocks noGrp="1"/>
          </p:cNvSpPr>
          <p:nvPr>
            <p:ph type="body" idx="1"/>
          </p:nvPr>
        </p:nvSpPr>
        <p:spPr>
          <a:xfrm>
            <a:off x="605118" y="995082"/>
            <a:ext cx="10932457" cy="6212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Loop Through a Tuple: </a:t>
            </a:r>
            <a:r>
              <a:rPr lang="en-US" sz="22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You can loop through the tuple items by using a for loop</a:t>
            </a:r>
            <a:endParaRPr sz="2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						</a:t>
            </a:r>
            <a:endParaRPr sz="22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 = (</a:t>
            </a:r>
            <a:r>
              <a:rPr lang="en-US" sz="2200" b="1" i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 i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2200" b="1" i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US" sz="2200" b="1"/>
            </a:br>
            <a:r>
              <a:rPr lang="en-US" sz="2200" b="1"/>
              <a:t>	</a:t>
            </a:r>
            <a:r>
              <a:rPr lang="en-US" sz="2200" b="1" i="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x </a:t>
            </a:r>
            <a:r>
              <a:rPr lang="en-US" sz="2200" b="1" i="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thistuple:</a:t>
            </a:r>
            <a:br>
              <a:rPr lang="en-US" sz="2200" b="1"/>
            </a:br>
            <a:r>
              <a:rPr lang="en-US" sz="2200" b="1"/>
              <a:t>	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  </a:t>
            </a:r>
            <a:r>
              <a:rPr lang="en-US" sz="2200" b="1" i="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2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(x)</a:t>
            </a:r>
            <a:endParaRPr sz="22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apple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banana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cherry	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1" i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800" b="1" i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Note: </a:t>
            </a:r>
            <a:r>
              <a:rPr lang="en-US" sz="1800" i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We can also use </a:t>
            </a:r>
            <a:r>
              <a:rPr lang="en-US" sz="1800" b="1" i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-US" sz="1800" i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and </a:t>
            </a:r>
            <a:r>
              <a:rPr lang="en-US" sz="1800" b="1" i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do-while </a:t>
            </a:r>
            <a:r>
              <a:rPr lang="en-US" sz="1800" i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loop</a:t>
            </a:r>
            <a:endParaRPr sz="1800" i="1">
              <a:solidFill>
                <a:srgbClr val="FF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75"/>
          <p:cNvSpPr txBox="1">
            <a:spLocks noGrp="1"/>
          </p:cNvSpPr>
          <p:nvPr>
            <p:ph type="body" idx="1"/>
          </p:nvPr>
        </p:nvSpPr>
        <p:spPr>
          <a:xfrm>
            <a:off x="632013" y="645459"/>
            <a:ext cx="10932457" cy="6212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Join Two Tuples: </a:t>
            </a:r>
            <a:r>
              <a:rPr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To join two or more tuples you can use the </a:t>
            </a:r>
            <a:r>
              <a:rPr lang="en-US" sz="24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 operator</a:t>
            </a:r>
            <a:endParaRPr sz="100"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						</a:t>
            </a:r>
            <a:endParaRPr sz="18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18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tuple1 = (</a:t>
            </a:r>
            <a:r>
              <a:rPr lang="en-US" sz="1800" b="1" i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lang="en-US" sz="18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1800" b="1" i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"b"</a:t>
            </a:r>
            <a:r>
              <a:rPr lang="en-US" sz="18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, </a:t>
            </a:r>
            <a:r>
              <a:rPr lang="en-US" sz="1800" b="1" i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"c"</a:t>
            </a:r>
            <a:r>
              <a:rPr lang="en-US" sz="18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US" sz="1800" b="1"/>
            </a:br>
            <a:r>
              <a:rPr lang="en-US" sz="1800" b="1"/>
              <a:t>	</a:t>
            </a:r>
            <a:r>
              <a:rPr lang="en-US" sz="18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tuple2 = (</a:t>
            </a:r>
            <a:r>
              <a:rPr lang="en-US" sz="1800" b="1" i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1800" b="1" i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18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1800" b="1" i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18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US" sz="1800" b="1"/>
            </a:br>
            <a:r>
              <a:rPr lang="en-US" sz="1800" b="1"/>
              <a:t>	</a:t>
            </a:r>
            <a:r>
              <a:rPr lang="en-US" sz="18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tuple3 = tuple1 + tuple2</a:t>
            </a:r>
            <a:br>
              <a:rPr lang="en-US" sz="1800" b="1"/>
            </a:br>
            <a:r>
              <a:rPr lang="en-US" sz="1800" b="1"/>
              <a:t>	</a:t>
            </a:r>
            <a:r>
              <a:rPr lang="en-US" sz="1800" b="1" i="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8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(tuple3)</a:t>
            </a:r>
            <a:endParaRPr sz="18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('a', 'b', 'c', 1, 2, 3)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-------------------------------------------------------------------------------------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>
                <a:latin typeface="Constantia"/>
                <a:ea typeface="Constantia"/>
                <a:cs typeface="Constantia"/>
                <a:sym typeface="Constantia"/>
              </a:rPr>
              <a:t>Multiply Tuples: </a:t>
            </a:r>
            <a:r>
              <a:rPr lang="en-US" sz="1800">
                <a:latin typeface="Constantia"/>
                <a:ea typeface="Constantia"/>
                <a:cs typeface="Constantia"/>
                <a:sym typeface="Constantia"/>
              </a:rPr>
              <a:t>If you want to multiply the content of a tuple a given number of times, you can use the </a:t>
            </a:r>
            <a:r>
              <a:rPr lang="en-US" sz="1800" b="1">
                <a:latin typeface="Constantia"/>
                <a:ea typeface="Constantia"/>
                <a:cs typeface="Constantia"/>
                <a:sym typeface="Constantia"/>
              </a:rPr>
              <a:t>*</a:t>
            </a:r>
            <a:r>
              <a:rPr lang="en-US" sz="1800">
                <a:latin typeface="Constantia"/>
                <a:ea typeface="Constantia"/>
                <a:cs typeface="Constantia"/>
                <a:sym typeface="Constantia"/>
              </a:rPr>
              <a:t> operator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sz="1800" b="1" i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fruits = (</a:t>
            </a:r>
            <a:r>
              <a:rPr lang="en-US" sz="1800" b="1" i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18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1800" b="1" i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en-US" sz="18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lang="en-US" sz="1800" b="1" i="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sz="18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US" sz="1800" b="1"/>
            </a:br>
            <a:r>
              <a:rPr lang="en-US" sz="1800" b="1"/>
              <a:t>	</a:t>
            </a:r>
            <a:r>
              <a:rPr lang="en-US" sz="18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mytuple = fruits * </a:t>
            </a:r>
            <a:r>
              <a:rPr lang="en-US" sz="1800" b="1" i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br>
              <a:rPr lang="en-US" sz="1800" b="1"/>
            </a:br>
            <a:r>
              <a:rPr lang="en-US" sz="1800" b="1"/>
              <a:t>	</a:t>
            </a:r>
            <a:r>
              <a:rPr lang="en-US" sz="1800" b="1" i="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800" b="1" i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(mytuple)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('apple', 'banana', 'cherry', 'apple', 'banana', 'cherry')</a:t>
            </a:r>
            <a:endParaRPr sz="1800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76"/>
          <p:cNvSpPr txBox="1">
            <a:spLocks noGrp="1"/>
          </p:cNvSpPr>
          <p:nvPr>
            <p:ph type="body" idx="1"/>
          </p:nvPr>
        </p:nvSpPr>
        <p:spPr>
          <a:xfrm>
            <a:off x="576634" y="981633"/>
            <a:ext cx="10987835" cy="4935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Tuples and Functions: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utility functions like </a:t>
            </a:r>
            <a:r>
              <a:rPr lang="en-US"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max(), min(), sum(), len() etc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can be used on tuples. Hence most of the operations will be easy without the usage of loops.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sz="18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tu=(3,12,5,26,32,1,4)					tu=(3,12,5,26,32,1,4)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max(tu) 						min(tu)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Output: 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32						Output: 1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-------------------------------------------------------------------------------------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sum(tu) 						 len(tu) 	</a:t>
            </a:r>
            <a:endParaRPr sz="1800" b="1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rPr lang="en-US" sz="1800" b="1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	Output: 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83						 Output: 7	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</a:t>
            </a:r>
            <a:r>
              <a:rPr lang="en-US" sz="1800" b="1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avg=sum(tu)/len(tu)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print(avg)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11.857142857142858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20" name="Google Shape;620;p76"/>
          <p:cNvCxnSpPr/>
          <p:nvPr/>
        </p:nvCxnSpPr>
        <p:spPr>
          <a:xfrm>
            <a:off x="5986977" y="2716306"/>
            <a:ext cx="73164" cy="3200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77"/>
          <p:cNvSpPr txBox="1">
            <a:spLocks noGrp="1"/>
          </p:cNvSpPr>
          <p:nvPr>
            <p:ph type="body" idx="1"/>
          </p:nvPr>
        </p:nvSpPr>
        <p:spPr>
          <a:xfrm>
            <a:off x="466761" y="658905"/>
            <a:ext cx="10987835" cy="619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Sorted Function: The sorted() function returns a sorted list of the specified iterable object.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</a:pPr>
            <a:r>
              <a:rPr lang="en-US" sz="24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Syntax: sorted(iterable, key=key, reverse=reverse)</a:t>
            </a:r>
            <a:endParaRPr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sz="18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tuple1 = (22,11,33)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ls = sorted(tuple1)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</a:t>
            </a: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ls)</a:t>
            </a:r>
            <a:b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Output: [11, 22, 33]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tuple1 = (22,11,33)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ls = sorted(tuple1,reverse=True)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</a:t>
            </a: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ls)</a:t>
            </a:r>
            <a:b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Output: [33, 22, 11]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626" name="Google Shape;626;p77"/>
          <p:cNvGraphicFramePr/>
          <p:nvPr/>
        </p:nvGraphicFramePr>
        <p:xfrm>
          <a:off x="737404" y="2019850"/>
          <a:ext cx="10717175" cy="1297065"/>
        </p:xfrm>
        <a:graphic>
          <a:graphicData uri="http://schemas.openxmlformats.org/drawingml/2006/table">
            <a:tbl>
              <a:tblPr>
                <a:noFill/>
                <a:tableStyleId>{FB70580C-F736-470D-B57C-30AB6EE4B1DB}</a:tableStyleId>
              </a:tblPr>
              <a:tblGrid>
                <a:gridCol w="126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53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2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i="1" u="none" strike="noStrike" cap="none"/>
                        <a:t>iterable</a:t>
                      </a:r>
                      <a:endParaRPr sz="1800" u="none" strike="noStrike" cap="none"/>
                    </a:p>
                  </a:txBody>
                  <a:tcPr marL="151000" marR="75500" marT="75500" marB="7550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Required. The sequence to sort, list, dictionary, tuple etc.</a:t>
                      </a:r>
                      <a:endParaRPr/>
                    </a:p>
                  </a:txBody>
                  <a:tcPr marL="75500" marR="75500" marT="75500" marB="7550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i="1" u="none" strike="noStrike" cap="none"/>
                        <a:t>key</a:t>
                      </a:r>
                      <a:endParaRPr sz="1800" u="none" strike="noStrike" cap="none"/>
                    </a:p>
                  </a:txBody>
                  <a:tcPr marL="151000" marR="75500" marT="75500" marB="7550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Optional. A Function to execute to decide the order. Default is None</a:t>
                      </a:r>
                      <a:endParaRPr/>
                    </a:p>
                  </a:txBody>
                  <a:tcPr marL="75500" marR="75500" marT="75500" marB="7550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i="1" u="none" strike="noStrike" cap="none"/>
                        <a:t>reverse</a:t>
                      </a:r>
                      <a:endParaRPr sz="1800" u="none" strike="noStrike" cap="none"/>
                    </a:p>
                  </a:txBody>
                  <a:tcPr marL="151000" marR="75500" marT="75500" marB="7550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Optional. A Boolean. False will sort ascending, True will sort descending. Default is False</a:t>
                      </a:r>
                      <a:endParaRPr/>
                    </a:p>
                  </a:txBody>
                  <a:tcPr marL="75500" marR="75500" marT="75500" marB="7550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78"/>
          <p:cNvSpPr txBox="1">
            <a:spLocks noGrp="1"/>
          </p:cNvSpPr>
          <p:nvPr>
            <p:ph type="body" idx="1"/>
          </p:nvPr>
        </p:nvSpPr>
        <p:spPr>
          <a:xfrm>
            <a:off x="602082" y="770963"/>
            <a:ext cx="10987835" cy="5764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Utility of tuples: divmod()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The divmod() function returns a tuple containing the quotient  and the remainder when argument1 (dividend) is divided by argument2 (divisor).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Syntax: divmod(dividend, divisor)</a:t>
            </a:r>
            <a:b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val = divmod(100,3)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 b="1" i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q</a:t>
            </a:r>
            <a:r>
              <a:rPr lang="en-US" sz="20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uo, rem = val         </a:t>
            </a:r>
            <a:r>
              <a:rPr lang="en-US" sz="2000" b="1">
                <a:solidFill>
                  <a:srgbClr val="A8D08C"/>
                </a:solidFill>
                <a:latin typeface="Consolas"/>
                <a:ea typeface="Consolas"/>
                <a:cs typeface="Consolas"/>
                <a:sym typeface="Consolas"/>
              </a:rPr>
              <a:t>#unpacking the tuple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print(“Quotient: ”, quo)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print(“Remainder: ”, rem)</a:t>
            </a:r>
            <a:endParaRPr sz="24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 b="1" i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0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Quotient: 33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Remainder: 1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79"/>
          <p:cNvSpPr txBox="1">
            <a:spLocks noGrp="1"/>
          </p:cNvSpPr>
          <p:nvPr>
            <p:ph type="body" idx="1"/>
          </p:nvPr>
        </p:nvSpPr>
        <p:spPr>
          <a:xfrm>
            <a:off x="579042" y="1048870"/>
            <a:ext cx="10987835" cy="5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Tuples for returning multiple values: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     Tuples can be returned from functions just like any other data type in Python.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     To return a tuple from a function, we simply need to separate the values with commas.</a:t>
            </a:r>
            <a:endParaRPr sz="2400" b="1" i="1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def calculate_average(numbers):   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total = sum(numbers)   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count = len(numbers)   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average = total / count   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return total, count, average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result = calculate_average([1, 2, 3, 4, 5])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print(result)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 i="1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ts val="2400"/>
              <a:buNone/>
            </a:pPr>
            <a:r>
              <a:rPr lang="en-US" sz="2400" b="1" i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ts val="2400"/>
              <a:buNone/>
            </a:pPr>
            <a:r>
              <a:rPr lang="en-US" sz="2400" b="1" i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(15, 5, 3.0)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80"/>
          <p:cNvSpPr txBox="1">
            <a:spLocks noGrp="1"/>
          </p:cNvSpPr>
          <p:nvPr>
            <p:ph type="body" idx="1"/>
          </p:nvPr>
        </p:nvSpPr>
        <p:spPr>
          <a:xfrm>
            <a:off x="838200" y="941294"/>
            <a:ext cx="10515600" cy="523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nested tuples: </a:t>
            </a:r>
            <a:r>
              <a:rPr lang="en-US"/>
              <a:t>a tuple written inside another tuple is known as a nested tuple.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>
                <a:latin typeface="Consolas"/>
                <a:ea typeface="Consolas"/>
                <a:cs typeface="Consolas"/>
                <a:sym typeface="Consolas"/>
              </a:rPr>
              <a:t>	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800" b="1">
                <a:latin typeface="Consolas"/>
                <a:ea typeface="Consolas"/>
                <a:cs typeface="Consolas"/>
                <a:sym typeface="Consolas"/>
              </a:rPr>
              <a:t>tup = ( 10, 40, 50, 60, (100, 200, 300)) 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>
                <a:latin typeface="Consolas"/>
                <a:ea typeface="Consolas"/>
                <a:cs typeface="Consolas"/>
                <a:sym typeface="Consolas"/>
              </a:rPr>
              <a:t>	print('Nested tuple : ', tup[4]) 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>
                <a:latin typeface="Consolas"/>
                <a:ea typeface="Consolas"/>
                <a:cs typeface="Consolas"/>
                <a:sym typeface="Consolas"/>
              </a:rPr>
              <a:t>	print('Nested tuple element : ',tup[4][1])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 b="1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1"/>
              <a:t>Output: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lang="en-US" sz="2800" b="1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	Nested tuple: (100, 200, 300)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r>
              <a:rPr lang="en-US" sz="2800" b="1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	Nested tuple element : 200 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81"/>
          <p:cNvSpPr txBox="1">
            <a:spLocks noGrp="1"/>
          </p:cNvSpPr>
          <p:nvPr>
            <p:ph type="body" idx="1"/>
          </p:nvPr>
        </p:nvSpPr>
        <p:spPr>
          <a:xfrm>
            <a:off x="579042" y="1048870"/>
            <a:ext cx="10987835" cy="5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Zip() function: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	zip() function is a built-in function that is used to combine two or more iterables into a single iterable. 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	This function takes in any number of iterables (lists, tuples, sets, etc.) as arguments and returns an iterator that aggregates elements from each of the iterables into </a:t>
            </a:r>
            <a:r>
              <a:rPr lang="en-US" sz="2400" b="1">
                <a:latin typeface="Cambria"/>
                <a:ea typeface="Cambria"/>
                <a:cs typeface="Cambria"/>
                <a:sym typeface="Cambria"/>
              </a:rPr>
              <a:t>tuples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b="1" i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i="1">
                <a:latin typeface="Consolas"/>
                <a:ea typeface="Consolas"/>
                <a:cs typeface="Consolas"/>
                <a:sym typeface="Consolas"/>
              </a:rPr>
              <a:t>Example: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>
                <a:latin typeface="Consolas"/>
                <a:ea typeface="Consolas"/>
                <a:cs typeface="Consolas"/>
                <a:sym typeface="Consolas"/>
              </a:rPr>
              <a:t>	numList=['apple','banana','grapes’]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>
                <a:latin typeface="Consolas"/>
                <a:ea typeface="Consolas"/>
                <a:cs typeface="Consolas"/>
                <a:sym typeface="Consolas"/>
              </a:rPr>
              <a:t>	strList=['red','yellow','purple’]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>
                <a:latin typeface="Consolas"/>
                <a:ea typeface="Consolas"/>
                <a:cs typeface="Consolas"/>
                <a:sym typeface="Consolas"/>
              </a:rPr>
              <a:t>	result=set(zip(numList,strList))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>
                <a:latin typeface="Consolas"/>
                <a:ea typeface="Consolas"/>
                <a:cs typeface="Consolas"/>
                <a:sym typeface="Consolas"/>
              </a:rPr>
              <a:t>	print(result)				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 i="1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47" name="Google Shape;647;p81"/>
          <p:cNvSpPr/>
          <p:nvPr/>
        </p:nvSpPr>
        <p:spPr>
          <a:xfrm>
            <a:off x="1442916" y="5259358"/>
            <a:ext cx="7602471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Output: 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1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559"/>
              </a:buClr>
              <a:buSzPts val="1800"/>
              <a:buFont typeface="Cambria Math"/>
              <a:buNone/>
            </a:pPr>
            <a:r>
              <a:rPr lang="en-US" sz="1800" b="1" i="0" u="none" strike="noStrike" cap="none">
                <a:solidFill>
                  <a:srgbClr val="535559"/>
                </a:solidFill>
                <a:latin typeface="Cambria Math"/>
                <a:ea typeface="Cambria Math"/>
                <a:cs typeface="Cambria Math"/>
                <a:sym typeface="Cambria Math"/>
              </a:rPr>
              <a:t>{('banana', 'yellow'), ('apple', 'red'), ('grapes', 'purple')}</a:t>
            </a:r>
            <a:endParaRPr sz="2800" b="1" i="0" u="none" strike="noStrike" cap="non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8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6000"/>
              <a:buFont typeface="Times New Roman"/>
              <a:buNone/>
            </a:pPr>
            <a:r>
              <a:rPr lang="en-US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SETS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83"/>
          <p:cNvSpPr/>
          <p:nvPr/>
        </p:nvSpPr>
        <p:spPr>
          <a:xfrm>
            <a:off x="546846" y="821979"/>
            <a:ext cx="11044518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Sets:</a:t>
            </a:r>
            <a:endParaRPr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 set is an unordered collection of items. Every element is  unique(duplicates not allowed) and must be immutable.</a:t>
            </a:r>
            <a:endParaRPr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However, the set itself is mutable. Items of set cannot be changed, but we can add or remove  items from it.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 set is created by placing all the elements inside curly braces {},  separated by comma or by using the built-in function set(). The elements can be of different types (integer, float, tuple, string  etc.).</a:t>
            </a:r>
            <a:endParaRPr/>
          </a:p>
        </p:txBody>
      </p:sp>
      <p:sp>
        <p:nvSpPr>
          <p:cNvPr id="658" name="Google Shape;658;p83"/>
          <p:cNvSpPr/>
          <p:nvPr/>
        </p:nvSpPr>
        <p:spPr>
          <a:xfrm>
            <a:off x="7996518" y="4063156"/>
            <a:ext cx="2935941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{1,2,3,4}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{class, ‘dict’}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{class, ‘set’}</a:t>
            </a:r>
            <a:endParaRPr/>
          </a:p>
        </p:txBody>
      </p:sp>
      <p:sp>
        <p:nvSpPr>
          <p:cNvPr id="659" name="Google Shape;659;p83"/>
          <p:cNvSpPr/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83"/>
          <p:cNvSpPr/>
          <p:nvPr/>
        </p:nvSpPr>
        <p:spPr>
          <a:xfrm>
            <a:off x="1037662" y="4132817"/>
            <a:ext cx="6680950" cy="230832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84"/>
          <p:cNvSpPr txBox="1">
            <a:spLocks noGrp="1"/>
          </p:cNvSpPr>
          <p:nvPr>
            <p:ph type="body" idx="1"/>
          </p:nvPr>
        </p:nvSpPr>
        <p:spPr>
          <a:xfrm>
            <a:off x="560294" y="797859"/>
            <a:ext cx="10932457" cy="5728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 b="1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Sets are unordered: </a:t>
            </a:r>
            <a:r>
              <a:rPr lang="en-US" sz="1400" b="0" i="0" u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Unordered means that the items in a set do not have a defined order.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lang="en-US" sz="1400" b="0" i="0" u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Set items can appear in a different order every time you use them and cannot be referred to by index or key.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Example:</a:t>
            </a:r>
            <a:endParaRPr sz="1800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/>
              <a:t>	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>
                <a:latin typeface="Consolas"/>
                <a:ea typeface="Consolas"/>
                <a:cs typeface="Consolas"/>
                <a:sym typeface="Consolas"/>
              </a:rPr>
              <a:t>	&gt;&gt;&gt; {1, 2, 3, 4, 5, 6, 7}</a:t>
            </a:r>
            <a:br>
              <a:rPr lang="en-US" sz="1800" b="1"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 b="1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{1, 2, 3, 4, 5, 6, 7}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>
                <a:latin typeface="Consolas"/>
                <a:ea typeface="Consolas"/>
                <a:cs typeface="Consolas"/>
                <a:sym typeface="Consolas"/>
              </a:rPr>
              <a:t>	&gt;&gt;&gt; {11, 22, 33}</a:t>
            </a:r>
            <a:br>
              <a:rPr lang="en-US" sz="1800" b="1"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 b="1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{33, 11, 22}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</a:t>
            </a:r>
            <a:endParaRPr sz="2000" b="1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 b="1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Sets do not supporting indexing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&gt;&gt;&gt; </a:t>
            </a:r>
            <a:r>
              <a:rPr lang="en-US" sz="1800" b="1">
                <a:latin typeface="Consolas"/>
                <a:ea typeface="Consolas"/>
                <a:cs typeface="Consolas"/>
                <a:sym typeface="Consolas"/>
              </a:rPr>
              <a:t>myset = {'Apples', 'Bananas', 'Oranges'}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&gt;&gt;&gt; </a:t>
            </a: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myset</a:t>
            </a:r>
            <a:b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{'Bananas', 'Oranges', 'Apples'}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&gt;&gt;&gt; </a:t>
            </a: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myset[0]</a:t>
            </a:r>
            <a:b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Traceback (most recent call last):</a:t>
            </a:r>
            <a:br>
              <a:rPr lang="en-U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	   File "&lt;pyshell#2&gt;", line 1, in &lt;module&gt;</a:t>
            </a:r>
            <a:br>
              <a:rPr lang="en-U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	      myset[0]</a:t>
            </a:r>
            <a:br>
              <a:rPr lang="en-U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	TypeError: 'set' object does not support indexing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85"/>
          <p:cNvSpPr txBox="1">
            <a:spLocks noGrp="1"/>
          </p:cNvSpPr>
          <p:nvPr>
            <p:ph type="body" idx="1"/>
          </p:nvPr>
        </p:nvSpPr>
        <p:spPr>
          <a:xfrm>
            <a:off x="605118" y="806824"/>
            <a:ext cx="10932457" cy="571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Iteration over sets: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cannot access items in a set by referring to an index or a key.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But can loop through the set items using a for loop or ask if a specified value is present in a set, by using the in keyword.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highlight>
                  <a:srgbClr val="E7E9EB"/>
                </a:highlight>
              </a:rPr>
              <a:t>Example:</a:t>
            </a:r>
            <a:endParaRPr sz="2400" b="1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	thisset = {"apple", "banana", "cherry"}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	for x in thisset: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 		 print(x)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Output: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	banana 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	apple 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	cherry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86"/>
          <p:cNvSpPr txBox="1">
            <a:spLocks noGrp="1"/>
          </p:cNvSpPr>
          <p:nvPr>
            <p:ph type="body" idx="1"/>
          </p:nvPr>
        </p:nvSpPr>
        <p:spPr>
          <a:xfrm>
            <a:off x="564776" y="1344706"/>
            <a:ext cx="10932457" cy="4948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Set operations: </a:t>
            </a:r>
            <a:r>
              <a:rPr lang="en-US" sz="24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like union, intersection, symmetric difference etc.</a:t>
            </a:r>
            <a:endParaRPr sz="2400" b="1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5715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odd = {1, 3, 5}</a:t>
            </a:r>
            <a:endParaRPr/>
          </a:p>
          <a:p>
            <a:pPr marL="5715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prime = {2, 3, 5}</a:t>
            </a:r>
            <a:endParaRPr sz="1800">
              <a:solidFill>
                <a:srgbClr val="000000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membership </a:t>
            </a:r>
            <a:r>
              <a:rPr lang="en-US" sz="1800" b="1">
                <a:solidFill>
                  <a:srgbClr val="000000"/>
                </a:solidFill>
              </a:rPr>
              <a:t>∈</a:t>
            </a:r>
            <a:r>
              <a:rPr lang="en-US" sz="1800">
                <a:solidFill>
                  <a:srgbClr val="000000"/>
                </a:solidFill>
              </a:rPr>
              <a:t>		Python: </a:t>
            </a: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1800">
                <a:solidFill>
                  <a:srgbClr val="000000"/>
                </a:solidFill>
              </a:rPr>
              <a:t>	</a:t>
            </a: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 in prime 	</a:t>
            </a:r>
            <a:r>
              <a:rPr lang="en-US" sz="1800">
                <a:solidFill>
                  <a:srgbClr val="000000"/>
                </a:solidFill>
              </a:rPr>
              <a:t>⇒ False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union </a:t>
            </a:r>
            <a:r>
              <a:rPr lang="en-US" sz="1800" b="1">
                <a:solidFill>
                  <a:srgbClr val="000000"/>
                </a:solidFill>
              </a:rPr>
              <a:t>∪</a:t>
            </a:r>
            <a:r>
              <a:rPr lang="en-US" sz="1800">
                <a:solidFill>
                  <a:srgbClr val="000000"/>
                </a:solidFill>
              </a:rPr>
              <a:t>		Python: </a:t>
            </a: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|	</a:t>
            </a:r>
            <a:r>
              <a:rPr lang="en-US" sz="1800">
                <a:solidFill>
                  <a:srgbClr val="000000"/>
                </a:solidFill>
              </a:rPr>
              <a:t>	</a:t>
            </a: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odd | prime 	</a:t>
            </a:r>
            <a:r>
              <a:rPr lang="en-US" sz="1800">
                <a:solidFill>
                  <a:srgbClr val="000000"/>
                </a:solidFill>
              </a:rPr>
              <a:t>⇒ {1, 2, 3, 5}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intersection  </a:t>
            </a:r>
            <a:r>
              <a:rPr lang="en-US" sz="1800" b="1">
                <a:solidFill>
                  <a:srgbClr val="000000"/>
                </a:solidFill>
              </a:rPr>
              <a:t>∩</a:t>
            </a:r>
            <a:r>
              <a:rPr lang="en-US" sz="1800">
                <a:solidFill>
                  <a:srgbClr val="000000"/>
                </a:solidFill>
              </a:rPr>
              <a:t>		Python: </a:t>
            </a: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1800">
                <a:solidFill>
                  <a:srgbClr val="000000"/>
                </a:solidFill>
              </a:rPr>
              <a:t>		</a:t>
            </a: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odd &amp; prime 	</a:t>
            </a:r>
            <a:r>
              <a:rPr lang="en-US" sz="1800">
                <a:solidFill>
                  <a:srgbClr val="000000"/>
                </a:solidFill>
              </a:rPr>
              <a:t>⇒ {3, 5}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difference </a:t>
            </a:r>
            <a:r>
              <a:rPr lang="en-US" sz="1800" b="1">
                <a:solidFill>
                  <a:srgbClr val="000000"/>
                </a:solidFill>
              </a:rPr>
              <a:t>\</a:t>
            </a:r>
            <a:r>
              <a:rPr lang="en-US" sz="1800">
                <a:solidFill>
                  <a:srgbClr val="000000"/>
                </a:solidFill>
              </a:rPr>
              <a:t> or </a:t>
            </a:r>
            <a:r>
              <a:rPr lang="en-US" sz="1800" b="1">
                <a:solidFill>
                  <a:srgbClr val="000000"/>
                </a:solidFill>
              </a:rPr>
              <a:t>-</a:t>
            </a:r>
            <a:r>
              <a:rPr lang="en-US" sz="1800">
                <a:solidFill>
                  <a:srgbClr val="000000"/>
                </a:solidFill>
              </a:rPr>
              <a:t>		Python: </a:t>
            </a: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1800">
                <a:solidFill>
                  <a:srgbClr val="000000"/>
                </a:solidFill>
              </a:rPr>
              <a:t>		</a:t>
            </a: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odd – prime 	</a:t>
            </a:r>
            <a:r>
              <a:rPr lang="en-US" sz="1800">
                <a:solidFill>
                  <a:srgbClr val="000000"/>
                </a:solidFill>
              </a:rPr>
              <a:t>⇒ {1}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</a:t>
            </a:r>
            <a:r>
              <a:rPr lang="en-US" sz="2400" b="1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Guess the output: </a:t>
            </a:r>
            <a:endParaRPr sz="18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z = {5, 6, 7, 8}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 = {1, 2, 3, 1, 5}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k = z &amp; y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j = z | y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 = y – z 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 = z – y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print(z,y,k,j,m,n,sep=“\n”)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87"/>
          <p:cNvSpPr txBox="1">
            <a:spLocks noGrp="1"/>
          </p:cNvSpPr>
          <p:nvPr>
            <p:ph type="body" idx="1"/>
          </p:nvPr>
        </p:nvSpPr>
        <p:spPr>
          <a:xfrm>
            <a:off x="629771" y="449970"/>
            <a:ext cx="10932457" cy="4948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 dirty="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Modify a Set: 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cannot access or change an element of set using indexing or slicing.</a:t>
            </a:r>
            <a:endParaRPr sz="24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Add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one element to a set:</a:t>
            </a:r>
            <a:endParaRPr dirty="0"/>
          </a:p>
          <a:p>
            <a:pPr marL="457200" lvl="1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myset.add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800" b="1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newelt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dirty="0"/>
          </a:p>
          <a:p>
            <a:pPr marL="457200" lvl="1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myset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1800" b="1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myset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| {</a:t>
            </a:r>
            <a:r>
              <a:rPr lang="en-US" sz="1800" b="1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newelt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Update </a:t>
            </a:r>
            <a:r>
              <a:rPr lang="en-US" sz="2000" dirty="0">
                <a:solidFill>
                  <a:srgbClr val="000000"/>
                </a:solidFill>
              </a:rPr>
              <a:t>multiple elements to the set</a:t>
            </a:r>
            <a:endParaRPr dirty="0"/>
          </a:p>
          <a:p>
            <a:pPr marL="0" lvl="1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 dirty="0">
                <a:solidFill>
                  <a:srgbClr val="000000"/>
                </a:solidFill>
              </a:rPr>
              <a:t>       </a:t>
            </a:r>
            <a:r>
              <a:rPr lang="en-US" sz="1800" b="1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myset.update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((elt1, elt2, elt3))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Remove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one element from a set:</a:t>
            </a:r>
            <a:endParaRPr dirty="0"/>
          </a:p>
          <a:p>
            <a:pPr marL="457200" lvl="1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myset.remove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800" b="1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elt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  </a:t>
            </a:r>
            <a:r>
              <a:rPr lang="en-US" sz="1800" dirty="0">
                <a:solidFill>
                  <a:srgbClr val="000000"/>
                </a:solidFill>
              </a:rPr>
              <a:t># </a:t>
            </a:r>
            <a:r>
              <a:rPr lang="en-US" sz="1800" dirty="0" err="1">
                <a:solidFill>
                  <a:srgbClr val="000000"/>
                </a:solidFill>
              </a:rPr>
              <a:t>elt</a:t>
            </a:r>
            <a:r>
              <a:rPr lang="en-US" sz="1800" dirty="0">
                <a:solidFill>
                  <a:srgbClr val="000000"/>
                </a:solidFill>
              </a:rPr>
              <a:t> must be in </a:t>
            </a:r>
            <a:r>
              <a:rPr lang="en-US" sz="1800" b="1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myset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dirty="0">
                <a:solidFill>
                  <a:srgbClr val="000000"/>
                </a:solidFill>
              </a:rPr>
              <a:t>or raises error</a:t>
            </a:r>
            <a:endParaRPr dirty="0"/>
          </a:p>
          <a:p>
            <a:pPr marL="457200" lvl="1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myset.discard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800" b="1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elt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US" sz="1800" dirty="0">
                <a:solidFill>
                  <a:srgbClr val="000000"/>
                </a:solidFill>
              </a:rPr>
              <a:t># never errors</a:t>
            </a:r>
            <a:endParaRPr dirty="0"/>
          </a:p>
          <a:p>
            <a:pPr marL="457200" lvl="1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myset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1800" b="1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myset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- {</a:t>
            </a:r>
            <a:r>
              <a:rPr lang="en-US" sz="1800" b="1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elt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 b="1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1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 dirty="0">
                <a:solidFill>
                  <a:srgbClr val="000000"/>
                </a:solidFill>
              </a:rPr>
              <a:t>What would this do?</a:t>
            </a:r>
            <a:endParaRPr dirty="0"/>
          </a:p>
          <a:p>
            <a:pPr marL="457200" lvl="1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myset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1800" b="1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myset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– </a:t>
            </a:r>
            <a:r>
              <a:rPr lang="en-US" sz="1800" b="1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elt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.clear() will remove all the elements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Remove and return an arbitrary element from a set:</a:t>
            </a:r>
            <a:endParaRPr dirty="0"/>
          </a:p>
          <a:p>
            <a:pPr marL="457200" lvl="1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myset.pop</a:t>
            </a:r>
            <a:r>
              <a:rPr lang="en-US" sz="18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()              </a:t>
            </a:r>
            <a:endParaRPr sz="18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u="sng" dirty="0"/>
              <a:t>Note</a:t>
            </a:r>
            <a:r>
              <a:rPr lang="en-US" sz="1800" dirty="0"/>
              <a:t>: 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r>
              <a:rPr lang="en-US" sz="1800" dirty="0"/>
              <a:t>, 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remove</a:t>
            </a:r>
            <a:r>
              <a:rPr lang="en-US" sz="1800" dirty="0"/>
              <a:t> and 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discard</a:t>
            </a:r>
            <a:r>
              <a:rPr lang="en-US" sz="1800" dirty="0"/>
              <a:t> all return 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88"/>
          <p:cNvSpPr/>
          <p:nvPr/>
        </p:nvSpPr>
        <p:spPr>
          <a:xfrm>
            <a:off x="658905" y="1358151"/>
            <a:ext cx="8709211" cy="205740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617" t="-8615" b="-91833"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686" name="Google Shape;686;p88"/>
          <p:cNvSpPr/>
          <p:nvPr/>
        </p:nvSpPr>
        <p:spPr>
          <a:xfrm>
            <a:off x="658905" y="3980328"/>
            <a:ext cx="8135471" cy="266252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t="-5446" r="-14212" b="-79869"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687" name="Google Shape;687;p88"/>
          <p:cNvCxnSpPr/>
          <p:nvPr/>
        </p:nvCxnSpPr>
        <p:spPr>
          <a:xfrm rot="10800000" flipH="1">
            <a:off x="658905" y="3630706"/>
            <a:ext cx="10152530" cy="40341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89"/>
          <p:cNvSpPr/>
          <p:nvPr/>
        </p:nvSpPr>
        <p:spPr>
          <a:xfrm>
            <a:off x="766482" y="1143007"/>
            <a:ext cx="7123820" cy="227255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565" t="-10847" b="-13213"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90"/>
          <p:cNvSpPr txBox="1">
            <a:spLocks noGrp="1"/>
          </p:cNvSpPr>
          <p:nvPr>
            <p:ph type="body" idx="1"/>
          </p:nvPr>
        </p:nvSpPr>
        <p:spPr>
          <a:xfrm>
            <a:off x="564776" y="1344706"/>
            <a:ext cx="10932457" cy="4948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 b="1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Exercise: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z = {5, 6, 7, 8}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y = {1, 2, 3, 1, 5}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 = z	</a:t>
            </a: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1800" b="1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 # p is Alias for z </a:t>
            </a:r>
            <a:endParaRPr sz="18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q = set(z)  </a:t>
            </a:r>
            <a:r>
              <a:rPr lang="en-US" sz="1800" b="1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# Makes a copy of set z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print(z,y,p,q)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endParaRPr sz="9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z.add(9)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q = q | {35}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print(z,q)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endParaRPr sz="9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z.discard(7)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q = q – {6, 1, 8}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print(z,q)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91"/>
          <p:cNvSpPr/>
          <p:nvPr/>
        </p:nvSpPr>
        <p:spPr>
          <a:xfrm>
            <a:off x="546846" y="1037131"/>
            <a:ext cx="11044518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Methods on Sets:</a:t>
            </a:r>
            <a:endParaRPr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isdisjoint() </a:t>
            </a: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– This method will return True if two  set have a null intersection</a:t>
            </a:r>
            <a:endParaRPr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issubset()</a:t>
            </a: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– This method reports whether  another set contains this set</a:t>
            </a:r>
            <a:endParaRPr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issuperset()</a:t>
            </a: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– This method will report whether  this set contains another set</a:t>
            </a:r>
            <a:endParaRPr/>
          </a:p>
        </p:txBody>
      </p:sp>
      <p:sp>
        <p:nvSpPr>
          <p:cNvPr id="703" name="Google Shape;703;p91"/>
          <p:cNvSpPr/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91"/>
          <p:cNvSpPr/>
          <p:nvPr/>
        </p:nvSpPr>
        <p:spPr>
          <a:xfrm>
            <a:off x="1173256" y="3207340"/>
            <a:ext cx="7244603" cy="206390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92"/>
          <p:cNvSpPr/>
          <p:nvPr/>
        </p:nvSpPr>
        <p:spPr>
          <a:xfrm>
            <a:off x="546846" y="929555"/>
            <a:ext cx="11044518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Difference between a Set and a list: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10" name="Google Shape;710;p92"/>
          <p:cNvSpPr/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1" name="Google Shape;711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6846" y="1672478"/>
            <a:ext cx="11228478" cy="4607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9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6000"/>
              <a:buFont typeface="Times New Roman"/>
              <a:buNone/>
            </a:pPr>
            <a:r>
              <a:rPr lang="en-US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DICTIONARY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94"/>
          <p:cNvSpPr/>
          <p:nvPr/>
        </p:nvSpPr>
        <p:spPr>
          <a:xfrm>
            <a:off x="546847" y="956450"/>
            <a:ext cx="11044518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Dictionary:</a:t>
            </a:r>
            <a:endParaRPr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Dictionaries are collection of Key-Value pair. Key and values are separated by a colon. Paris of entries are separated by commas</a:t>
            </a:r>
            <a:endParaRPr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Keys can be any immutable type and unique within the dictionary. Values can be any type.</a:t>
            </a:r>
            <a:endParaRPr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Python’s dictionaries are also known as </a:t>
            </a:r>
            <a:r>
              <a:rPr lang="en-US" sz="2400" b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hash tables </a:t>
            </a: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and </a:t>
            </a:r>
            <a:r>
              <a:rPr lang="en-US" sz="2400" b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associative arrays</a:t>
            </a:r>
            <a:endParaRPr/>
          </a:p>
        </p:txBody>
      </p:sp>
      <p:sp>
        <p:nvSpPr>
          <p:cNvPr id="722" name="Google Shape;722;p94"/>
          <p:cNvSpPr/>
          <p:nvPr/>
        </p:nvSpPr>
        <p:spPr>
          <a:xfrm>
            <a:off x="546847" y="3632852"/>
            <a:ext cx="6311154" cy="320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Creating &amp; accessing dictionaries</a:t>
            </a:r>
            <a:endParaRPr/>
          </a:p>
          <a:p>
            <a:pPr marL="236538" marR="0" lvl="0" indent="-236538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0033"/>
                </a:solidFill>
                <a:latin typeface="Consolas"/>
                <a:ea typeface="Consolas"/>
                <a:cs typeface="Consolas"/>
                <a:sym typeface="Consolas"/>
              </a:rPr>
              <a:t>&gt;&gt;&gt;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 = {</a:t>
            </a:r>
            <a:r>
              <a:rPr lang="en-US" sz="1800" b="1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‘user’</a:t>
            </a: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800" b="1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‘bozo’</a:t>
            </a: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800" b="1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‘pswd’</a:t>
            </a: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:1234}</a:t>
            </a:r>
            <a:endParaRPr/>
          </a:p>
          <a:p>
            <a:pPr marL="236538" marR="0" lvl="0" indent="-236538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0033"/>
                </a:solidFill>
                <a:latin typeface="Consolas"/>
                <a:ea typeface="Consolas"/>
                <a:cs typeface="Consolas"/>
                <a:sym typeface="Consolas"/>
              </a:rPr>
              <a:t>&gt;&gt;&gt;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d[</a:t>
            </a:r>
            <a:r>
              <a:rPr lang="en-US" sz="1800" b="1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‘user’</a:t>
            </a: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 </a:t>
            </a:r>
            <a:endParaRPr/>
          </a:p>
          <a:p>
            <a:pPr marL="236538" marR="0" lvl="0" indent="-236538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CC"/>
                </a:solidFill>
                <a:latin typeface="Consolas"/>
                <a:ea typeface="Consolas"/>
                <a:cs typeface="Consolas"/>
                <a:sym typeface="Consolas"/>
              </a:rPr>
              <a:t>‘bozo’</a:t>
            </a:r>
            <a:endParaRPr sz="18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36538" marR="0" lvl="0" indent="-236538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0033"/>
                </a:solidFill>
                <a:latin typeface="Consolas"/>
                <a:ea typeface="Consolas"/>
                <a:cs typeface="Consolas"/>
                <a:sym typeface="Consolas"/>
              </a:rPr>
              <a:t>&gt;&gt;&gt;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d[</a:t>
            </a:r>
            <a:r>
              <a:rPr lang="en-US" sz="1800" b="1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‘pswd’</a:t>
            </a: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/>
          </a:p>
          <a:p>
            <a:pPr marL="236538" marR="0" lvl="0" indent="-236538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CC"/>
                </a:solidFill>
                <a:latin typeface="Consolas"/>
                <a:ea typeface="Consolas"/>
                <a:cs typeface="Consolas"/>
                <a:sym typeface="Consolas"/>
              </a:rPr>
              <a:t>123</a:t>
            </a:r>
            <a:endParaRPr sz="18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36538" marR="0" lvl="0" indent="-236538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0033"/>
                </a:solidFill>
                <a:latin typeface="Consolas"/>
                <a:ea typeface="Consolas"/>
                <a:cs typeface="Consolas"/>
                <a:sym typeface="Consolas"/>
              </a:rPr>
              <a:t>&gt;&gt;&gt;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d[</a:t>
            </a:r>
            <a:r>
              <a:rPr lang="en-US" sz="1800" b="1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‘bozo’</a:t>
            </a:r>
            <a:r>
              <a:rPr lang="en-US" sz="18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/>
          </a:p>
          <a:p>
            <a:pPr marL="236538" marR="0" lvl="0" indent="-236538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3300"/>
                </a:solidFill>
                <a:latin typeface="Consolas"/>
                <a:ea typeface="Consolas"/>
                <a:cs typeface="Consolas"/>
                <a:sym typeface="Consolas"/>
              </a:rPr>
              <a:t>Traceback (innermost last):</a:t>
            </a:r>
            <a:endParaRPr/>
          </a:p>
          <a:p>
            <a:pPr marL="236538" marR="0" lvl="0" indent="-236538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3300"/>
                </a:solidFill>
                <a:latin typeface="Consolas"/>
                <a:ea typeface="Consolas"/>
                <a:cs typeface="Consolas"/>
                <a:sym typeface="Consolas"/>
              </a:rPr>
              <a:t>  File ‘&lt;interactive input&gt;’ line 1, in ?</a:t>
            </a:r>
            <a:endParaRPr/>
          </a:p>
          <a:p>
            <a:pPr marL="236538" marR="0" lvl="0" indent="-236538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3300"/>
                </a:solidFill>
                <a:latin typeface="Consolas"/>
                <a:ea typeface="Consolas"/>
                <a:cs typeface="Consolas"/>
                <a:sym typeface="Consolas"/>
              </a:rPr>
              <a:t>KeyError: bozo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3" name="Google Shape;723;p94"/>
          <p:cNvSpPr/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95"/>
          <p:cNvSpPr/>
          <p:nvPr/>
        </p:nvSpPr>
        <p:spPr>
          <a:xfrm>
            <a:off x="761999" y="987235"/>
            <a:ext cx="11044518" cy="581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Updating item value in Dictionary:</a:t>
            </a:r>
            <a:endParaRPr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Dictionaries store a mapping between a set of keys and a set of values</a:t>
            </a:r>
            <a:endParaRPr/>
          </a:p>
          <a:p>
            <a:pPr marL="914400" marR="0" lvl="2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&gt;&gt;&gt; d = {‘user’:‘bozo’, ‘pswd’:1234}</a:t>
            </a:r>
            <a:endParaRPr/>
          </a:p>
          <a:p>
            <a:pPr marL="914400" marR="0" lvl="2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&gt;&gt;&gt; d[‘user’] = ‘clown’</a:t>
            </a:r>
            <a:endParaRPr/>
          </a:p>
          <a:p>
            <a:pPr marL="914400" marR="0" lvl="2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&gt;&gt;&gt; d</a:t>
            </a:r>
            <a:endParaRPr/>
          </a:p>
          <a:p>
            <a:pPr marL="914400" marR="0" lvl="2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{‘user’:‘clown’, ‘pswd’:1234}</a:t>
            </a:r>
            <a:endParaRPr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Keys must be unique 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Adding item to Dictionary:</a:t>
            </a:r>
            <a:endParaRPr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Assigning to an existing key replaces its value</a:t>
            </a:r>
            <a:endParaRPr/>
          </a:p>
          <a:p>
            <a:pPr marL="914400" marR="0" lvl="2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&gt;&gt;&gt; d[‘id’] = 45   Or  &gt;&gt;&gt;d.update({‘id’:45})</a:t>
            </a:r>
            <a:r>
              <a:rPr lang="en-US" sz="1800" b="1" i="0" u="none" strike="noStrike" cap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#Updating with another dictionary</a:t>
            </a:r>
            <a:endParaRPr/>
          </a:p>
          <a:p>
            <a:pPr marL="914400" marR="0" lvl="2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&gt;&gt;&gt; d</a:t>
            </a:r>
            <a:endParaRPr/>
          </a:p>
          <a:p>
            <a:pPr marL="914400" marR="0" lvl="2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{‘user’:‘clown’, ‘id’:45, ‘pswd’:1234}</a:t>
            </a:r>
            <a:endParaRPr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Dictionaries are unordered</a:t>
            </a:r>
            <a:endParaRPr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New entries can appear anywhere in output</a:t>
            </a:r>
            <a:endParaRPr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Dictionaries work by hashing</a:t>
            </a:r>
            <a:endParaRPr/>
          </a:p>
        </p:txBody>
      </p:sp>
      <p:sp>
        <p:nvSpPr>
          <p:cNvPr id="729" name="Google Shape;729;p95"/>
          <p:cNvSpPr/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96"/>
          <p:cNvSpPr/>
          <p:nvPr/>
        </p:nvSpPr>
        <p:spPr>
          <a:xfrm>
            <a:off x="721658" y="839317"/>
            <a:ext cx="11044518" cy="5909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Updating dictionary to another Dictionary:</a:t>
            </a:r>
            <a:endParaRPr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Assigning to an existing key replaces its value</a:t>
            </a:r>
            <a:endParaRPr/>
          </a:p>
          <a:p>
            <a:pPr marL="914400" marR="0" lvl="2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&gt;&gt;&gt;d.update({‘id’:45})</a:t>
            </a:r>
            <a:r>
              <a:rPr lang="en-US" sz="1800" b="1" i="0" u="none" strike="noStrike" cap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#Updating with another dictionary</a:t>
            </a:r>
            <a:endParaRPr/>
          </a:p>
          <a:p>
            <a:pPr marL="914400" marR="0" lvl="2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&gt;&gt;&gt; d</a:t>
            </a:r>
            <a:endParaRPr/>
          </a:p>
          <a:p>
            <a:pPr marL="914400" marR="0" lvl="2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{‘user’:‘clown’, ‘id’:45, ‘pswd’:1234}</a:t>
            </a:r>
            <a:endParaRPr/>
          </a:p>
          <a:p>
            <a:pPr marL="0" marR="0" lvl="2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----------------------------------------------------------------------------------------------------------------------------------------------</a:t>
            </a:r>
            <a:endParaRPr/>
          </a:p>
          <a:p>
            <a:pPr marL="0" marR="0" lvl="2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Creating Dictionary with another sequence: </a:t>
            </a:r>
            <a:endParaRPr/>
          </a:p>
          <a:p>
            <a:pPr marL="0" marR="0" lvl="2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dict.fromkeys(seq, value=None):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marL="285750" marR="0" lvl="2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Creates a new dictionary with keys from the specified sequence (e.g., a list, tuple, or set) and values set to the specified value. </a:t>
            </a:r>
            <a:endParaRPr/>
          </a:p>
          <a:p>
            <a:pPr marL="285750" marR="0" lvl="2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value parameter is not specified, it defaults to None.</a:t>
            </a:r>
            <a:endParaRPr/>
          </a:p>
          <a:p>
            <a:pPr marL="457200" marR="0" lvl="3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&gt;&gt;&gt;keys = {'a','e','i','o','u'}</a:t>
            </a:r>
            <a:endParaRPr/>
          </a:p>
          <a:p>
            <a:pPr marL="457200" marR="0" lvl="3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&gt;&gt;&gt;value = [1]</a:t>
            </a:r>
            <a:endParaRPr/>
          </a:p>
          <a:p>
            <a:pPr marL="457200" marR="0" lvl="3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&gt;&gt;&gt;vowels = dict.fromkeys(keys, value)</a:t>
            </a:r>
            <a:endParaRPr/>
          </a:p>
          <a:p>
            <a:pPr marL="457200" marR="0" lvl="3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&gt;&gt;&gt;print(vowels)</a:t>
            </a:r>
            <a:endParaRPr/>
          </a:p>
          <a:p>
            <a:pPr marL="457200" marR="0" lvl="3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&gt;&gt;&gt;value.append(2)</a:t>
            </a:r>
            <a:endParaRPr/>
          </a:p>
          <a:p>
            <a:pPr marL="457200" marR="0" lvl="3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&gt;&gt;&gt;print(vowels)</a:t>
            </a:r>
            <a:endParaRPr/>
          </a:p>
          <a:p>
            <a:pPr marL="0" marR="0" lvl="2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marL="457200" marR="0" lvl="3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{'a':[1],'u':[1],'o':[1],'e':[1],'i':[1]}</a:t>
            </a:r>
            <a:endParaRPr/>
          </a:p>
          <a:p>
            <a:pPr marL="457200" marR="0" lvl="3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{'a':[1,2],'u':[1,2],'o':[1,2],'e':[1,2],'i':[1,2]}</a:t>
            </a:r>
            <a:endParaRPr/>
          </a:p>
        </p:txBody>
      </p:sp>
      <p:sp>
        <p:nvSpPr>
          <p:cNvPr id="735" name="Google Shape;735;p96"/>
          <p:cNvSpPr/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97"/>
          <p:cNvSpPr/>
          <p:nvPr/>
        </p:nvSpPr>
        <p:spPr>
          <a:xfrm>
            <a:off x="640975" y="1041023"/>
            <a:ext cx="11044518" cy="440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Removing item from the Dictionary: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Clr>
                <a:srgbClr val="660033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rgbClr val="660033"/>
                </a:solidFill>
                <a:latin typeface="Consolas"/>
                <a:ea typeface="Consolas"/>
                <a:cs typeface="Consolas"/>
                <a:sym typeface="Consolas"/>
              </a:rPr>
              <a:t>&gt;&gt;&gt;</a:t>
            </a:r>
            <a:r>
              <a:rPr lang="en-US" sz="20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 = {</a:t>
            </a:r>
            <a:r>
              <a:rPr lang="en-US" sz="2000" b="1" i="0" u="none" strike="noStrike" cap="non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‘user’</a:t>
            </a:r>
            <a:r>
              <a:rPr lang="en-US" sz="20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 b="1" i="0" u="none" strike="noStrike" cap="non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‘bozo’</a:t>
            </a:r>
            <a:r>
              <a:rPr lang="en-US" sz="20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 b="1" i="0" u="none" strike="noStrike" cap="non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‘p’</a:t>
            </a:r>
            <a:r>
              <a:rPr lang="en-US" sz="20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:1234, </a:t>
            </a:r>
            <a:r>
              <a:rPr lang="en-US" sz="2000" b="1" i="0" u="none" strike="noStrike" cap="non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‘i’</a:t>
            </a:r>
            <a:r>
              <a:rPr lang="en-US" sz="20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:34}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Clr>
                <a:srgbClr val="660033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rgbClr val="660033"/>
                </a:solidFill>
                <a:latin typeface="Consolas"/>
                <a:ea typeface="Consolas"/>
                <a:cs typeface="Consolas"/>
                <a:sym typeface="Consolas"/>
              </a:rPr>
              <a:t>&gt;&gt;&gt;</a:t>
            </a:r>
            <a:r>
              <a:rPr lang="en-US" sz="20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1" i="0" u="none" strike="noStrike" cap="none">
                <a:solidFill>
                  <a:srgbClr val="FF6600"/>
                </a:solidFill>
                <a:latin typeface="Consolas"/>
                <a:ea typeface="Consolas"/>
                <a:cs typeface="Consolas"/>
                <a:sym typeface="Consolas"/>
              </a:rPr>
              <a:t>del</a:t>
            </a:r>
            <a:r>
              <a:rPr lang="en-US" sz="20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d[</a:t>
            </a:r>
            <a:r>
              <a:rPr lang="en-US" sz="2000" b="1" i="0" u="none" strike="noStrike" cap="non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‘user’</a:t>
            </a:r>
            <a:r>
              <a:rPr lang="en-US" sz="20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 </a:t>
            </a:r>
            <a:r>
              <a:rPr lang="en-US" sz="2000" b="1" i="0" u="none" strike="noStrike" cap="none">
                <a:solidFill>
                  <a:srgbClr val="FF3300"/>
                </a:solidFill>
                <a:latin typeface="Consolas"/>
                <a:ea typeface="Consolas"/>
                <a:cs typeface="Consolas"/>
                <a:sym typeface="Consolas"/>
              </a:rPr>
              <a:t># Remove one.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Clr>
                <a:srgbClr val="660033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rgbClr val="660033"/>
                </a:solidFill>
                <a:latin typeface="Consolas"/>
                <a:ea typeface="Consolas"/>
                <a:cs typeface="Consolas"/>
                <a:sym typeface="Consolas"/>
              </a:rPr>
              <a:t>&gt;&gt;&gt;</a:t>
            </a:r>
            <a:r>
              <a:rPr lang="en-US" sz="20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{‘p’:1234, ‘i’:34}</a:t>
            </a:r>
            <a:endParaRPr sz="20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Clr>
                <a:srgbClr val="660033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rgbClr val="660033"/>
                </a:solidFill>
                <a:latin typeface="Consolas"/>
                <a:ea typeface="Consolas"/>
                <a:cs typeface="Consolas"/>
                <a:sym typeface="Consolas"/>
              </a:rPr>
              <a:t>&gt;&gt;&gt;</a:t>
            </a:r>
            <a:r>
              <a:rPr lang="en-US" sz="20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d.clear()      </a:t>
            </a:r>
            <a:r>
              <a:rPr lang="en-US" sz="2000" b="1" i="0" u="none" strike="noStrike" cap="none">
                <a:solidFill>
                  <a:srgbClr val="FF3300"/>
                </a:solidFill>
                <a:latin typeface="Consolas"/>
                <a:ea typeface="Consolas"/>
                <a:cs typeface="Consolas"/>
                <a:sym typeface="Consolas"/>
              </a:rPr>
              <a:t># Remove all.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Clr>
                <a:srgbClr val="660033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rgbClr val="660033"/>
                </a:solidFill>
                <a:latin typeface="Consolas"/>
                <a:ea typeface="Consolas"/>
                <a:cs typeface="Consolas"/>
                <a:sym typeface="Consolas"/>
              </a:rPr>
              <a:t>&gt;&gt;&gt;</a:t>
            </a:r>
            <a:r>
              <a:rPr lang="en-US" sz="20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{}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Clr>
                <a:srgbClr val="660033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rgbClr val="660033"/>
                </a:solidFill>
                <a:latin typeface="Consolas"/>
                <a:ea typeface="Consolas"/>
                <a:cs typeface="Consolas"/>
                <a:sym typeface="Consolas"/>
              </a:rPr>
              <a:t>&gt;&gt;&gt;</a:t>
            </a:r>
            <a:r>
              <a:rPr lang="en-US" sz="20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a=[1,2]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Clr>
                <a:srgbClr val="660033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rgbClr val="660033"/>
                </a:solidFill>
                <a:latin typeface="Consolas"/>
                <a:ea typeface="Consolas"/>
                <a:cs typeface="Consolas"/>
                <a:sym typeface="Consolas"/>
              </a:rPr>
              <a:t>&gt;&gt;&gt;</a:t>
            </a:r>
            <a:r>
              <a:rPr lang="en-US" sz="20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1" i="0" u="none" strike="noStrike" cap="none">
                <a:solidFill>
                  <a:srgbClr val="FF6600"/>
                </a:solidFill>
                <a:latin typeface="Consolas"/>
                <a:ea typeface="Consolas"/>
                <a:cs typeface="Consolas"/>
                <a:sym typeface="Consolas"/>
              </a:rPr>
              <a:t>del</a:t>
            </a:r>
            <a:r>
              <a:rPr lang="en-US" sz="20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a[1]       </a:t>
            </a:r>
            <a:r>
              <a:rPr lang="en-US" sz="2000" b="1" i="0" u="none" strike="noStrike" cap="none">
                <a:solidFill>
                  <a:srgbClr val="FF3300"/>
                </a:solidFill>
                <a:latin typeface="Consolas"/>
                <a:ea typeface="Consolas"/>
                <a:cs typeface="Consolas"/>
                <a:sym typeface="Consolas"/>
              </a:rPr>
              <a:t># del works on lists, too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Clr>
                <a:srgbClr val="660033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rgbClr val="660033"/>
                </a:solidFill>
                <a:latin typeface="Consolas"/>
                <a:ea typeface="Consolas"/>
                <a:cs typeface="Consolas"/>
                <a:sym typeface="Consolas"/>
              </a:rPr>
              <a:t>&gt;&gt;&gt;</a:t>
            </a:r>
            <a:r>
              <a:rPr lang="en-US" sz="20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[1]</a:t>
            </a:r>
            <a:endParaRPr sz="20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41" name="Google Shape;741;p97"/>
          <p:cNvSpPr/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98"/>
          <p:cNvSpPr/>
          <p:nvPr/>
        </p:nvSpPr>
        <p:spPr>
          <a:xfrm>
            <a:off x="452716" y="812423"/>
            <a:ext cx="11044518" cy="4616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Removing item from the Dictionary: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dict.pop(key, default=None):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Removes the key-value pair with the specified key from the dictionary and returns the value. </a:t>
            </a:r>
            <a:endParaRPr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key is not found and the default is not specified, a KeyError is raised.</a:t>
            </a:r>
            <a:endParaRPr/>
          </a:p>
          <a:p>
            <a:pPr marL="45720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&gt;&gt;&gt;car = {</a:t>
            </a:r>
            <a:endParaRPr/>
          </a:p>
          <a:p>
            <a:pPr marL="45720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"brand": "Ford",</a:t>
            </a:r>
            <a:endParaRPr/>
          </a:p>
          <a:p>
            <a:pPr marL="45720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"model": "Mustang",</a:t>
            </a:r>
            <a:endParaRPr/>
          </a:p>
          <a:p>
            <a:pPr marL="45720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"year": 1964</a:t>
            </a:r>
            <a:endParaRPr/>
          </a:p>
          <a:p>
            <a:pPr marL="45720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marL="45720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&gt;&gt;&gt;car.pop("model")</a:t>
            </a:r>
            <a:endParaRPr/>
          </a:p>
          <a:p>
            <a:pPr marL="45720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&gt;&gt;&gt;print(car)</a:t>
            </a:r>
            <a:endParaRPr/>
          </a:p>
          <a:p>
            <a:pPr marL="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Output: </a:t>
            </a:r>
            <a:endParaRPr/>
          </a:p>
          <a:p>
            <a:pPr marL="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{'brand': 'Ford', 'year': 1964}</a:t>
            </a:r>
            <a:endParaRPr/>
          </a:p>
        </p:txBody>
      </p:sp>
      <p:sp>
        <p:nvSpPr>
          <p:cNvPr id="747" name="Google Shape;747;p98"/>
          <p:cNvSpPr/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99"/>
          <p:cNvSpPr/>
          <p:nvPr/>
        </p:nvSpPr>
        <p:spPr>
          <a:xfrm>
            <a:off x="452716" y="812423"/>
            <a:ext cx="11044518" cy="446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Removing item from the Dictionary: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dict.popitem():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Removes and returns an arbitrary key-value pair from the dictionary. (last inserted item)</a:t>
            </a:r>
            <a:endParaRPr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dictionary is empty, a KeyError is raised.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&gt;&gt;&gt;d = {1:'one', 2:'two', 3:'three'}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&gt;&gt;&gt;d[4] = 'four'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&gt;&gt;&gt;d_item = d.popitem()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&gt;&gt;&gt;print(d_item)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&gt;&gt;&gt;print(d)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Output: 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(4, 'four')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{1: 'one', 2: 'two', 3: 'three'}</a:t>
            </a:r>
            <a:endParaRPr/>
          </a:p>
        </p:txBody>
      </p:sp>
      <p:sp>
        <p:nvSpPr>
          <p:cNvPr id="753" name="Google Shape;753;p99"/>
          <p:cNvSpPr/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100"/>
          <p:cNvSpPr/>
          <p:nvPr/>
        </p:nvSpPr>
        <p:spPr>
          <a:xfrm>
            <a:off x="640975" y="1041023"/>
            <a:ext cx="11044518" cy="434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Useful Accessor’s in Dictionary: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solidFill>
                <a:srgbClr val="6600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60033"/>
              </a:buClr>
              <a:buSzPts val="1900"/>
              <a:buFont typeface="Noto Sans Symbols"/>
              <a:buNone/>
            </a:pPr>
            <a:r>
              <a:rPr lang="en-US" sz="1900" b="1" i="0" u="none" strike="noStrike" cap="none">
                <a:solidFill>
                  <a:srgbClr val="660033"/>
                </a:solidFill>
                <a:latin typeface="Consolas"/>
                <a:ea typeface="Consolas"/>
                <a:cs typeface="Consolas"/>
                <a:sym typeface="Consolas"/>
              </a:rPr>
              <a:t>&gt;&gt;&gt;</a:t>
            </a:r>
            <a:r>
              <a:rPr lang="en-US" sz="19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 = {</a:t>
            </a:r>
            <a:r>
              <a:rPr lang="en-US" sz="1900" b="1" i="0" u="none" strike="noStrike" cap="non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‘user’</a:t>
            </a:r>
            <a:r>
              <a:rPr lang="en-US" sz="19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900" b="1" i="0" u="none" strike="noStrike" cap="non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‘bozo’</a:t>
            </a:r>
            <a:r>
              <a:rPr lang="en-US" sz="19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900" b="1" i="0" u="none" strike="noStrike" cap="non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‘p’</a:t>
            </a:r>
            <a:r>
              <a:rPr lang="en-US" sz="19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:1234, </a:t>
            </a:r>
            <a:r>
              <a:rPr lang="en-US" sz="1900" b="1" i="0" u="none" strike="noStrike" cap="non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‘i’</a:t>
            </a:r>
            <a:r>
              <a:rPr lang="en-US" sz="19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:34}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oto Sans Symbols"/>
              <a:buNone/>
            </a:pPr>
            <a:endParaRPr sz="1900" b="1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60033"/>
              </a:buClr>
              <a:buSzPts val="1900"/>
              <a:buFont typeface="Noto Sans Symbols"/>
              <a:buNone/>
            </a:pPr>
            <a:r>
              <a:rPr lang="en-US" sz="1900" b="1" i="0" u="none" strike="noStrike" cap="none">
                <a:solidFill>
                  <a:srgbClr val="660033"/>
                </a:solidFill>
                <a:latin typeface="Consolas"/>
                <a:ea typeface="Consolas"/>
                <a:cs typeface="Consolas"/>
                <a:sym typeface="Consolas"/>
              </a:rPr>
              <a:t>&gt;&gt;&gt;</a:t>
            </a:r>
            <a:r>
              <a:rPr lang="en-US" sz="19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d.keys()  </a:t>
            </a:r>
            <a:r>
              <a:rPr lang="en-US" sz="1900" b="1" i="0" u="none" strike="noStrike" cap="none">
                <a:solidFill>
                  <a:srgbClr val="FF3300"/>
                </a:solidFill>
                <a:latin typeface="Consolas"/>
                <a:ea typeface="Consolas"/>
                <a:cs typeface="Consolas"/>
                <a:sym typeface="Consolas"/>
              </a:rPr>
              <a:t># List of keys, VERY useful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None/>
            </a:pPr>
            <a:r>
              <a:rPr lang="en-US" sz="1900" b="0" i="0" u="none" strike="noStrike" cap="non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[‘user’, ‘p’, ‘i’]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oto Sans Symbols"/>
              <a:buNone/>
            </a:pPr>
            <a:endParaRPr sz="1900" b="1" i="0" u="none" strike="noStrike" cap="none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60033"/>
              </a:buClr>
              <a:buSzPts val="1900"/>
              <a:buFont typeface="Noto Sans Symbols"/>
              <a:buNone/>
            </a:pPr>
            <a:r>
              <a:rPr lang="en-US" sz="1900" b="1" i="0" u="none" strike="noStrike" cap="none">
                <a:solidFill>
                  <a:srgbClr val="660033"/>
                </a:solidFill>
                <a:latin typeface="Consolas"/>
                <a:ea typeface="Consolas"/>
                <a:cs typeface="Consolas"/>
                <a:sym typeface="Consolas"/>
              </a:rPr>
              <a:t>&gt;&gt;&gt;</a:t>
            </a:r>
            <a:r>
              <a:rPr lang="en-US" sz="19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d.values() </a:t>
            </a:r>
            <a:r>
              <a:rPr lang="en-US" sz="1900" b="1" i="0" u="none" strike="noStrike" cap="none">
                <a:solidFill>
                  <a:srgbClr val="FF3300"/>
                </a:solidFill>
                <a:latin typeface="Consolas"/>
                <a:ea typeface="Consolas"/>
                <a:cs typeface="Consolas"/>
                <a:sym typeface="Consolas"/>
              </a:rPr>
              <a:t># List of values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None/>
            </a:pPr>
            <a:r>
              <a:rPr lang="en-US" sz="1900" b="0" i="0" u="none" strike="noStrike" cap="non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[‘bozo’, 1234, 34]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oto Sans Symbols"/>
              <a:buNone/>
            </a:pPr>
            <a:endParaRPr sz="1900" b="1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60033"/>
              </a:buClr>
              <a:buSzPts val="1900"/>
              <a:buFont typeface="Noto Sans Symbols"/>
              <a:buNone/>
            </a:pPr>
            <a:r>
              <a:rPr lang="en-US" sz="1900" b="1" i="0" u="none" strike="noStrike" cap="none">
                <a:solidFill>
                  <a:srgbClr val="660033"/>
                </a:solidFill>
                <a:latin typeface="Consolas"/>
                <a:ea typeface="Consolas"/>
                <a:cs typeface="Consolas"/>
                <a:sym typeface="Consolas"/>
              </a:rPr>
              <a:t>&gt;&gt;&gt;</a:t>
            </a:r>
            <a:r>
              <a:rPr lang="en-US" sz="19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d.items()  </a:t>
            </a:r>
            <a:r>
              <a:rPr lang="en-US" sz="1900" b="1" i="0" u="none" strike="noStrike" cap="none">
                <a:solidFill>
                  <a:srgbClr val="FF3300"/>
                </a:solidFill>
                <a:latin typeface="Consolas"/>
                <a:ea typeface="Consolas"/>
                <a:cs typeface="Consolas"/>
                <a:sym typeface="Consolas"/>
              </a:rPr>
              <a:t># List of item tuples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None/>
            </a:pPr>
            <a:r>
              <a:rPr lang="en-US" sz="1900" b="0" i="0" u="none" strike="noStrike" cap="non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[(‘user’,‘bozo’), (‘p’,1234), (‘i’,34)]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59" name="Google Shape;759;p100"/>
          <p:cNvSpPr/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101"/>
          <p:cNvSpPr/>
          <p:nvPr/>
        </p:nvSpPr>
        <p:spPr>
          <a:xfrm>
            <a:off x="546846" y="526143"/>
            <a:ext cx="11044518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Difference between a list and a Dictionary: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65" name="Google Shape;765;p101"/>
          <p:cNvSpPr/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66" name="Google Shape;766;p101"/>
          <p:cNvGraphicFramePr/>
          <p:nvPr/>
        </p:nvGraphicFramePr>
        <p:xfrm>
          <a:off x="92365" y="1082737"/>
          <a:ext cx="11956200" cy="6913900"/>
        </p:xfrm>
        <a:graphic>
          <a:graphicData uri="http://schemas.openxmlformats.org/drawingml/2006/table">
            <a:tbl>
              <a:tblPr firstRow="1" bandRow="1">
                <a:noFill/>
                <a:tableStyleId>{205C561F-88DC-4E0E-807E-5E72D147E9C7}</a:tableStyleId>
              </a:tblPr>
              <a:tblGrid>
                <a:gridCol w="2233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1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Parameter</a:t>
                      </a:r>
                      <a:endParaRPr sz="1800" u="none" strike="noStrike" cap="none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90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List</a:t>
                      </a:r>
                      <a:endParaRPr sz="1800" u="none" strike="noStrike" cap="none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90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Dictionary</a:t>
                      </a:r>
                      <a:endParaRPr sz="1800" u="none" strike="noStrike" cap="none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9050" marB="571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Definition</a:t>
                      </a:r>
                      <a:endParaRPr sz="1800" u="none" strike="noStrike" cap="none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90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 ordered collection of items.</a:t>
                      </a:r>
                      <a:endParaRPr/>
                    </a:p>
                  </a:txBody>
                  <a:tcPr marL="76200" marR="76200" marT="190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 unordered collection of data in a key: value pair form.</a:t>
                      </a:r>
                      <a:endParaRPr/>
                    </a:p>
                  </a:txBody>
                  <a:tcPr marL="76200" marR="76200" marT="19050" marB="571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Syntax</a:t>
                      </a:r>
                      <a:endParaRPr sz="1800" u="none" strike="noStrike" cap="none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90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Uses square brackets [].</a:t>
                      </a:r>
                      <a:endParaRPr/>
                    </a:p>
                  </a:txBody>
                  <a:tcPr marL="76200" marR="76200" marT="190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Uses curly braces {}.</a:t>
                      </a:r>
                      <a:endParaRPr/>
                    </a:p>
                  </a:txBody>
                  <a:tcPr marL="76200" marR="76200" marT="19050" marB="571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Ordering</a:t>
                      </a:r>
                      <a:endParaRPr sz="1800" u="none" strike="noStrike" cap="none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90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Ordered: Items have a defined order, which will not change.</a:t>
                      </a:r>
                      <a:endParaRPr/>
                    </a:p>
                  </a:txBody>
                  <a:tcPr marL="76200" marR="76200" marT="190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Unordered: Items do not have a defined order.</a:t>
                      </a:r>
                      <a:endParaRPr/>
                    </a:p>
                  </a:txBody>
                  <a:tcPr marL="76200" marR="76200" marT="19050" marB="571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Indexing</a:t>
                      </a:r>
                      <a:endParaRPr sz="1800" u="none" strike="noStrike" cap="none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90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Accessed by index, starting from 0.</a:t>
                      </a:r>
                      <a:endParaRPr/>
                    </a:p>
                  </a:txBody>
                  <a:tcPr marL="76200" marR="76200" marT="190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Values are accessed using keys.</a:t>
                      </a:r>
                      <a:endParaRPr/>
                    </a:p>
                  </a:txBody>
                  <a:tcPr marL="76200" marR="76200" marT="19050" marB="571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Mutability</a:t>
                      </a:r>
                      <a:endParaRPr sz="1800" u="none" strike="noStrike" cap="none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90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Mutable: Items can be modified after creation.</a:t>
                      </a:r>
                      <a:endParaRPr/>
                    </a:p>
                  </a:txBody>
                  <a:tcPr marL="76200" marR="76200" marT="190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Mutable: Values can be updated, and key: value pairs can be added or removed.</a:t>
                      </a:r>
                      <a:endParaRPr/>
                    </a:p>
                  </a:txBody>
                  <a:tcPr marL="76200" marR="76200" marT="19050" marB="571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Uniqueness</a:t>
                      </a:r>
                      <a:endParaRPr sz="1800" u="none" strike="noStrike" cap="none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90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Allows duplicate items.</a:t>
                      </a:r>
                      <a:endParaRPr/>
                    </a:p>
                  </a:txBody>
                  <a:tcPr marL="76200" marR="76200" marT="190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Does not allow duplicate keys. However, values can be duplicated.</a:t>
                      </a:r>
                      <a:endParaRPr/>
                    </a:p>
                  </a:txBody>
                  <a:tcPr marL="76200" marR="76200" marT="19050" marB="571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Types</a:t>
                      </a:r>
                      <a:endParaRPr sz="1800" u="none" strike="noStrike" cap="none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90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It can store any data type.</a:t>
                      </a:r>
                      <a:endParaRPr/>
                    </a:p>
                  </a:txBody>
                  <a:tcPr marL="76200" marR="76200" marT="190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Keys can be of any immutable data type (e.g., strings, numbers, tuples). Values can be of any type.</a:t>
                      </a:r>
                      <a:endParaRPr/>
                    </a:p>
                  </a:txBody>
                  <a:tcPr marL="76200" marR="76200" marT="19050" marB="5715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 Case</a:t>
                      </a:r>
                      <a:endParaRPr sz="1800" u="none" strike="noStrike" cap="none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90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When order matters or when you need to store multiple values for an item.</a:t>
                      </a:r>
                      <a:endParaRPr/>
                    </a:p>
                  </a:txBody>
                  <a:tcPr marL="76200" marR="76200" marT="190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When you need a unique key for each piece of data.</a:t>
                      </a:r>
                      <a:endParaRPr/>
                    </a:p>
                  </a:txBody>
                  <a:tcPr marL="76200" marR="76200" marT="19050" marB="5715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Example</a:t>
                      </a:r>
                      <a:endParaRPr sz="1800" u="none" strike="noStrike" cap="none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90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fruits = [“apple”, “banana”, “cherry”]</a:t>
                      </a:r>
                      <a:endParaRPr/>
                    </a:p>
                  </a:txBody>
                  <a:tcPr marL="76200" marR="76200" marT="190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person = {“name”: “John”, “age”: 30}</a:t>
                      </a:r>
                      <a:endParaRPr/>
                    </a:p>
                  </a:txBody>
                  <a:tcPr marL="76200" marR="76200" marT="19050" marB="5715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Performance</a:t>
                      </a:r>
                      <a:endParaRPr sz="1800" u="none" strike="noStrike" cap="none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90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Faster for ordered operations like sorting.</a:t>
                      </a:r>
                      <a:endParaRPr/>
                    </a:p>
                  </a:txBody>
                  <a:tcPr marL="76200" marR="76200" marT="19050" marB="571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Faster for lookup operations due to the hash mapping of keys.</a:t>
                      </a:r>
                      <a:endParaRPr/>
                    </a:p>
                  </a:txBody>
                  <a:tcPr marL="76200" marR="76200" marT="19050" marB="5715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02"/>
          <p:cNvSpPr/>
          <p:nvPr/>
        </p:nvSpPr>
        <p:spPr>
          <a:xfrm>
            <a:off x="640975" y="1041023"/>
            <a:ext cx="11044518" cy="1892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Exercise:</a:t>
            </a:r>
            <a:endParaRPr/>
          </a:p>
          <a:p>
            <a:pPr marL="4572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rabi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happens if you try to access a key that doesn’t exist in a dictionary?</a:t>
            </a:r>
            <a:endParaRPr/>
          </a:p>
          <a:p>
            <a:pPr marL="914400" marR="0" lvl="1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rabi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dictionaries in Python contain mutable objects as keys?</a:t>
            </a:r>
            <a:endParaRPr/>
          </a:p>
          <a:p>
            <a:pPr marL="914400" marR="0" lvl="1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rabi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difference between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dict.pop( )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dict.popitem( )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 sz="2400" b="0" i="0" u="none" strike="noStrike" cap="none">
              <a:solidFill>
                <a:srgbClr val="6600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2" name="Google Shape;772;p102"/>
          <p:cNvSpPr/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103"/>
          <p:cNvSpPr/>
          <p:nvPr/>
        </p:nvSpPr>
        <p:spPr>
          <a:xfrm>
            <a:off x="546846" y="714402"/>
            <a:ext cx="11044518" cy="5078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List  v/s  Tuple  v/s  Set  v/s  Dictionary: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78" name="Google Shape;778;p103"/>
          <p:cNvSpPr/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9" name="Google Shape;779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6846" y="1281112"/>
            <a:ext cx="11044518" cy="5738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9449</Words>
  <Application>Microsoft Office PowerPoint</Application>
  <PresentationFormat>Widescreen</PresentationFormat>
  <Paragraphs>1402</Paragraphs>
  <Slides>103</Slides>
  <Notes>103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19" baseType="lpstr">
      <vt:lpstr>Noto Sans Symbols</vt:lpstr>
      <vt:lpstr>Consolas</vt:lpstr>
      <vt:lpstr>Cambria</vt:lpstr>
      <vt:lpstr>Constantia</vt:lpstr>
      <vt:lpstr>Lato</vt:lpstr>
      <vt:lpstr>Inter</vt:lpstr>
      <vt:lpstr>Verdana</vt:lpstr>
      <vt:lpstr>Arial Black</vt:lpstr>
      <vt:lpstr>Cambria Math</vt:lpstr>
      <vt:lpstr>Courier New</vt:lpstr>
      <vt:lpstr>Calibri</vt:lpstr>
      <vt:lpstr>Corben</vt:lpstr>
      <vt:lpstr>Arial</vt:lpstr>
      <vt:lpstr>Times New Roman</vt:lpstr>
      <vt:lpstr>Corbel</vt:lpstr>
      <vt:lpstr>Office Theme</vt:lpstr>
      <vt:lpstr>PowerPoint Presentation</vt:lpstr>
      <vt:lpstr>content</vt:lpstr>
      <vt:lpstr>Terminologies</vt:lpstr>
      <vt:lpstr>PowerPoint Presentation</vt:lpstr>
      <vt:lpstr>Ex: int objects are immutable in python</vt:lpstr>
      <vt:lpstr>PowerPoint Presentation</vt:lpstr>
      <vt:lpstr>Data-structures</vt:lpstr>
      <vt:lpstr>LIST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Python has a set of built-in methods that you can use on lists</vt:lpstr>
      <vt:lpstr>PowerPoint Presentation</vt:lpstr>
      <vt:lpstr>extend() method - adds the specified list elements (or any iterable) to the end of the current list.  Syntax: list.extend(iterable) </vt:lpstr>
      <vt:lpstr>PowerPoint Presentation</vt:lpstr>
      <vt:lpstr>clear() method - removes all the elements from a list.  Syntax: list.clear()  </vt:lpstr>
      <vt:lpstr>count() method - returns the number of elements with the specified value</vt:lpstr>
      <vt:lpstr>index() method - returns the index at the first occurrence of the specified value. If the element is not found it valueerror exception is thrown.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Sort the list descending</vt:lpstr>
      <vt:lpstr>Sort the list by the length of the values</vt:lpstr>
      <vt:lpstr>Sort the list descending and by the length of the values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TUPLES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DICTIONARY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Sharath</dc:creator>
  <cp:lastModifiedBy>asfiya.z28@outlook.com</cp:lastModifiedBy>
  <cp:revision>2</cp:revision>
  <dcterms:created xsi:type="dcterms:W3CDTF">2021-09-04T04:57:37Z</dcterms:created>
  <dcterms:modified xsi:type="dcterms:W3CDTF">2025-10-13T06:10:04Z</dcterms:modified>
</cp:coreProperties>
</file>